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45"/>
  </p:notesMasterIdLst>
  <p:handoutMasterIdLst>
    <p:handoutMasterId r:id="rId46"/>
  </p:handoutMasterIdLst>
  <p:sldIdLst>
    <p:sldId id="292" r:id="rId5"/>
    <p:sldId id="278" r:id="rId6"/>
    <p:sldId id="314" r:id="rId7"/>
    <p:sldId id="315" r:id="rId8"/>
    <p:sldId id="313" r:id="rId9"/>
    <p:sldId id="307" r:id="rId10"/>
    <p:sldId id="316" r:id="rId11"/>
    <p:sldId id="345" r:id="rId12"/>
    <p:sldId id="353" r:id="rId13"/>
    <p:sldId id="336" r:id="rId14"/>
    <p:sldId id="354" r:id="rId15"/>
    <p:sldId id="308" r:id="rId16"/>
    <p:sldId id="349" r:id="rId17"/>
    <p:sldId id="350" r:id="rId18"/>
    <p:sldId id="309" r:id="rId19"/>
    <p:sldId id="348" r:id="rId20"/>
    <p:sldId id="311" r:id="rId21"/>
    <p:sldId id="319" r:id="rId22"/>
    <p:sldId id="327" r:id="rId23"/>
    <p:sldId id="328" r:id="rId24"/>
    <p:sldId id="329" r:id="rId25"/>
    <p:sldId id="330" r:id="rId26"/>
    <p:sldId id="342" r:id="rId27"/>
    <p:sldId id="310" r:id="rId28"/>
    <p:sldId id="312" r:id="rId29"/>
    <p:sldId id="322" r:id="rId30"/>
    <p:sldId id="332" r:id="rId31"/>
    <p:sldId id="343" r:id="rId32"/>
    <p:sldId id="333" r:id="rId33"/>
    <p:sldId id="334" r:id="rId34"/>
    <p:sldId id="325" r:id="rId35"/>
    <p:sldId id="335" r:id="rId36"/>
    <p:sldId id="337" r:id="rId37"/>
    <p:sldId id="339" r:id="rId38"/>
    <p:sldId id="340" r:id="rId39"/>
    <p:sldId id="341" r:id="rId40"/>
    <p:sldId id="351" r:id="rId41"/>
    <p:sldId id="344" r:id="rId42"/>
    <p:sldId id="352" r:id="rId43"/>
    <p:sldId id="323" r:id="rId44"/>
  </p:sldIdLst>
  <p:sldSz cx="12192000" cy="6858000"/>
  <p:notesSz cx="6858000" cy="9144000"/>
  <p:custDataLst>
    <p:tags r:id="rId4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8A80D0F-2EC7-4E57-896A-14D0A8314E2C}">
          <p14:sldIdLst>
            <p14:sldId id="292"/>
            <p14:sldId id="278"/>
            <p14:sldId id="314"/>
            <p14:sldId id="315"/>
          </p14:sldIdLst>
        </p14:section>
        <p14:section name="Case Study Selection" id="{FD0BBF17-FC5A-4F6C-BE60-D093DD71E0DE}">
          <p14:sldIdLst>
            <p14:sldId id="313"/>
          </p14:sldIdLst>
        </p14:section>
        <p14:section name="Problem Definition/Customer Needs" id="{8417B22A-00A6-4E30-8637-FCFCC4EF4CD6}">
          <p14:sldIdLst>
            <p14:sldId id="307"/>
            <p14:sldId id="316"/>
            <p14:sldId id="345"/>
            <p14:sldId id="353"/>
            <p14:sldId id="336"/>
            <p14:sldId id="354"/>
          </p14:sldIdLst>
        </p14:section>
        <p14:section name="Project Objective" id="{B82F6A55-E9DD-40A0-94EA-3B4389AFC418}">
          <p14:sldIdLst>
            <p14:sldId id="308"/>
            <p14:sldId id="349"/>
            <p14:sldId id="350"/>
          </p14:sldIdLst>
        </p14:section>
        <p14:section name="Proposed Feature" id="{A9D43A4A-2A79-4566-8794-78A6AE624354}">
          <p14:sldIdLst>
            <p14:sldId id="309"/>
            <p14:sldId id="348"/>
          </p14:sldIdLst>
        </p14:section>
        <p14:section name="Wireframe" id="{3A9C924F-24E6-440D-A2B4-A387115B08D9}">
          <p14:sldIdLst>
            <p14:sldId id="311"/>
            <p14:sldId id="319"/>
            <p14:sldId id="327"/>
            <p14:sldId id="328"/>
            <p14:sldId id="329"/>
            <p14:sldId id="330"/>
            <p14:sldId id="342"/>
          </p14:sldIdLst>
        </p14:section>
        <p14:section name="Data Modeling" id="{981A2B25-E62C-4725-A767-D0973140AB48}">
          <p14:sldIdLst>
            <p14:sldId id="310"/>
            <p14:sldId id="312"/>
            <p14:sldId id="322"/>
            <p14:sldId id="332"/>
            <p14:sldId id="343"/>
            <p14:sldId id="333"/>
            <p14:sldId id="334"/>
            <p14:sldId id="325"/>
            <p14:sldId id="335"/>
            <p14:sldId id="337"/>
            <p14:sldId id="339"/>
            <p14:sldId id="340"/>
            <p14:sldId id="341"/>
            <p14:sldId id="351"/>
            <p14:sldId id="344"/>
            <p14:sldId id="352"/>
            <p14:sldId id="323"/>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5B4C828-EB6F-0E44-9382-2E86C03354A5}" name="Sankara RAJULU (TP)" initials="SR" userId="S::sankara@TP.EDU.SG::90b67e19-7016-40f5-ab67-6559d5fe8b43" providerId="AD"/>
  <p188:author id="{CC59AE2F-3574-9F4F-2F4C-204E8DFAB2CD}" name="Andrew TAN (TP)" initials="A(" userId="S::andrewt@tp.edu.sg::8d23f446-953f-4d3b-930e-ca720e8db7fb" providerId="AD"/>
  <p188:author id="{EBF51C77-9774-58D8-097E-AD8D40AA4809}" name="Zhao Hong LAU (TP)" initials="Z(" userId="S::zhaohong@tp.edu.sg::f195b425-1f12-426c-964c-75b48c020563" providerId="AD"/>
  <p188:author id="{5CAB91CD-DD79-7E8F-42B4-F84A0E5B22AB}" name="Ying Huey FUA (TP)" initials="Y(" userId="S::yinghuey@tp.edu.sg::9e739b7e-414d-4e3b-ac6d-84564ba345a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lena Saleh" initials="SS"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339933"/>
    <a:srgbClr val="FFC000"/>
    <a:srgbClr val="EEEEEE"/>
    <a:srgbClr val="FAD22C"/>
    <a:srgbClr val="1CADE4"/>
    <a:srgbClr val="61C5FF"/>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8C3B9A-2FA8-4668-B7DC-E77C740F74E5}" v="255" dt="2025-11-14T02:59:15.6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74" autoAdjust="0"/>
    <p:restoredTop sz="93917" autoAdjust="0"/>
  </p:normalViewPr>
  <p:slideViewPr>
    <p:cSldViewPr snapToGrid="0">
      <p:cViewPr varScale="1">
        <p:scale>
          <a:sx n="65" d="100"/>
          <a:sy n="65" d="100"/>
        </p:scale>
        <p:origin x="568" y="272"/>
      </p:cViewPr>
      <p:guideLst>
        <p:guide orient="horz" pos="2160"/>
        <p:guide pos="3840"/>
      </p:guideLst>
    </p:cSldViewPr>
  </p:slideViewPr>
  <p:notesTextViewPr>
    <p:cViewPr>
      <p:scale>
        <a:sx n="1" d="1"/>
        <a:sy n="1" d="1"/>
      </p:scale>
      <p:origin x="0" y="0"/>
    </p:cViewPr>
  </p:notesTextViewPr>
  <p:notesViewPr>
    <p:cSldViewPr snapToGrid="0">
      <p:cViewPr varScale="1">
        <p:scale>
          <a:sx n="69" d="100"/>
          <a:sy n="69" d="100"/>
        </p:scale>
        <p:origin x="3264"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gs" Target="tags/tag1.xml"/><Relationship Id="rId50" Type="http://schemas.openxmlformats.org/officeDocument/2006/relationships/viewProps" Target="view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YLAN YEO WEN FENG" userId="7214864c-bd38-4c7e-856f-3f63d5eb74a9" providerId="ADAL" clId="{416C8C09-F1DD-484A-8AD4-DD16A935A812}"/>
    <pc:docChg chg="undo custSel addSld delSld modSld sldOrd modSection">
      <pc:chgData name="DYLAN YEO WEN FENG" userId="7214864c-bd38-4c7e-856f-3f63d5eb74a9" providerId="ADAL" clId="{416C8C09-F1DD-484A-8AD4-DD16A935A812}" dt="2025-11-14T03:01:48.454" v="5213" actId="1076"/>
      <pc:docMkLst>
        <pc:docMk/>
      </pc:docMkLst>
      <pc:sldChg chg="delSp modSp mod">
        <pc:chgData name="DYLAN YEO WEN FENG" userId="7214864c-bd38-4c7e-856f-3f63d5eb74a9" providerId="ADAL" clId="{416C8C09-F1DD-484A-8AD4-DD16A935A812}" dt="2025-10-27T08:41:01.756" v="4457" actId="255"/>
        <pc:sldMkLst>
          <pc:docMk/>
          <pc:sldMk cId="1190842756" sldId="309"/>
        </pc:sldMkLst>
        <pc:spChg chg="mod">
          <ac:chgData name="DYLAN YEO WEN FENG" userId="7214864c-bd38-4c7e-856f-3f63d5eb74a9" providerId="ADAL" clId="{416C8C09-F1DD-484A-8AD4-DD16A935A812}" dt="2025-10-26T08:17:42.352" v="581" actId="1076"/>
          <ac:spMkLst>
            <pc:docMk/>
            <pc:sldMk cId="1190842756" sldId="309"/>
            <ac:spMk id="3" creationId="{E94E226F-87EA-B2E1-1DAB-46E9004CBADB}"/>
          </ac:spMkLst>
        </pc:spChg>
        <pc:graphicFrameChg chg="mod modGraphic">
          <ac:chgData name="DYLAN YEO WEN FENG" userId="7214864c-bd38-4c7e-856f-3f63d5eb74a9" providerId="ADAL" clId="{416C8C09-F1DD-484A-8AD4-DD16A935A812}" dt="2025-10-27T08:41:01.756" v="4457" actId="255"/>
          <ac:graphicFrameMkLst>
            <pc:docMk/>
            <pc:sldMk cId="1190842756" sldId="309"/>
            <ac:graphicFrameMk id="5" creationId="{BAEED393-1070-2643-5289-FD54DA219C09}"/>
          </ac:graphicFrameMkLst>
        </pc:graphicFrameChg>
      </pc:sldChg>
      <pc:sldChg chg="modSp mod">
        <pc:chgData name="DYLAN YEO WEN FENG" userId="7214864c-bd38-4c7e-856f-3f63d5eb74a9" providerId="ADAL" clId="{416C8C09-F1DD-484A-8AD4-DD16A935A812}" dt="2025-11-14T03:01:48.454" v="5213" actId="1076"/>
        <pc:sldMkLst>
          <pc:docMk/>
          <pc:sldMk cId="3659370152" sldId="311"/>
        </pc:sldMkLst>
        <pc:picChg chg="mod">
          <ac:chgData name="DYLAN YEO WEN FENG" userId="7214864c-bd38-4c7e-856f-3f63d5eb74a9" providerId="ADAL" clId="{416C8C09-F1DD-484A-8AD4-DD16A935A812}" dt="2025-11-14T03:01:48.454" v="5213" actId="1076"/>
          <ac:picMkLst>
            <pc:docMk/>
            <pc:sldMk cId="3659370152" sldId="311"/>
            <ac:picMk id="7" creationId="{FC14D8E4-299B-5DA1-A0F7-A9B19FD77C39}"/>
          </ac:picMkLst>
        </pc:picChg>
      </pc:sldChg>
      <pc:sldChg chg="modSp mod">
        <pc:chgData name="DYLAN YEO WEN FENG" userId="7214864c-bd38-4c7e-856f-3f63d5eb74a9" providerId="ADAL" clId="{416C8C09-F1DD-484A-8AD4-DD16A935A812}" dt="2025-11-08T09:19:28.338" v="4540" actId="255"/>
        <pc:sldMkLst>
          <pc:docMk/>
          <pc:sldMk cId="3246093075" sldId="336"/>
        </pc:sldMkLst>
        <pc:spChg chg="mod">
          <ac:chgData name="DYLAN YEO WEN FENG" userId="7214864c-bd38-4c7e-856f-3f63d5eb74a9" providerId="ADAL" clId="{416C8C09-F1DD-484A-8AD4-DD16A935A812}" dt="2025-11-08T09:19:28.338" v="4540" actId="255"/>
          <ac:spMkLst>
            <pc:docMk/>
            <pc:sldMk cId="3246093075" sldId="336"/>
            <ac:spMk id="3" creationId="{038C5567-F342-F0E7-0D1A-75625E24B0D0}"/>
          </ac:spMkLst>
        </pc:spChg>
      </pc:sldChg>
      <pc:sldChg chg="modSp mod">
        <pc:chgData name="DYLAN YEO WEN FENG" userId="7214864c-bd38-4c7e-856f-3f63d5eb74a9" providerId="ADAL" clId="{416C8C09-F1DD-484A-8AD4-DD16A935A812}" dt="2025-11-13T15:24:08.653" v="4845" actId="20577"/>
        <pc:sldMkLst>
          <pc:docMk/>
          <pc:sldMk cId="1054045112" sldId="344"/>
        </pc:sldMkLst>
        <pc:graphicFrameChg chg="modGraphic">
          <ac:chgData name="DYLAN YEO WEN FENG" userId="7214864c-bd38-4c7e-856f-3f63d5eb74a9" providerId="ADAL" clId="{416C8C09-F1DD-484A-8AD4-DD16A935A812}" dt="2025-11-13T15:24:08.653" v="4845" actId="20577"/>
          <ac:graphicFrameMkLst>
            <pc:docMk/>
            <pc:sldMk cId="1054045112" sldId="344"/>
            <ac:graphicFrameMk id="6" creationId="{972B65BB-FD52-5436-4872-9A435BC72753}"/>
          </ac:graphicFrameMkLst>
        </pc:graphicFrameChg>
      </pc:sldChg>
      <pc:sldChg chg="modSp mod">
        <pc:chgData name="DYLAN YEO WEN FENG" userId="7214864c-bd38-4c7e-856f-3f63d5eb74a9" providerId="ADAL" clId="{416C8C09-F1DD-484A-8AD4-DD16A935A812}" dt="2025-10-27T01:11:11.121" v="1687" actId="255"/>
        <pc:sldMkLst>
          <pc:docMk/>
          <pc:sldMk cId="2669104232" sldId="345"/>
        </pc:sldMkLst>
        <pc:spChg chg="mod">
          <ac:chgData name="DYLAN YEO WEN FENG" userId="7214864c-bd38-4c7e-856f-3f63d5eb74a9" providerId="ADAL" clId="{416C8C09-F1DD-484A-8AD4-DD16A935A812}" dt="2025-10-27T01:11:11.121" v="1687" actId="255"/>
          <ac:spMkLst>
            <pc:docMk/>
            <pc:sldMk cId="2669104232" sldId="345"/>
            <ac:spMk id="3" creationId="{5E9E813D-78A5-91BF-31CB-F3E8CB16B639}"/>
          </ac:spMkLst>
        </pc:spChg>
      </pc:sldChg>
      <pc:sldChg chg="modSp add mod">
        <pc:chgData name="DYLAN YEO WEN FENG" userId="7214864c-bd38-4c7e-856f-3f63d5eb74a9" providerId="ADAL" clId="{416C8C09-F1DD-484A-8AD4-DD16A935A812}" dt="2025-10-27T08:42:27.805" v="4490"/>
        <pc:sldMkLst>
          <pc:docMk/>
          <pc:sldMk cId="2880665032" sldId="348"/>
        </pc:sldMkLst>
        <pc:graphicFrameChg chg="mod modGraphic">
          <ac:chgData name="DYLAN YEO WEN FENG" userId="7214864c-bd38-4c7e-856f-3f63d5eb74a9" providerId="ADAL" clId="{416C8C09-F1DD-484A-8AD4-DD16A935A812}" dt="2025-10-27T08:42:27.805" v="4490"/>
          <ac:graphicFrameMkLst>
            <pc:docMk/>
            <pc:sldMk cId="2880665032" sldId="348"/>
            <ac:graphicFrameMk id="5" creationId="{5259A172-DF88-CFE3-CB72-F7EDDAC8B03B}"/>
          </ac:graphicFrameMkLst>
        </pc:graphicFrameChg>
      </pc:sldChg>
      <pc:sldChg chg="modSp add mod ord">
        <pc:chgData name="DYLAN YEO WEN FENG" userId="7214864c-bd38-4c7e-856f-3f63d5eb74a9" providerId="ADAL" clId="{416C8C09-F1DD-484A-8AD4-DD16A935A812}" dt="2025-10-27T06:08:38.377" v="2876"/>
        <pc:sldMkLst>
          <pc:docMk/>
          <pc:sldMk cId="692215552" sldId="349"/>
        </pc:sldMkLst>
        <pc:spChg chg="mod">
          <ac:chgData name="DYLAN YEO WEN FENG" userId="7214864c-bd38-4c7e-856f-3f63d5eb74a9" providerId="ADAL" clId="{416C8C09-F1DD-484A-8AD4-DD16A935A812}" dt="2025-10-27T06:08:38.377" v="2876"/>
          <ac:spMkLst>
            <pc:docMk/>
            <pc:sldMk cId="692215552" sldId="349"/>
            <ac:spMk id="2" creationId="{02442A10-790E-51D0-41AE-9F3ADD6A96C5}"/>
          </ac:spMkLst>
        </pc:spChg>
        <pc:spChg chg="mod">
          <ac:chgData name="DYLAN YEO WEN FENG" userId="7214864c-bd38-4c7e-856f-3f63d5eb74a9" providerId="ADAL" clId="{416C8C09-F1DD-484A-8AD4-DD16A935A812}" dt="2025-10-27T02:25:37.876" v="2871" actId="20577"/>
          <ac:spMkLst>
            <pc:docMk/>
            <pc:sldMk cId="692215552" sldId="349"/>
            <ac:spMk id="3" creationId="{EBCBD747-7E47-CF06-4AFB-938D42AFFA63}"/>
          </ac:spMkLst>
        </pc:spChg>
      </pc:sldChg>
      <pc:sldChg chg="modSp add mod">
        <pc:chgData name="DYLAN YEO WEN FENG" userId="7214864c-bd38-4c7e-856f-3f63d5eb74a9" providerId="ADAL" clId="{416C8C09-F1DD-484A-8AD4-DD16A935A812}" dt="2025-11-08T09:18:29.571" v="4523" actId="5793"/>
        <pc:sldMkLst>
          <pc:docMk/>
          <pc:sldMk cId="679523665" sldId="350"/>
        </pc:sldMkLst>
        <pc:spChg chg="mod">
          <ac:chgData name="DYLAN YEO WEN FENG" userId="7214864c-bd38-4c7e-856f-3f63d5eb74a9" providerId="ADAL" clId="{416C8C09-F1DD-484A-8AD4-DD16A935A812}" dt="2025-10-27T06:08:53.503" v="2877"/>
          <ac:spMkLst>
            <pc:docMk/>
            <pc:sldMk cId="679523665" sldId="350"/>
            <ac:spMk id="2" creationId="{81BBE3D2-67E9-A774-EFE2-51053C584739}"/>
          </ac:spMkLst>
        </pc:spChg>
        <pc:spChg chg="mod">
          <ac:chgData name="DYLAN YEO WEN FENG" userId="7214864c-bd38-4c7e-856f-3f63d5eb74a9" providerId="ADAL" clId="{416C8C09-F1DD-484A-8AD4-DD16A935A812}" dt="2025-11-08T09:18:29.571" v="4523" actId="5793"/>
          <ac:spMkLst>
            <pc:docMk/>
            <pc:sldMk cId="679523665" sldId="350"/>
            <ac:spMk id="3" creationId="{8D67FAC9-7F01-9493-BD24-C5B4148F8C60}"/>
          </ac:spMkLst>
        </pc:spChg>
      </pc:sldChg>
      <pc:sldChg chg="modSp add mod ord">
        <pc:chgData name="DYLAN YEO WEN FENG" userId="7214864c-bd38-4c7e-856f-3f63d5eb74a9" providerId="ADAL" clId="{416C8C09-F1DD-484A-8AD4-DD16A935A812}" dt="2025-11-13T15:07:18.019" v="4641" actId="20577"/>
        <pc:sldMkLst>
          <pc:docMk/>
          <pc:sldMk cId="4162301410" sldId="351"/>
        </pc:sldMkLst>
        <pc:spChg chg="mod">
          <ac:chgData name="DYLAN YEO WEN FENG" userId="7214864c-bd38-4c7e-856f-3f63d5eb74a9" providerId="ADAL" clId="{416C8C09-F1DD-484A-8AD4-DD16A935A812}" dt="2025-11-13T15:01:29.833" v="4555" actId="20577"/>
          <ac:spMkLst>
            <pc:docMk/>
            <pc:sldMk cId="4162301410" sldId="351"/>
            <ac:spMk id="2" creationId="{CB4A73BB-4874-F0C0-56F4-C7726703D0C3}"/>
          </ac:spMkLst>
        </pc:spChg>
        <pc:graphicFrameChg chg="mod modGraphic">
          <ac:chgData name="DYLAN YEO WEN FENG" userId="7214864c-bd38-4c7e-856f-3f63d5eb74a9" providerId="ADAL" clId="{416C8C09-F1DD-484A-8AD4-DD16A935A812}" dt="2025-11-13T15:07:18.019" v="4641" actId="20577"/>
          <ac:graphicFrameMkLst>
            <pc:docMk/>
            <pc:sldMk cId="4162301410" sldId="351"/>
            <ac:graphicFrameMk id="4" creationId="{1C44B840-3499-3950-2FE1-4521F365ABEF}"/>
          </ac:graphicFrameMkLst>
        </pc:graphicFrameChg>
      </pc:sldChg>
      <pc:sldChg chg="modSp add mod ord">
        <pc:chgData name="DYLAN YEO WEN FENG" userId="7214864c-bd38-4c7e-856f-3f63d5eb74a9" providerId="ADAL" clId="{416C8C09-F1DD-484A-8AD4-DD16A935A812}" dt="2025-11-13T15:24:01.090" v="4836" actId="20577"/>
        <pc:sldMkLst>
          <pc:docMk/>
          <pc:sldMk cId="760575492" sldId="352"/>
        </pc:sldMkLst>
        <pc:spChg chg="mod">
          <ac:chgData name="DYLAN YEO WEN FENG" userId="7214864c-bd38-4c7e-856f-3f63d5eb74a9" providerId="ADAL" clId="{416C8C09-F1DD-484A-8AD4-DD16A935A812}" dt="2025-11-13T15:24:01.090" v="4836" actId="20577"/>
          <ac:spMkLst>
            <pc:docMk/>
            <pc:sldMk cId="760575492" sldId="352"/>
            <ac:spMk id="2" creationId="{2B1C0CC8-2CFC-DAA9-4B7F-2876CA26A97F}"/>
          </ac:spMkLst>
        </pc:spChg>
        <pc:graphicFrameChg chg="mod modGraphic">
          <ac:chgData name="DYLAN YEO WEN FENG" userId="7214864c-bd38-4c7e-856f-3f63d5eb74a9" providerId="ADAL" clId="{416C8C09-F1DD-484A-8AD4-DD16A935A812}" dt="2025-11-13T15:23:37.756" v="4806"/>
          <ac:graphicFrameMkLst>
            <pc:docMk/>
            <pc:sldMk cId="760575492" sldId="352"/>
            <ac:graphicFrameMk id="4" creationId="{98BAA241-0FE9-0219-BDA0-790D0D957537}"/>
          </ac:graphicFrameMkLst>
        </pc:graphicFrameChg>
      </pc:sldChg>
      <pc:sldChg chg="add del">
        <pc:chgData name="DYLAN YEO WEN FENG" userId="7214864c-bd38-4c7e-856f-3f63d5eb74a9" providerId="ADAL" clId="{416C8C09-F1DD-484A-8AD4-DD16A935A812}" dt="2025-11-13T15:01:42.735" v="4574"/>
        <pc:sldMkLst>
          <pc:docMk/>
          <pc:sldMk cId="3106034242" sldId="352"/>
        </pc:sldMkLst>
      </pc:sldChg>
      <pc:sldChg chg="addSp delSp modSp new mod">
        <pc:chgData name="DYLAN YEO WEN FENG" userId="7214864c-bd38-4c7e-856f-3f63d5eb74a9" providerId="ADAL" clId="{416C8C09-F1DD-484A-8AD4-DD16A935A812}" dt="2025-11-14T02:57:07.730" v="5189" actId="255"/>
        <pc:sldMkLst>
          <pc:docMk/>
          <pc:sldMk cId="988437850" sldId="353"/>
        </pc:sldMkLst>
        <pc:spChg chg="mod">
          <ac:chgData name="DYLAN YEO WEN FENG" userId="7214864c-bd38-4c7e-856f-3f63d5eb74a9" providerId="ADAL" clId="{416C8C09-F1DD-484A-8AD4-DD16A935A812}" dt="2025-11-13T15:48:51.631" v="4860" actId="20577"/>
          <ac:spMkLst>
            <pc:docMk/>
            <pc:sldMk cId="988437850" sldId="353"/>
            <ac:spMk id="2" creationId="{9053F320-F4AA-CD2A-F5C1-FFD91A5F1C6C}"/>
          </ac:spMkLst>
        </pc:spChg>
        <pc:spChg chg="del">
          <ac:chgData name="DYLAN YEO WEN FENG" userId="7214864c-bd38-4c7e-856f-3f63d5eb74a9" providerId="ADAL" clId="{416C8C09-F1DD-484A-8AD4-DD16A935A812}" dt="2025-11-13T15:49:04.136" v="4861" actId="3680"/>
          <ac:spMkLst>
            <pc:docMk/>
            <pc:sldMk cId="988437850" sldId="353"/>
            <ac:spMk id="3" creationId="{5E6F97B7-D762-E3C4-242F-4EBF06D184A0}"/>
          </ac:spMkLst>
        </pc:spChg>
        <pc:graphicFrameChg chg="add mod ord modGraphic">
          <ac:chgData name="DYLAN YEO WEN FENG" userId="7214864c-bd38-4c7e-856f-3f63d5eb74a9" providerId="ADAL" clId="{416C8C09-F1DD-484A-8AD4-DD16A935A812}" dt="2025-11-14T02:57:07.730" v="5189" actId="255"/>
          <ac:graphicFrameMkLst>
            <pc:docMk/>
            <pc:sldMk cId="988437850" sldId="353"/>
            <ac:graphicFrameMk id="4" creationId="{EC44446C-9A1A-69B9-7EAE-0C5BBC1543E8}"/>
          </ac:graphicFrameMkLst>
        </pc:graphicFrameChg>
      </pc:sldChg>
      <pc:sldChg chg="addSp delSp modSp new mod">
        <pc:chgData name="DYLAN YEO WEN FENG" userId="7214864c-bd38-4c7e-856f-3f63d5eb74a9" providerId="ADAL" clId="{416C8C09-F1DD-484A-8AD4-DD16A935A812}" dt="2025-11-14T02:59:38.554" v="5208" actId="12"/>
        <pc:sldMkLst>
          <pc:docMk/>
          <pc:sldMk cId="2722892588" sldId="354"/>
        </pc:sldMkLst>
        <pc:spChg chg="mod">
          <ac:chgData name="DYLAN YEO WEN FENG" userId="7214864c-bd38-4c7e-856f-3f63d5eb74a9" providerId="ADAL" clId="{416C8C09-F1DD-484A-8AD4-DD16A935A812}" dt="2025-11-14T02:54:48.210" v="5119"/>
          <ac:spMkLst>
            <pc:docMk/>
            <pc:sldMk cId="2722892588" sldId="354"/>
            <ac:spMk id="2" creationId="{D41722E0-92F3-38AF-608E-7A84341C5A78}"/>
          </ac:spMkLst>
        </pc:spChg>
        <pc:spChg chg="del mod">
          <ac:chgData name="DYLAN YEO WEN FENG" userId="7214864c-bd38-4c7e-856f-3f63d5eb74a9" providerId="ADAL" clId="{416C8C09-F1DD-484A-8AD4-DD16A935A812}" dt="2025-11-14T02:57:41.636" v="5200" actId="478"/>
          <ac:spMkLst>
            <pc:docMk/>
            <pc:sldMk cId="2722892588" sldId="354"/>
            <ac:spMk id="3" creationId="{445F59F6-D67B-1DC3-359B-9FF00E426F9F}"/>
          </ac:spMkLst>
        </pc:spChg>
        <pc:spChg chg="add del mod">
          <ac:chgData name="DYLAN YEO WEN FENG" userId="7214864c-bd38-4c7e-856f-3f63d5eb74a9" providerId="ADAL" clId="{416C8C09-F1DD-484A-8AD4-DD16A935A812}" dt="2025-11-14T02:57:44.885" v="5201" actId="478"/>
          <ac:spMkLst>
            <pc:docMk/>
            <pc:sldMk cId="2722892588" sldId="354"/>
            <ac:spMk id="6" creationId="{6AAD6062-CD27-6D32-DBCC-78F648A28BF1}"/>
          </ac:spMkLst>
        </pc:spChg>
        <pc:graphicFrameChg chg="add mod modGraphic">
          <ac:chgData name="DYLAN YEO WEN FENG" userId="7214864c-bd38-4c7e-856f-3f63d5eb74a9" providerId="ADAL" clId="{416C8C09-F1DD-484A-8AD4-DD16A935A812}" dt="2025-11-14T02:59:38.554" v="5208" actId="12"/>
          <ac:graphicFrameMkLst>
            <pc:docMk/>
            <pc:sldMk cId="2722892588" sldId="354"/>
            <ac:graphicFrameMk id="4" creationId="{6CD01332-FD3A-7DAE-5013-C5B5B4CA3E32}"/>
          </ac:graphicFrameMkLst>
        </pc:graphicFrameChg>
      </pc:sldChg>
    </pc:docChg>
  </pc:docChgLst>
  <pc:docChgLst>
    <pc:chgData name="Zhao Hong LAU (TP)" userId="S::zhaohong@tp.edu.sg::f195b425-1f12-426c-964c-75b48c020563" providerId="AD" clId="Web-{2DF35D54-DF49-153E-1C77-532FD60EE751}"/>
    <pc:docChg chg="mod">
      <pc:chgData name="Zhao Hong LAU (TP)" userId="S::zhaohong@tp.edu.sg::f195b425-1f12-426c-964c-75b48c020563" providerId="AD" clId="Web-{2DF35D54-DF49-153E-1C77-532FD60EE751}" dt="2025-10-17T05:03:29.630" v="0"/>
      <pc:docMkLst>
        <pc:docMk/>
      </pc:docMkLst>
    </pc:docChg>
  </pc:docChgLst>
  <pc:docChgLst>
    <pc:chgData name="Ying Huey FUA (TP)" userId="S::yinghuey@tp.edu.sg::9e739b7e-414d-4e3b-ac6d-84564ba345a1" providerId="AD" clId="Web-{86ECAED1-48B8-CA79-0445-8E12A6B123C0}"/>
    <pc:docChg chg="mod">
      <pc:chgData name="Ying Huey FUA (TP)" userId="S::yinghuey@tp.edu.sg::9e739b7e-414d-4e3b-ac6d-84564ba345a1" providerId="AD" clId="Web-{86ECAED1-48B8-CA79-0445-8E12A6B123C0}" dt="2025-10-17T02:54:25.104" v="0"/>
      <pc:docMkLst>
        <pc:docMk/>
      </pc:docMkLst>
    </pc:docChg>
  </pc:docChgLst>
  <pc:docChgLst>
    <pc:chgData name="DYLAN YEO WEN FENG" userId="7214864c-bd38-4c7e-856f-3f63d5eb74a9" providerId="ADAL" clId="{998C3B9A-2FA8-4668-B7DC-E77C740F74E5}"/>
    <pc:docChg chg="undo custSel addSld delSld modSld sldOrd addSection modSection">
      <pc:chgData name="DYLAN YEO WEN FENG" userId="7214864c-bd38-4c7e-856f-3f63d5eb74a9" providerId="ADAL" clId="{998C3B9A-2FA8-4668-B7DC-E77C740F74E5}" dt="2025-10-25T11:26:32.198" v="8874" actId="14734"/>
      <pc:docMkLst>
        <pc:docMk/>
      </pc:docMkLst>
      <pc:sldChg chg="addSp modSp mod">
        <pc:chgData name="DYLAN YEO WEN FENG" userId="7214864c-bd38-4c7e-856f-3f63d5eb74a9" providerId="ADAL" clId="{998C3B9A-2FA8-4668-B7DC-E77C740F74E5}" dt="2025-10-23T13:18:29.286" v="113" actId="20577"/>
        <pc:sldMkLst>
          <pc:docMk/>
          <pc:sldMk cId="4241071106" sldId="278"/>
        </pc:sldMkLst>
        <pc:spChg chg="mod">
          <ac:chgData name="DYLAN YEO WEN FENG" userId="7214864c-bd38-4c7e-856f-3f63d5eb74a9" providerId="ADAL" clId="{998C3B9A-2FA8-4668-B7DC-E77C740F74E5}" dt="2025-10-23T13:18:29.286" v="113" actId="20577"/>
          <ac:spMkLst>
            <pc:docMk/>
            <pc:sldMk cId="4241071106" sldId="278"/>
            <ac:spMk id="3" creationId="{7C877F9F-D62A-45BB-9799-246A29611BAA}"/>
          </ac:spMkLst>
        </pc:spChg>
        <pc:picChg chg="add mod">
          <ac:chgData name="DYLAN YEO WEN FENG" userId="7214864c-bd38-4c7e-856f-3f63d5eb74a9" providerId="ADAL" clId="{998C3B9A-2FA8-4668-B7DC-E77C740F74E5}" dt="2025-10-23T13:16:37.116" v="61"/>
          <ac:picMkLst>
            <pc:docMk/>
            <pc:sldMk cId="4241071106" sldId="278"/>
            <ac:picMk id="4" creationId="{D5D6A92B-9E5C-D48F-1D24-E44980BBA1A3}"/>
          </ac:picMkLst>
        </pc:picChg>
      </pc:sldChg>
      <pc:sldChg chg="modSp mod">
        <pc:chgData name="DYLAN YEO WEN FENG" userId="7214864c-bd38-4c7e-856f-3f63d5eb74a9" providerId="ADAL" clId="{998C3B9A-2FA8-4668-B7DC-E77C740F74E5}" dt="2025-10-23T12:37:49.610" v="60" actId="12788"/>
        <pc:sldMkLst>
          <pc:docMk/>
          <pc:sldMk cId="3181263118" sldId="292"/>
        </pc:sldMkLst>
        <pc:spChg chg="mod">
          <ac:chgData name="DYLAN YEO WEN FENG" userId="7214864c-bd38-4c7e-856f-3f63d5eb74a9" providerId="ADAL" clId="{998C3B9A-2FA8-4668-B7DC-E77C740F74E5}" dt="2025-10-23T11:55:19.011" v="16" actId="12788"/>
          <ac:spMkLst>
            <pc:docMk/>
            <pc:sldMk cId="3181263118" sldId="292"/>
            <ac:spMk id="3" creationId="{5331E56D-DBB6-4920-8873-6BFF4DD931A4}"/>
          </ac:spMkLst>
        </pc:spChg>
        <pc:spChg chg="mod">
          <ac:chgData name="DYLAN YEO WEN FENG" userId="7214864c-bd38-4c7e-856f-3f63d5eb74a9" providerId="ADAL" clId="{998C3B9A-2FA8-4668-B7DC-E77C740F74E5}" dt="2025-10-23T12:37:42.515" v="58" actId="12788"/>
          <ac:spMkLst>
            <pc:docMk/>
            <pc:sldMk cId="3181263118" sldId="292"/>
            <ac:spMk id="4" creationId="{DD8A0C03-BBA9-4AD2-9755-EAEAF6113563}"/>
          </ac:spMkLst>
        </pc:spChg>
        <pc:spChg chg="mod">
          <ac:chgData name="DYLAN YEO WEN FENG" userId="7214864c-bd38-4c7e-856f-3f63d5eb74a9" providerId="ADAL" clId="{998C3B9A-2FA8-4668-B7DC-E77C740F74E5}" dt="2025-10-23T12:37:49.610" v="60" actId="12788"/>
          <ac:spMkLst>
            <pc:docMk/>
            <pc:sldMk cId="3181263118" sldId="292"/>
            <ac:spMk id="5" creationId="{1B0C6BD1-AE9F-D085-E782-1457F1CA441F}"/>
          </ac:spMkLst>
        </pc:spChg>
        <pc:spChg chg="mod">
          <ac:chgData name="DYLAN YEO WEN FENG" userId="7214864c-bd38-4c7e-856f-3f63d5eb74a9" providerId="ADAL" clId="{998C3B9A-2FA8-4668-B7DC-E77C740F74E5}" dt="2025-10-23T12:37:46.316" v="59" actId="12788"/>
          <ac:spMkLst>
            <pc:docMk/>
            <pc:sldMk cId="3181263118" sldId="292"/>
            <ac:spMk id="6" creationId="{D8258169-E062-40F0-8371-2EA35A7D9BA1}"/>
          </ac:spMkLst>
        </pc:spChg>
      </pc:sldChg>
      <pc:sldChg chg="addSp delSp modSp mod">
        <pc:chgData name="DYLAN YEO WEN FENG" userId="7214864c-bd38-4c7e-856f-3f63d5eb74a9" providerId="ADAL" clId="{998C3B9A-2FA8-4668-B7DC-E77C740F74E5}" dt="2025-10-23T14:06:37.705" v="458" actId="20577"/>
        <pc:sldMkLst>
          <pc:docMk/>
          <pc:sldMk cId="3659370152" sldId="311"/>
        </pc:sldMkLst>
        <pc:graphicFrameChg chg="add mod modGraphic">
          <ac:chgData name="DYLAN YEO WEN FENG" userId="7214864c-bd38-4c7e-856f-3f63d5eb74a9" providerId="ADAL" clId="{998C3B9A-2FA8-4668-B7DC-E77C740F74E5}" dt="2025-10-23T14:06:37.705" v="458" actId="20577"/>
          <ac:graphicFrameMkLst>
            <pc:docMk/>
            <pc:sldMk cId="3659370152" sldId="311"/>
            <ac:graphicFrameMk id="4" creationId="{FDD10CA0-C2DC-B756-B64D-6ED30734DDAE}"/>
          </ac:graphicFrameMkLst>
        </pc:graphicFrameChg>
      </pc:sldChg>
      <pc:sldChg chg="modSp mod">
        <pc:chgData name="DYLAN YEO WEN FENG" userId="7214864c-bd38-4c7e-856f-3f63d5eb74a9" providerId="ADAL" clId="{998C3B9A-2FA8-4668-B7DC-E77C740F74E5}" dt="2025-10-23T13:19:30.517" v="145" actId="13926"/>
        <pc:sldMkLst>
          <pc:docMk/>
          <pc:sldMk cId="1420197039" sldId="313"/>
        </pc:sldMkLst>
        <pc:spChg chg="mod">
          <ac:chgData name="DYLAN YEO WEN FENG" userId="7214864c-bd38-4c7e-856f-3f63d5eb74a9" providerId="ADAL" clId="{998C3B9A-2FA8-4668-B7DC-E77C740F74E5}" dt="2025-10-23T13:19:30.517" v="145" actId="13926"/>
          <ac:spMkLst>
            <pc:docMk/>
            <pc:sldMk cId="1420197039" sldId="313"/>
            <ac:spMk id="3" creationId="{C8760CD5-405C-869B-BC45-A94C15FE2050}"/>
          </ac:spMkLst>
        </pc:spChg>
      </pc:sldChg>
      <pc:sldChg chg="modSp mod">
        <pc:chgData name="DYLAN YEO WEN FENG" userId="7214864c-bd38-4c7e-856f-3f63d5eb74a9" providerId="ADAL" clId="{998C3B9A-2FA8-4668-B7DC-E77C740F74E5}" dt="2025-10-23T14:02:34.138" v="442" actId="20577"/>
        <pc:sldMkLst>
          <pc:docMk/>
          <pc:sldMk cId="116405638" sldId="314"/>
        </pc:sldMkLst>
        <pc:spChg chg="mod">
          <ac:chgData name="DYLAN YEO WEN FENG" userId="7214864c-bd38-4c7e-856f-3f63d5eb74a9" providerId="ADAL" clId="{998C3B9A-2FA8-4668-B7DC-E77C740F74E5}" dt="2025-10-23T14:02:34.138" v="442" actId="20577"/>
          <ac:spMkLst>
            <pc:docMk/>
            <pc:sldMk cId="116405638" sldId="314"/>
            <ac:spMk id="10" creationId="{9877B34D-A3FD-6731-5308-300BCCC5C733}"/>
          </ac:spMkLst>
        </pc:spChg>
      </pc:sldChg>
      <pc:sldChg chg="modSp mod">
        <pc:chgData name="DYLAN YEO WEN FENG" userId="7214864c-bd38-4c7e-856f-3f63d5eb74a9" providerId="ADAL" clId="{998C3B9A-2FA8-4668-B7DC-E77C740F74E5}" dt="2025-10-23T13:19:13.889" v="144" actId="2711"/>
        <pc:sldMkLst>
          <pc:docMk/>
          <pc:sldMk cId="4011785602" sldId="315"/>
        </pc:sldMkLst>
        <pc:spChg chg="mod">
          <ac:chgData name="DYLAN YEO WEN FENG" userId="7214864c-bd38-4c7e-856f-3f63d5eb74a9" providerId="ADAL" clId="{998C3B9A-2FA8-4668-B7DC-E77C740F74E5}" dt="2025-10-23T13:19:06.314" v="143" actId="20577"/>
          <ac:spMkLst>
            <pc:docMk/>
            <pc:sldMk cId="4011785602" sldId="315"/>
            <ac:spMk id="2" creationId="{791E037A-6BE5-7A11-AEC6-913324BAC69F}"/>
          </ac:spMkLst>
        </pc:spChg>
        <pc:spChg chg="mod">
          <ac:chgData name="DYLAN YEO WEN FENG" userId="7214864c-bd38-4c7e-856f-3f63d5eb74a9" providerId="ADAL" clId="{998C3B9A-2FA8-4668-B7DC-E77C740F74E5}" dt="2025-10-23T13:19:13.889" v="144" actId="2711"/>
          <ac:spMkLst>
            <pc:docMk/>
            <pc:sldMk cId="4011785602" sldId="315"/>
            <ac:spMk id="5" creationId="{60EFE433-EAE2-4855-84B2-7012E3FCB36E}"/>
          </ac:spMkLst>
        </pc:spChg>
      </pc:sldChg>
      <pc:sldChg chg="delSp modSp mod">
        <pc:chgData name="DYLAN YEO WEN FENG" userId="7214864c-bd38-4c7e-856f-3f63d5eb74a9" providerId="ADAL" clId="{998C3B9A-2FA8-4668-B7DC-E77C740F74E5}" dt="2025-10-24T12:30:33.560" v="3342" actId="20577"/>
        <pc:sldMkLst>
          <pc:docMk/>
          <pc:sldMk cId="3971626930" sldId="316"/>
        </pc:sldMkLst>
        <pc:spChg chg="mod">
          <ac:chgData name="DYLAN YEO WEN FENG" userId="7214864c-bd38-4c7e-856f-3f63d5eb74a9" providerId="ADAL" clId="{998C3B9A-2FA8-4668-B7DC-E77C740F74E5}" dt="2025-10-24T12:30:33.560" v="3342" actId="20577"/>
          <ac:spMkLst>
            <pc:docMk/>
            <pc:sldMk cId="3971626930" sldId="316"/>
            <ac:spMk id="3" creationId="{33470A05-E2C0-BC32-CE16-D1FB03A78EBF}"/>
          </ac:spMkLst>
        </pc:spChg>
      </pc:sldChg>
      <pc:sldChg chg="addSp delSp modSp mod">
        <pc:chgData name="DYLAN YEO WEN FENG" userId="7214864c-bd38-4c7e-856f-3f63d5eb74a9" providerId="ADAL" clId="{998C3B9A-2FA8-4668-B7DC-E77C740F74E5}" dt="2025-10-23T13:59:46.373" v="419" actId="20577"/>
        <pc:sldMkLst>
          <pc:docMk/>
          <pc:sldMk cId="3059070867" sldId="319"/>
        </pc:sldMkLst>
        <pc:spChg chg="add mod">
          <ac:chgData name="DYLAN YEO WEN FENG" userId="7214864c-bd38-4c7e-856f-3f63d5eb74a9" providerId="ADAL" clId="{998C3B9A-2FA8-4668-B7DC-E77C740F74E5}" dt="2025-10-23T13:59:46.373" v="419" actId="20577"/>
          <ac:spMkLst>
            <pc:docMk/>
            <pc:sldMk cId="3059070867" sldId="319"/>
            <ac:spMk id="7" creationId="{75A87913-0592-AAB5-DDAF-96D8B3348D2D}"/>
          </ac:spMkLst>
        </pc:spChg>
        <pc:picChg chg="add mod">
          <ac:chgData name="DYLAN YEO WEN FENG" userId="7214864c-bd38-4c7e-856f-3f63d5eb74a9" providerId="ADAL" clId="{998C3B9A-2FA8-4668-B7DC-E77C740F74E5}" dt="2025-10-23T13:58:50.633" v="411" actId="14826"/>
          <ac:picMkLst>
            <pc:docMk/>
            <pc:sldMk cId="3059070867" sldId="319"/>
            <ac:picMk id="6" creationId="{86FD4080-463A-CBA2-D9EE-1C21D8294C17}"/>
          </ac:picMkLst>
        </pc:picChg>
      </pc:sldChg>
      <pc:sldChg chg="delSp modSp mod">
        <pc:chgData name="DYLAN YEO WEN FENG" userId="7214864c-bd38-4c7e-856f-3f63d5eb74a9" providerId="ADAL" clId="{998C3B9A-2FA8-4668-B7DC-E77C740F74E5}" dt="2025-10-25T09:51:53.741" v="6118" actId="20577"/>
        <pc:sldMkLst>
          <pc:docMk/>
          <pc:sldMk cId="2661011237" sldId="322"/>
        </pc:sldMkLst>
        <pc:graphicFrameChg chg="mod modGraphic">
          <ac:chgData name="DYLAN YEO WEN FENG" userId="7214864c-bd38-4c7e-856f-3f63d5eb74a9" providerId="ADAL" clId="{998C3B9A-2FA8-4668-B7DC-E77C740F74E5}" dt="2025-10-25T09:51:53.741" v="6118" actId="20577"/>
          <ac:graphicFrameMkLst>
            <pc:docMk/>
            <pc:sldMk cId="2661011237" sldId="322"/>
            <ac:graphicFrameMk id="6" creationId="{8C9709C9-5184-9A01-C86C-9141AB001067}"/>
          </ac:graphicFrameMkLst>
        </pc:graphicFrameChg>
      </pc:sldChg>
      <pc:sldChg chg="delSp modSp mod">
        <pc:chgData name="DYLAN YEO WEN FENG" userId="7214864c-bd38-4c7e-856f-3f63d5eb74a9" providerId="ADAL" clId="{998C3B9A-2FA8-4668-B7DC-E77C740F74E5}" dt="2025-10-24T11:20:31.646" v="2837" actId="20577"/>
        <pc:sldMkLst>
          <pc:docMk/>
          <pc:sldMk cId="2627074424" sldId="325"/>
        </pc:sldMkLst>
        <pc:graphicFrameChg chg="mod modGraphic">
          <ac:chgData name="DYLAN YEO WEN FENG" userId="7214864c-bd38-4c7e-856f-3f63d5eb74a9" providerId="ADAL" clId="{998C3B9A-2FA8-4668-B7DC-E77C740F74E5}" dt="2025-10-24T11:20:31.646" v="2837" actId="20577"/>
          <ac:graphicFrameMkLst>
            <pc:docMk/>
            <pc:sldMk cId="2627074424" sldId="325"/>
            <ac:graphicFrameMk id="6" creationId="{B1D23553-067A-4514-E11B-458EE92CEC93}"/>
          </ac:graphicFrameMkLst>
        </pc:graphicFrameChg>
      </pc:sldChg>
      <pc:sldChg chg="modSp add mod">
        <pc:chgData name="DYLAN YEO WEN FENG" userId="7214864c-bd38-4c7e-856f-3f63d5eb74a9" providerId="ADAL" clId="{998C3B9A-2FA8-4668-B7DC-E77C740F74E5}" dt="2025-10-23T13:53:36.299" v="226" actId="20577"/>
        <pc:sldMkLst>
          <pc:docMk/>
          <pc:sldMk cId="2883086049" sldId="327"/>
        </pc:sldMkLst>
        <pc:spChg chg="mod">
          <ac:chgData name="DYLAN YEO WEN FENG" userId="7214864c-bd38-4c7e-856f-3f63d5eb74a9" providerId="ADAL" clId="{998C3B9A-2FA8-4668-B7DC-E77C740F74E5}" dt="2025-10-23T13:53:36.299" v="226" actId="20577"/>
          <ac:spMkLst>
            <pc:docMk/>
            <pc:sldMk cId="2883086049" sldId="327"/>
            <ac:spMk id="7" creationId="{7EBFEB2A-45F7-2D1B-E9E0-AA83F16BE875}"/>
          </ac:spMkLst>
        </pc:spChg>
        <pc:picChg chg="mod">
          <ac:chgData name="DYLAN YEO WEN FENG" userId="7214864c-bd38-4c7e-856f-3f63d5eb74a9" providerId="ADAL" clId="{998C3B9A-2FA8-4668-B7DC-E77C740F74E5}" dt="2025-10-23T13:52:23.174" v="214" actId="14826"/>
          <ac:picMkLst>
            <pc:docMk/>
            <pc:sldMk cId="2883086049" sldId="327"/>
            <ac:picMk id="6" creationId="{1F624183-734B-3765-79AD-0431077B6B82}"/>
          </ac:picMkLst>
        </pc:picChg>
      </pc:sldChg>
      <pc:sldChg chg="modSp add mod">
        <pc:chgData name="DYLAN YEO WEN FENG" userId="7214864c-bd38-4c7e-856f-3f63d5eb74a9" providerId="ADAL" clId="{998C3B9A-2FA8-4668-B7DC-E77C740F74E5}" dt="2025-10-23T13:59:11.234" v="412" actId="14826"/>
        <pc:sldMkLst>
          <pc:docMk/>
          <pc:sldMk cId="3302953706" sldId="328"/>
        </pc:sldMkLst>
        <pc:spChg chg="mod">
          <ac:chgData name="DYLAN YEO WEN FENG" userId="7214864c-bd38-4c7e-856f-3f63d5eb74a9" providerId="ADAL" clId="{998C3B9A-2FA8-4668-B7DC-E77C740F74E5}" dt="2025-10-23T13:55:17.359" v="409" actId="20577"/>
          <ac:spMkLst>
            <pc:docMk/>
            <pc:sldMk cId="3302953706" sldId="328"/>
            <ac:spMk id="7" creationId="{F6010367-9577-D2FD-C69F-0B5EDD614A06}"/>
          </ac:spMkLst>
        </pc:spChg>
        <pc:picChg chg="mod">
          <ac:chgData name="DYLAN YEO WEN FENG" userId="7214864c-bd38-4c7e-856f-3f63d5eb74a9" providerId="ADAL" clId="{998C3B9A-2FA8-4668-B7DC-E77C740F74E5}" dt="2025-10-23T13:59:11.234" v="412" actId="14826"/>
          <ac:picMkLst>
            <pc:docMk/>
            <pc:sldMk cId="3302953706" sldId="328"/>
            <ac:picMk id="6" creationId="{B7B13CAA-9877-A380-D876-76FF34CAF008}"/>
          </ac:picMkLst>
        </pc:picChg>
      </pc:sldChg>
      <pc:sldChg chg="modSp add mod">
        <pc:chgData name="DYLAN YEO WEN FENG" userId="7214864c-bd38-4c7e-856f-3f63d5eb74a9" providerId="ADAL" clId="{998C3B9A-2FA8-4668-B7DC-E77C740F74E5}" dt="2025-10-23T13:59:39.948" v="418" actId="20577"/>
        <pc:sldMkLst>
          <pc:docMk/>
          <pc:sldMk cId="2603726314" sldId="329"/>
        </pc:sldMkLst>
        <pc:spChg chg="mod">
          <ac:chgData name="DYLAN YEO WEN FENG" userId="7214864c-bd38-4c7e-856f-3f63d5eb74a9" providerId="ADAL" clId="{998C3B9A-2FA8-4668-B7DC-E77C740F74E5}" dt="2025-10-23T13:59:39.948" v="418" actId="20577"/>
          <ac:spMkLst>
            <pc:docMk/>
            <pc:sldMk cId="2603726314" sldId="329"/>
            <ac:spMk id="7" creationId="{AC50B03A-9C21-F769-5576-13FC73DFFBE6}"/>
          </ac:spMkLst>
        </pc:spChg>
        <pc:picChg chg="mod">
          <ac:chgData name="DYLAN YEO WEN FENG" userId="7214864c-bd38-4c7e-856f-3f63d5eb74a9" providerId="ADAL" clId="{998C3B9A-2FA8-4668-B7DC-E77C740F74E5}" dt="2025-10-23T13:59:19.257" v="413" actId="14826"/>
          <ac:picMkLst>
            <pc:docMk/>
            <pc:sldMk cId="2603726314" sldId="329"/>
            <ac:picMk id="6" creationId="{7B766FF9-0B63-948D-4236-FF3FAA6731D3}"/>
          </ac:picMkLst>
        </pc:picChg>
      </pc:sldChg>
      <pc:sldChg chg="addSp delSp modSp add del mod">
        <pc:chgData name="DYLAN YEO WEN FENG" userId="7214864c-bd38-4c7e-856f-3f63d5eb74a9" providerId="ADAL" clId="{998C3B9A-2FA8-4668-B7DC-E77C740F74E5}" dt="2025-10-25T08:55:53.377" v="5879" actId="2696"/>
        <pc:sldMkLst>
          <pc:docMk/>
          <pc:sldMk cId="3707489386" sldId="330"/>
        </pc:sldMkLst>
        <pc:spChg chg="add mod">
          <ac:chgData name="DYLAN YEO WEN FENG" userId="7214864c-bd38-4c7e-856f-3f63d5eb74a9" providerId="ADAL" clId="{998C3B9A-2FA8-4668-B7DC-E77C740F74E5}" dt="2025-10-23T14:29:13.507" v="491" actId="20577"/>
          <ac:spMkLst>
            <pc:docMk/>
            <pc:sldMk cId="3707489386" sldId="330"/>
            <ac:spMk id="5" creationId="{2E54EDC3-4363-28B1-35A5-884315090AC8}"/>
          </ac:spMkLst>
        </pc:spChg>
        <pc:picChg chg="add mod">
          <ac:chgData name="DYLAN YEO WEN FENG" userId="7214864c-bd38-4c7e-856f-3f63d5eb74a9" providerId="ADAL" clId="{998C3B9A-2FA8-4668-B7DC-E77C740F74E5}" dt="2025-10-23T14:28:18.806" v="486" actId="962"/>
          <ac:picMkLst>
            <pc:docMk/>
            <pc:sldMk cId="3707489386" sldId="330"/>
            <ac:picMk id="9" creationId="{477297BA-4125-2E52-6A52-83F3CEE5775C}"/>
          </ac:picMkLst>
        </pc:picChg>
      </pc:sldChg>
      <pc:sldChg chg="addSp delSp modSp new mod">
        <pc:chgData name="DYLAN YEO WEN FENG" userId="7214864c-bd38-4c7e-856f-3f63d5eb74a9" providerId="ADAL" clId="{998C3B9A-2FA8-4668-B7DC-E77C740F74E5}" dt="2025-10-25T09:52:16.413" v="6122" actId="14734"/>
        <pc:sldMkLst>
          <pc:docMk/>
          <pc:sldMk cId="3047898397" sldId="332"/>
        </pc:sldMkLst>
        <pc:spChg chg="mod">
          <ac:chgData name="DYLAN YEO WEN FENG" userId="7214864c-bd38-4c7e-856f-3f63d5eb74a9" providerId="ADAL" clId="{998C3B9A-2FA8-4668-B7DC-E77C740F74E5}" dt="2025-10-24T11:21:15.582" v="2852" actId="20577"/>
          <ac:spMkLst>
            <pc:docMk/>
            <pc:sldMk cId="3047898397" sldId="332"/>
            <ac:spMk id="2" creationId="{FAEFEDB5-2AE9-808B-3809-59AD4961F749}"/>
          </ac:spMkLst>
        </pc:spChg>
        <pc:graphicFrameChg chg="add mod ord modGraphic">
          <ac:chgData name="DYLAN YEO WEN FENG" userId="7214864c-bd38-4c7e-856f-3f63d5eb74a9" providerId="ADAL" clId="{998C3B9A-2FA8-4668-B7DC-E77C740F74E5}" dt="2025-10-25T09:52:16.413" v="6122" actId="14734"/>
          <ac:graphicFrameMkLst>
            <pc:docMk/>
            <pc:sldMk cId="3047898397" sldId="332"/>
            <ac:graphicFrameMk id="4" creationId="{C8D846BB-3579-10E0-50AF-97082C63EAF3}"/>
          </ac:graphicFrameMkLst>
        </pc:graphicFrameChg>
      </pc:sldChg>
      <pc:sldChg chg="modSp add mod ord">
        <pc:chgData name="DYLAN YEO WEN FENG" userId="7214864c-bd38-4c7e-856f-3f63d5eb74a9" providerId="ADAL" clId="{998C3B9A-2FA8-4668-B7DC-E77C740F74E5}" dt="2025-10-24T09:02:35.678" v="1933" actId="255"/>
        <pc:sldMkLst>
          <pc:docMk/>
          <pc:sldMk cId="4224965716" sldId="333"/>
        </pc:sldMkLst>
        <pc:graphicFrameChg chg="mod modGraphic">
          <ac:chgData name="DYLAN YEO WEN FENG" userId="7214864c-bd38-4c7e-856f-3f63d5eb74a9" providerId="ADAL" clId="{998C3B9A-2FA8-4668-B7DC-E77C740F74E5}" dt="2025-10-24T09:02:35.678" v="1933" actId="255"/>
          <ac:graphicFrameMkLst>
            <pc:docMk/>
            <pc:sldMk cId="4224965716" sldId="333"/>
            <ac:graphicFrameMk id="6" creationId="{09ECFA42-05A0-A07A-EE79-B07B225A7016}"/>
          </ac:graphicFrameMkLst>
        </pc:graphicFrameChg>
      </pc:sldChg>
      <pc:sldChg chg="modSp add mod ord">
        <pc:chgData name="DYLAN YEO WEN FENG" userId="7214864c-bd38-4c7e-856f-3f63d5eb74a9" providerId="ADAL" clId="{998C3B9A-2FA8-4668-B7DC-E77C740F74E5}" dt="2025-10-25T07:58:14.612" v="3545" actId="20577"/>
        <pc:sldMkLst>
          <pc:docMk/>
          <pc:sldMk cId="1914817713" sldId="334"/>
        </pc:sldMkLst>
        <pc:spChg chg="mod">
          <ac:chgData name="DYLAN YEO WEN FENG" userId="7214864c-bd38-4c7e-856f-3f63d5eb74a9" providerId="ADAL" clId="{998C3B9A-2FA8-4668-B7DC-E77C740F74E5}" dt="2025-10-24T11:21:21.761" v="2863" actId="20577"/>
          <ac:spMkLst>
            <pc:docMk/>
            <pc:sldMk cId="1914817713" sldId="334"/>
            <ac:spMk id="2" creationId="{8E26DDAC-BFF7-522B-3066-F5C3EF11AE7D}"/>
          </ac:spMkLst>
        </pc:spChg>
        <pc:graphicFrameChg chg="mod modGraphic">
          <ac:chgData name="DYLAN YEO WEN FENG" userId="7214864c-bd38-4c7e-856f-3f63d5eb74a9" providerId="ADAL" clId="{998C3B9A-2FA8-4668-B7DC-E77C740F74E5}" dt="2025-10-25T07:58:14.612" v="3545" actId="20577"/>
          <ac:graphicFrameMkLst>
            <pc:docMk/>
            <pc:sldMk cId="1914817713" sldId="334"/>
            <ac:graphicFrameMk id="4" creationId="{2C947685-5068-B0A8-A00B-B3991588D48A}"/>
          </ac:graphicFrameMkLst>
        </pc:graphicFrameChg>
      </pc:sldChg>
      <pc:sldChg chg="modSp add mod ord">
        <pc:chgData name="DYLAN YEO WEN FENG" userId="7214864c-bd38-4c7e-856f-3f63d5eb74a9" providerId="ADAL" clId="{998C3B9A-2FA8-4668-B7DC-E77C740F74E5}" dt="2025-10-25T08:21:37.877" v="4489" actId="33524"/>
        <pc:sldMkLst>
          <pc:docMk/>
          <pc:sldMk cId="1655476970" sldId="335"/>
        </pc:sldMkLst>
        <pc:spChg chg="mod">
          <ac:chgData name="DYLAN YEO WEN FENG" userId="7214864c-bd38-4c7e-856f-3f63d5eb74a9" providerId="ADAL" clId="{998C3B9A-2FA8-4668-B7DC-E77C740F74E5}" dt="2025-10-24T11:21:26.493" v="2868" actId="20577"/>
          <ac:spMkLst>
            <pc:docMk/>
            <pc:sldMk cId="1655476970" sldId="335"/>
            <ac:spMk id="2" creationId="{63579154-7A17-1064-0E9A-A9A124E77147}"/>
          </ac:spMkLst>
        </pc:spChg>
        <pc:graphicFrameChg chg="mod modGraphic">
          <ac:chgData name="DYLAN YEO WEN FENG" userId="7214864c-bd38-4c7e-856f-3f63d5eb74a9" providerId="ADAL" clId="{998C3B9A-2FA8-4668-B7DC-E77C740F74E5}" dt="2025-10-25T08:21:37.877" v="4489" actId="33524"/>
          <ac:graphicFrameMkLst>
            <pc:docMk/>
            <pc:sldMk cId="1655476970" sldId="335"/>
            <ac:graphicFrameMk id="4" creationId="{D9C8EE49-D3A5-525D-E182-FA5E4D19EB84}"/>
          </ac:graphicFrameMkLst>
        </pc:graphicFrameChg>
      </pc:sldChg>
      <pc:sldChg chg="modSp new mod">
        <pc:chgData name="DYLAN YEO WEN FENG" userId="7214864c-bd38-4c7e-856f-3f63d5eb74a9" providerId="ADAL" clId="{998C3B9A-2FA8-4668-B7DC-E77C740F74E5}" dt="2025-10-25T11:18:25.744" v="8742" actId="20577"/>
        <pc:sldMkLst>
          <pc:docMk/>
          <pc:sldMk cId="3246093075" sldId="336"/>
        </pc:sldMkLst>
        <pc:spChg chg="mod">
          <ac:chgData name="DYLAN YEO WEN FENG" userId="7214864c-bd38-4c7e-856f-3f63d5eb74a9" providerId="ADAL" clId="{998C3B9A-2FA8-4668-B7DC-E77C740F74E5}" dt="2025-10-24T15:02:52.054" v="3348"/>
          <ac:spMkLst>
            <pc:docMk/>
            <pc:sldMk cId="3246093075" sldId="336"/>
            <ac:spMk id="2" creationId="{2B2CADB7-6740-A369-1582-7E29C015D574}"/>
          </ac:spMkLst>
        </pc:spChg>
        <pc:spChg chg="mod">
          <ac:chgData name="DYLAN YEO WEN FENG" userId="7214864c-bd38-4c7e-856f-3f63d5eb74a9" providerId="ADAL" clId="{998C3B9A-2FA8-4668-B7DC-E77C740F74E5}" dt="2025-10-25T11:18:25.744" v="8742" actId="20577"/>
          <ac:spMkLst>
            <pc:docMk/>
            <pc:sldMk cId="3246093075" sldId="336"/>
            <ac:spMk id="3" creationId="{038C5567-F342-F0E7-0D1A-75625E24B0D0}"/>
          </ac:spMkLst>
        </pc:spChg>
      </pc:sldChg>
      <pc:sldChg chg="modSp add mod">
        <pc:chgData name="DYLAN YEO WEN FENG" userId="7214864c-bd38-4c7e-856f-3f63d5eb74a9" providerId="ADAL" clId="{998C3B9A-2FA8-4668-B7DC-E77C740F74E5}" dt="2025-10-25T08:31:24.785" v="5112" actId="20577"/>
        <pc:sldMkLst>
          <pc:docMk/>
          <pc:sldMk cId="2771601543" sldId="337"/>
        </pc:sldMkLst>
        <pc:graphicFrameChg chg="mod modGraphic">
          <ac:chgData name="DYLAN YEO WEN FENG" userId="7214864c-bd38-4c7e-856f-3f63d5eb74a9" providerId="ADAL" clId="{998C3B9A-2FA8-4668-B7DC-E77C740F74E5}" dt="2025-10-25T08:31:24.785" v="5112" actId="20577"/>
          <ac:graphicFrameMkLst>
            <pc:docMk/>
            <pc:sldMk cId="2771601543" sldId="337"/>
            <ac:graphicFrameMk id="4" creationId="{C8CE53A6-6D15-DC6B-59C4-5CF97F0AB976}"/>
          </ac:graphicFrameMkLst>
        </pc:graphicFrameChg>
      </pc:sldChg>
      <pc:sldChg chg="addSp delSp modSp add mod ord">
        <pc:chgData name="DYLAN YEO WEN FENG" userId="7214864c-bd38-4c7e-856f-3f63d5eb74a9" providerId="ADAL" clId="{998C3B9A-2FA8-4668-B7DC-E77C740F74E5}" dt="2025-10-25T08:39:59.257" v="5445" actId="20577"/>
        <pc:sldMkLst>
          <pc:docMk/>
          <pc:sldMk cId="2490102658" sldId="339"/>
        </pc:sldMkLst>
        <pc:graphicFrameChg chg="add del mod modGraphic">
          <ac:chgData name="DYLAN YEO WEN FENG" userId="7214864c-bd38-4c7e-856f-3f63d5eb74a9" providerId="ADAL" clId="{998C3B9A-2FA8-4668-B7DC-E77C740F74E5}" dt="2025-10-25T08:39:59.257" v="5445" actId="20577"/>
          <ac:graphicFrameMkLst>
            <pc:docMk/>
            <pc:sldMk cId="2490102658" sldId="339"/>
            <ac:graphicFrameMk id="6" creationId="{1F81AC00-0DCE-AE25-13E2-6E43F873279D}"/>
          </ac:graphicFrameMkLst>
        </pc:graphicFrameChg>
      </pc:sldChg>
      <pc:sldChg chg="modSp add mod ord">
        <pc:chgData name="DYLAN YEO WEN FENG" userId="7214864c-bd38-4c7e-856f-3f63d5eb74a9" providerId="ADAL" clId="{998C3B9A-2FA8-4668-B7DC-E77C740F74E5}" dt="2025-10-25T08:44:25.244" v="5654" actId="113"/>
        <pc:sldMkLst>
          <pc:docMk/>
          <pc:sldMk cId="1490399078" sldId="340"/>
        </pc:sldMkLst>
        <pc:spChg chg="mod">
          <ac:chgData name="DYLAN YEO WEN FENG" userId="7214864c-bd38-4c7e-856f-3f63d5eb74a9" providerId="ADAL" clId="{998C3B9A-2FA8-4668-B7DC-E77C740F74E5}" dt="2025-10-25T08:40:11.647" v="5455" actId="20577"/>
          <ac:spMkLst>
            <pc:docMk/>
            <pc:sldMk cId="1490399078" sldId="340"/>
            <ac:spMk id="2" creationId="{874E7FEC-EEE7-2592-C973-E279A48C8337}"/>
          </ac:spMkLst>
        </pc:spChg>
        <pc:graphicFrameChg chg="mod modGraphic">
          <ac:chgData name="DYLAN YEO WEN FENG" userId="7214864c-bd38-4c7e-856f-3f63d5eb74a9" providerId="ADAL" clId="{998C3B9A-2FA8-4668-B7DC-E77C740F74E5}" dt="2025-10-25T08:44:25.244" v="5654" actId="113"/>
          <ac:graphicFrameMkLst>
            <pc:docMk/>
            <pc:sldMk cId="1490399078" sldId="340"/>
            <ac:graphicFrameMk id="4" creationId="{11E32672-CB7A-5BDE-6193-4AE66B1FAEDD}"/>
          </ac:graphicFrameMkLst>
        </pc:graphicFrameChg>
      </pc:sldChg>
      <pc:sldChg chg="modSp add mod ord">
        <pc:chgData name="DYLAN YEO WEN FENG" userId="7214864c-bd38-4c7e-856f-3f63d5eb74a9" providerId="ADAL" clId="{998C3B9A-2FA8-4668-B7DC-E77C740F74E5}" dt="2025-10-25T10:39:31.930" v="6542" actId="20577"/>
        <pc:sldMkLst>
          <pc:docMk/>
          <pc:sldMk cId="361715999" sldId="341"/>
        </pc:sldMkLst>
        <pc:spChg chg="mod">
          <ac:chgData name="DYLAN YEO WEN FENG" userId="7214864c-bd38-4c7e-856f-3f63d5eb74a9" providerId="ADAL" clId="{998C3B9A-2FA8-4668-B7DC-E77C740F74E5}" dt="2025-10-25T08:46:56.557" v="5877" actId="20577"/>
          <ac:spMkLst>
            <pc:docMk/>
            <pc:sldMk cId="361715999" sldId="341"/>
            <ac:spMk id="2" creationId="{4C905381-9415-BF96-EF5D-A3469A384769}"/>
          </ac:spMkLst>
        </pc:spChg>
        <pc:graphicFrameChg chg="mod modGraphic">
          <ac:chgData name="DYLAN YEO WEN FENG" userId="7214864c-bd38-4c7e-856f-3f63d5eb74a9" providerId="ADAL" clId="{998C3B9A-2FA8-4668-B7DC-E77C740F74E5}" dt="2025-10-25T10:39:31.930" v="6542" actId="20577"/>
          <ac:graphicFrameMkLst>
            <pc:docMk/>
            <pc:sldMk cId="361715999" sldId="341"/>
            <ac:graphicFrameMk id="6" creationId="{1002EB8D-FF9B-BFF4-169B-3FD101FC4AA3}"/>
          </ac:graphicFrameMkLst>
        </pc:graphicFrameChg>
      </pc:sldChg>
      <pc:sldChg chg="modSp add mod">
        <pc:chgData name="DYLAN YEO WEN FENG" userId="7214864c-bd38-4c7e-856f-3f63d5eb74a9" providerId="ADAL" clId="{998C3B9A-2FA8-4668-B7DC-E77C740F74E5}" dt="2025-10-25T08:56:29.468" v="5915" actId="14826"/>
        <pc:sldMkLst>
          <pc:docMk/>
          <pc:sldMk cId="1064286725" sldId="342"/>
        </pc:sldMkLst>
        <pc:spChg chg="mod">
          <ac:chgData name="DYLAN YEO WEN FENG" userId="7214864c-bd38-4c7e-856f-3f63d5eb74a9" providerId="ADAL" clId="{998C3B9A-2FA8-4668-B7DC-E77C740F74E5}" dt="2025-10-25T08:56:15.212" v="5914" actId="20577"/>
          <ac:spMkLst>
            <pc:docMk/>
            <pc:sldMk cId="1064286725" sldId="342"/>
            <ac:spMk id="5" creationId="{C5E0BF3F-8C29-B439-AA91-3368269C94F4}"/>
          </ac:spMkLst>
        </pc:spChg>
        <pc:picChg chg="mod">
          <ac:chgData name="DYLAN YEO WEN FENG" userId="7214864c-bd38-4c7e-856f-3f63d5eb74a9" providerId="ADAL" clId="{998C3B9A-2FA8-4668-B7DC-E77C740F74E5}" dt="2025-10-25T08:56:29.468" v="5915" actId="14826"/>
          <ac:picMkLst>
            <pc:docMk/>
            <pc:sldMk cId="1064286725" sldId="342"/>
            <ac:picMk id="9" creationId="{EBC796BE-01B9-1934-A383-EA6DADFE7F46}"/>
          </ac:picMkLst>
        </pc:picChg>
      </pc:sldChg>
      <pc:sldChg chg="modSp add mod">
        <pc:chgData name="DYLAN YEO WEN FENG" userId="7214864c-bd38-4c7e-856f-3f63d5eb74a9" providerId="ADAL" clId="{998C3B9A-2FA8-4668-B7DC-E77C740F74E5}" dt="2025-10-25T11:11:33.975" v="8561" actId="20577"/>
        <pc:sldMkLst>
          <pc:docMk/>
          <pc:sldMk cId="229793973" sldId="343"/>
        </pc:sldMkLst>
        <pc:graphicFrameChg chg="modGraphic">
          <ac:chgData name="DYLAN YEO WEN FENG" userId="7214864c-bd38-4c7e-856f-3f63d5eb74a9" providerId="ADAL" clId="{998C3B9A-2FA8-4668-B7DC-E77C740F74E5}" dt="2025-10-25T11:11:33.975" v="8561" actId="20577"/>
          <ac:graphicFrameMkLst>
            <pc:docMk/>
            <pc:sldMk cId="229793973" sldId="343"/>
            <ac:graphicFrameMk id="4" creationId="{014BFFFA-21D6-4D1C-53DF-E1950D5204A9}"/>
          </ac:graphicFrameMkLst>
        </pc:graphicFrameChg>
      </pc:sldChg>
      <pc:sldChg chg="modSp add mod">
        <pc:chgData name="DYLAN YEO WEN FENG" userId="7214864c-bd38-4c7e-856f-3f63d5eb74a9" providerId="ADAL" clId="{998C3B9A-2FA8-4668-B7DC-E77C740F74E5}" dt="2025-10-25T11:06:47.368" v="7724" actId="20577"/>
        <pc:sldMkLst>
          <pc:docMk/>
          <pc:sldMk cId="1054045112" sldId="344"/>
        </pc:sldMkLst>
        <pc:graphicFrameChg chg="mod modGraphic">
          <ac:chgData name="DYLAN YEO WEN FENG" userId="7214864c-bd38-4c7e-856f-3f63d5eb74a9" providerId="ADAL" clId="{998C3B9A-2FA8-4668-B7DC-E77C740F74E5}" dt="2025-10-25T11:06:47.368" v="7724" actId="20577"/>
          <ac:graphicFrameMkLst>
            <pc:docMk/>
            <pc:sldMk cId="1054045112" sldId="344"/>
            <ac:graphicFrameMk id="6" creationId="{972B65BB-FD52-5436-4872-9A435BC72753}"/>
          </ac:graphicFrameMkLst>
        </pc:graphicFrameChg>
      </pc:sldChg>
      <pc:sldChg chg="modSp new mod">
        <pc:chgData name="DYLAN YEO WEN FENG" userId="7214864c-bd38-4c7e-856f-3f63d5eb74a9" providerId="ADAL" clId="{998C3B9A-2FA8-4668-B7DC-E77C740F74E5}" dt="2025-10-25T11:23:36.678" v="8834" actId="2710"/>
        <pc:sldMkLst>
          <pc:docMk/>
          <pc:sldMk cId="2669104232" sldId="345"/>
        </pc:sldMkLst>
        <pc:spChg chg="mod">
          <ac:chgData name="DYLAN YEO WEN FENG" userId="7214864c-bd38-4c7e-856f-3f63d5eb74a9" providerId="ADAL" clId="{998C3B9A-2FA8-4668-B7DC-E77C740F74E5}" dt="2025-10-25T11:20:59.606" v="8744"/>
          <ac:spMkLst>
            <pc:docMk/>
            <pc:sldMk cId="2669104232" sldId="345"/>
            <ac:spMk id="2" creationId="{0E3FAEFF-3239-45B5-44B5-AAFBFFE1B8EF}"/>
          </ac:spMkLst>
        </pc:spChg>
        <pc:spChg chg="mod">
          <ac:chgData name="DYLAN YEO WEN FENG" userId="7214864c-bd38-4c7e-856f-3f63d5eb74a9" providerId="ADAL" clId="{998C3B9A-2FA8-4668-B7DC-E77C740F74E5}" dt="2025-10-25T11:23:36.678" v="8834" actId="2710"/>
          <ac:spMkLst>
            <pc:docMk/>
            <pc:sldMk cId="2669104232" sldId="345"/>
            <ac:spMk id="3" creationId="{5E9E813D-78A5-91BF-31CB-F3E8CB16B639}"/>
          </ac:spMkLst>
        </pc:spChg>
      </pc:sldChg>
    </pc:docChg>
  </pc:docChgLst>
  <pc:docChgLst>
    <pc:chgData name="Andrew TAN (TP)" userId="S::andrewt@tp.edu.sg::8d23f446-953f-4d3b-930e-ca720e8db7fb" providerId="AD" clId="Web-{49D4A3E9-14F6-E241-1CEA-0B983C845CC2}"/>
    <pc:docChg chg="mod">
      <pc:chgData name="Andrew TAN (TP)" userId="S::andrewt@tp.edu.sg::8d23f446-953f-4d3b-930e-ca720e8db7fb" providerId="AD" clId="Web-{49D4A3E9-14F6-E241-1CEA-0B983C845CC2}" dt="2025-10-16T06:22:22.009" v="0"/>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C11234-2D62-4BBD-86D3-88BD3B70B2B6}" type="datetimeFigureOut">
              <a:rPr lang="en-SG" smtClean="0"/>
              <a:t>13/11/2025</a:t>
            </a:fld>
            <a:endParaRPr lang="en-SG"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EECAF8-34D8-484C-A1FD-90CACC324DCB}" type="slidenum">
              <a:rPr lang="en-SG" smtClean="0"/>
              <a:t>‹#›</a:t>
            </a:fld>
            <a:endParaRPr lang="en-SG" dirty="0"/>
          </a:p>
        </p:txBody>
      </p:sp>
    </p:spTree>
    <p:extLst>
      <p:ext uri="{BB962C8B-B14F-4D97-AF65-F5344CB8AC3E}">
        <p14:creationId xmlns:p14="http://schemas.microsoft.com/office/powerpoint/2010/main" val="25566452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97268A-7AE4-432A-9318-AFE0CD5AF515}" type="datetimeFigureOut">
              <a:rPr lang="en-SG" smtClean="0"/>
              <a:t>13/11/2025</a:t>
            </a:fld>
            <a:endParaRPr lang="en-SG"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443D8-64E2-477C-8585-147863024541}" type="slidenum">
              <a:rPr lang="en-SG" smtClean="0"/>
              <a:t>‹#›</a:t>
            </a:fld>
            <a:endParaRPr lang="en-SG" dirty="0"/>
          </a:p>
        </p:txBody>
      </p:sp>
    </p:spTree>
    <p:extLst>
      <p:ext uri="{BB962C8B-B14F-4D97-AF65-F5344CB8AC3E}">
        <p14:creationId xmlns:p14="http://schemas.microsoft.com/office/powerpoint/2010/main" val="851762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5048880A-75DD-4838-AFBC-E75FBE476E55}" type="slidenum">
              <a:rPr lang="en-SG" smtClean="0"/>
              <a:t>1</a:t>
            </a:fld>
            <a:endParaRPr lang="en-SG" dirty="0"/>
          </a:p>
        </p:txBody>
      </p:sp>
    </p:spTree>
    <p:extLst>
      <p:ext uri="{BB962C8B-B14F-4D97-AF65-F5344CB8AC3E}">
        <p14:creationId xmlns:p14="http://schemas.microsoft.com/office/powerpoint/2010/main" val="1190466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D8CBB-99C9-0079-ED9C-FF21AD2BE9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97056B35-3E34-E11F-8ABE-A767FB29D8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F26A60A0-3A76-862F-BD49-95CEF91F1B54}"/>
              </a:ext>
            </a:extLst>
          </p:cNvPr>
          <p:cNvSpPr>
            <a:spLocks noGrp="1"/>
          </p:cNvSpPr>
          <p:nvPr>
            <p:ph type="dt" sz="half" idx="10"/>
          </p:nvPr>
        </p:nvSpPr>
        <p:spPr/>
        <p:txBody>
          <a:bodyPr/>
          <a:lstStyle/>
          <a:p>
            <a:fld id="{5586B75A-687E-405C-8A0B-8D00578BA2C3}" type="datetimeFigureOut">
              <a:rPr lang="en-US" smtClean="0"/>
              <a:pPr/>
              <a:t>11/13/2025</a:t>
            </a:fld>
            <a:endParaRPr lang="en-US" dirty="0"/>
          </a:p>
        </p:txBody>
      </p:sp>
      <p:sp>
        <p:nvSpPr>
          <p:cNvPr id="5" name="Footer Placeholder 4">
            <a:extLst>
              <a:ext uri="{FF2B5EF4-FFF2-40B4-BE49-F238E27FC236}">
                <a16:creationId xmlns:a16="http://schemas.microsoft.com/office/drawing/2014/main" id="{61B4C16B-32A2-0C2D-AB68-29C0567462B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9C4051F-C2CC-C614-3D42-F9D33BD75BB6}"/>
              </a:ext>
            </a:extLst>
          </p:cNvPr>
          <p:cNvSpPr>
            <a:spLocks noGrp="1"/>
          </p:cNvSpPr>
          <p:nvPr>
            <p:ph type="sldNum" sz="quarter" idx="12"/>
          </p:nvPr>
        </p:nvSpPr>
        <p:spPr/>
        <p:txBody>
          <a:bodyPr/>
          <a:lstStyle/>
          <a:p>
            <a:fld id="{8E9E4023-6F3A-457B-B0BB-8C1F114B424F}" type="slidenum">
              <a:rPr lang="en-SG" smtClean="0"/>
              <a:pPr/>
              <a:t>‹#›</a:t>
            </a:fld>
            <a:endParaRPr lang="en-SG" dirty="0"/>
          </a:p>
        </p:txBody>
      </p:sp>
    </p:spTree>
    <p:extLst>
      <p:ext uri="{BB962C8B-B14F-4D97-AF65-F5344CB8AC3E}">
        <p14:creationId xmlns:p14="http://schemas.microsoft.com/office/powerpoint/2010/main" val="33243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6EDE9-3DCB-63E8-A03F-02C909C16055}"/>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0A34ECAB-B272-5233-F6BB-A4F6DDFF7B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0F30663-1A54-EA08-68E3-63A6F7AA077C}"/>
              </a:ext>
            </a:extLst>
          </p:cNvPr>
          <p:cNvSpPr>
            <a:spLocks noGrp="1"/>
          </p:cNvSpPr>
          <p:nvPr>
            <p:ph type="dt" sz="half" idx="10"/>
          </p:nvPr>
        </p:nvSpPr>
        <p:spPr/>
        <p:txBody>
          <a:bodyPr/>
          <a:lstStyle/>
          <a:p>
            <a:fld id="{5586B75A-687E-405C-8A0B-8D00578BA2C3}" type="datetimeFigureOut">
              <a:rPr lang="en-US" smtClean="0"/>
              <a:pPr/>
              <a:t>11/13/2025</a:t>
            </a:fld>
            <a:endParaRPr lang="en-US" dirty="0"/>
          </a:p>
        </p:txBody>
      </p:sp>
      <p:sp>
        <p:nvSpPr>
          <p:cNvPr id="5" name="Footer Placeholder 4">
            <a:extLst>
              <a:ext uri="{FF2B5EF4-FFF2-40B4-BE49-F238E27FC236}">
                <a16:creationId xmlns:a16="http://schemas.microsoft.com/office/drawing/2014/main" id="{BA5CC699-2893-3B03-3D97-FD3C23B0610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9BE4E7C-86F9-6D12-49F3-B64424A9493E}"/>
              </a:ext>
            </a:extLst>
          </p:cNvPr>
          <p:cNvSpPr>
            <a:spLocks noGrp="1"/>
          </p:cNvSpPr>
          <p:nvPr>
            <p:ph type="sldNum" sz="quarter" idx="12"/>
          </p:nvPr>
        </p:nvSpPr>
        <p:spPr/>
        <p:txBody>
          <a:bodyPr/>
          <a:lstStyle/>
          <a:p>
            <a:fld id="{8E9E4023-6F3A-457B-B0BB-8C1F114B424F}" type="slidenum">
              <a:rPr lang="en-SG" smtClean="0"/>
              <a:t>‹#›</a:t>
            </a:fld>
            <a:endParaRPr lang="en-SG" dirty="0"/>
          </a:p>
        </p:txBody>
      </p:sp>
    </p:spTree>
    <p:extLst>
      <p:ext uri="{BB962C8B-B14F-4D97-AF65-F5344CB8AC3E}">
        <p14:creationId xmlns:p14="http://schemas.microsoft.com/office/powerpoint/2010/main" val="1666485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7D170-3C24-C353-3216-06A2B12A82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BD469EFA-00EA-18C2-3287-DDFF0E9880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494A4D-1D7E-FB6A-32B8-058E2F231603}"/>
              </a:ext>
            </a:extLst>
          </p:cNvPr>
          <p:cNvSpPr>
            <a:spLocks noGrp="1"/>
          </p:cNvSpPr>
          <p:nvPr>
            <p:ph type="dt" sz="half" idx="10"/>
          </p:nvPr>
        </p:nvSpPr>
        <p:spPr/>
        <p:txBody>
          <a:bodyPr/>
          <a:lstStyle/>
          <a:p>
            <a:fld id="{5586B75A-687E-405C-8A0B-8D00578BA2C3}" type="datetimeFigureOut">
              <a:rPr lang="en-US" smtClean="0"/>
              <a:pPr/>
              <a:t>11/13/2025</a:t>
            </a:fld>
            <a:endParaRPr lang="en-US" dirty="0"/>
          </a:p>
        </p:txBody>
      </p:sp>
      <p:sp>
        <p:nvSpPr>
          <p:cNvPr id="5" name="Footer Placeholder 4">
            <a:extLst>
              <a:ext uri="{FF2B5EF4-FFF2-40B4-BE49-F238E27FC236}">
                <a16:creationId xmlns:a16="http://schemas.microsoft.com/office/drawing/2014/main" id="{4880FA97-D6B4-8EEE-9689-C597162154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871227D-F124-5B2E-61AA-8D66C31347FA}"/>
              </a:ext>
            </a:extLst>
          </p:cNvPr>
          <p:cNvSpPr>
            <a:spLocks noGrp="1"/>
          </p:cNvSpPr>
          <p:nvPr>
            <p:ph type="sldNum" sz="quarter" idx="12"/>
          </p:nvPr>
        </p:nvSpPr>
        <p:spPr/>
        <p:txBody>
          <a:bodyPr/>
          <a:lstStyle/>
          <a:p>
            <a:fld id="{8E9E4023-6F3A-457B-B0BB-8C1F114B424F}" type="slidenum">
              <a:rPr lang="en-SG" smtClean="0"/>
              <a:pPr/>
              <a:t>‹#›</a:t>
            </a:fld>
            <a:endParaRPr lang="en-SG" dirty="0"/>
          </a:p>
        </p:txBody>
      </p:sp>
    </p:spTree>
    <p:extLst>
      <p:ext uri="{BB962C8B-B14F-4D97-AF65-F5344CB8AC3E}">
        <p14:creationId xmlns:p14="http://schemas.microsoft.com/office/powerpoint/2010/main" val="4016911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FCCE2-A671-CFC5-8869-92B4CBCB3803}"/>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85E87A76-02D4-A39B-269E-D832CF645D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3DFC8CD5-1192-88B9-1772-AE9CC397A6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1AB33E5E-FEA6-E8E9-D857-418A6B027283}"/>
              </a:ext>
            </a:extLst>
          </p:cNvPr>
          <p:cNvSpPr>
            <a:spLocks noGrp="1"/>
          </p:cNvSpPr>
          <p:nvPr>
            <p:ph type="dt" sz="half" idx="10"/>
          </p:nvPr>
        </p:nvSpPr>
        <p:spPr/>
        <p:txBody>
          <a:bodyPr/>
          <a:lstStyle/>
          <a:p>
            <a:fld id="{5586B75A-687E-405C-8A0B-8D00578BA2C3}" type="datetimeFigureOut">
              <a:rPr lang="en-US" smtClean="0"/>
              <a:pPr/>
              <a:t>11/13/2025</a:t>
            </a:fld>
            <a:endParaRPr lang="en-US" dirty="0"/>
          </a:p>
        </p:txBody>
      </p:sp>
      <p:sp>
        <p:nvSpPr>
          <p:cNvPr id="6" name="Footer Placeholder 5">
            <a:extLst>
              <a:ext uri="{FF2B5EF4-FFF2-40B4-BE49-F238E27FC236}">
                <a16:creationId xmlns:a16="http://schemas.microsoft.com/office/drawing/2014/main" id="{7669E379-0510-B904-110A-B9C868A9502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F1F5887-88DF-0149-4E35-013FEB1F2E26}"/>
              </a:ext>
            </a:extLst>
          </p:cNvPr>
          <p:cNvSpPr>
            <a:spLocks noGrp="1"/>
          </p:cNvSpPr>
          <p:nvPr>
            <p:ph type="sldNum" sz="quarter" idx="12"/>
          </p:nvPr>
        </p:nvSpPr>
        <p:spPr/>
        <p:txBody>
          <a:bodyPr/>
          <a:lstStyle/>
          <a:p>
            <a:fld id="{8E9E4023-6F3A-457B-B0BB-8C1F114B424F}" type="slidenum">
              <a:rPr lang="en-SG" smtClean="0"/>
              <a:pPr/>
              <a:t>‹#›</a:t>
            </a:fld>
            <a:endParaRPr lang="en-SG" dirty="0"/>
          </a:p>
        </p:txBody>
      </p:sp>
    </p:spTree>
    <p:extLst>
      <p:ext uri="{BB962C8B-B14F-4D97-AF65-F5344CB8AC3E}">
        <p14:creationId xmlns:p14="http://schemas.microsoft.com/office/powerpoint/2010/main" val="495503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8C1B1-9150-7531-5BB8-F62AFAC11523}"/>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E35E9F9E-2862-2862-E130-FA02D96037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1CA647-D139-F02C-D9E2-FADE9CACA0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8CC8255F-E4A2-848F-5FA7-B6F5D5B972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B77E57-0076-7663-AC26-6A5F2D5499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88C2E8B1-0BEB-9609-08E0-3E182B08CFAB}"/>
              </a:ext>
            </a:extLst>
          </p:cNvPr>
          <p:cNvSpPr>
            <a:spLocks noGrp="1"/>
          </p:cNvSpPr>
          <p:nvPr>
            <p:ph type="dt" sz="half" idx="10"/>
          </p:nvPr>
        </p:nvSpPr>
        <p:spPr/>
        <p:txBody>
          <a:bodyPr/>
          <a:lstStyle/>
          <a:p>
            <a:fld id="{5586B75A-687E-405C-8A0B-8D00578BA2C3}" type="datetimeFigureOut">
              <a:rPr lang="en-US" smtClean="0"/>
              <a:pPr/>
              <a:t>11/13/2025</a:t>
            </a:fld>
            <a:endParaRPr lang="en-US" dirty="0"/>
          </a:p>
        </p:txBody>
      </p:sp>
      <p:sp>
        <p:nvSpPr>
          <p:cNvPr id="8" name="Footer Placeholder 7">
            <a:extLst>
              <a:ext uri="{FF2B5EF4-FFF2-40B4-BE49-F238E27FC236}">
                <a16:creationId xmlns:a16="http://schemas.microsoft.com/office/drawing/2014/main" id="{7542D176-655D-E3F1-66B0-DD58F03C407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8E702C7-C396-1FC7-1371-CB7EDBB1C92C}"/>
              </a:ext>
            </a:extLst>
          </p:cNvPr>
          <p:cNvSpPr>
            <a:spLocks noGrp="1"/>
          </p:cNvSpPr>
          <p:nvPr>
            <p:ph type="sldNum" sz="quarter" idx="12"/>
          </p:nvPr>
        </p:nvSpPr>
        <p:spPr/>
        <p:txBody>
          <a:bodyPr/>
          <a:lstStyle/>
          <a:p>
            <a:fld id="{8E9E4023-6F3A-457B-B0BB-8C1F114B424F}" type="slidenum">
              <a:rPr lang="en-SG" smtClean="0"/>
              <a:pPr/>
              <a:t>‹#›</a:t>
            </a:fld>
            <a:endParaRPr lang="en-SG" dirty="0"/>
          </a:p>
        </p:txBody>
      </p:sp>
    </p:spTree>
    <p:extLst>
      <p:ext uri="{BB962C8B-B14F-4D97-AF65-F5344CB8AC3E}">
        <p14:creationId xmlns:p14="http://schemas.microsoft.com/office/powerpoint/2010/main" val="735288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775C8-16C5-25D8-C276-90E082306898}"/>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CA48244B-5070-7AA7-D20D-BE01BC24E18B}"/>
              </a:ext>
            </a:extLst>
          </p:cNvPr>
          <p:cNvSpPr>
            <a:spLocks noGrp="1"/>
          </p:cNvSpPr>
          <p:nvPr>
            <p:ph type="dt" sz="half" idx="10"/>
          </p:nvPr>
        </p:nvSpPr>
        <p:spPr/>
        <p:txBody>
          <a:bodyPr/>
          <a:lstStyle/>
          <a:p>
            <a:fld id="{5049BF6B-4274-4F8F-BAA2-B27082AD9967}" type="datetimeFigureOut">
              <a:rPr lang="en-SG" smtClean="0"/>
              <a:t>13/11/2025</a:t>
            </a:fld>
            <a:endParaRPr lang="en-SG" dirty="0"/>
          </a:p>
        </p:txBody>
      </p:sp>
      <p:sp>
        <p:nvSpPr>
          <p:cNvPr id="4" name="Footer Placeholder 3">
            <a:extLst>
              <a:ext uri="{FF2B5EF4-FFF2-40B4-BE49-F238E27FC236}">
                <a16:creationId xmlns:a16="http://schemas.microsoft.com/office/drawing/2014/main" id="{500CD1BC-48CB-DA2B-F4E9-6A2F309D0D90}"/>
              </a:ext>
            </a:extLst>
          </p:cNvPr>
          <p:cNvSpPr>
            <a:spLocks noGrp="1"/>
          </p:cNvSpPr>
          <p:nvPr>
            <p:ph type="ftr" sz="quarter" idx="11"/>
          </p:nvPr>
        </p:nvSpPr>
        <p:spPr/>
        <p:txBody>
          <a:bodyPr/>
          <a:lstStyle/>
          <a:p>
            <a:endParaRPr lang="en-SG" dirty="0"/>
          </a:p>
        </p:txBody>
      </p:sp>
      <p:sp>
        <p:nvSpPr>
          <p:cNvPr id="5" name="Slide Number Placeholder 4">
            <a:extLst>
              <a:ext uri="{FF2B5EF4-FFF2-40B4-BE49-F238E27FC236}">
                <a16:creationId xmlns:a16="http://schemas.microsoft.com/office/drawing/2014/main" id="{3C90FC4F-D4B0-AD00-369C-A6E1883354FA}"/>
              </a:ext>
            </a:extLst>
          </p:cNvPr>
          <p:cNvSpPr>
            <a:spLocks noGrp="1"/>
          </p:cNvSpPr>
          <p:nvPr>
            <p:ph type="sldNum" sz="quarter" idx="12"/>
          </p:nvPr>
        </p:nvSpPr>
        <p:spPr/>
        <p:txBody>
          <a:bodyPr/>
          <a:lstStyle/>
          <a:p>
            <a:fld id="{8E9E4023-6F3A-457B-B0BB-8C1F114B424F}" type="slidenum">
              <a:rPr lang="en-SG" smtClean="0"/>
              <a:t>‹#›</a:t>
            </a:fld>
            <a:endParaRPr lang="en-SG" dirty="0"/>
          </a:p>
        </p:txBody>
      </p:sp>
    </p:spTree>
    <p:extLst>
      <p:ext uri="{BB962C8B-B14F-4D97-AF65-F5344CB8AC3E}">
        <p14:creationId xmlns:p14="http://schemas.microsoft.com/office/powerpoint/2010/main" val="515972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C8F61D-2519-FCC0-71BF-1003AC9E27D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AD1D330-035E-0B56-9851-3D75CA8D10C1}"/>
              </a:ext>
            </a:extLst>
          </p:cNvPr>
          <p:cNvSpPr>
            <a:spLocks noGrp="1"/>
          </p:cNvSpPr>
          <p:nvPr>
            <p:ph type="sldNum" sz="quarter" idx="12"/>
          </p:nvPr>
        </p:nvSpPr>
        <p:spPr/>
        <p:txBody>
          <a:bodyPr/>
          <a:lstStyle/>
          <a:p>
            <a:fld id="{8E9E4023-6F3A-457B-B0BB-8C1F114B424F}" type="slidenum">
              <a:rPr lang="en-SG" smtClean="0"/>
              <a:t>‹#›</a:t>
            </a:fld>
            <a:endParaRPr lang="en-SG" dirty="0"/>
          </a:p>
        </p:txBody>
      </p:sp>
    </p:spTree>
    <p:extLst>
      <p:ext uri="{BB962C8B-B14F-4D97-AF65-F5344CB8AC3E}">
        <p14:creationId xmlns:p14="http://schemas.microsoft.com/office/powerpoint/2010/main" val="266455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DC0DA-1A25-D2A4-15F2-41F320115B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9871A6BA-84FE-C01C-B267-EBDBC463EE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02A6FA30-08B8-ADE3-801B-9A70CCDAA6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5B672D15-C132-5339-588E-3B12A65633F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CF3BAB7-AFF5-CE42-94B5-1CDB974116F4}"/>
              </a:ext>
            </a:extLst>
          </p:cNvPr>
          <p:cNvSpPr>
            <a:spLocks noGrp="1"/>
          </p:cNvSpPr>
          <p:nvPr>
            <p:ph type="sldNum" sz="quarter" idx="12"/>
          </p:nvPr>
        </p:nvSpPr>
        <p:spPr/>
        <p:txBody>
          <a:bodyPr/>
          <a:lstStyle/>
          <a:p>
            <a:fld id="{8E9E4023-6F3A-457B-B0BB-8C1F114B424F}" type="slidenum">
              <a:rPr lang="en-SG" smtClean="0"/>
              <a:pPr/>
              <a:t>‹#›</a:t>
            </a:fld>
            <a:endParaRPr lang="en-SG" dirty="0"/>
          </a:p>
        </p:txBody>
      </p:sp>
    </p:spTree>
    <p:extLst>
      <p:ext uri="{BB962C8B-B14F-4D97-AF65-F5344CB8AC3E}">
        <p14:creationId xmlns:p14="http://schemas.microsoft.com/office/powerpoint/2010/main" val="171758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B8CD1-D5A8-08C6-F89B-1EB6D85823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A7FC92A9-4CA1-0048-A864-A0FF1B44FD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dirty="0"/>
          </a:p>
        </p:txBody>
      </p:sp>
      <p:sp>
        <p:nvSpPr>
          <p:cNvPr id="4" name="Text Placeholder 3">
            <a:extLst>
              <a:ext uri="{FF2B5EF4-FFF2-40B4-BE49-F238E27FC236}">
                <a16:creationId xmlns:a16="http://schemas.microsoft.com/office/drawing/2014/main" id="{43E9A9BA-746F-BFAC-9F4B-65B9636D21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F2A2DDD-9F60-4C73-D325-ADC4EF02EDE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946D2AD-1A5B-FAD9-24C2-04ACF6837809}"/>
              </a:ext>
            </a:extLst>
          </p:cNvPr>
          <p:cNvSpPr>
            <a:spLocks noGrp="1"/>
          </p:cNvSpPr>
          <p:nvPr>
            <p:ph type="sldNum" sz="quarter" idx="12"/>
          </p:nvPr>
        </p:nvSpPr>
        <p:spPr/>
        <p:txBody>
          <a:bodyPr/>
          <a:lstStyle/>
          <a:p>
            <a:fld id="{8E9E4023-6F3A-457B-B0BB-8C1F114B424F}" type="slidenum">
              <a:rPr lang="en-SG" smtClean="0"/>
              <a:pPr/>
              <a:t>‹#›</a:t>
            </a:fld>
            <a:endParaRPr lang="en-SG" dirty="0"/>
          </a:p>
        </p:txBody>
      </p:sp>
    </p:spTree>
    <p:extLst>
      <p:ext uri="{BB962C8B-B14F-4D97-AF65-F5344CB8AC3E}">
        <p14:creationId xmlns:p14="http://schemas.microsoft.com/office/powerpoint/2010/main" val="351416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428BD-BA1C-B381-53AB-133B423AE64C}"/>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03414821-E238-AF06-2D97-F4581DB5EB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872C2A85-152E-24D0-5C1F-CC695DBA19E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36678C-B078-5524-C312-57E80F651D73}"/>
              </a:ext>
            </a:extLst>
          </p:cNvPr>
          <p:cNvSpPr>
            <a:spLocks noGrp="1"/>
          </p:cNvSpPr>
          <p:nvPr>
            <p:ph type="sldNum" sz="quarter" idx="12"/>
          </p:nvPr>
        </p:nvSpPr>
        <p:spPr/>
        <p:txBody>
          <a:bodyPr/>
          <a:lstStyle/>
          <a:p>
            <a:fld id="{8E9E4023-6F3A-457B-B0BB-8C1F114B424F}" type="slidenum">
              <a:rPr lang="en-SG" smtClean="0"/>
              <a:pPr/>
              <a:t>‹#›</a:t>
            </a:fld>
            <a:endParaRPr lang="en-SG" dirty="0"/>
          </a:p>
        </p:txBody>
      </p:sp>
    </p:spTree>
    <p:extLst>
      <p:ext uri="{BB962C8B-B14F-4D97-AF65-F5344CB8AC3E}">
        <p14:creationId xmlns:p14="http://schemas.microsoft.com/office/powerpoint/2010/main" val="3819209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8850CA-27A8-6E5D-31FA-B76AF87FE27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C22CCB1-1DE7-D21B-0069-C59E1C04E0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2E8FEF77-A8F2-D6FA-A67C-EF0CAD3AD34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5FAE588-A125-A715-15EC-71B890A37851}"/>
              </a:ext>
            </a:extLst>
          </p:cNvPr>
          <p:cNvSpPr>
            <a:spLocks noGrp="1"/>
          </p:cNvSpPr>
          <p:nvPr>
            <p:ph type="sldNum" sz="quarter" idx="12"/>
          </p:nvPr>
        </p:nvSpPr>
        <p:spPr/>
        <p:txBody>
          <a:bodyPr/>
          <a:lstStyle/>
          <a:p>
            <a:fld id="{8E9E4023-6F3A-457B-B0BB-8C1F114B424F}" type="slidenum">
              <a:rPr lang="en-SG" smtClean="0"/>
              <a:pPr/>
              <a:t>‹#›</a:t>
            </a:fld>
            <a:endParaRPr lang="en-SG" dirty="0"/>
          </a:p>
        </p:txBody>
      </p:sp>
    </p:spTree>
    <p:extLst>
      <p:ext uri="{BB962C8B-B14F-4D97-AF65-F5344CB8AC3E}">
        <p14:creationId xmlns:p14="http://schemas.microsoft.com/office/powerpoint/2010/main" val="3624770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12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688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8251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7611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2169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FC703B-5018-D00F-D7F5-D563315D77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640C06FC-12F6-1C2F-8C12-BB747800DE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82F88C8-FB2E-B993-F23D-89C299A020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86B75A-687E-405C-8A0B-8D00578BA2C3}" type="datetimeFigureOut">
              <a:rPr lang="en-US" smtClean="0"/>
              <a:pPr/>
              <a:t>11/13/2025</a:t>
            </a:fld>
            <a:endParaRPr lang="en-US" dirty="0"/>
          </a:p>
        </p:txBody>
      </p:sp>
      <p:sp>
        <p:nvSpPr>
          <p:cNvPr id="5" name="Footer Placeholder 4">
            <a:extLst>
              <a:ext uri="{FF2B5EF4-FFF2-40B4-BE49-F238E27FC236}">
                <a16:creationId xmlns:a16="http://schemas.microsoft.com/office/drawing/2014/main" id="{F202E306-5064-BDD0-4094-D57FA2191E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7C841D-A6BA-C9D4-3F4D-F097F37EFD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9E4023-6F3A-457B-B0BB-8C1F114B424F}" type="slidenum">
              <a:rPr lang="en-SG" smtClean="0"/>
              <a:pPr/>
              <a:t>‹#›</a:t>
            </a:fld>
            <a:endParaRPr lang="en-SG" dirty="0"/>
          </a:p>
        </p:txBody>
      </p:sp>
      <p:sp>
        <p:nvSpPr>
          <p:cNvPr id="7" name="Rectangle 6">
            <a:extLst>
              <a:ext uri="{FF2B5EF4-FFF2-40B4-BE49-F238E27FC236}">
                <a16:creationId xmlns:a16="http://schemas.microsoft.com/office/drawing/2014/main" id="{D5FDBE67-2652-6A87-20FD-BC269099CE1A}"/>
              </a:ext>
            </a:extLst>
          </p:cNvPr>
          <p:cNvSpPr/>
          <p:nvPr userDrawn="1"/>
        </p:nvSpPr>
        <p:spPr>
          <a:xfrm>
            <a:off x="914083" y="6341602"/>
            <a:ext cx="10633904" cy="276999"/>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spc="80" dirty="0">
                <a:solidFill>
                  <a:srgbClr val="0070C0"/>
                </a:solidFill>
                <a:latin typeface="Calibri" panose="020F0502020204030204" pitchFamily="34" charset="0"/>
                <a:cs typeface="Calibri" panose="020F0502020204030204" pitchFamily="34" charset="0"/>
              </a:rPr>
              <a:t>[CIT2C20 – FULL STACK WEB DEVELOPMENT] 		</a:t>
            </a:r>
            <a:r>
              <a:rPr lang="en-SG" sz="1200" spc="80" baseline="0" dirty="0">
                <a:solidFill>
                  <a:srgbClr val="0070C0"/>
                </a:solidFill>
                <a:latin typeface="Calibri" panose="020F0502020204030204" pitchFamily="34" charset="0"/>
                <a:cs typeface="Calibri" panose="020F0502020204030204" pitchFamily="34" charset="0"/>
              </a:rPr>
              <a:t>      		      </a:t>
            </a:r>
            <a:r>
              <a:rPr lang="en-US" sz="1200" spc="80" dirty="0">
                <a:solidFill>
                  <a:schemeClr val="bg2">
                    <a:lumMod val="50000"/>
                  </a:schemeClr>
                </a:solidFill>
                <a:latin typeface="Calibri" panose="020F0502020204030204" pitchFamily="34" charset="0"/>
                <a:cs typeface="Calibri" panose="020F0502020204030204" pitchFamily="34" charset="0"/>
              </a:rPr>
              <a:t>TEMASEK POLYTECHNIC I </a:t>
            </a:r>
            <a:r>
              <a:rPr lang="en-US" sz="1200" b="1" spc="80" dirty="0">
                <a:solidFill>
                  <a:schemeClr val="bg2">
                    <a:lumMod val="50000"/>
                  </a:schemeClr>
                </a:solidFill>
                <a:latin typeface="Calibri" panose="020F0502020204030204" pitchFamily="34" charset="0"/>
                <a:cs typeface="Calibri" panose="020F0502020204030204" pitchFamily="34" charset="0"/>
              </a:rPr>
              <a:t>School of Informatics &amp; IT</a:t>
            </a:r>
          </a:p>
        </p:txBody>
      </p:sp>
      <p:sp>
        <p:nvSpPr>
          <p:cNvPr id="8" name="Rectangle 7">
            <a:extLst>
              <a:ext uri="{FF2B5EF4-FFF2-40B4-BE49-F238E27FC236}">
                <a16:creationId xmlns:a16="http://schemas.microsoft.com/office/drawing/2014/main" id="{7BA7BC12-5FAC-7E69-53C8-F966C8C9C568}"/>
              </a:ext>
            </a:extLst>
          </p:cNvPr>
          <p:cNvSpPr/>
          <p:nvPr userDrawn="1"/>
        </p:nvSpPr>
        <p:spPr>
          <a:xfrm>
            <a:off x="0" y="365126"/>
            <a:ext cx="284813" cy="81978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Tree>
    <p:extLst>
      <p:ext uri="{BB962C8B-B14F-4D97-AF65-F5344CB8AC3E}">
        <p14:creationId xmlns:p14="http://schemas.microsoft.com/office/powerpoint/2010/main" val="16833789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675" r:id="rId12"/>
    <p:sldLayoutId id="2147483680" r:id="rId13"/>
    <p:sldLayoutId id="2147483681" r:id="rId14"/>
    <p:sldLayoutId id="2147483682" r:id="rId15"/>
    <p:sldLayoutId id="2147483683"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chat.openai.com/chat" TargetMode="Externa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atomisystems.com/elearning/peer-to-peer-learning-dos-and-donts-for-building-collaborative-success/" TargetMode="External"/><Relationship Id="rId2" Type="http://schemas.openxmlformats.org/officeDocument/2006/relationships/hyperlink" Target="https://teaching.cornell.edu/teaching-resources/active-collaborative-learning/collaborative-learnin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mailto:2300699B@student.tp.edu.sg" TargetMode="External"/><Relationship Id="rId2" Type="http://schemas.openxmlformats.org/officeDocument/2006/relationships/hyperlink" Target="mailto:2403880D@student.tp.edu.sg" TargetMode="External"/><Relationship Id="rId1" Type="http://schemas.openxmlformats.org/officeDocument/2006/relationships/slideLayout" Target="../slideLayouts/slideLayout2.xml"/><Relationship Id="rId5" Type="http://schemas.openxmlformats.org/officeDocument/2006/relationships/hyperlink" Target="mailto:2402223H@student.tp.edu.sg" TargetMode="External"/><Relationship Id="rId4" Type="http://schemas.openxmlformats.org/officeDocument/2006/relationships/hyperlink" Target="mailto:2201999F@student.tp.edu.s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figma.com/design/RdPDrRscPmeS607B2ZwCFJ/FWEB-Project?node-id=0-1&amp;t=MDfOoJ2KDvxQMfAS-1" TargetMode="External"/><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https://www.figma.com/proto/RdPDrRscPmeS607B2ZwCFJ/FWEB-Project?node-id=0-1&amp;t=MDfOoJ2KDvxQMfAS-1" TargetMode="External"/><Relationship Id="rId4" Type="http://schemas.openxmlformats.org/officeDocument/2006/relationships/hyperlink" Target="https://www.figma.com/design/RdPDrRscPmeS607B2ZwCFJ/FWEB-Project?node-id=0-1&amp;m=dev&amp;t=MDfOoJ2KDvxQMfAS-1"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17030D-F9A5-469C-B08C-422CD33EDF0E}"/>
              </a:ext>
            </a:extLst>
          </p:cNvPr>
          <p:cNvSpPr txBox="1"/>
          <p:nvPr/>
        </p:nvSpPr>
        <p:spPr>
          <a:xfrm>
            <a:off x="2510902" y="723121"/>
            <a:ext cx="6889578" cy="2123658"/>
          </a:xfrm>
          <a:prstGeom prst="rect">
            <a:avLst/>
          </a:prstGeom>
          <a:noFill/>
        </p:spPr>
        <p:txBody>
          <a:bodyPr wrap="none" rtlCol="0">
            <a:spAutoFit/>
          </a:bodyPr>
          <a:lstStyle/>
          <a:p>
            <a:pPr algn="ctr"/>
            <a:r>
              <a:rPr lang="en-GB" sz="4400" b="1" dirty="0"/>
              <a:t>Full Stack Web Development</a:t>
            </a:r>
          </a:p>
          <a:p>
            <a:pPr algn="ctr"/>
            <a:r>
              <a:rPr lang="en-GB" sz="4400" b="1" dirty="0"/>
              <a:t>Project Proposal </a:t>
            </a:r>
          </a:p>
          <a:p>
            <a:pPr algn="ctr"/>
            <a:r>
              <a:rPr lang="en-GB" sz="4400" b="1" dirty="0"/>
              <a:t>(20%)</a:t>
            </a:r>
          </a:p>
        </p:txBody>
      </p:sp>
      <p:sp>
        <p:nvSpPr>
          <p:cNvPr id="3" name="TextBox 2">
            <a:extLst>
              <a:ext uri="{FF2B5EF4-FFF2-40B4-BE49-F238E27FC236}">
                <a16:creationId xmlns:a16="http://schemas.microsoft.com/office/drawing/2014/main" id="{5331E56D-DBB6-4920-8873-6BFF4DD931A4}"/>
              </a:ext>
            </a:extLst>
          </p:cNvPr>
          <p:cNvSpPr txBox="1"/>
          <p:nvPr/>
        </p:nvSpPr>
        <p:spPr>
          <a:xfrm>
            <a:off x="4436026" y="3096145"/>
            <a:ext cx="3319948" cy="646331"/>
          </a:xfrm>
          <a:prstGeom prst="rect">
            <a:avLst/>
          </a:prstGeom>
          <a:noFill/>
        </p:spPr>
        <p:txBody>
          <a:bodyPr wrap="none" rtlCol="0">
            <a:spAutoFit/>
          </a:bodyPr>
          <a:lstStyle/>
          <a:p>
            <a:r>
              <a:rPr lang="en-GB" sz="3600" dirty="0"/>
              <a:t>Teach and Tackle</a:t>
            </a:r>
          </a:p>
        </p:txBody>
      </p:sp>
      <p:sp>
        <p:nvSpPr>
          <p:cNvPr id="4" name="TextBox 3">
            <a:extLst>
              <a:ext uri="{FF2B5EF4-FFF2-40B4-BE49-F238E27FC236}">
                <a16:creationId xmlns:a16="http://schemas.microsoft.com/office/drawing/2014/main" id="{DD8A0C03-BBA9-4AD2-9755-EAEAF6113563}"/>
              </a:ext>
            </a:extLst>
          </p:cNvPr>
          <p:cNvSpPr txBox="1"/>
          <p:nvPr/>
        </p:nvSpPr>
        <p:spPr>
          <a:xfrm>
            <a:off x="5050458" y="4823683"/>
            <a:ext cx="2091085" cy="369332"/>
          </a:xfrm>
          <a:prstGeom prst="rect">
            <a:avLst/>
          </a:prstGeom>
          <a:noFill/>
        </p:spPr>
        <p:txBody>
          <a:bodyPr wrap="none" rtlCol="0">
            <a:spAutoFit/>
          </a:bodyPr>
          <a:lstStyle/>
          <a:p>
            <a:r>
              <a:rPr lang="en-GB" dirty="0"/>
              <a:t>Dylan Yeo Wen Feng</a:t>
            </a:r>
          </a:p>
        </p:txBody>
      </p:sp>
      <p:sp>
        <p:nvSpPr>
          <p:cNvPr id="6" name="TextBox 5">
            <a:extLst>
              <a:ext uri="{FF2B5EF4-FFF2-40B4-BE49-F238E27FC236}">
                <a16:creationId xmlns:a16="http://schemas.microsoft.com/office/drawing/2014/main" id="{D8258169-E062-40F0-8371-2EA35A7D9BA1}"/>
              </a:ext>
            </a:extLst>
          </p:cNvPr>
          <p:cNvSpPr txBox="1"/>
          <p:nvPr/>
        </p:nvSpPr>
        <p:spPr>
          <a:xfrm>
            <a:off x="5565246" y="5294615"/>
            <a:ext cx="1061509" cy="369332"/>
          </a:xfrm>
          <a:prstGeom prst="rect">
            <a:avLst/>
          </a:prstGeom>
          <a:noFill/>
        </p:spPr>
        <p:txBody>
          <a:bodyPr wrap="none" rtlCol="0">
            <a:spAutoFit/>
          </a:bodyPr>
          <a:lstStyle/>
          <a:p>
            <a:r>
              <a:rPr lang="en-GB" dirty="0"/>
              <a:t>2402133I</a:t>
            </a:r>
          </a:p>
        </p:txBody>
      </p:sp>
      <p:sp>
        <p:nvSpPr>
          <p:cNvPr id="5" name="TextBox 4">
            <a:extLst>
              <a:ext uri="{FF2B5EF4-FFF2-40B4-BE49-F238E27FC236}">
                <a16:creationId xmlns:a16="http://schemas.microsoft.com/office/drawing/2014/main" id="{1B0C6BD1-AE9F-D085-E782-1457F1CA441F}"/>
              </a:ext>
            </a:extLst>
          </p:cNvPr>
          <p:cNvSpPr txBox="1"/>
          <p:nvPr/>
        </p:nvSpPr>
        <p:spPr>
          <a:xfrm>
            <a:off x="5765621" y="5765547"/>
            <a:ext cx="660758" cy="369332"/>
          </a:xfrm>
          <a:prstGeom prst="rect">
            <a:avLst/>
          </a:prstGeom>
          <a:noFill/>
        </p:spPr>
        <p:txBody>
          <a:bodyPr wrap="none" rtlCol="0">
            <a:spAutoFit/>
          </a:bodyPr>
          <a:lstStyle/>
          <a:p>
            <a:r>
              <a:rPr lang="en-GB" dirty="0"/>
              <a:t>PC02</a:t>
            </a:r>
          </a:p>
        </p:txBody>
      </p:sp>
    </p:spTree>
    <p:extLst>
      <p:ext uri="{BB962C8B-B14F-4D97-AF65-F5344CB8AC3E}">
        <p14:creationId xmlns:p14="http://schemas.microsoft.com/office/powerpoint/2010/main" val="3181263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F27B9-0D28-49D9-97B5-B24FDEDB25D0}"/>
              </a:ext>
            </a:extLst>
          </p:cNvPr>
          <p:cNvSpPr>
            <a:spLocks noGrp="1"/>
          </p:cNvSpPr>
          <p:nvPr>
            <p:ph type="title"/>
          </p:nvPr>
        </p:nvSpPr>
        <p:spPr/>
        <p:txBody>
          <a:bodyPr/>
          <a:lstStyle/>
          <a:p>
            <a:pPr marL="0" marR="0" algn="ctr">
              <a:lnSpc>
                <a:spcPct val="150000"/>
              </a:lnSpc>
              <a:spcBef>
                <a:spcPts val="0"/>
              </a:spcBef>
              <a:spcAft>
                <a:spcPts val="0"/>
              </a:spcAft>
            </a:pPr>
            <a:r>
              <a:rPr lang="en-GB" sz="36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Declaration of Originality</a:t>
            </a:r>
            <a:endParaRPr lang="en-US" sz="1600" dirty="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3" name="Content Placeholder 2">
            <a:extLst>
              <a:ext uri="{FF2B5EF4-FFF2-40B4-BE49-F238E27FC236}">
                <a16:creationId xmlns:a16="http://schemas.microsoft.com/office/drawing/2014/main" id="{7C877F9F-D62A-45BB-9799-246A29611BAA}"/>
              </a:ext>
            </a:extLst>
          </p:cNvPr>
          <p:cNvSpPr>
            <a:spLocks noGrp="1"/>
          </p:cNvSpPr>
          <p:nvPr>
            <p:ph idx="1"/>
          </p:nvPr>
        </p:nvSpPr>
        <p:spPr/>
        <p:txBody>
          <a:bodyPr>
            <a:normAutofit/>
          </a:bodyPr>
          <a:lstStyle/>
          <a:p>
            <a:pPr marL="0" marR="0" indent="0" algn="ctr">
              <a:spcBef>
                <a:spcPts val="0"/>
              </a:spcBef>
              <a:spcAft>
                <a:spcPts val="0"/>
              </a:spcAft>
              <a:buNone/>
            </a:pPr>
            <a:r>
              <a:rPr lang="en-GB" sz="2000" dirty="0">
                <a:solidFill>
                  <a:schemeClr val="tx1"/>
                </a:solidFill>
                <a:effectLst/>
                <a:ea typeface="Times New Roman" panose="02020603050405020304" pitchFamily="18" charset="0"/>
              </a:rPr>
              <a:t>I am the originator of this work and </a:t>
            </a:r>
            <a:r>
              <a:rPr lang="en-US" sz="2000" dirty="0">
                <a:solidFill>
                  <a:schemeClr val="tx1"/>
                </a:solidFill>
                <a:effectLst/>
                <a:ea typeface="Times New Roman" panose="02020603050405020304" pitchFamily="18" charset="0"/>
              </a:rPr>
              <a:t>I have </a:t>
            </a:r>
            <a:r>
              <a:rPr lang="en-GB" sz="2000" dirty="0">
                <a:solidFill>
                  <a:schemeClr val="tx1"/>
                </a:solidFill>
                <a:effectLst/>
                <a:ea typeface="Times New Roman" panose="02020603050405020304" pitchFamily="18" charset="0"/>
              </a:rPr>
              <a:t>appropriately acknowledged all other original sources used as my references for this work.</a:t>
            </a:r>
          </a:p>
          <a:p>
            <a:pPr marL="0" marR="0" indent="0" algn="ctr">
              <a:spcBef>
                <a:spcPts val="1200"/>
              </a:spcBef>
              <a:spcAft>
                <a:spcPts val="0"/>
              </a:spcAft>
              <a:buNone/>
            </a:pPr>
            <a:r>
              <a:rPr lang="en-GB" sz="2000" dirty="0">
                <a:solidFill>
                  <a:schemeClr val="tx1"/>
                </a:solidFill>
                <a:effectLst/>
                <a:ea typeface="Times New Roman" panose="02020603050405020304" pitchFamily="18" charset="0"/>
              </a:rPr>
              <a:t>I understand that Plagiarism is the act of taking and using the whole or any part of another person’s work, including work generated by AI, and presenting it as my own.</a:t>
            </a:r>
          </a:p>
          <a:p>
            <a:pPr marL="0" marR="0" indent="0" algn="ctr">
              <a:spcBef>
                <a:spcPts val="1200"/>
              </a:spcBef>
              <a:spcAft>
                <a:spcPts val="0"/>
              </a:spcAft>
              <a:buNone/>
            </a:pPr>
            <a:r>
              <a:rPr lang="en-GB" sz="2000" dirty="0">
                <a:solidFill>
                  <a:schemeClr val="tx1"/>
                </a:solidFill>
                <a:effectLst/>
                <a:ea typeface="Times New Roman" panose="02020603050405020304" pitchFamily="18" charset="0"/>
              </a:rPr>
              <a:t>I understand that Plagiarism is an academic offence</a:t>
            </a:r>
            <a:endParaRPr lang="en-US" sz="2000" dirty="0">
              <a:solidFill>
                <a:schemeClr val="tx1"/>
              </a:solidFill>
              <a:effectLst/>
              <a:ea typeface="Times New Roman" panose="02020603050405020304" pitchFamily="18" charset="0"/>
            </a:endParaRPr>
          </a:p>
          <a:p>
            <a:pPr marL="0" marR="0" indent="0" algn="ctr">
              <a:spcBef>
                <a:spcPts val="0"/>
              </a:spcBef>
              <a:spcAft>
                <a:spcPts val="0"/>
              </a:spcAft>
              <a:buNone/>
            </a:pPr>
            <a:r>
              <a:rPr lang="en-GB" sz="2000" dirty="0">
                <a:solidFill>
                  <a:schemeClr val="tx1"/>
                </a:solidFill>
                <a:effectLst/>
                <a:ea typeface="Times New Roman" panose="02020603050405020304" pitchFamily="18" charset="0"/>
              </a:rPr>
              <a:t>and if I am found to have committed or abetted the offence of plagiarism in relation to this submitted work, disciplinary action will be enforced.</a:t>
            </a:r>
          </a:p>
          <a:p>
            <a:pPr marL="0" marR="0" indent="0" algn="ctr">
              <a:spcBef>
                <a:spcPts val="0"/>
              </a:spcBef>
              <a:spcAft>
                <a:spcPts val="0"/>
              </a:spcAft>
              <a:buNone/>
            </a:pPr>
            <a:endParaRPr lang="en-GB" sz="2000" dirty="0">
              <a:ea typeface="Calibri" panose="020F0502020204030204" pitchFamily="34" charset="0"/>
              <a:cs typeface="Times New Roman" panose="02020603050405020304" pitchFamily="18" charset="0"/>
            </a:endParaRPr>
          </a:p>
          <a:p>
            <a:pPr marL="0" marR="0" indent="0" algn="ctr">
              <a:spcBef>
                <a:spcPts val="0"/>
              </a:spcBef>
              <a:spcAft>
                <a:spcPts val="0"/>
              </a:spcAft>
              <a:buNone/>
            </a:pPr>
            <a:endParaRPr lang="en-US" sz="2000" dirty="0">
              <a:solidFill>
                <a:schemeClr val="tx1"/>
              </a:solidFill>
              <a:effectLst/>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Name and Signature of Student: </a:t>
            </a:r>
          </a:p>
          <a:p>
            <a:pPr marL="0" indent="0">
              <a:lnSpc>
                <a:spcPct val="107000"/>
              </a:lnSpc>
              <a:spcAft>
                <a:spcPts val="800"/>
              </a:spcAft>
              <a:buNone/>
            </a:pPr>
            <a:r>
              <a:rPr lang="en-SG" sz="1900" dirty="0">
                <a:effectLst/>
                <a:latin typeface="Calibri" panose="020F0502020204030204" pitchFamily="34" charset="0"/>
                <a:ea typeface="Calibri" panose="020F0502020204030204" pitchFamily="34" charset="0"/>
                <a:cs typeface="Times New Roman" panose="02020603050405020304" pitchFamily="18" charset="0"/>
              </a:rPr>
              <a:t>Dylan Yeo Wen Feng</a:t>
            </a:r>
          </a:p>
          <a:p>
            <a:endParaRPr lang="en-SG" sz="3600" dirty="0"/>
          </a:p>
        </p:txBody>
      </p:sp>
      <p:pic>
        <p:nvPicPr>
          <p:cNvPr id="4" name="Picture 3" descr="A close-up of a handwritten letter&#10;&#10;AI-generated content may be incorrect.">
            <a:extLst>
              <a:ext uri="{FF2B5EF4-FFF2-40B4-BE49-F238E27FC236}">
                <a16:creationId xmlns:a16="http://schemas.microsoft.com/office/drawing/2014/main" id="{D5D6A92B-9E5C-D48F-1D24-E44980BBA1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3284" y="5149971"/>
            <a:ext cx="1932766" cy="1129673"/>
          </a:xfrm>
          <a:prstGeom prst="rect">
            <a:avLst/>
          </a:prstGeom>
        </p:spPr>
      </p:pic>
    </p:spTree>
    <p:extLst>
      <p:ext uri="{BB962C8B-B14F-4D97-AF65-F5344CB8AC3E}">
        <p14:creationId xmlns:p14="http://schemas.microsoft.com/office/powerpoint/2010/main" val="4241071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F27B9-0D28-49D9-97B5-B24FDEDB25D0}"/>
              </a:ext>
            </a:extLst>
          </p:cNvPr>
          <p:cNvSpPr>
            <a:spLocks noGrp="1"/>
          </p:cNvSpPr>
          <p:nvPr>
            <p:ph type="title"/>
          </p:nvPr>
        </p:nvSpPr>
        <p:spPr/>
        <p:txBody>
          <a:bodyPr>
            <a:noAutofit/>
          </a:bodyPr>
          <a:lstStyle/>
          <a:p>
            <a:pPr marL="0" marR="0" algn="ctr">
              <a:lnSpc>
                <a:spcPct val="150000"/>
              </a:lnSpc>
              <a:spcBef>
                <a:spcPts val="0"/>
              </a:spcBef>
              <a:spcAft>
                <a:spcPts val="0"/>
              </a:spcAft>
            </a:pPr>
            <a:r>
              <a:rPr lang="en-SG" sz="24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Declaration on the use of Generative AI tools for assignments</a:t>
            </a:r>
            <a:endParaRPr lang="en-US" sz="1100" dirty="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5" name="Content Placeholder 4">
            <a:extLst>
              <a:ext uri="{FF2B5EF4-FFF2-40B4-BE49-F238E27FC236}">
                <a16:creationId xmlns:a16="http://schemas.microsoft.com/office/drawing/2014/main" id="{59D1921A-1635-F05B-3C5F-1FB1679BB9DC}"/>
              </a:ext>
            </a:extLst>
          </p:cNvPr>
          <p:cNvSpPr>
            <a:spLocks noGrp="1"/>
          </p:cNvSpPr>
          <p:nvPr>
            <p:ph idx="1"/>
          </p:nvPr>
        </p:nvSpPr>
        <p:spPr>
          <a:xfrm>
            <a:off x="959581" y="1499360"/>
            <a:ext cx="10336162" cy="1057410"/>
          </a:xfrm>
        </p:spPr>
        <p:txBody>
          <a:bodyPr>
            <a:normAutofit lnSpcReduction="10000"/>
          </a:bodyPr>
          <a:lstStyle/>
          <a:p>
            <a:pPr marL="0" marR="0" indent="0" algn="just">
              <a:spcBef>
                <a:spcPts val="0"/>
              </a:spcBef>
              <a:spcAft>
                <a:spcPts val="0"/>
              </a:spcAft>
              <a:buNone/>
              <a:tabLst>
                <a:tab pos="228600" algn="l"/>
              </a:tabLst>
            </a:pPr>
            <a:r>
              <a:rPr lang="en-GB" sz="1800" dirty="0">
                <a:solidFill>
                  <a:schemeClr val="tx1"/>
                </a:solidFill>
                <a:effectLst/>
                <a:latin typeface="Arial" panose="020B0604020202020204" pitchFamily="34" charset="0"/>
                <a:ea typeface="Times New Roman" panose="02020603050405020304" pitchFamily="18" charset="0"/>
              </a:rPr>
              <a:t>Describe how you have used Generative AI tools such as ChatGPT or Dall.E-2 in your assignment. </a:t>
            </a:r>
            <a:endParaRPr lang="en-US" sz="1800" dirty="0">
              <a:solidFill>
                <a:schemeClr val="tx1"/>
              </a:solidFill>
              <a:effectLst/>
              <a:latin typeface="Arial" panose="020B0604020202020204" pitchFamily="34" charset="0"/>
              <a:ea typeface="Times New Roman" panose="02020603050405020304" pitchFamily="18" charset="0"/>
            </a:endParaRPr>
          </a:p>
          <a:p>
            <a:pPr marL="0" marR="0" indent="0" algn="just">
              <a:spcBef>
                <a:spcPts val="0"/>
              </a:spcBef>
              <a:spcAft>
                <a:spcPts val="0"/>
              </a:spcAft>
              <a:buNone/>
              <a:tabLst>
                <a:tab pos="228600" algn="l"/>
              </a:tabLst>
            </a:pPr>
            <a:endParaRPr lang="en-US" sz="1800" dirty="0">
              <a:solidFill>
                <a:schemeClr val="tx1"/>
              </a:solidFill>
              <a:effectLst/>
              <a:latin typeface="Arial" panose="020B0604020202020204" pitchFamily="34" charset="0"/>
              <a:ea typeface="Times New Roman" panose="02020603050405020304" pitchFamily="18" charset="0"/>
            </a:endParaRPr>
          </a:p>
          <a:p>
            <a:pPr marL="0" marR="0" indent="0" algn="just">
              <a:spcBef>
                <a:spcPts val="0"/>
              </a:spcBef>
              <a:spcAft>
                <a:spcPts val="0"/>
              </a:spcAft>
              <a:buNone/>
              <a:tabLst>
                <a:tab pos="228600" algn="l"/>
              </a:tabLst>
            </a:pPr>
            <a:r>
              <a:rPr lang="en-GB" sz="1800" dirty="0">
                <a:solidFill>
                  <a:schemeClr val="tx1"/>
                </a:solidFill>
                <a:effectLst/>
                <a:latin typeface="Arial" panose="020B0604020202020204" pitchFamily="34" charset="0"/>
                <a:ea typeface="Times New Roman" panose="02020603050405020304" pitchFamily="18" charset="0"/>
              </a:rPr>
              <a:t>Show snapshots of the conversations with the AI tool (i.e., the prompts you used and the response you get from the AI tool).  </a:t>
            </a:r>
            <a:endParaRPr lang="en-US" sz="1800" dirty="0">
              <a:solidFill>
                <a:schemeClr val="tx1"/>
              </a:solidFill>
              <a:effectLst/>
              <a:latin typeface="Arial" panose="020B0604020202020204" pitchFamily="34" charset="0"/>
              <a:ea typeface="Times New Roman" panose="02020603050405020304" pitchFamily="18" charset="0"/>
            </a:endParaRPr>
          </a:p>
        </p:txBody>
      </p:sp>
      <p:sp>
        <p:nvSpPr>
          <p:cNvPr id="10" name="TextBox 9">
            <a:extLst>
              <a:ext uri="{FF2B5EF4-FFF2-40B4-BE49-F238E27FC236}">
                <a16:creationId xmlns:a16="http://schemas.microsoft.com/office/drawing/2014/main" id="{9877B34D-A3FD-6731-5308-300BCCC5C733}"/>
              </a:ext>
            </a:extLst>
          </p:cNvPr>
          <p:cNvSpPr txBox="1"/>
          <p:nvPr/>
        </p:nvSpPr>
        <p:spPr>
          <a:xfrm>
            <a:off x="959582" y="2663301"/>
            <a:ext cx="10336161" cy="211288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p>
        </p:txBody>
      </p:sp>
    </p:spTree>
    <p:extLst>
      <p:ext uri="{BB962C8B-B14F-4D97-AF65-F5344CB8AC3E}">
        <p14:creationId xmlns:p14="http://schemas.microsoft.com/office/powerpoint/2010/main" val="116405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91E037A-6BE5-7A11-AEC6-913324BAC69F}"/>
              </a:ext>
            </a:extLst>
          </p:cNvPr>
          <p:cNvSpPr txBox="1">
            <a:spLocks/>
          </p:cNvSpPr>
          <p:nvPr/>
        </p:nvSpPr>
        <p:spPr>
          <a:xfrm>
            <a:off x="959581" y="1184910"/>
            <a:ext cx="10336162" cy="2628758"/>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Font typeface="Arial" panose="020B0604020202020204" pitchFamily="34" charset="0"/>
              <a:buNone/>
            </a:pPr>
            <a:r>
              <a:rPr lang="en-SG" sz="1600" dirty="0">
                <a:solidFill>
                  <a:schemeClr val="tx1"/>
                </a:solidFill>
                <a:ea typeface="Times New Roman" panose="02020603050405020304" pitchFamily="18" charset="0"/>
              </a:rPr>
              <a:t>The content generated by AI tools are not retrievable except by the user who generated them, so they are considered non-recoverable sources. Although non-recoverable data or quotations in APA Style papers are usually cited as personal communications, with ChatGPT-generated text there is no person communicating. Quoting text from ChatGPT chat is therefore more like sharing the output of an algorithm, with a reference list entry and the corresponding in-text citation.</a:t>
            </a:r>
          </a:p>
          <a:p>
            <a:pPr marL="0" indent="0" algn="just">
              <a:spcBef>
                <a:spcPts val="0"/>
              </a:spcBef>
              <a:buFont typeface="Arial" panose="020B0604020202020204" pitchFamily="34" charset="0"/>
              <a:buNone/>
            </a:pPr>
            <a:endParaRPr lang="en-SG" sz="1600" dirty="0">
              <a:solidFill>
                <a:schemeClr val="tx1"/>
              </a:solidFill>
              <a:ea typeface="Times New Roman" panose="02020603050405020304" pitchFamily="18" charset="0"/>
            </a:endParaRPr>
          </a:p>
          <a:p>
            <a:pPr marL="0" indent="0" algn="just">
              <a:spcBef>
                <a:spcPts val="0"/>
              </a:spcBef>
              <a:buFont typeface="Arial" panose="020B0604020202020204" pitchFamily="34" charset="0"/>
              <a:buNone/>
            </a:pPr>
            <a:r>
              <a:rPr lang="en-SG" sz="1600" dirty="0">
                <a:solidFill>
                  <a:schemeClr val="tx1"/>
                </a:solidFill>
                <a:ea typeface="Times New Roman" panose="02020603050405020304" pitchFamily="18" charset="0"/>
              </a:rPr>
              <a:t>According to the official APA Style site, ChatGPT references should be cited as:</a:t>
            </a:r>
          </a:p>
          <a:p>
            <a:pPr marL="0" indent="0" algn="just">
              <a:spcBef>
                <a:spcPts val="0"/>
              </a:spcBef>
              <a:buFont typeface="Arial" panose="020B0604020202020204" pitchFamily="34" charset="0"/>
              <a:buNone/>
            </a:pPr>
            <a:endParaRPr lang="en-SG" sz="1600" dirty="0">
              <a:solidFill>
                <a:schemeClr val="tx1"/>
              </a:solidFill>
              <a:ea typeface="Times New Roman" panose="02020603050405020304" pitchFamily="18" charset="0"/>
            </a:endParaRPr>
          </a:p>
          <a:p>
            <a:pPr marL="0" indent="0" algn="just">
              <a:spcBef>
                <a:spcPts val="0"/>
              </a:spcBef>
              <a:buFont typeface="Arial" panose="020B0604020202020204" pitchFamily="34" charset="0"/>
              <a:buNone/>
            </a:pPr>
            <a:r>
              <a:rPr lang="en-SG" sz="1600" dirty="0">
                <a:solidFill>
                  <a:schemeClr val="tx1"/>
                </a:solidFill>
                <a:ea typeface="Times New Roman" panose="02020603050405020304" pitchFamily="18" charset="0"/>
              </a:rPr>
              <a:t>E.g.   OpenAI. (2023). ChatGPT (Sep 25 version) [Large language model]. </a:t>
            </a:r>
            <a:r>
              <a:rPr lang="en-SG" sz="1600" dirty="0">
                <a:ea typeface="Times New Roman" panose="02020603050405020304" pitchFamily="18" charset="0"/>
                <a:hlinkClick r:id="rId2"/>
              </a:rPr>
              <a:t>https://chat.openai.com/chat</a:t>
            </a:r>
            <a:r>
              <a:rPr lang="en-SG" sz="1600" dirty="0">
                <a:ea typeface="Times New Roman" panose="02020603050405020304" pitchFamily="18" charset="0"/>
              </a:rPr>
              <a:t> </a:t>
            </a:r>
          </a:p>
        </p:txBody>
      </p:sp>
      <p:sp>
        <p:nvSpPr>
          <p:cNvPr id="3" name="Title 1">
            <a:extLst>
              <a:ext uri="{FF2B5EF4-FFF2-40B4-BE49-F238E27FC236}">
                <a16:creationId xmlns:a16="http://schemas.microsoft.com/office/drawing/2014/main" id="{5BDA16E0-F35F-9D0A-C62B-AB7CD8FD6F32}"/>
              </a:ext>
            </a:extLst>
          </p:cNvPr>
          <p:cNvSpPr txBox="1">
            <a:spLocks/>
          </p:cNvSpPr>
          <p:nvPr/>
        </p:nvSpPr>
        <p:spPr>
          <a:xfrm>
            <a:off x="959582" y="365126"/>
            <a:ext cx="10336161" cy="819784"/>
          </a:xfrm>
          <a:prstGeom prst="rect">
            <a:avLst/>
          </a:prstGeom>
        </p:spPr>
        <p:txBody>
          <a:bodyPr>
            <a:noAutofit/>
          </a:bodyPr>
          <a:lstStyle>
            <a:lvl1pPr algn="l" defTabSz="914400" rtl="0" eaLnBrk="1" latinLnBrk="0" hangingPunct="1">
              <a:lnSpc>
                <a:spcPct val="90000"/>
              </a:lnSpc>
              <a:spcBef>
                <a:spcPct val="0"/>
              </a:spcBef>
              <a:buNone/>
              <a:defRPr sz="3600" b="0" i="0" u="none" kern="1200">
                <a:solidFill>
                  <a:srgbClr val="0070C0"/>
                </a:solidFill>
                <a:latin typeface="+mn-lt"/>
                <a:ea typeface="+mj-ea"/>
                <a:cs typeface="+mj-cs"/>
              </a:defRPr>
            </a:lvl1pPr>
          </a:lstStyle>
          <a:p>
            <a:pPr algn="ctr">
              <a:lnSpc>
                <a:spcPct val="150000"/>
              </a:lnSpc>
              <a:spcBef>
                <a:spcPts val="0"/>
              </a:spcBef>
            </a:pPr>
            <a:r>
              <a:rPr lang="en-SG" sz="2400" b="1" dirty="0">
                <a:solidFill>
                  <a:srgbClr val="FF0000"/>
                </a:solidFill>
                <a:latin typeface="Arial" panose="020B0604020202020204" pitchFamily="34" charset="0"/>
                <a:ea typeface="Times New Roman" panose="02020603050405020304" pitchFamily="18" charset="0"/>
                <a:cs typeface="Arial" panose="020B0604020202020204" pitchFamily="34" charset="0"/>
              </a:rPr>
              <a:t>How do you indicate the reference?</a:t>
            </a:r>
            <a:endParaRPr lang="en-US" sz="1100" dirty="0">
              <a:latin typeface="Arial" panose="020B0604020202020204" pitchFamily="34" charset="0"/>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60EFE433-EAE2-4855-84B2-7012E3FCB36E}"/>
              </a:ext>
            </a:extLst>
          </p:cNvPr>
          <p:cNvSpPr txBox="1"/>
          <p:nvPr/>
        </p:nvSpPr>
        <p:spPr>
          <a:xfrm>
            <a:off x="959581" y="3813668"/>
            <a:ext cx="10336162" cy="255454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marR="0" algn="just">
              <a:spcBef>
                <a:spcPts val="0"/>
              </a:spcBef>
              <a:spcAft>
                <a:spcPts val="0"/>
              </a:spcAft>
              <a:tabLst>
                <a:tab pos="228600" algn="l"/>
              </a:tabLst>
            </a:pPr>
            <a:r>
              <a:rPr lang="en-GB" sz="1600" b="1" dirty="0">
                <a:solidFill>
                  <a:srgbClr val="FF0000"/>
                </a:solidFill>
                <a:effectLst/>
                <a:ea typeface="Times New Roman" panose="02020603050405020304" pitchFamily="18" charset="0"/>
              </a:rPr>
              <a:t>Important Note:</a:t>
            </a:r>
            <a:endParaRPr lang="en-US" sz="1600" dirty="0">
              <a:solidFill>
                <a:srgbClr val="FF0000"/>
              </a:solidFill>
              <a:effectLst/>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endParaRPr lang="en-GB" sz="1600" dirty="0">
              <a:effectLst/>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r>
              <a:rPr lang="en-GB" sz="1600" dirty="0">
                <a:effectLst/>
                <a:ea typeface="Times New Roman" panose="02020603050405020304" pitchFamily="18" charset="0"/>
              </a:rPr>
              <a:t>Do not copy answers produced by the AI tool in totality as it is considered as plagiarism.  </a:t>
            </a:r>
            <a:endParaRPr lang="en-US" sz="1600" dirty="0">
              <a:effectLst/>
              <a:ea typeface="Times New Roman" panose="02020603050405020304" pitchFamily="18" charset="0"/>
            </a:endParaRPr>
          </a:p>
          <a:p>
            <a:pPr marL="228600" marR="0" algn="just">
              <a:spcBef>
                <a:spcPts val="0"/>
              </a:spcBef>
              <a:spcAft>
                <a:spcPts val="0"/>
              </a:spcAft>
              <a:tabLst>
                <a:tab pos="228600" algn="l"/>
              </a:tabLst>
            </a:pPr>
            <a:r>
              <a:rPr lang="en-GB" sz="1600" dirty="0">
                <a:effectLst/>
                <a:ea typeface="Times New Roman" panose="02020603050405020304" pitchFamily="18" charset="0"/>
              </a:rPr>
              <a:t> </a:t>
            </a:r>
            <a:endParaRPr lang="en-US" sz="1600" dirty="0">
              <a:effectLst/>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r>
              <a:rPr lang="en-GB" sz="1600" dirty="0">
                <a:effectLst/>
                <a:ea typeface="Times New Roman" panose="02020603050405020304" pitchFamily="18" charset="0"/>
              </a:rPr>
              <a:t>Do not rely on any information produced by the AI tool blindly. You should always verify the answer with other sources. Do not assume that these answers provided by the AI tool are correct.  </a:t>
            </a:r>
            <a:endParaRPr lang="en-US" sz="1600" dirty="0">
              <a:effectLst/>
              <a:ea typeface="Times New Roman" panose="02020603050405020304" pitchFamily="18" charset="0"/>
            </a:endParaRPr>
          </a:p>
          <a:p>
            <a:pPr marL="457200" marR="0">
              <a:spcBef>
                <a:spcPts val="0"/>
              </a:spcBef>
              <a:spcAft>
                <a:spcPts val="0"/>
              </a:spcAft>
            </a:pPr>
            <a:r>
              <a:rPr lang="en-GB" sz="1600" dirty="0">
                <a:effectLst/>
                <a:ea typeface="Times New Roman" panose="02020603050405020304" pitchFamily="18" charset="0"/>
              </a:rPr>
              <a:t> </a:t>
            </a:r>
            <a:endParaRPr lang="en-US" sz="1600" dirty="0">
              <a:effectLst/>
              <a:ea typeface="Times New Roman" panose="02020603050405020304" pitchFamily="18" charset="0"/>
            </a:endParaRPr>
          </a:p>
          <a:p>
            <a:pPr marL="342900" marR="0" lvl="0" indent="-342900" algn="just">
              <a:spcBef>
                <a:spcPts val="0"/>
              </a:spcBef>
              <a:spcAft>
                <a:spcPts val="0"/>
              </a:spcAft>
              <a:buFont typeface="Symbol" panose="05050102010706020507" pitchFamily="18" charset="2"/>
              <a:buChar char=""/>
              <a:tabLst>
                <a:tab pos="228600" algn="l"/>
              </a:tabLst>
            </a:pPr>
            <a:r>
              <a:rPr lang="en-GB" sz="1600" dirty="0">
                <a:effectLst/>
                <a:ea typeface="Times New Roman" panose="02020603050405020304" pitchFamily="18" charset="0"/>
              </a:rPr>
              <a:t>To achieve quality outputs from the AI tool, you should provide good prompt that is clear and specific. Be precise and provide context.  Avoid asking open-ended questions. </a:t>
            </a:r>
          </a:p>
          <a:p>
            <a:pPr marR="0" lvl="0" algn="just">
              <a:spcBef>
                <a:spcPts val="0"/>
              </a:spcBef>
              <a:spcAft>
                <a:spcPts val="0"/>
              </a:spcAft>
              <a:tabLst>
                <a:tab pos="228600" algn="l"/>
              </a:tabLst>
            </a:pPr>
            <a:endParaRPr lang="en-US" sz="1600" dirty="0">
              <a:effectLst/>
              <a:ea typeface="Times New Roman" panose="02020603050405020304" pitchFamily="18" charset="0"/>
            </a:endParaRPr>
          </a:p>
        </p:txBody>
      </p:sp>
    </p:spTree>
    <p:extLst>
      <p:ext uri="{BB962C8B-B14F-4D97-AF65-F5344CB8AC3E}">
        <p14:creationId xmlns:p14="http://schemas.microsoft.com/office/powerpoint/2010/main" val="4011785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17672-F6E5-9794-1B2A-1763A2756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77476-C6D1-EFDC-F7D7-707F9B4954F6}"/>
              </a:ext>
            </a:extLst>
          </p:cNvPr>
          <p:cNvSpPr>
            <a:spLocks noGrp="1"/>
          </p:cNvSpPr>
          <p:nvPr>
            <p:ph type="title"/>
          </p:nvPr>
        </p:nvSpPr>
        <p:spPr>
          <a:xfrm>
            <a:off x="838200" y="365126"/>
            <a:ext cx="10515600" cy="1078664"/>
          </a:xfrm>
        </p:spPr>
        <p:txBody>
          <a:bodyPr>
            <a:normAutofit fontScale="90000"/>
          </a:bodyPr>
          <a:lstStyle/>
          <a:p>
            <a:r>
              <a:rPr lang="en-US" b="1" dirty="0"/>
              <a:t>Selected Use Case – </a:t>
            </a:r>
            <a:br>
              <a:rPr lang="en-US" b="1" dirty="0"/>
            </a:br>
            <a:r>
              <a:rPr lang="en-US" b="1" dirty="0">
                <a:highlight>
                  <a:srgbClr val="FFFF00"/>
                </a:highlight>
              </a:rPr>
              <a:t>Highlight your selected use case below</a:t>
            </a:r>
            <a:endParaRPr lang="en-US" dirty="0">
              <a:highlight>
                <a:srgbClr val="FFFF00"/>
              </a:highlight>
            </a:endParaRPr>
          </a:p>
        </p:txBody>
      </p:sp>
      <p:sp>
        <p:nvSpPr>
          <p:cNvPr id="3" name="Content Placeholder 2">
            <a:extLst>
              <a:ext uri="{FF2B5EF4-FFF2-40B4-BE49-F238E27FC236}">
                <a16:creationId xmlns:a16="http://schemas.microsoft.com/office/drawing/2014/main" id="{C8760CD5-405C-869B-BC45-A94C15FE2050}"/>
              </a:ext>
            </a:extLst>
          </p:cNvPr>
          <p:cNvSpPr>
            <a:spLocks noGrp="1"/>
          </p:cNvSpPr>
          <p:nvPr>
            <p:ph idx="1"/>
          </p:nvPr>
        </p:nvSpPr>
        <p:spPr>
          <a:xfrm>
            <a:off x="548640" y="1536866"/>
            <a:ext cx="11290434" cy="4806182"/>
          </a:xfrm>
        </p:spPr>
        <p:txBody>
          <a:bodyPr>
            <a:normAutofit fontScale="92500" lnSpcReduction="10000"/>
          </a:bodyPr>
          <a:lstStyle/>
          <a:p>
            <a:pPr marL="0" indent="0" algn="just">
              <a:buNone/>
            </a:pPr>
            <a:r>
              <a:rPr lang="en-US" sz="1600" b="1" dirty="0"/>
              <a:t>Case Study Options</a:t>
            </a:r>
            <a:r>
              <a:rPr lang="en-US" sz="1600" dirty="0"/>
              <a:t> (</a:t>
            </a:r>
            <a:r>
              <a:rPr lang="en-US" sz="1600" i="1" dirty="0"/>
              <a:t>The problem statement serves as a starting point; you can use it as is or adapt it based on your users' specific needs.</a:t>
            </a:r>
            <a:r>
              <a:rPr lang="en-US" sz="1600" dirty="0"/>
              <a:t>):</a:t>
            </a:r>
          </a:p>
          <a:p>
            <a:pPr marL="0" indent="0" algn="just">
              <a:buNone/>
            </a:pPr>
            <a:endParaRPr lang="en-US" sz="1600" dirty="0"/>
          </a:p>
          <a:p>
            <a:pPr marL="0" lvl="0" indent="0" algn="just">
              <a:buNone/>
            </a:pPr>
            <a:r>
              <a:rPr lang="en-US" sz="1600" b="1" dirty="0"/>
              <a:t>Campus Event Management System</a:t>
            </a:r>
            <a:endParaRPr lang="en-US" sz="1600" dirty="0"/>
          </a:p>
          <a:p>
            <a:pPr algn="just"/>
            <a:r>
              <a:rPr lang="en-US" sz="1600" b="1" dirty="0"/>
              <a:t>Problem Statement:</a:t>
            </a:r>
            <a:r>
              <a:rPr lang="en-US" sz="1600" dirty="0"/>
              <a:t> Students often miss out on campus events due to scattered announcements, lack of reminders, and complicated registration processes, leading to low participation and poor event visibility. </a:t>
            </a:r>
          </a:p>
          <a:p>
            <a:pPr lvl="0" algn="just"/>
            <a:endParaRPr lang="en-US" sz="1600" b="1" dirty="0"/>
          </a:p>
          <a:p>
            <a:pPr marL="0" lvl="0" indent="0" algn="just">
              <a:buNone/>
            </a:pPr>
            <a:r>
              <a:rPr lang="en-US" sz="1600" b="1" dirty="0"/>
              <a:t>Library Book Finder &amp; Reservation System</a:t>
            </a:r>
            <a:endParaRPr lang="en-US" sz="1600" dirty="0"/>
          </a:p>
          <a:p>
            <a:pPr algn="just"/>
            <a:r>
              <a:rPr lang="en-US" sz="1600" b="1" dirty="0"/>
              <a:t>Problem Statement: </a:t>
            </a:r>
            <a:r>
              <a:rPr lang="en-US" sz="1600" dirty="0"/>
              <a:t>Students waste time searching for books in the library without knowing their availability, resulting in frustration and missed opportunities to access learning resources.</a:t>
            </a:r>
          </a:p>
          <a:p>
            <a:pPr marL="0" indent="0" algn="just">
              <a:buNone/>
            </a:pPr>
            <a:r>
              <a:rPr lang="en-US" sz="1600" dirty="0"/>
              <a:t> </a:t>
            </a:r>
          </a:p>
          <a:p>
            <a:pPr marL="0" lvl="0" indent="0" algn="just">
              <a:buNone/>
            </a:pPr>
            <a:r>
              <a:rPr lang="en-US" sz="1600" b="1" dirty="0">
                <a:highlight>
                  <a:srgbClr val="FFFF00"/>
                </a:highlight>
              </a:rPr>
              <a:t>Peer-to-Peer Learning / Tutor Finder</a:t>
            </a:r>
            <a:endParaRPr lang="en-US" sz="1600" dirty="0">
              <a:highlight>
                <a:srgbClr val="FFFF00"/>
              </a:highlight>
            </a:endParaRPr>
          </a:p>
          <a:p>
            <a:pPr algn="just"/>
            <a:r>
              <a:rPr lang="en-US" sz="1600" b="1" dirty="0">
                <a:highlight>
                  <a:srgbClr val="FFFF00"/>
                </a:highlight>
              </a:rPr>
              <a:t>Problem Statement: </a:t>
            </a:r>
            <a:r>
              <a:rPr lang="en-US" sz="1600" dirty="0">
                <a:highlight>
                  <a:srgbClr val="FFFF00"/>
                </a:highlight>
              </a:rPr>
              <a:t>Students often need academic help but struggle to find peers with the right expertise, leading to missed learning opportunities and uneven access to support.</a:t>
            </a:r>
          </a:p>
          <a:p>
            <a:pPr marL="0" indent="0" algn="just">
              <a:buNone/>
            </a:pPr>
            <a:r>
              <a:rPr lang="en-US" sz="1600" dirty="0"/>
              <a:t> </a:t>
            </a:r>
          </a:p>
          <a:p>
            <a:pPr marL="0" lvl="0" indent="0" algn="just">
              <a:buNone/>
            </a:pPr>
            <a:r>
              <a:rPr lang="en-US" sz="1600" b="1" dirty="0"/>
              <a:t>Internship &amp; Job Portal for Students</a:t>
            </a:r>
            <a:endParaRPr lang="en-US" sz="1600" dirty="0"/>
          </a:p>
          <a:p>
            <a:pPr algn="just"/>
            <a:r>
              <a:rPr lang="en-US" sz="1600" b="1" dirty="0"/>
              <a:t>Problem Statement: </a:t>
            </a:r>
            <a:r>
              <a:rPr lang="en-US" sz="1600" dirty="0"/>
              <a:t>Students often struggle to find internships and job opportunities relevant to their courses, as postings are scattered across multiple platforms with no campus-specific matching.</a:t>
            </a:r>
            <a:r>
              <a:rPr lang="en-US" sz="1600" b="1" dirty="0"/>
              <a:t> </a:t>
            </a:r>
            <a:endParaRPr lang="en-US" sz="1600" dirty="0"/>
          </a:p>
        </p:txBody>
      </p:sp>
    </p:spTree>
    <p:extLst>
      <p:ext uri="{BB962C8B-B14F-4D97-AF65-F5344CB8AC3E}">
        <p14:creationId xmlns:p14="http://schemas.microsoft.com/office/powerpoint/2010/main" val="1420197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04071-0090-17B7-2A90-3317FAB697E2}"/>
              </a:ext>
            </a:extLst>
          </p:cNvPr>
          <p:cNvSpPr>
            <a:spLocks noGrp="1"/>
          </p:cNvSpPr>
          <p:nvPr>
            <p:ph type="title"/>
          </p:nvPr>
        </p:nvSpPr>
        <p:spPr/>
        <p:txBody>
          <a:bodyPr/>
          <a:lstStyle/>
          <a:p>
            <a:r>
              <a:rPr lang="en-US" b="1" dirty="0"/>
              <a:t>Problem Definition/Customer Needs (4%)</a:t>
            </a:r>
            <a:endParaRPr lang="en-US" dirty="0"/>
          </a:p>
        </p:txBody>
      </p:sp>
      <p:pic>
        <p:nvPicPr>
          <p:cNvPr id="9" name="Picture 8">
            <a:extLst>
              <a:ext uri="{FF2B5EF4-FFF2-40B4-BE49-F238E27FC236}">
                <a16:creationId xmlns:a16="http://schemas.microsoft.com/office/drawing/2014/main" id="{B01B1A60-B793-6598-607D-FCBA88207E1A}"/>
              </a:ext>
            </a:extLst>
          </p:cNvPr>
          <p:cNvPicPr>
            <a:picLocks noChangeAspect="1"/>
          </p:cNvPicPr>
          <p:nvPr/>
        </p:nvPicPr>
        <p:blipFill>
          <a:blip r:embed="rId2"/>
          <a:stretch>
            <a:fillRect/>
          </a:stretch>
        </p:blipFill>
        <p:spPr>
          <a:xfrm>
            <a:off x="739942" y="1619656"/>
            <a:ext cx="10712116" cy="4112009"/>
          </a:xfrm>
          <a:prstGeom prst="rect">
            <a:avLst/>
          </a:prstGeom>
        </p:spPr>
      </p:pic>
    </p:spTree>
    <p:extLst>
      <p:ext uri="{BB962C8B-B14F-4D97-AF65-F5344CB8AC3E}">
        <p14:creationId xmlns:p14="http://schemas.microsoft.com/office/powerpoint/2010/main" val="1716147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4485F-1971-E1E1-0150-CFD6CDF85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6E75E-9C10-B9DF-1FE3-0DF030A1F9EB}"/>
              </a:ext>
            </a:extLst>
          </p:cNvPr>
          <p:cNvSpPr>
            <a:spLocks noGrp="1"/>
          </p:cNvSpPr>
          <p:nvPr>
            <p:ph type="title"/>
          </p:nvPr>
        </p:nvSpPr>
        <p:spPr/>
        <p:txBody>
          <a:bodyPr/>
          <a:lstStyle/>
          <a:p>
            <a:r>
              <a:rPr lang="en-US" b="1" dirty="0"/>
              <a:t>Problem Definition/Customer Needs (4%)</a:t>
            </a:r>
            <a:endParaRPr lang="en-US" dirty="0"/>
          </a:p>
        </p:txBody>
      </p:sp>
      <p:sp>
        <p:nvSpPr>
          <p:cNvPr id="3" name="Content Placeholder 2">
            <a:extLst>
              <a:ext uri="{FF2B5EF4-FFF2-40B4-BE49-F238E27FC236}">
                <a16:creationId xmlns:a16="http://schemas.microsoft.com/office/drawing/2014/main" id="{33470A05-E2C0-BC32-CE16-D1FB03A78EBF}"/>
              </a:ext>
            </a:extLst>
          </p:cNvPr>
          <p:cNvSpPr>
            <a:spLocks noGrp="1"/>
          </p:cNvSpPr>
          <p:nvPr>
            <p:ph idx="1"/>
          </p:nvPr>
        </p:nvSpPr>
        <p:spPr/>
        <p:txBody>
          <a:bodyPr>
            <a:normAutofit/>
          </a:bodyPr>
          <a:lstStyle/>
          <a:p>
            <a:pPr marL="0" indent="0" algn="just">
              <a:buNone/>
            </a:pPr>
            <a:r>
              <a:rPr lang="en-US" sz="1400" b="1" dirty="0"/>
              <a:t>Problem Statement</a:t>
            </a:r>
          </a:p>
          <a:p>
            <a:pPr marL="0" indent="0" algn="just">
              <a:buNone/>
            </a:pPr>
            <a:r>
              <a:rPr lang="en-US" sz="1400" dirty="0"/>
              <a:t>Modules that students take throughout their 3 years in Temasek Polytechnic differ in difficulty level, with some modules being harder to understand than others. When faced with such challenging modules, students often turn to their immediate friends or classmates for help. </a:t>
            </a:r>
          </a:p>
          <a:p>
            <a:pPr marL="0" indent="0" algn="just">
              <a:buNone/>
            </a:pPr>
            <a:r>
              <a:rPr lang="en-US" sz="1400" dirty="0"/>
              <a:t>However, this approach is not always effective, as their friends may not possess the necessary knowledge or expertise to provide accurate guidance. Furthermore, not all students are comfortable seeking help from lecturers or tutors, either due to shyness, limited consultation hours, or a fear of being judged. As a result, many students end up struggling silently, which leads to missed learning opportunities. This shows the need for a more accessible and comfortable avenue for students to seek academic support, one that connects them directly with peers who have the right strengths and willingness to help.</a:t>
            </a:r>
          </a:p>
          <a:p>
            <a:pPr marL="0" indent="0" algn="just">
              <a:buNone/>
            </a:pPr>
            <a:r>
              <a:rPr lang="en-US" sz="1400" b="1" dirty="0"/>
              <a:t>Users’ Purpose</a:t>
            </a:r>
          </a:p>
          <a:p>
            <a:pPr marL="0" indent="0" algn="just">
              <a:buNone/>
            </a:pPr>
            <a:r>
              <a:rPr lang="en-US" sz="1400" dirty="0"/>
              <a:t>The main users of this system are students within Temasek Polytechnic who seek academic help or wish to improve in specific modules. They represent the learners who need personalized support and guidance from peers. The secondary users are the peer tutors, consisting of students who are confident and proficient in some modules and who wish to help others. These tutors also benefit from the opportunity to enhance their communication and problem-solving skills while reinforcing their own subject knowledge through teaching.</a:t>
            </a:r>
          </a:p>
          <a:p>
            <a:pPr marL="0" indent="0" algn="just">
              <a:buNone/>
            </a:pPr>
            <a:r>
              <a:rPr lang="en-US" sz="1400" dirty="0"/>
              <a:t>The main goal of the users is to find suitable peers who can complement their learning needs (those who are strong in the subjects they themselves struggle with).</a:t>
            </a:r>
          </a:p>
        </p:txBody>
      </p:sp>
    </p:spTree>
    <p:extLst>
      <p:ext uri="{BB962C8B-B14F-4D97-AF65-F5344CB8AC3E}">
        <p14:creationId xmlns:p14="http://schemas.microsoft.com/office/powerpoint/2010/main" val="3971626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FAEFF-3239-45B5-44B5-AAFBFFE1B8EF}"/>
              </a:ext>
            </a:extLst>
          </p:cNvPr>
          <p:cNvSpPr>
            <a:spLocks noGrp="1"/>
          </p:cNvSpPr>
          <p:nvPr>
            <p:ph type="title"/>
          </p:nvPr>
        </p:nvSpPr>
        <p:spPr/>
        <p:txBody>
          <a:bodyPr/>
          <a:lstStyle/>
          <a:p>
            <a:r>
              <a:rPr lang="en-US" b="1" dirty="0"/>
              <a:t>Problem Definition/Customer Needs (4%)</a:t>
            </a:r>
            <a:endParaRPr lang="en-SG" dirty="0"/>
          </a:p>
        </p:txBody>
      </p:sp>
      <p:sp>
        <p:nvSpPr>
          <p:cNvPr id="3" name="Content Placeholder 2">
            <a:extLst>
              <a:ext uri="{FF2B5EF4-FFF2-40B4-BE49-F238E27FC236}">
                <a16:creationId xmlns:a16="http://schemas.microsoft.com/office/drawing/2014/main" id="{5E9E813D-78A5-91BF-31CB-F3E8CB16B639}"/>
              </a:ext>
            </a:extLst>
          </p:cNvPr>
          <p:cNvSpPr>
            <a:spLocks noGrp="1"/>
          </p:cNvSpPr>
          <p:nvPr>
            <p:ph idx="1"/>
          </p:nvPr>
        </p:nvSpPr>
        <p:spPr/>
        <p:txBody>
          <a:bodyPr>
            <a:normAutofit fontScale="70000" lnSpcReduction="20000"/>
          </a:bodyPr>
          <a:lstStyle/>
          <a:p>
            <a:pPr marL="0" indent="0">
              <a:buNone/>
            </a:pPr>
            <a:r>
              <a:rPr lang="en-SG" sz="2000" b="1" dirty="0"/>
              <a:t>Need and Demand for such a website</a:t>
            </a:r>
          </a:p>
          <a:p>
            <a:pPr marL="0" indent="0">
              <a:lnSpc>
                <a:spcPct val="120000"/>
              </a:lnSpc>
              <a:buNone/>
            </a:pPr>
            <a:r>
              <a:rPr lang="en-SG" sz="2000" dirty="0"/>
              <a:t>Such a website is needed and will be in demand because research from </a:t>
            </a:r>
            <a:r>
              <a:rPr lang="en-SG" sz="2000" b="1" dirty="0"/>
              <a:t>Cornell University</a:t>
            </a:r>
            <a:r>
              <a:rPr lang="en-SG" sz="2000" dirty="0"/>
              <a:t> proves that the more collaborative the learning, the deeper the understanding and better grades. Peer-to-peer learning enables communication skills, critical thinking, and teamwork skills, therefore making the learning environment more helpful and engaging.</a:t>
            </a:r>
          </a:p>
          <a:p>
            <a:pPr marL="0" indent="0">
              <a:lnSpc>
                <a:spcPct val="120000"/>
              </a:lnSpc>
              <a:buNone/>
            </a:pPr>
            <a:r>
              <a:rPr lang="en-SG" sz="2000" dirty="0"/>
              <a:t>Further, it has also been highlighted by </a:t>
            </a:r>
            <a:r>
              <a:rPr lang="en-SG" sz="2000" b="1" dirty="0" err="1"/>
              <a:t>Atomi</a:t>
            </a:r>
            <a:r>
              <a:rPr lang="en-SG" sz="2000" b="1" dirty="0"/>
              <a:t> Systems Inc.</a:t>
            </a:r>
            <a:r>
              <a:rPr lang="en-SG" sz="2000" dirty="0"/>
              <a:t>, a software development company that enhances learning through educational technologies, that this kind of online platform may be used for peer-to-peer learning in particularly challenging subjects. According to them, in instances when students find specific modules to be particularly challenging and if such an online system is available, then there will be always the facility for academic support when lecturers cannot offer guidance.</a:t>
            </a:r>
          </a:p>
          <a:p>
            <a:pPr marL="0" indent="0">
              <a:lnSpc>
                <a:spcPct val="120000"/>
              </a:lnSpc>
              <a:buNone/>
            </a:pPr>
            <a:r>
              <a:rPr lang="en-SG" sz="2000" dirty="0"/>
              <a:t>In summary, this site is driven by the demand for peer collaboration in helping students at any given time when lecturers may be unavailable. By promoting peer-to-peer support, it increases the probability of providing students with more learning access and, therefore, increasing their chances of success as students.</a:t>
            </a:r>
          </a:p>
          <a:p>
            <a:pPr marL="0" indent="0">
              <a:buNone/>
            </a:pPr>
            <a:endParaRPr lang="en-SG" dirty="0"/>
          </a:p>
          <a:p>
            <a:pPr marL="0" indent="0">
              <a:lnSpc>
                <a:spcPct val="120000"/>
              </a:lnSpc>
              <a:buNone/>
            </a:pPr>
            <a:r>
              <a:rPr lang="en-SG" sz="1700" dirty="0"/>
              <a:t>Sources:</a:t>
            </a:r>
          </a:p>
          <a:p>
            <a:pPr lvl="0">
              <a:lnSpc>
                <a:spcPct val="120000"/>
              </a:lnSpc>
              <a:spcBef>
                <a:spcPts val="0"/>
              </a:spcBef>
            </a:pPr>
            <a:r>
              <a:rPr lang="en-SG" sz="1700" dirty="0"/>
              <a:t>Collaborative Learning | </a:t>
            </a:r>
            <a:r>
              <a:rPr lang="en-SG" sz="1700" dirty="0" err="1"/>
              <a:t>Center</a:t>
            </a:r>
            <a:r>
              <a:rPr lang="en-SG" sz="1700" dirty="0"/>
              <a:t> for Teaching Innovation. (n.d.-b). </a:t>
            </a:r>
            <a:r>
              <a:rPr lang="en-SG" sz="1700" u="sng" dirty="0">
                <a:hlinkClick r:id="rId2"/>
              </a:rPr>
              <a:t>https://teaching.cornell.edu/teaching-resources/active-collaborative-learning/collaborative-learning</a:t>
            </a:r>
            <a:r>
              <a:rPr lang="en-SG" sz="1700" dirty="0"/>
              <a:t> </a:t>
            </a:r>
          </a:p>
          <a:p>
            <a:pPr>
              <a:lnSpc>
                <a:spcPct val="120000"/>
              </a:lnSpc>
              <a:spcBef>
                <a:spcPts val="0"/>
              </a:spcBef>
            </a:pPr>
            <a:r>
              <a:rPr lang="en-GB" sz="1700" dirty="0"/>
              <a:t>Luu, T. (2024, October 4). Peer-to-Peer Learning: Do’s and Don’ts for Building Collaborative Success. </a:t>
            </a:r>
            <a:r>
              <a:rPr lang="en-GB" sz="1700" dirty="0" err="1"/>
              <a:t>Atomi</a:t>
            </a:r>
            <a:r>
              <a:rPr lang="en-GB" sz="1700" dirty="0"/>
              <a:t> Systems, Inc. </a:t>
            </a:r>
            <a:r>
              <a:rPr lang="en-GB" sz="1700" u="sng" dirty="0">
                <a:hlinkClick r:id="rId3"/>
              </a:rPr>
              <a:t>https://atomisystems.com/elearning/peer-to-peer-learning-dos-and-donts-for-building-collaborative-success/</a:t>
            </a:r>
            <a:endParaRPr lang="en-SG" sz="1700" dirty="0"/>
          </a:p>
        </p:txBody>
      </p:sp>
    </p:spTree>
    <p:extLst>
      <p:ext uri="{BB962C8B-B14F-4D97-AF65-F5344CB8AC3E}">
        <p14:creationId xmlns:p14="http://schemas.microsoft.com/office/powerpoint/2010/main" val="2669104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3F320-F4AA-CD2A-F5C1-FFD91A5F1C6C}"/>
              </a:ext>
            </a:extLst>
          </p:cNvPr>
          <p:cNvSpPr>
            <a:spLocks noGrp="1"/>
          </p:cNvSpPr>
          <p:nvPr>
            <p:ph type="title"/>
          </p:nvPr>
        </p:nvSpPr>
        <p:spPr/>
        <p:txBody>
          <a:bodyPr/>
          <a:lstStyle/>
          <a:p>
            <a:r>
              <a:rPr lang="en-SG" b="1" dirty="0"/>
              <a:t>User Findings</a:t>
            </a:r>
          </a:p>
        </p:txBody>
      </p:sp>
      <p:graphicFrame>
        <p:nvGraphicFramePr>
          <p:cNvPr id="4" name="Content Placeholder 3">
            <a:extLst>
              <a:ext uri="{FF2B5EF4-FFF2-40B4-BE49-F238E27FC236}">
                <a16:creationId xmlns:a16="http://schemas.microsoft.com/office/drawing/2014/main" id="{EC44446C-9A1A-69B9-7EAE-0C5BBC1543E8}"/>
              </a:ext>
            </a:extLst>
          </p:cNvPr>
          <p:cNvGraphicFramePr>
            <a:graphicFrameLocks noGrp="1"/>
          </p:cNvGraphicFramePr>
          <p:nvPr>
            <p:ph idx="1"/>
            <p:extLst>
              <p:ext uri="{D42A27DB-BD31-4B8C-83A1-F6EECF244321}">
                <p14:modId xmlns:p14="http://schemas.microsoft.com/office/powerpoint/2010/main" val="2781286249"/>
              </p:ext>
            </p:extLst>
          </p:nvPr>
        </p:nvGraphicFramePr>
        <p:xfrm>
          <a:off x="838200" y="1432334"/>
          <a:ext cx="10515600" cy="4320000"/>
        </p:xfrm>
        <a:graphic>
          <a:graphicData uri="http://schemas.openxmlformats.org/drawingml/2006/table">
            <a:tbl>
              <a:tblPr firstRow="1" bandRow="1">
                <a:tableStyleId>{5C22544A-7EE6-4342-B048-85BDC9FD1C3A}</a:tableStyleId>
              </a:tblPr>
              <a:tblGrid>
                <a:gridCol w="2465439">
                  <a:extLst>
                    <a:ext uri="{9D8B030D-6E8A-4147-A177-3AD203B41FA5}">
                      <a16:colId xmlns:a16="http://schemas.microsoft.com/office/drawing/2014/main" val="1435191178"/>
                    </a:ext>
                  </a:extLst>
                </a:gridCol>
                <a:gridCol w="8050161">
                  <a:extLst>
                    <a:ext uri="{9D8B030D-6E8A-4147-A177-3AD203B41FA5}">
                      <a16:colId xmlns:a16="http://schemas.microsoft.com/office/drawing/2014/main" val="1149396253"/>
                    </a:ext>
                  </a:extLst>
                </a:gridCol>
              </a:tblGrid>
              <a:tr h="523031">
                <a:tc>
                  <a:txBody>
                    <a:bodyPr/>
                    <a:lstStyle/>
                    <a:p>
                      <a:pPr marR="127000" algn="just" hangingPunct="0">
                        <a:lnSpc>
                          <a:spcPct val="150000"/>
                        </a:lnSpc>
                        <a:buNone/>
                      </a:pPr>
                      <a:r>
                        <a:rPr lang="en-SG" sz="1800" kern="100" dirty="0">
                          <a:effectLst/>
                          <a:latin typeface="+mn-lt"/>
                          <a:ea typeface="Times New Roman" panose="02020603050405020304" pitchFamily="18" charset="0"/>
                        </a:rPr>
                        <a:t>Student</a:t>
                      </a:r>
                    </a:p>
                  </a:txBody>
                  <a:tcPr marL="68580" marR="68580" marT="0" marB="0"/>
                </a:tc>
                <a:tc>
                  <a:txBody>
                    <a:bodyPr/>
                    <a:lstStyle/>
                    <a:p>
                      <a:pPr marR="127000" hangingPunct="0">
                        <a:lnSpc>
                          <a:spcPct val="150000"/>
                        </a:lnSpc>
                        <a:buNone/>
                      </a:pPr>
                      <a:r>
                        <a:rPr lang="en-SG" sz="1800" kern="100" dirty="0">
                          <a:effectLst/>
                          <a:latin typeface="+mn-lt"/>
                          <a:ea typeface="Times New Roman" panose="02020603050405020304" pitchFamily="18" charset="0"/>
                        </a:rPr>
                        <a:t>Feedback and Findings</a:t>
                      </a:r>
                    </a:p>
                  </a:txBody>
                  <a:tcPr marL="68580" marR="68580" marT="0" marB="0"/>
                </a:tc>
                <a:extLst>
                  <a:ext uri="{0D108BD9-81ED-4DB2-BD59-A6C34878D82A}">
                    <a16:rowId xmlns:a16="http://schemas.microsoft.com/office/drawing/2014/main" val="349032564"/>
                  </a:ext>
                </a:extLst>
              </a:tr>
              <a:tr h="856105">
                <a:tc>
                  <a:txBody>
                    <a:bodyPr/>
                    <a:lstStyle/>
                    <a:p>
                      <a:pPr marR="127000" algn="just" hangingPunct="0">
                        <a:lnSpc>
                          <a:spcPct val="100000"/>
                        </a:lnSpc>
                        <a:buNone/>
                      </a:pPr>
                      <a:r>
                        <a:rPr lang="en-GB" sz="1400" kern="100" dirty="0">
                          <a:effectLst/>
                          <a:latin typeface="+mn-lt"/>
                          <a:ea typeface="SimSun" panose="02010600030101010101" pitchFamily="2" charset="-122"/>
                        </a:rPr>
                        <a:t>Geng Yue</a:t>
                      </a:r>
                      <a:endParaRPr lang="en-SG" sz="1400" u="none" kern="100" dirty="0">
                        <a:solidFill>
                          <a:schemeClr val="dk1"/>
                        </a:solidFill>
                        <a:effectLst/>
                        <a:latin typeface="+mn-lt"/>
                        <a:ea typeface="SimSun" panose="02010600030101010101" pitchFamily="2" charset="-122"/>
                      </a:endParaRPr>
                    </a:p>
                    <a:p>
                      <a:pPr marR="127000" algn="just" hangingPunct="0">
                        <a:lnSpc>
                          <a:spcPct val="100000"/>
                        </a:lnSpc>
                        <a:buNone/>
                      </a:pPr>
                      <a:r>
                        <a:rPr lang="en-GB" sz="1400" u="sng" kern="100" dirty="0">
                          <a:solidFill>
                            <a:srgbClr val="0000FF"/>
                          </a:solidFill>
                          <a:effectLst/>
                          <a:latin typeface="+mn-lt"/>
                          <a:ea typeface="SimSun" panose="02010600030101010101" pitchFamily="2" charset="-122"/>
                          <a:hlinkClick r:id="rId2"/>
                        </a:rPr>
                        <a:t>2403880D@student.tp.edu.sg</a:t>
                      </a:r>
                      <a:r>
                        <a:rPr lang="en-GB" sz="1400" kern="100" dirty="0">
                          <a:effectLst/>
                          <a:latin typeface="+mn-lt"/>
                          <a:ea typeface="SimSun" panose="02010600030101010101" pitchFamily="2" charset="-122"/>
                        </a:rPr>
                        <a:t> </a:t>
                      </a:r>
                      <a:endParaRPr lang="en-SG" sz="1400" kern="100" dirty="0">
                        <a:effectLst/>
                        <a:latin typeface="+mn-lt"/>
                        <a:ea typeface="Times New Roman" panose="02020603050405020304" pitchFamily="18" charset="0"/>
                      </a:endParaRPr>
                    </a:p>
                  </a:txBody>
                  <a:tcPr marL="68580" marR="68580" marT="0" marB="0" anchor="ctr"/>
                </a:tc>
                <a:tc>
                  <a:txBody>
                    <a:bodyPr/>
                    <a:lstStyle/>
                    <a:p>
                      <a:pPr marR="127000" hangingPunct="0">
                        <a:lnSpc>
                          <a:spcPct val="100000"/>
                        </a:lnSpc>
                        <a:spcBef>
                          <a:spcPts val="600"/>
                        </a:spcBef>
                        <a:spcAft>
                          <a:spcPts val="600"/>
                        </a:spcAft>
                        <a:buNone/>
                      </a:pPr>
                      <a:r>
                        <a:rPr lang="en-GB" sz="1400" kern="100" spc="-20" dirty="0">
                          <a:effectLst/>
                          <a:latin typeface="+mn-lt"/>
                          <a:ea typeface="Times New Roman" panose="02020603050405020304" pitchFamily="18" charset="0"/>
                        </a:rPr>
                        <a:t>I want an authentication system so that each student’s system is customised to them. This would make the website personalised to students.</a:t>
                      </a:r>
                      <a:endParaRPr lang="en-SG" sz="1400" kern="100" dirty="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1303505340"/>
                  </a:ext>
                </a:extLst>
              </a:tr>
              <a:tr h="1135334">
                <a:tc>
                  <a:txBody>
                    <a:bodyPr/>
                    <a:lstStyle/>
                    <a:p>
                      <a:pPr marR="127000" algn="just" hangingPunct="0">
                        <a:lnSpc>
                          <a:spcPct val="100000"/>
                        </a:lnSpc>
                        <a:buNone/>
                      </a:pPr>
                      <a:r>
                        <a:rPr lang="en-GB" sz="1400" kern="100" dirty="0">
                          <a:effectLst/>
                          <a:latin typeface="+mn-lt"/>
                          <a:ea typeface="SimSun" panose="02010600030101010101" pitchFamily="2" charset="-122"/>
                        </a:rPr>
                        <a:t>Sean Wong Yeung Hoy</a:t>
                      </a:r>
                      <a:endParaRPr lang="en-SG" sz="1400" kern="100" dirty="0">
                        <a:effectLst/>
                        <a:latin typeface="+mn-lt"/>
                        <a:ea typeface="Times New Roman" panose="02020603050405020304" pitchFamily="18" charset="0"/>
                      </a:endParaRPr>
                    </a:p>
                    <a:p>
                      <a:pPr marR="127000" algn="just" hangingPunct="0">
                        <a:lnSpc>
                          <a:spcPct val="100000"/>
                        </a:lnSpc>
                        <a:buNone/>
                      </a:pPr>
                      <a:r>
                        <a:rPr lang="en-GB" sz="1400" u="sng" kern="100" dirty="0">
                          <a:solidFill>
                            <a:srgbClr val="0000FF"/>
                          </a:solidFill>
                          <a:effectLst/>
                          <a:latin typeface="+mn-lt"/>
                          <a:ea typeface="SimSun" panose="02010600030101010101" pitchFamily="2" charset="-122"/>
                          <a:hlinkClick r:id="rId3"/>
                        </a:rPr>
                        <a:t>2300699B@student.tp.edu.sg</a:t>
                      </a:r>
                      <a:endParaRPr lang="en-SG" sz="1400" kern="100" dirty="0">
                        <a:effectLst/>
                        <a:latin typeface="+mn-lt"/>
                        <a:ea typeface="Times New Roman" panose="02020603050405020304" pitchFamily="18" charset="0"/>
                      </a:endParaRPr>
                    </a:p>
                  </a:txBody>
                  <a:tcPr marL="68580" marR="68580" marT="0" marB="0" anchor="ctr"/>
                </a:tc>
                <a:tc>
                  <a:txBody>
                    <a:bodyPr/>
                    <a:lstStyle/>
                    <a:p>
                      <a:pPr marR="127000" algn="just" hangingPunct="0">
                        <a:lnSpc>
                          <a:spcPct val="100000"/>
                        </a:lnSpc>
                        <a:spcBef>
                          <a:spcPts val="600"/>
                        </a:spcBef>
                        <a:spcAft>
                          <a:spcPts val="600"/>
                        </a:spcAft>
                        <a:buNone/>
                      </a:pPr>
                      <a:r>
                        <a:rPr lang="en-GB" sz="1400" kern="100" spc="10" dirty="0">
                          <a:solidFill>
                            <a:srgbClr val="000000"/>
                          </a:solidFill>
                          <a:effectLst/>
                          <a:latin typeface="+mn-lt"/>
                          <a:ea typeface="DengXian Light" panose="02010600030101010101" pitchFamily="2" charset="-122"/>
                        </a:rPr>
                        <a:t>The modules I want to learn need not be confined to my diploma. Perhaps I would like to explore design or engineering modules, or even IT. The website will allow me to select and get matched with peers </a:t>
                      </a:r>
                      <a:r>
                        <a:rPr lang="en-GB" sz="1400" kern="100" dirty="0">
                          <a:effectLst/>
                          <a:latin typeface="+mn-lt"/>
                          <a:ea typeface="DengXian Light" panose="02010600030101010101" pitchFamily="2" charset="-122"/>
                        </a:rPr>
                        <a:t>who</a:t>
                      </a:r>
                      <a:r>
                        <a:rPr lang="en-GB" sz="1400" kern="100" spc="10" dirty="0">
                          <a:solidFill>
                            <a:srgbClr val="000000"/>
                          </a:solidFill>
                          <a:effectLst/>
                          <a:latin typeface="+mn-lt"/>
                          <a:ea typeface="DengXian Light" panose="02010600030101010101" pitchFamily="2" charset="-122"/>
                        </a:rPr>
                        <a:t> can help me in those modules outside my field of study.</a:t>
                      </a:r>
                      <a:endParaRPr lang="en-SG" sz="1400" kern="100" dirty="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4286481835"/>
                  </a:ext>
                </a:extLst>
              </a:tr>
              <a:tr h="902765">
                <a:tc>
                  <a:txBody>
                    <a:bodyPr/>
                    <a:lstStyle/>
                    <a:p>
                      <a:pPr marR="127000" hangingPunct="0">
                        <a:lnSpc>
                          <a:spcPct val="100000"/>
                        </a:lnSpc>
                        <a:buNone/>
                      </a:pPr>
                      <a:r>
                        <a:rPr lang="en-GB" sz="1400" kern="100" dirty="0">
                          <a:solidFill>
                            <a:srgbClr val="191C20"/>
                          </a:solidFill>
                          <a:effectLst/>
                          <a:latin typeface="+mn-lt"/>
                          <a:ea typeface="Times New Roman" panose="02020603050405020304" pitchFamily="18" charset="0"/>
                        </a:rPr>
                        <a:t>Chua Zheng Long Piers </a:t>
                      </a:r>
                      <a:r>
                        <a:rPr lang="en-GB" sz="1400" u="sng" kern="100" dirty="0">
                          <a:solidFill>
                            <a:srgbClr val="0000FF"/>
                          </a:solidFill>
                          <a:effectLst/>
                          <a:latin typeface="+mn-lt"/>
                          <a:ea typeface="Times New Roman" panose="02020603050405020304" pitchFamily="18" charset="0"/>
                          <a:hlinkClick r:id="rId4"/>
                        </a:rPr>
                        <a:t>2201999F@student.tp.edu.sg</a:t>
                      </a:r>
                      <a:r>
                        <a:rPr lang="en-GB" sz="1400" kern="100" dirty="0">
                          <a:solidFill>
                            <a:srgbClr val="191C20"/>
                          </a:solidFill>
                          <a:effectLst/>
                          <a:latin typeface="+mn-lt"/>
                          <a:ea typeface="Times New Roman" panose="02020603050405020304" pitchFamily="18" charset="0"/>
                        </a:rPr>
                        <a:t> </a:t>
                      </a:r>
                      <a:endParaRPr lang="en-SG" sz="1400" kern="100" dirty="0">
                        <a:effectLst/>
                        <a:latin typeface="+mn-lt"/>
                        <a:ea typeface="Times New Roman" panose="02020603050405020304" pitchFamily="18" charset="0"/>
                      </a:endParaRPr>
                    </a:p>
                  </a:txBody>
                  <a:tcPr marL="68580" marR="68580" marT="0" marB="0" anchor="ctr"/>
                </a:tc>
                <a:tc>
                  <a:txBody>
                    <a:bodyPr/>
                    <a:lstStyle/>
                    <a:p>
                      <a:pPr marR="127000" algn="just" hangingPunct="0">
                        <a:lnSpc>
                          <a:spcPct val="100000"/>
                        </a:lnSpc>
                        <a:spcBef>
                          <a:spcPts val="600"/>
                        </a:spcBef>
                        <a:spcAft>
                          <a:spcPts val="600"/>
                        </a:spcAft>
                        <a:buNone/>
                      </a:pPr>
                      <a:r>
                        <a:rPr lang="en-GB" sz="1400" kern="100" spc="10" dirty="0">
                          <a:solidFill>
                            <a:srgbClr val="000000"/>
                          </a:solidFill>
                          <a:effectLst/>
                          <a:latin typeface="+mn-lt"/>
                          <a:ea typeface="DengXian Light" panose="02010600030101010101" pitchFamily="2" charset="-122"/>
                        </a:rPr>
                        <a:t>I feel that students should have an open choice of who they want to be paired up with, by way of a request system. For example, if I want to pair with someone, then I should be able to send him/her a request, and once he/she accepts, only then will we be paired together.</a:t>
                      </a:r>
                      <a:endParaRPr lang="en-SG" sz="1400" kern="100" dirty="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3398211193"/>
                  </a:ext>
                </a:extLst>
              </a:tr>
              <a:tr h="902765">
                <a:tc>
                  <a:txBody>
                    <a:bodyPr/>
                    <a:lstStyle/>
                    <a:p>
                      <a:pPr marR="127000" algn="just" hangingPunct="0">
                        <a:lnSpc>
                          <a:spcPct val="100000"/>
                        </a:lnSpc>
                        <a:buNone/>
                      </a:pPr>
                      <a:r>
                        <a:rPr lang="en-GB" sz="1400" kern="100" dirty="0">
                          <a:effectLst/>
                          <a:latin typeface="+mn-lt"/>
                          <a:ea typeface="SimSun" panose="02010600030101010101" pitchFamily="2" charset="-122"/>
                        </a:rPr>
                        <a:t>Raelene Cha</a:t>
                      </a:r>
                      <a:endParaRPr lang="en-SG" sz="1400" kern="100" dirty="0">
                        <a:effectLst/>
                        <a:latin typeface="+mn-lt"/>
                        <a:ea typeface="Times New Roman" panose="02020603050405020304" pitchFamily="18" charset="0"/>
                      </a:endParaRPr>
                    </a:p>
                    <a:p>
                      <a:pPr marR="127000" algn="just" hangingPunct="0">
                        <a:lnSpc>
                          <a:spcPct val="100000"/>
                        </a:lnSpc>
                        <a:buNone/>
                      </a:pPr>
                      <a:r>
                        <a:rPr lang="en-GB" sz="1400" u="sng" kern="100" dirty="0">
                          <a:solidFill>
                            <a:srgbClr val="0000FF"/>
                          </a:solidFill>
                          <a:effectLst/>
                          <a:latin typeface="+mn-lt"/>
                          <a:ea typeface="SimSun" panose="02010600030101010101" pitchFamily="2" charset="-122"/>
                          <a:hlinkClick r:id="rId5"/>
                        </a:rPr>
                        <a:t>2402223H@student.tp.edu.sg</a:t>
                      </a:r>
                      <a:r>
                        <a:rPr lang="en-GB" sz="1400" kern="100" dirty="0">
                          <a:effectLst/>
                          <a:latin typeface="+mn-lt"/>
                          <a:ea typeface="SimSun" panose="02010600030101010101" pitchFamily="2" charset="-122"/>
                        </a:rPr>
                        <a:t> </a:t>
                      </a:r>
                      <a:endParaRPr lang="en-SG" sz="1400" kern="100" dirty="0">
                        <a:effectLst/>
                        <a:latin typeface="+mn-lt"/>
                        <a:ea typeface="Times New Roman" panose="02020603050405020304" pitchFamily="18" charset="0"/>
                      </a:endParaRPr>
                    </a:p>
                  </a:txBody>
                  <a:tcPr marL="68580" marR="68580" marT="0" marB="0" anchor="ctr"/>
                </a:tc>
                <a:tc>
                  <a:txBody>
                    <a:bodyPr/>
                    <a:lstStyle/>
                    <a:p>
                      <a:pPr marR="127000" hangingPunct="0">
                        <a:lnSpc>
                          <a:spcPct val="100000"/>
                        </a:lnSpc>
                        <a:spcBef>
                          <a:spcPts val="600"/>
                        </a:spcBef>
                        <a:spcAft>
                          <a:spcPts val="600"/>
                        </a:spcAft>
                        <a:buNone/>
                      </a:pPr>
                      <a:r>
                        <a:rPr lang="en-GB" sz="1400" kern="100" spc="10" dirty="0">
                          <a:solidFill>
                            <a:srgbClr val="000000"/>
                          </a:solidFill>
                          <a:effectLst/>
                          <a:latin typeface="+mn-lt"/>
                          <a:ea typeface="DengXian Light" panose="02010600030101010101" pitchFamily="2" charset="-122"/>
                        </a:rPr>
                        <a:t>Planning would be easier if there were a schedule of who students are paired with and when. For example, if I knew my study sessions were paired with someone at a specific time, then I could better organise the rest of my commitments.</a:t>
                      </a:r>
                      <a:endParaRPr lang="en-SG" sz="1400" kern="100" dirty="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821400346"/>
                  </a:ext>
                </a:extLst>
              </a:tr>
            </a:tbl>
          </a:graphicData>
        </a:graphic>
      </p:graphicFrame>
    </p:spTree>
    <p:extLst>
      <p:ext uri="{BB962C8B-B14F-4D97-AF65-F5344CB8AC3E}">
        <p14:creationId xmlns:p14="http://schemas.microsoft.com/office/powerpoint/2010/main" val="988437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CADB7-6740-A369-1582-7E29C015D574}"/>
              </a:ext>
            </a:extLst>
          </p:cNvPr>
          <p:cNvSpPr>
            <a:spLocks noGrp="1"/>
          </p:cNvSpPr>
          <p:nvPr>
            <p:ph type="title"/>
          </p:nvPr>
        </p:nvSpPr>
        <p:spPr/>
        <p:txBody>
          <a:bodyPr/>
          <a:lstStyle/>
          <a:p>
            <a:r>
              <a:rPr lang="en-US" b="1" dirty="0"/>
              <a:t>Problem Definition/Customer Needs (4%)</a:t>
            </a:r>
            <a:endParaRPr lang="en-SG" dirty="0"/>
          </a:p>
        </p:txBody>
      </p:sp>
      <p:sp>
        <p:nvSpPr>
          <p:cNvPr id="3" name="Content Placeholder 2">
            <a:extLst>
              <a:ext uri="{FF2B5EF4-FFF2-40B4-BE49-F238E27FC236}">
                <a16:creationId xmlns:a16="http://schemas.microsoft.com/office/drawing/2014/main" id="{038C5567-F342-F0E7-0D1A-75625E24B0D0}"/>
              </a:ext>
            </a:extLst>
          </p:cNvPr>
          <p:cNvSpPr>
            <a:spLocks noGrp="1"/>
          </p:cNvSpPr>
          <p:nvPr>
            <p:ph idx="1"/>
          </p:nvPr>
        </p:nvSpPr>
        <p:spPr/>
        <p:txBody>
          <a:bodyPr>
            <a:normAutofit/>
          </a:bodyPr>
          <a:lstStyle/>
          <a:p>
            <a:pPr marL="0" indent="0">
              <a:buNone/>
            </a:pPr>
            <a:r>
              <a:rPr lang="en-US" sz="1400" b="1" dirty="0"/>
              <a:t>Key Problems</a:t>
            </a:r>
          </a:p>
          <a:p>
            <a:pPr marL="0" indent="0">
              <a:buNone/>
            </a:pPr>
            <a:r>
              <a:rPr lang="en-US" sz="1400" dirty="0"/>
              <a:t>Theres a low visibility of available peers within the community. Students who are willing to teach often go unnoticed as there is no place that they can indicate their availability to help others. As a result, students who need help may assume that no assistance is available, even when there are capable peers willing to guide them. This lack of visibility leads to missed opportunities for collaboration and reduces the overall effectiveness of peer-to-peer learning.</a:t>
            </a:r>
          </a:p>
          <a:p>
            <a:pPr marL="0" indent="0">
              <a:buNone/>
            </a:pPr>
            <a:r>
              <a:rPr lang="en-US" sz="1400" dirty="0"/>
              <a:t>It is also difficult for students to find peers with the right academic strengths, since without a properly organized platform for matching, students  end up using guesswork or word-of-mouth in finding capable helpers, which wastes a lot of time and often results in no suitable match. This affects students who are struggling with specific modules and need urgent help.</a:t>
            </a:r>
            <a:endParaRPr lang="en-SG" sz="1400" dirty="0"/>
          </a:p>
          <a:p>
            <a:pPr marL="0" indent="0">
              <a:buNone/>
            </a:pPr>
            <a:r>
              <a:rPr lang="en-US" sz="1400" dirty="0"/>
              <a:t>There is also lack of credibility and trust in peer tutors. Students may be much more reluctant to seek help from others when there is no verification of the tutor's knowledge or grades, unless the tutor explicitly shares their GPA for that module. Without any assurance, learners risk getting incorrect</a:t>
            </a:r>
            <a:r>
              <a:rPr lang="en-SG" sz="1400" dirty="0"/>
              <a:t> </a:t>
            </a:r>
            <a:r>
              <a:rPr lang="en-US" sz="1400" dirty="0"/>
              <a:t>guidance, which could misguide them and worsen their understanding.</a:t>
            </a:r>
            <a:endParaRPr lang="en-SG" sz="1400" dirty="0"/>
          </a:p>
          <a:p>
            <a:pPr marL="0" indent="0">
              <a:buNone/>
            </a:pPr>
            <a:r>
              <a:rPr lang="en-US" sz="1400" b="1" dirty="0"/>
              <a:t>User Stories</a:t>
            </a:r>
          </a:p>
          <a:p>
            <a:pPr>
              <a:lnSpc>
                <a:spcPct val="110000"/>
              </a:lnSpc>
              <a:spcBef>
                <a:spcPts val="0"/>
              </a:spcBef>
            </a:pPr>
            <a:r>
              <a:rPr lang="en-US" sz="1400" dirty="0"/>
              <a:t>As a learner, I want to easily find peers who are strong in the modules I struggle with so that I can improve my grades and understanding.</a:t>
            </a:r>
          </a:p>
          <a:p>
            <a:pPr>
              <a:lnSpc>
                <a:spcPct val="110000"/>
              </a:lnSpc>
              <a:spcBef>
                <a:spcPts val="0"/>
              </a:spcBef>
            </a:pPr>
            <a:r>
              <a:rPr lang="en-US" sz="1400" dirty="0"/>
              <a:t>As a learner, I want to know and find student who are credible enough for me to learn from as that I can so that I can trust their guidance and improve my understanding efficiently.</a:t>
            </a:r>
          </a:p>
          <a:p>
            <a:pPr>
              <a:lnSpc>
                <a:spcPct val="110000"/>
              </a:lnSpc>
              <a:spcBef>
                <a:spcPts val="0"/>
              </a:spcBef>
            </a:pPr>
            <a:r>
              <a:rPr lang="en-US" sz="1400" dirty="0"/>
              <a:t>As a tutor, I want my strengths to be visible so that learners can trust my expertise.</a:t>
            </a:r>
          </a:p>
          <a:p>
            <a:pPr>
              <a:lnSpc>
                <a:spcPct val="110000"/>
              </a:lnSpc>
              <a:spcBef>
                <a:spcPts val="0"/>
              </a:spcBef>
            </a:pPr>
            <a:r>
              <a:rPr lang="en-US" sz="1400" dirty="0"/>
              <a:t>As a user, I want a simple way to schedule learning sessions that fit both mine and my partner’s timetable.</a:t>
            </a:r>
          </a:p>
        </p:txBody>
      </p:sp>
    </p:spTree>
    <p:extLst>
      <p:ext uri="{BB962C8B-B14F-4D97-AF65-F5344CB8AC3E}">
        <p14:creationId xmlns:p14="http://schemas.microsoft.com/office/powerpoint/2010/main" val="3246093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722E0-92F3-38AF-608E-7A84341C5A78}"/>
              </a:ext>
            </a:extLst>
          </p:cNvPr>
          <p:cNvSpPr>
            <a:spLocks noGrp="1"/>
          </p:cNvSpPr>
          <p:nvPr>
            <p:ph type="title"/>
          </p:nvPr>
        </p:nvSpPr>
        <p:spPr/>
        <p:txBody>
          <a:bodyPr/>
          <a:lstStyle/>
          <a:p>
            <a:r>
              <a:rPr lang="en-US" b="1" dirty="0"/>
              <a:t>Problem Definition/Customer Needs (4%)</a:t>
            </a:r>
            <a:endParaRPr lang="en-SG" dirty="0"/>
          </a:p>
        </p:txBody>
      </p:sp>
      <p:graphicFrame>
        <p:nvGraphicFramePr>
          <p:cNvPr id="4" name="Table 3">
            <a:extLst>
              <a:ext uri="{FF2B5EF4-FFF2-40B4-BE49-F238E27FC236}">
                <a16:creationId xmlns:a16="http://schemas.microsoft.com/office/drawing/2014/main" id="{6CD01332-FD3A-7DAE-5013-C5B5B4CA3E32}"/>
              </a:ext>
            </a:extLst>
          </p:cNvPr>
          <p:cNvGraphicFramePr>
            <a:graphicFrameLocks noGrp="1"/>
          </p:cNvGraphicFramePr>
          <p:nvPr>
            <p:extLst>
              <p:ext uri="{D42A27DB-BD31-4B8C-83A1-F6EECF244321}">
                <p14:modId xmlns:p14="http://schemas.microsoft.com/office/powerpoint/2010/main" val="4032735174"/>
              </p:ext>
            </p:extLst>
          </p:nvPr>
        </p:nvGraphicFramePr>
        <p:xfrm>
          <a:off x="838200" y="1486582"/>
          <a:ext cx="10515600" cy="39370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06262768"/>
                    </a:ext>
                  </a:extLst>
                </a:gridCol>
                <a:gridCol w="5257800">
                  <a:extLst>
                    <a:ext uri="{9D8B030D-6E8A-4147-A177-3AD203B41FA5}">
                      <a16:colId xmlns:a16="http://schemas.microsoft.com/office/drawing/2014/main" val="531034317"/>
                    </a:ext>
                  </a:extLst>
                </a:gridCol>
              </a:tblGrid>
              <a:tr h="370840">
                <a:tc>
                  <a:txBody>
                    <a:bodyPr/>
                    <a:lstStyle/>
                    <a:p>
                      <a:r>
                        <a:rPr lang="en-SG" dirty="0"/>
                        <a:t>User Story</a:t>
                      </a:r>
                    </a:p>
                  </a:txBody>
                  <a:tcPr/>
                </a:tc>
                <a:tc>
                  <a:txBody>
                    <a:bodyPr/>
                    <a:lstStyle/>
                    <a:p>
                      <a:r>
                        <a:rPr lang="en-SG" dirty="0"/>
                        <a:t>Acceptance Criteria</a:t>
                      </a:r>
                    </a:p>
                  </a:txBody>
                  <a:tcPr/>
                </a:tc>
                <a:extLst>
                  <a:ext uri="{0D108BD9-81ED-4DB2-BD59-A6C34878D82A}">
                    <a16:rowId xmlns:a16="http://schemas.microsoft.com/office/drawing/2014/main" val="11978452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As a learner, I want to easily find peers who are strong in the modules I struggle with so that I can improve my grades and understanding.</a:t>
                      </a:r>
                    </a:p>
                  </a:txBody>
                  <a:tcPr/>
                </a:tc>
                <a:tc>
                  <a:txBody>
                    <a:bodyPr/>
                    <a:lstStyle/>
                    <a:p>
                      <a:pPr marL="285750" indent="-285750">
                        <a:lnSpc>
                          <a:spcPct val="100000"/>
                        </a:lnSpc>
                        <a:spcBef>
                          <a:spcPts val="0"/>
                        </a:spcBef>
                        <a:buFont typeface="Arial" panose="020B0604020202020204" pitchFamily="34" charset="0"/>
                        <a:buChar char="•"/>
                      </a:pPr>
                      <a:r>
                        <a:rPr lang="en-US" sz="1400" dirty="0"/>
                        <a:t>Results must show relevant information (e.g., name, module strength level, rating).</a:t>
                      </a:r>
                    </a:p>
                    <a:p>
                      <a:pPr marL="285750" indent="-285750">
                        <a:lnSpc>
                          <a:spcPct val="100000"/>
                        </a:lnSpc>
                        <a:spcBef>
                          <a:spcPts val="0"/>
                        </a:spcBef>
                        <a:buFont typeface="Arial" panose="020B0604020202020204" pitchFamily="34" charset="0"/>
                        <a:buChar char="•"/>
                      </a:pPr>
                      <a:r>
                        <a:rPr lang="en-US" sz="1400" dirty="0"/>
                        <a:t>Learner can view each peer’s profile before requesting a pairing.</a:t>
                      </a:r>
                    </a:p>
                    <a:p>
                      <a:pPr marL="285750" indent="-285750">
                        <a:lnSpc>
                          <a:spcPct val="100000"/>
                        </a:lnSpc>
                        <a:spcBef>
                          <a:spcPts val="0"/>
                        </a:spcBef>
                        <a:buFont typeface="Arial" panose="020B0604020202020204" pitchFamily="34" charset="0"/>
                        <a:buChar char="•"/>
                      </a:pPr>
                      <a:r>
                        <a:rPr lang="en-US" sz="1400" dirty="0"/>
                        <a:t>Only peers who match the chosen module appear in results.</a:t>
                      </a:r>
                    </a:p>
                  </a:txBody>
                  <a:tcPr/>
                </a:tc>
                <a:extLst>
                  <a:ext uri="{0D108BD9-81ED-4DB2-BD59-A6C34878D82A}">
                    <a16:rowId xmlns:a16="http://schemas.microsoft.com/office/drawing/2014/main" val="15820695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As a learner, I want to know and find students who are credible enough for me to learn from so that I can trust their guidance and improve my understanding efficiently.</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t>The rating for each user should be shown before the learner makes any decisions</a:t>
                      </a:r>
                    </a:p>
                  </a:txBody>
                  <a:tcPr/>
                </a:tc>
                <a:extLst>
                  <a:ext uri="{0D108BD9-81ED-4DB2-BD59-A6C34878D82A}">
                    <a16:rowId xmlns:a16="http://schemas.microsoft.com/office/drawing/2014/main" val="277406198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As a tutor, I want my strengths to be visible so that learners can trust my expertise.</a:t>
                      </a:r>
                    </a:p>
                  </a:txBody>
                  <a:tcPr/>
                </a:tc>
                <a:tc>
                  <a:txBody>
                    <a:bodyPr/>
                    <a:lstStyle/>
                    <a:p>
                      <a:pPr marL="285750" indent="-285750">
                        <a:buFont typeface="Arial" panose="020B0604020202020204" pitchFamily="34" charset="0"/>
                        <a:buChar char="•"/>
                      </a:pPr>
                      <a:r>
                        <a:rPr lang="en-US" sz="1400" b="0" dirty="0"/>
                        <a:t>Tutors can specify their strong modules in their profile.</a:t>
                      </a:r>
                    </a:p>
                    <a:p>
                      <a:pPr marL="285750" indent="-285750">
                        <a:buFont typeface="Arial" panose="020B0604020202020204" pitchFamily="34" charset="0"/>
                        <a:buChar char="•"/>
                      </a:pPr>
                      <a:r>
                        <a:rPr lang="en-US" sz="1400" b="0" dirty="0"/>
                        <a:t>Learners viewing a tutor profile can clearly see subject strengths.</a:t>
                      </a:r>
                    </a:p>
                    <a:p>
                      <a:pPr marL="285750" indent="-285750">
                        <a:buFont typeface="Arial" panose="020B0604020202020204" pitchFamily="34" charset="0"/>
                        <a:buChar char="•"/>
                      </a:pPr>
                      <a:r>
                        <a:rPr lang="en-US" sz="1400" b="0" dirty="0"/>
                        <a:t>Tutors can update/edit their strengths when necessary.</a:t>
                      </a:r>
                    </a:p>
                    <a:p>
                      <a:pPr marL="285750" indent="-285750">
                        <a:buFont typeface="Arial" panose="020B0604020202020204" pitchFamily="34" charset="0"/>
                        <a:buChar char="•"/>
                      </a:pPr>
                      <a:r>
                        <a:rPr lang="en-US" sz="1400" b="0" dirty="0"/>
                        <a:t>Strength information is used in search results when learners look for help.</a:t>
                      </a:r>
                    </a:p>
                  </a:txBody>
                  <a:tcPr/>
                </a:tc>
                <a:extLst>
                  <a:ext uri="{0D108BD9-81ED-4DB2-BD59-A6C34878D82A}">
                    <a16:rowId xmlns:a16="http://schemas.microsoft.com/office/drawing/2014/main" val="2695883904"/>
                  </a:ext>
                </a:extLst>
              </a:tr>
              <a:tr h="370840">
                <a:tc>
                  <a:txBody>
                    <a:bodyPr/>
                    <a:lstStyle/>
                    <a:p>
                      <a:r>
                        <a:rPr lang="en-US" sz="1400" dirty="0"/>
                        <a:t>As a user, I want a simple way to schedule learning sessions that fit both mine and my partner’s timetable.</a:t>
                      </a:r>
                      <a:endParaRPr lang="en-SG" sz="1400" dirty="0"/>
                    </a:p>
                  </a:txBody>
                  <a:tcPr/>
                </a:tc>
                <a:tc>
                  <a:txBody>
                    <a:bodyPr/>
                    <a:lstStyle/>
                    <a:p>
                      <a:pPr marL="285750" indent="-285750">
                        <a:buFont typeface="Arial" panose="020B0604020202020204" pitchFamily="34" charset="0"/>
                        <a:buChar char="•"/>
                      </a:pPr>
                      <a:r>
                        <a:rPr lang="en-US" sz="1400" dirty="0"/>
                        <a:t>Users can propose and confirm a session time within the app.</a:t>
                      </a:r>
                    </a:p>
                    <a:p>
                      <a:pPr marL="285750" indent="-285750">
                        <a:buFont typeface="Arial" panose="020B0604020202020204" pitchFamily="34" charset="0"/>
                        <a:buChar char="•"/>
                      </a:pPr>
                      <a:r>
                        <a:rPr lang="en-US" sz="1400" dirty="0"/>
                        <a:t>Session details (date, time, partner) appear in both users’ dashboards/calendars.</a:t>
                      </a:r>
                      <a:endParaRPr lang="en-SG" sz="1400" dirty="0"/>
                    </a:p>
                  </a:txBody>
                  <a:tcPr/>
                </a:tc>
                <a:extLst>
                  <a:ext uri="{0D108BD9-81ED-4DB2-BD59-A6C34878D82A}">
                    <a16:rowId xmlns:a16="http://schemas.microsoft.com/office/drawing/2014/main" val="1923168085"/>
                  </a:ext>
                </a:extLst>
              </a:tr>
            </a:tbl>
          </a:graphicData>
        </a:graphic>
      </p:graphicFrame>
    </p:spTree>
    <p:extLst>
      <p:ext uri="{BB962C8B-B14F-4D97-AF65-F5344CB8AC3E}">
        <p14:creationId xmlns:p14="http://schemas.microsoft.com/office/powerpoint/2010/main" val="2722892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2063B-C7BA-4B1D-B58C-6CC93786C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3B867-408B-E7C3-1F8F-DF09D77C1BAA}"/>
              </a:ext>
            </a:extLst>
          </p:cNvPr>
          <p:cNvSpPr>
            <a:spLocks noGrp="1"/>
          </p:cNvSpPr>
          <p:nvPr>
            <p:ph type="title"/>
          </p:nvPr>
        </p:nvSpPr>
        <p:spPr/>
        <p:txBody>
          <a:bodyPr/>
          <a:lstStyle/>
          <a:p>
            <a:r>
              <a:rPr lang="en-US" b="1" dirty="0"/>
              <a:t>Project Objectives (3%)</a:t>
            </a:r>
            <a:endParaRPr lang="en-US" dirty="0"/>
          </a:p>
        </p:txBody>
      </p:sp>
      <p:pic>
        <p:nvPicPr>
          <p:cNvPr id="8" name="Picture 7">
            <a:extLst>
              <a:ext uri="{FF2B5EF4-FFF2-40B4-BE49-F238E27FC236}">
                <a16:creationId xmlns:a16="http://schemas.microsoft.com/office/drawing/2014/main" id="{4AD2BA13-A0E4-AF1F-3ACD-4D847AEF91DE}"/>
              </a:ext>
            </a:extLst>
          </p:cNvPr>
          <p:cNvPicPr>
            <a:picLocks noChangeAspect="1"/>
          </p:cNvPicPr>
          <p:nvPr/>
        </p:nvPicPr>
        <p:blipFill>
          <a:blip r:embed="rId2"/>
          <a:stretch>
            <a:fillRect/>
          </a:stretch>
        </p:blipFill>
        <p:spPr>
          <a:xfrm>
            <a:off x="732322" y="1690688"/>
            <a:ext cx="10009472" cy="4169100"/>
          </a:xfrm>
          <a:prstGeom prst="rect">
            <a:avLst/>
          </a:prstGeom>
        </p:spPr>
      </p:pic>
    </p:spTree>
    <p:extLst>
      <p:ext uri="{BB962C8B-B14F-4D97-AF65-F5344CB8AC3E}">
        <p14:creationId xmlns:p14="http://schemas.microsoft.com/office/powerpoint/2010/main" val="2017591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AD7AB-40D2-022B-939B-CF7226C2F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42A10-790E-51D0-41AE-9F3ADD6A96C5}"/>
              </a:ext>
            </a:extLst>
          </p:cNvPr>
          <p:cNvSpPr>
            <a:spLocks noGrp="1"/>
          </p:cNvSpPr>
          <p:nvPr>
            <p:ph type="title"/>
          </p:nvPr>
        </p:nvSpPr>
        <p:spPr/>
        <p:txBody>
          <a:bodyPr/>
          <a:lstStyle/>
          <a:p>
            <a:r>
              <a:rPr lang="en-US" b="1" dirty="0"/>
              <a:t>Project Objectives (3%)</a:t>
            </a:r>
            <a:endParaRPr lang="en-SG" dirty="0"/>
          </a:p>
        </p:txBody>
      </p:sp>
      <p:sp>
        <p:nvSpPr>
          <p:cNvPr id="3" name="Content Placeholder 2">
            <a:extLst>
              <a:ext uri="{FF2B5EF4-FFF2-40B4-BE49-F238E27FC236}">
                <a16:creationId xmlns:a16="http://schemas.microsoft.com/office/drawing/2014/main" id="{EBCBD747-7E47-CF06-4AFB-938D42AFFA63}"/>
              </a:ext>
            </a:extLst>
          </p:cNvPr>
          <p:cNvSpPr>
            <a:spLocks noGrp="1"/>
          </p:cNvSpPr>
          <p:nvPr>
            <p:ph idx="1"/>
          </p:nvPr>
        </p:nvSpPr>
        <p:spPr/>
        <p:txBody>
          <a:bodyPr>
            <a:normAutofit lnSpcReduction="10000"/>
          </a:bodyPr>
          <a:lstStyle/>
          <a:p>
            <a:pPr marL="0" indent="0">
              <a:buNone/>
            </a:pPr>
            <a:r>
              <a:rPr lang="en-SG" sz="1400" b="1" dirty="0"/>
              <a:t>Website’s Purpose</a:t>
            </a:r>
          </a:p>
          <a:p>
            <a:pPr marL="0" indent="0">
              <a:buNone/>
            </a:pPr>
            <a:r>
              <a:rPr lang="en-US" sz="1400" dirty="0"/>
              <a:t>Currently, there is no centralized platform that allows students to indicate both the subjects they are confident in and the ones they struggle with. As a result, many students rely on word-of-mouth arrangements, which are often inefficient and inconsistent.</a:t>
            </a:r>
            <a:endParaRPr lang="en-SG" sz="1400" b="1" dirty="0"/>
          </a:p>
          <a:p>
            <a:pPr marL="0" indent="0">
              <a:buNone/>
            </a:pPr>
            <a:r>
              <a:rPr lang="en-US" sz="1400" dirty="0"/>
              <a:t>The main goal of the website is to facilitate peer-to-peer learning by pairing students who need help in certain modules with others who excel in those areas.</a:t>
            </a:r>
            <a:r>
              <a:rPr lang="en-SG" sz="1400" b="1" dirty="0"/>
              <a:t> </a:t>
            </a:r>
            <a:r>
              <a:rPr lang="en-SG" sz="1400" dirty="0"/>
              <a:t>The website will allow students to input the modules they are strong in and those they find challenging. It will then enable students to filter peers who excel in the subjects they struggle with and vice versa. This allows the students to pair up with peers to excel in the module that they are weak in, and allows students to guide other students in modules that they are strong in.</a:t>
            </a:r>
          </a:p>
          <a:p>
            <a:pPr marL="0" indent="0">
              <a:buNone/>
            </a:pPr>
            <a:r>
              <a:rPr lang="en-SG" sz="1400" dirty="0"/>
              <a:t>Note that Teach &amp; Tackle does not dictate how the students should teach and learn. The application only filters and provide recommended students to the user. Ultimately, the student chooses who they wish to be paired with to teach/learn.</a:t>
            </a:r>
          </a:p>
          <a:p>
            <a:pPr marL="0" indent="0">
              <a:buNone/>
            </a:pPr>
            <a:r>
              <a:rPr lang="en-SG" sz="1400" b="1" dirty="0">
                <a:solidFill>
                  <a:srgbClr val="000000"/>
                </a:solidFill>
                <a:ea typeface="SimSun" panose="02010600030101010101" pitchFamily="2" charset="-122"/>
                <a:cs typeface="Times New Roman" panose="02020603050405020304" pitchFamily="18" charset="0"/>
              </a:rPr>
              <a:t>Target Audience</a:t>
            </a:r>
          </a:p>
          <a:p>
            <a:pPr marL="0" indent="0">
              <a:buNone/>
            </a:pPr>
            <a:r>
              <a:rPr lang="en-US" sz="1400" dirty="0"/>
              <a:t>The primary users of the application are Temasek Polytechnic students across all three years and courses. These users fall into two groups, learners and tutors. Learners are students who want to seek guidance in difficult modules, while tutors are those who wish to share their knowledge and strengthen their understanding by teaching others. </a:t>
            </a:r>
          </a:p>
          <a:p>
            <a:pPr marL="0" indent="0">
              <a:buNone/>
            </a:pPr>
            <a:r>
              <a:rPr lang="en-US" sz="1400" dirty="0"/>
              <a:t>Their main need is to find reliable academic help quickly and easily without relying solely on lecturers or tutors. The application simplifies this process by providing a simplified way to search, request, and confirm peer pairings. The website also automatically filters and matches students who need help in specific modules with those who are confident in those subjects. In addition, It will use a rating system, where learners can rate their tutors, helping to improve the credibility of the tutor, in turn helping other learners identify more capable tutors. By streamlining the process of finding and connecting with suitable partners, the application reduces the stress and time wasted in locating academic help, thereby making students’ learning experience more productive, and helping them in continuous learning.</a:t>
            </a:r>
            <a:endParaRPr lang="en-SG" sz="1400" b="1" dirty="0">
              <a:solidFill>
                <a:srgbClr val="000000"/>
              </a:solidFill>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922155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69F6D-1CA7-D960-471C-CBFD95C583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BE3D2-67E9-A774-EFE2-51053C584739}"/>
              </a:ext>
            </a:extLst>
          </p:cNvPr>
          <p:cNvSpPr>
            <a:spLocks noGrp="1"/>
          </p:cNvSpPr>
          <p:nvPr>
            <p:ph type="title"/>
          </p:nvPr>
        </p:nvSpPr>
        <p:spPr/>
        <p:txBody>
          <a:bodyPr/>
          <a:lstStyle/>
          <a:p>
            <a:r>
              <a:rPr lang="en-US" b="1" dirty="0"/>
              <a:t>Project Objectives (3%)</a:t>
            </a:r>
            <a:endParaRPr lang="en-SG" dirty="0"/>
          </a:p>
        </p:txBody>
      </p:sp>
      <p:sp>
        <p:nvSpPr>
          <p:cNvPr id="3" name="Content Placeholder 2">
            <a:extLst>
              <a:ext uri="{FF2B5EF4-FFF2-40B4-BE49-F238E27FC236}">
                <a16:creationId xmlns:a16="http://schemas.microsoft.com/office/drawing/2014/main" id="{8D67FAC9-7F01-9493-BD24-C5B4148F8C60}"/>
              </a:ext>
            </a:extLst>
          </p:cNvPr>
          <p:cNvSpPr>
            <a:spLocks noGrp="1"/>
          </p:cNvSpPr>
          <p:nvPr>
            <p:ph idx="1"/>
          </p:nvPr>
        </p:nvSpPr>
        <p:spPr/>
        <p:txBody>
          <a:bodyPr>
            <a:normAutofit/>
          </a:bodyPr>
          <a:lstStyle/>
          <a:p>
            <a:pPr marL="0" indent="0">
              <a:buNone/>
            </a:pPr>
            <a:r>
              <a:rPr lang="en-SG" sz="1400" b="1" dirty="0">
                <a:solidFill>
                  <a:srgbClr val="000000"/>
                </a:solidFill>
                <a:ea typeface="SimSun" panose="02010600030101010101" pitchFamily="2" charset="-122"/>
                <a:cs typeface="Times New Roman" panose="02020603050405020304" pitchFamily="18" charset="0"/>
              </a:rPr>
              <a:t>Unique Proposition against other platforms</a:t>
            </a:r>
          </a:p>
          <a:p>
            <a:pPr marL="0" indent="0">
              <a:buNone/>
            </a:pPr>
            <a:r>
              <a:rPr lang="en-SG" sz="1400" dirty="0">
                <a:solidFill>
                  <a:srgbClr val="000000"/>
                </a:solidFill>
                <a:ea typeface="SimSun" panose="02010600030101010101" pitchFamily="2" charset="-122"/>
                <a:cs typeface="Times New Roman" panose="02020603050405020304" pitchFamily="18" charset="0"/>
              </a:rPr>
              <a:t>Teach and Tackle differentiate itself from general learning platforms such as Coursera, YouTube or forums by being institution-specific. </a:t>
            </a:r>
            <a:r>
              <a:rPr lang="en-US" sz="1400" dirty="0"/>
              <a:t>While general such learning platforms provide broad educational resources to global audiences, they lack personal relevance and real-time interaction. In contrast, this website is built exclusively for Temasek Polytechnic students, ensuring that every peer match is based on shared modules, academic calendars, and course structures and syllabus. This thereby makes learning more accurate and of immediate use.</a:t>
            </a:r>
          </a:p>
          <a:p>
            <a:pPr marL="0" indent="0">
              <a:buNone/>
            </a:pPr>
            <a:r>
              <a:rPr lang="en-US" sz="1400" dirty="0">
                <a:solidFill>
                  <a:srgbClr val="000000"/>
                </a:solidFill>
                <a:ea typeface="SimSun" panose="02010600030101010101" pitchFamily="2" charset="-122"/>
                <a:cs typeface="Times New Roman" panose="02020603050405020304" pitchFamily="18" charset="0"/>
              </a:rPr>
              <a:t>The website also promotes a verified and safe environment. Since users all belong to the same institution, there is generally a higher level of accountability and truest within the website. All students can confidently know that their tutors are genuine TP students, unlike general learning platform, where this might not be the same. Learners can be rest assured that they won’t encounter strangers or any inappropriate </a:t>
            </a:r>
            <a:r>
              <a:rPr lang="en-US" sz="1400" dirty="0" err="1">
                <a:solidFill>
                  <a:srgbClr val="000000"/>
                </a:solidFill>
                <a:ea typeface="SimSun" panose="02010600030101010101" pitchFamily="2" charset="-122"/>
                <a:cs typeface="Times New Roman" panose="02020603050405020304" pitchFamily="18" charset="0"/>
              </a:rPr>
              <a:t>behaviour</a:t>
            </a:r>
            <a:r>
              <a:rPr lang="en-US" sz="1400" dirty="0">
                <a:solidFill>
                  <a:srgbClr val="000000"/>
                </a:solidFill>
                <a:ea typeface="SimSun" panose="02010600030101010101" pitchFamily="2" charset="-122"/>
                <a:cs typeface="Times New Roman" panose="02020603050405020304" pitchFamily="18" charset="0"/>
              </a:rPr>
              <a:t>. On top of that, this controlled environment encourages more students to reach out for help, </a:t>
            </a:r>
            <a:r>
              <a:rPr lang="en-US" sz="1400" dirty="0"/>
              <a:t>especially those who may feel uncomfortable seeking assistance from external platforms or unfamiliar individuals. This sense of security and community not only increases participation but also ensures that all interactions remain professional, respectful, and focused on learning.</a:t>
            </a:r>
          </a:p>
          <a:p>
            <a:pPr marL="0" indent="0">
              <a:buNone/>
            </a:pPr>
            <a:r>
              <a:rPr lang="en-US" sz="1400" dirty="0"/>
              <a:t>In addition, unlike external peer-learning platforms dependent on manual searching or self-promotion, Teach and Tackle introduces an automated matching and request-acceptance system. This feature avoids confusion  and inefficiency by finding students with complementary strengths and weaknesses and lets them easily form a learning pair. It also prevents the overlap of requests and helps keep pairing records in order, not usually taken care of by general platforms</a:t>
            </a:r>
            <a:r>
              <a:rPr lang="en-SG" sz="1400" dirty="0"/>
              <a:t> .</a:t>
            </a:r>
          </a:p>
          <a:p>
            <a:pPr marL="0" indent="0">
              <a:buNone/>
            </a:pPr>
            <a:r>
              <a:rPr lang="en-US" sz="1400" dirty="0"/>
              <a:t>Finally, the platform contributes to a stronger sense of community within Temasek Polytechnic. By creating opportunities for students of different courses and years to reach out to and support their fellow students, it promotes teamwork, empathy , and shared success. Unlike global platforms, where everyone is disconnected and anonymous, Teach and Tackle knits the school together and creates a self-sustaining network of peer learning that benefits current and future students alike</a:t>
            </a:r>
            <a:r>
              <a:rPr lang="en-SG" sz="1400" dirty="0"/>
              <a:t>.</a:t>
            </a:r>
          </a:p>
        </p:txBody>
      </p:sp>
    </p:spTree>
    <p:extLst>
      <p:ext uri="{BB962C8B-B14F-4D97-AF65-F5344CB8AC3E}">
        <p14:creationId xmlns:p14="http://schemas.microsoft.com/office/powerpoint/2010/main" val="679523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1642E-F147-5AE9-8A21-AB75385B4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A9152-0E70-ECD6-526A-1AB046D8C6D9}"/>
              </a:ext>
            </a:extLst>
          </p:cNvPr>
          <p:cNvSpPr>
            <a:spLocks noGrp="1"/>
          </p:cNvSpPr>
          <p:nvPr>
            <p:ph type="title"/>
          </p:nvPr>
        </p:nvSpPr>
        <p:spPr/>
        <p:txBody>
          <a:bodyPr/>
          <a:lstStyle/>
          <a:p>
            <a:pPr lvl="0"/>
            <a:r>
              <a:rPr lang="en-US" b="1" dirty="0"/>
              <a:t>Proposed Features (3%)</a:t>
            </a:r>
            <a:endParaRPr lang="en-US" dirty="0"/>
          </a:p>
        </p:txBody>
      </p:sp>
      <p:sp>
        <p:nvSpPr>
          <p:cNvPr id="3" name="Content Placeholder 2">
            <a:extLst>
              <a:ext uri="{FF2B5EF4-FFF2-40B4-BE49-F238E27FC236}">
                <a16:creationId xmlns:a16="http://schemas.microsoft.com/office/drawing/2014/main" id="{E94E226F-87EA-B2E1-1DAB-46E9004CBADB}"/>
              </a:ext>
            </a:extLst>
          </p:cNvPr>
          <p:cNvSpPr>
            <a:spLocks noGrp="1"/>
          </p:cNvSpPr>
          <p:nvPr>
            <p:ph idx="1"/>
          </p:nvPr>
        </p:nvSpPr>
        <p:spPr>
          <a:xfrm>
            <a:off x="838200" y="1389423"/>
            <a:ext cx="10515600" cy="484621"/>
          </a:xfrm>
        </p:spPr>
        <p:txBody>
          <a:bodyPr>
            <a:normAutofit/>
          </a:bodyPr>
          <a:lstStyle/>
          <a:p>
            <a:pPr algn="just"/>
            <a:r>
              <a:rPr lang="en-US" sz="1800" dirty="0"/>
              <a:t>Outline the planned functionalities in detail.</a:t>
            </a:r>
          </a:p>
        </p:txBody>
      </p:sp>
      <p:graphicFrame>
        <p:nvGraphicFramePr>
          <p:cNvPr id="5" name="Table 4">
            <a:extLst>
              <a:ext uri="{FF2B5EF4-FFF2-40B4-BE49-F238E27FC236}">
                <a16:creationId xmlns:a16="http://schemas.microsoft.com/office/drawing/2014/main" id="{BAEED393-1070-2643-5289-FD54DA219C09}"/>
              </a:ext>
            </a:extLst>
          </p:cNvPr>
          <p:cNvGraphicFramePr>
            <a:graphicFrameLocks noGrp="1"/>
          </p:cNvGraphicFramePr>
          <p:nvPr>
            <p:extLst>
              <p:ext uri="{D42A27DB-BD31-4B8C-83A1-F6EECF244321}">
                <p14:modId xmlns:p14="http://schemas.microsoft.com/office/powerpoint/2010/main" val="2206818447"/>
              </p:ext>
            </p:extLst>
          </p:nvPr>
        </p:nvGraphicFramePr>
        <p:xfrm>
          <a:off x="635268" y="1769533"/>
          <a:ext cx="11117180" cy="4361372"/>
        </p:xfrm>
        <a:graphic>
          <a:graphicData uri="http://schemas.openxmlformats.org/drawingml/2006/table">
            <a:tbl>
              <a:tblPr firstRow="1" bandRow="1">
                <a:tableStyleId>{5C22544A-7EE6-4342-B048-85BDC9FD1C3A}</a:tableStyleId>
              </a:tblPr>
              <a:tblGrid>
                <a:gridCol w="1809549">
                  <a:extLst>
                    <a:ext uri="{9D8B030D-6E8A-4147-A177-3AD203B41FA5}">
                      <a16:colId xmlns:a16="http://schemas.microsoft.com/office/drawing/2014/main" val="1895186589"/>
                    </a:ext>
                  </a:extLst>
                </a:gridCol>
                <a:gridCol w="1992429">
                  <a:extLst>
                    <a:ext uri="{9D8B030D-6E8A-4147-A177-3AD203B41FA5}">
                      <a16:colId xmlns:a16="http://schemas.microsoft.com/office/drawing/2014/main" val="3709950371"/>
                    </a:ext>
                  </a:extLst>
                </a:gridCol>
                <a:gridCol w="2271562">
                  <a:extLst>
                    <a:ext uri="{9D8B030D-6E8A-4147-A177-3AD203B41FA5}">
                      <a16:colId xmlns:a16="http://schemas.microsoft.com/office/drawing/2014/main" val="1564183303"/>
                    </a:ext>
                  </a:extLst>
                </a:gridCol>
                <a:gridCol w="2502569">
                  <a:extLst>
                    <a:ext uri="{9D8B030D-6E8A-4147-A177-3AD203B41FA5}">
                      <a16:colId xmlns:a16="http://schemas.microsoft.com/office/drawing/2014/main" val="933354680"/>
                    </a:ext>
                  </a:extLst>
                </a:gridCol>
                <a:gridCol w="2541071">
                  <a:extLst>
                    <a:ext uri="{9D8B030D-6E8A-4147-A177-3AD203B41FA5}">
                      <a16:colId xmlns:a16="http://schemas.microsoft.com/office/drawing/2014/main" val="2149251216"/>
                    </a:ext>
                  </a:extLst>
                </a:gridCol>
              </a:tblGrid>
              <a:tr h="581852">
                <a:tc>
                  <a:txBody>
                    <a:bodyPr/>
                    <a:lstStyle/>
                    <a:p>
                      <a:pPr>
                        <a:buNone/>
                      </a:pPr>
                      <a:r>
                        <a:rPr lang="en-US" sz="1400" b="1" dirty="0"/>
                        <a:t>Feature Name</a:t>
                      </a:r>
                      <a:endParaRPr lang="en-US" sz="1400" dirty="0"/>
                    </a:p>
                  </a:txBody>
                  <a:tcPr anchor="ctr"/>
                </a:tc>
                <a:tc>
                  <a:txBody>
                    <a:bodyPr/>
                    <a:lstStyle/>
                    <a:p>
                      <a:pPr>
                        <a:buNone/>
                      </a:pPr>
                      <a:r>
                        <a:rPr lang="en-US" sz="1400" b="1" dirty="0"/>
                        <a:t>Description / Purpose</a:t>
                      </a:r>
                      <a:endParaRPr lang="en-US" sz="1400" dirty="0"/>
                    </a:p>
                  </a:txBody>
                  <a:tcPr anchor="ctr"/>
                </a:tc>
                <a:tc>
                  <a:txBody>
                    <a:bodyPr/>
                    <a:lstStyle/>
                    <a:p>
                      <a:pPr>
                        <a:buNone/>
                      </a:pPr>
                      <a:r>
                        <a:rPr lang="en-US" sz="1400" b="1" dirty="0"/>
                        <a:t>User Actions / What It Does</a:t>
                      </a:r>
                      <a:endParaRPr lang="en-US" sz="1400" dirty="0"/>
                    </a:p>
                  </a:txBody>
                  <a:tcPr anchor="ctr"/>
                </a:tc>
                <a:tc>
                  <a:txBody>
                    <a:bodyPr/>
                    <a:lstStyle/>
                    <a:p>
                      <a:pPr>
                        <a:buNone/>
                      </a:pPr>
                      <a:r>
                        <a:rPr lang="en-US" sz="1400" b="1" dirty="0"/>
                        <a:t>Expected Outcome / Display</a:t>
                      </a:r>
                      <a:endParaRPr lang="en-US" sz="1400" dirty="0"/>
                    </a:p>
                  </a:txBody>
                  <a:tcPr anchor="ctr"/>
                </a:tc>
                <a:tc>
                  <a:txBody>
                    <a:bodyPr/>
                    <a:lstStyle/>
                    <a:p>
                      <a:pPr>
                        <a:buNone/>
                      </a:pPr>
                      <a:r>
                        <a:rPr lang="en-US" sz="1400" b="1" dirty="0"/>
                        <a:t>Notes / Future Plans</a:t>
                      </a:r>
                      <a:endParaRPr lang="en-US" sz="1400" dirty="0"/>
                    </a:p>
                  </a:txBody>
                  <a:tcPr anchor="ctr"/>
                </a:tc>
                <a:extLst>
                  <a:ext uri="{0D108BD9-81ED-4DB2-BD59-A6C34878D82A}">
                    <a16:rowId xmlns:a16="http://schemas.microsoft.com/office/drawing/2014/main" val="3238503483"/>
                  </a:ext>
                </a:extLst>
              </a:tr>
              <a:tr h="696615">
                <a:tc>
                  <a:txBody>
                    <a:bodyPr/>
                    <a:lstStyle/>
                    <a:p>
                      <a:pPr>
                        <a:buNone/>
                      </a:pPr>
                      <a:r>
                        <a:rPr lang="en-US" sz="1400" dirty="0"/>
                        <a:t>User Login &amp; Signup</a:t>
                      </a:r>
                    </a:p>
                  </a:txBody>
                  <a:tcPr anchor="ctr"/>
                </a:tc>
                <a:tc>
                  <a:txBody>
                    <a:bodyPr/>
                    <a:lstStyle/>
                    <a:p>
                      <a:pPr>
                        <a:buNone/>
                      </a:pPr>
                      <a:r>
                        <a:rPr lang="en-US" sz="1400" dirty="0"/>
                        <a:t>Allow users to create accounts and log in.</a:t>
                      </a:r>
                    </a:p>
                  </a:txBody>
                  <a:tcPr anchor="ctr"/>
                </a:tc>
                <a:tc>
                  <a:txBody>
                    <a:bodyPr/>
                    <a:lstStyle/>
                    <a:p>
                      <a:pPr>
                        <a:buNone/>
                      </a:pPr>
                      <a:r>
                        <a:rPr lang="en-US" sz="1400" dirty="0"/>
                        <a:t>Users can sign up with their email and password.</a:t>
                      </a:r>
                    </a:p>
                  </a:txBody>
                  <a:tcPr anchor="ctr"/>
                </a:tc>
                <a:tc>
                  <a:txBody>
                    <a:bodyPr/>
                    <a:lstStyle/>
                    <a:p>
                      <a:pPr>
                        <a:buNone/>
                      </a:pPr>
                      <a:r>
                        <a:rPr lang="en-US" sz="1400" dirty="0"/>
                        <a:t>Users should be given a valid authentication token, and should be shown the explore page</a:t>
                      </a:r>
                    </a:p>
                  </a:txBody>
                  <a:tcPr anchor="ctr"/>
                </a:tc>
                <a:tc>
                  <a:txBody>
                    <a:bodyPr/>
                    <a:lstStyle/>
                    <a:p>
                      <a:pPr>
                        <a:buNone/>
                      </a:pPr>
                      <a:r>
                        <a:rPr lang="en-US" sz="1400" dirty="0"/>
                        <a:t>Will later connect to a database for real login.</a:t>
                      </a:r>
                    </a:p>
                    <a:p>
                      <a:pPr>
                        <a:buNone/>
                      </a:pPr>
                      <a:r>
                        <a:rPr lang="en-US" sz="1400" dirty="0"/>
                        <a:t>May include 2FA, password recovery and email verification.</a:t>
                      </a:r>
                    </a:p>
                  </a:txBody>
                  <a:tcPr anchor="ctr"/>
                </a:tc>
                <a:extLst>
                  <a:ext uri="{0D108BD9-81ED-4DB2-BD59-A6C34878D82A}">
                    <a16:rowId xmlns:a16="http://schemas.microsoft.com/office/drawing/2014/main" val="195928634"/>
                  </a:ext>
                </a:extLst>
              </a:tr>
              <a:tr h="606868">
                <a:tc>
                  <a:txBody>
                    <a:bodyPr/>
                    <a:lstStyle/>
                    <a:p>
                      <a:pPr>
                        <a:buNone/>
                      </a:pPr>
                      <a:r>
                        <a:rPr lang="en-US" sz="1400" dirty="0"/>
                        <a:t>Module Proficiencies</a:t>
                      </a:r>
                    </a:p>
                  </a:txBody>
                  <a:tcPr anchor="ctr"/>
                </a:tc>
                <a:tc>
                  <a:txBody>
                    <a:bodyPr/>
                    <a:lstStyle/>
                    <a:p>
                      <a:pPr>
                        <a:buNone/>
                      </a:pPr>
                      <a:r>
                        <a:rPr lang="en-US" sz="1400" dirty="0"/>
                        <a:t>Enable user to list the modules they are strong or weak in</a:t>
                      </a:r>
                    </a:p>
                  </a:txBody>
                  <a:tcPr anchor="ctr"/>
                </a:tc>
                <a:tc>
                  <a:txBody>
                    <a:bodyPr/>
                    <a:lstStyle/>
                    <a:p>
                      <a:pPr>
                        <a:buNone/>
                      </a:pPr>
                      <a:r>
                        <a:rPr lang="en-US" sz="1400" dirty="0"/>
                        <a:t>Users can select from all the offered modules and indicate their proficiency level</a:t>
                      </a:r>
                    </a:p>
                  </a:txBody>
                  <a:tcPr anchor="ctr"/>
                </a:tc>
                <a:tc>
                  <a:txBody>
                    <a:bodyPr/>
                    <a:lstStyle/>
                    <a:p>
                      <a:pPr>
                        <a:buNone/>
                      </a:pPr>
                      <a:r>
                        <a:rPr lang="en-US" sz="1400" dirty="0"/>
                        <a:t>The website stores their selections and uses them for filtering and matching</a:t>
                      </a:r>
                    </a:p>
                  </a:txBody>
                  <a:tcPr anchor="ctr"/>
                </a:tc>
                <a:tc>
                  <a:txBody>
                    <a:bodyPr/>
                    <a:lstStyle/>
                    <a:p>
                      <a:pPr>
                        <a:buNone/>
                      </a:pPr>
                      <a:r>
                        <a:rPr lang="en-US" sz="1400" dirty="0"/>
                        <a:t>Can be expanded to “Modules I am not taking but is interested about”</a:t>
                      </a:r>
                    </a:p>
                  </a:txBody>
                  <a:tcPr anchor="ctr"/>
                </a:tc>
                <a:extLst>
                  <a:ext uri="{0D108BD9-81ED-4DB2-BD59-A6C34878D82A}">
                    <a16:rowId xmlns:a16="http://schemas.microsoft.com/office/drawing/2014/main" val="3488274501"/>
                  </a:ext>
                </a:extLst>
              </a:tr>
              <a:tr h="0">
                <a:tc>
                  <a:txBody>
                    <a:bodyPr/>
                    <a:lstStyle/>
                    <a:p>
                      <a:pPr>
                        <a:buNone/>
                      </a:pPr>
                      <a:r>
                        <a:rPr lang="en-SG" sz="1400" dirty="0"/>
                        <a:t>Peer Matching System</a:t>
                      </a:r>
                      <a:endParaRPr lang="en-US" sz="1400" dirty="0"/>
                    </a:p>
                  </a:txBody>
                  <a:tcPr anchor="ctr"/>
                </a:tc>
                <a:tc>
                  <a:txBody>
                    <a:bodyPr/>
                    <a:lstStyle/>
                    <a:p>
                      <a:pPr>
                        <a:buNone/>
                      </a:pPr>
                      <a:r>
                        <a:rPr lang="en-US" sz="1400" dirty="0"/>
                        <a:t>Match students based on complementary strengths and weaknesses</a:t>
                      </a:r>
                    </a:p>
                  </a:txBody>
                  <a:tcPr anchor="ctr"/>
                </a:tc>
                <a:tc>
                  <a:txBody>
                    <a:bodyPr/>
                    <a:lstStyle/>
                    <a:p>
                      <a:pPr>
                        <a:buNone/>
                      </a:pPr>
                      <a:r>
                        <a:rPr lang="en-US" sz="1400" dirty="0"/>
                        <a:t>The system will automatically filter and find complementary proficiencies when the explore page is loaded</a:t>
                      </a:r>
                    </a:p>
                  </a:txBody>
                  <a:tcPr anchor="ctr"/>
                </a:tc>
                <a:tc>
                  <a:txBody>
                    <a:bodyPr/>
                    <a:lstStyle/>
                    <a:p>
                      <a:pPr>
                        <a:buNone/>
                      </a:pPr>
                      <a:r>
                        <a:rPr lang="en-US" sz="1400" dirty="0"/>
                        <a:t>Matched peers are displayed with names, modules, and contact options. Users also can request a session with them</a:t>
                      </a:r>
                    </a:p>
                  </a:txBody>
                  <a:tcPr anchor="ctr"/>
                </a:tc>
                <a:tc>
                  <a:txBody>
                    <a:bodyPr/>
                    <a:lstStyle/>
                    <a:p>
                      <a:pPr>
                        <a:buNone/>
                      </a:pPr>
                      <a:r>
                        <a:rPr lang="en-SG" sz="1400" dirty="0"/>
                        <a:t>Future matching may take account subject category (IT, Business), rating and schedule</a:t>
                      </a:r>
                    </a:p>
                  </a:txBody>
                  <a:tcPr anchor="ctr"/>
                </a:tc>
                <a:extLst>
                  <a:ext uri="{0D108BD9-81ED-4DB2-BD59-A6C34878D82A}">
                    <a16:rowId xmlns:a16="http://schemas.microsoft.com/office/drawing/2014/main" val="4124828537"/>
                  </a:ext>
                </a:extLst>
              </a:tr>
              <a:tr h="662119">
                <a:tc>
                  <a:txBody>
                    <a:bodyPr/>
                    <a:lstStyle/>
                    <a:p>
                      <a:pPr>
                        <a:buNone/>
                      </a:pPr>
                      <a:r>
                        <a:rPr lang="en-US" sz="1400" dirty="0"/>
                        <a:t>Session Request Management</a:t>
                      </a:r>
                    </a:p>
                  </a:txBody>
                  <a:tcPr anchor="ctr"/>
                </a:tc>
                <a:tc>
                  <a:txBody>
                    <a:bodyPr/>
                    <a:lstStyle/>
                    <a:p>
                      <a:pPr>
                        <a:buNone/>
                      </a:pPr>
                      <a:r>
                        <a:rPr lang="en-US" sz="1400" dirty="0"/>
                        <a:t>Facilitate requesting of study sessions</a:t>
                      </a:r>
                    </a:p>
                  </a:txBody>
                  <a:tcPr anchor="ctr"/>
                </a:tc>
                <a:tc>
                  <a:txBody>
                    <a:bodyPr/>
                    <a:lstStyle/>
                    <a:p>
                      <a:pPr>
                        <a:buNone/>
                      </a:pPr>
                      <a:r>
                        <a:rPr lang="en-US" sz="1400" dirty="0"/>
                        <a:t>Users select date, time, and duration for their peer-learning sessions</a:t>
                      </a:r>
                    </a:p>
                  </a:txBody>
                  <a:tcPr anchor="ctr"/>
                </a:tc>
                <a:tc>
                  <a:txBody>
                    <a:bodyPr/>
                    <a:lstStyle/>
                    <a:p>
                      <a:pPr>
                        <a:buNone/>
                      </a:pPr>
                      <a:r>
                        <a:rPr lang="en-US" sz="1400" dirty="0"/>
                        <a:t>Details of the request is sent to the recipient</a:t>
                      </a:r>
                    </a:p>
                  </a:txBody>
                  <a:tcPr anchor="ctr"/>
                </a:tc>
                <a:tc>
                  <a:txBody>
                    <a:bodyPr/>
                    <a:lstStyle/>
                    <a:p>
                      <a:pPr>
                        <a:buNone/>
                      </a:pPr>
                      <a:r>
                        <a:rPr lang="en-SG" sz="1400" dirty="0"/>
                        <a:t>May include reminders or auto-confirmation emails</a:t>
                      </a:r>
                    </a:p>
                  </a:txBody>
                  <a:tcPr anchor="ctr"/>
                </a:tc>
                <a:extLst>
                  <a:ext uri="{0D108BD9-81ED-4DB2-BD59-A6C34878D82A}">
                    <a16:rowId xmlns:a16="http://schemas.microsoft.com/office/drawing/2014/main" val="2815425469"/>
                  </a:ext>
                </a:extLst>
              </a:tr>
            </a:tbl>
          </a:graphicData>
        </a:graphic>
      </p:graphicFrame>
    </p:spTree>
    <p:extLst>
      <p:ext uri="{BB962C8B-B14F-4D97-AF65-F5344CB8AC3E}">
        <p14:creationId xmlns:p14="http://schemas.microsoft.com/office/powerpoint/2010/main" val="1190842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E62AD-16D5-2E53-414C-448B531DE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668B67-4EEC-065E-5BA9-327A7F91C264}"/>
              </a:ext>
            </a:extLst>
          </p:cNvPr>
          <p:cNvSpPr>
            <a:spLocks noGrp="1"/>
          </p:cNvSpPr>
          <p:nvPr>
            <p:ph type="title"/>
          </p:nvPr>
        </p:nvSpPr>
        <p:spPr/>
        <p:txBody>
          <a:bodyPr/>
          <a:lstStyle/>
          <a:p>
            <a:pPr lvl="0"/>
            <a:r>
              <a:rPr lang="en-US" b="1" dirty="0"/>
              <a:t>Proposed Features (3%)</a:t>
            </a:r>
            <a:endParaRPr lang="en-US" dirty="0"/>
          </a:p>
        </p:txBody>
      </p:sp>
      <p:sp>
        <p:nvSpPr>
          <p:cNvPr id="3" name="Content Placeholder 2">
            <a:extLst>
              <a:ext uri="{FF2B5EF4-FFF2-40B4-BE49-F238E27FC236}">
                <a16:creationId xmlns:a16="http://schemas.microsoft.com/office/drawing/2014/main" id="{07DDA18E-A87C-F458-B74A-4B1EB8469643}"/>
              </a:ext>
            </a:extLst>
          </p:cNvPr>
          <p:cNvSpPr>
            <a:spLocks noGrp="1"/>
          </p:cNvSpPr>
          <p:nvPr>
            <p:ph idx="1"/>
          </p:nvPr>
        </p:nvSpPr>
        <p:spPr>
          <a:xfrm>
            <a:off x="838200" y="1389423"/>
            <a:ext cx="10515600" cy="484621"/>
          </a:xfrm>
        </p:spPr>
        <p:txBody>
          <a:bodyPr>
            <a:normAutofit/>
          </a:bodyPr>
          <a:lstStyle/>
          <a:p>
            <a:pPr algn="just"/>
            <a:r>
              <a:rPr lang="en-US" sz="1800" dirty="0"/>
              <a:t>Outline the planned functionalities in detail.</a:t>
            </a:r>
          </a:p>
        </p:txBody>
      </p:sp>
      <p:graphicFrame>
        <p:nvGraphicFramePr>
          <p:cNvPr id="5" name="Table 4">
            <a:extLst>
              <a:ext uri="{FF2B5EF4-FFF2-40B4-BE49-F238E27FC236}">
                <a16:creationId xmlns:a16="http://schemas.microsoft.com/office/drawing/2014/main" id="{5259A172-DF88-CFE3-CB72-F7EDDAC8B03B}"/>
              </a:ext>
            </a:extLst>
          </p:cNvPr>
          <p:cNvGraphicFramePr>
            <a:graphicFrameLocks noGrp="1"/>
          </p:cNvGraphicFramePr>
          <p:nvPr>
            <p:extLst>
              <p:ext uri="{D42A27DB-BD31-4B8C-83A1-F6EECF244321}">
                <p14:modId xmlns:p14="http://schemas.microsoft.com/office/powerpoint/2010/main" val="1420428412"/>
              </p:ext>
            </p:extLst>
          </p:nvPr>
        </p:nvGraphicFramePr>
        <p:xfrm>
          <a:off x="635268" y="1769533"/>
          <a:ext cx="11117180" cy="3629852"/>
        </p:xfrm>
        <a:graphic>
          <a:graphicData uri="http://schemas.openxmlformats.org/drawingml/2006/table">
            <a:tbl>
              <a:tblPr firstRow="1" bandRow="1">
                <a:tableStyleId>{5C22544A-7EE6-4342-B048-85BDC9FD1C3A}</a:tableStyleId>
              </a:tblPr>
              <a:tblGrid>
                <a:gridCol w="2223436">
                  <a:extLst>
                    <a:ext uri="{9D8B030D-6E8A-4147-A177-3AD203B41FA5}">
                      <a16:colId xmlns:a16="http://schemas.microsoft.com/office/drawing/2014/main" val="1895186589"/>
                    </a:ext>
                  </a:extLst>
                </a:gridCol>
                <a:gridCol w="2390629">
                  <a:extLst>
                    <a:ext uri="{9D8B030D-6E8A-4147-A177-3AD203B41FA5}">
                      <a16:colId xmlns:a16="http://schemas.microsoft.com/office/drawing/2014/main" val="3709950371"/>
                    </a:ext>
                  </a:extLst>
                </a:gridCol>
                <a:gridCol w="2056243">
                  <a:extLst>
                    <a:ext uri="{9D8B030D-6E8A-4147-A177-3AD203B41FA5}">
                      <a16:colId xmlns:a16="http://schemas.microsoft.com/office/drawing/2014/main" val="1564183303"/>
                    </a:ext>
                  </a:extLst>
                </a:gridCol>
                <a:gridCol w="2414157">
                  <a:extLst>
                    <a:ext uri="{9D8B030D-6E8A-4147-A177-3AD203B41FA5}">
                      <a16:colId xmlns:a16="http://schemas.microsoft.com/office/drawing/2014/main" val="933354680"/>
                    </a:ext>
                  </a:extLst>
                </a:gridCol>
                <a:gridCol w="2032715">
                  <a:extLst>
                    <a:ext uri="{9D8B030D-6E8A-4147-A177-3AD203B41FA5}">
                      <a16:colId xmlns:a16="http://schemas.microsoft.com/office/drawing/2014/main" val="2149251216"/>
                    </a:ext>
                  </a:extLst>
                </a:gridCol>
              </a:tblGrid>
              <a:tr h="581852">
                <a:tc>
                  <a:txBody>
                    <a:bodyPr/>
                    <a:lstStyle/>
                    <a:p>
                      <a:pPr>
                        <a:buNone/>
                      </a:pPr>
                      <a:r>
                        <a:rPr lang="en-US" sz="1400" b="1" dirty="0"/>
                        <a:t>Feature Name</a:t>
                      </a:r>
                      <a:endParaRPr lang="en-US" sz="1400" dirty="0"/>
                    </a:p>
                  </a:txBody>
                  <a:tcPr anchor="ctr"/>
                </a:tc>
                <a:tc>
                  <a:txBody>
                    <a:bodyPr/>
                    <a:lstStyle/>
                    <a:p>
                      <a:pPr>
                        <a:buNone/>
                      </a:pPr>
                      <a:r>
                        <a:rPr lang="en-US" sz="1400" b="1" dirty="0"/>
                        <a:t>Description / Purpose</a:t>
                      </a:r>
                      <a:endParaRPr lang="en-US" sz="1400" dirty="0"/>
                    </a:p>
                  </a:txBody>
                  <a:tcPr anchor="ctr"/>
                </a:tc>
                <a:tc>
                  <a:txBody>
                    <a:bodyPr/>
                    <a:lstStyle/>
                    <a:p>
                      <a:pPr>
                        <a:buNone/>
                      </a:pPr>
                      <a:r>
                        <a:rPr lang="en-US" sz="1400" b="1" dirty="0"/>
                        <a:t>User Actions / What It Does</a:t>
                      </a:r>
                      <a:endParaRPr lang="en-US" sz="1400" dirty="0"/>
                    </a:p>
                  </a:txBody>
                  <a:tcPr anchor="ctr"/>
                </a:tc>
                <a:tc>
                  <a:txBody>
                    <a:bodyPr/>
                    <a:lstStyle/>
                    <a:p>
                      <a:pPr>
                        <a:buNone/>
                      </a:pPr>
                      <a:r>
                        <a:rPr lang="en-US" sz="1400" b="1" dirty="0"/>
                        <a:t>Expected Outcome / Display</a:t>
                      </a:r>
                      <a:endParaRPr lang="en-US" sz="1400" dirty="0"/>
                    </a:p>
                  </a:txBody>
                  <a:tcPr anchor="ctr"/>
                </a:tc>
                <a:tc>
                  <a:txBody>
                    <a:bodyPr/>
                    <a:lstStyle/>
                    <a:p>
                      <a:pPr>
                        <a:buNone/>
                      </a:pPr>
                      <a:r>
                        <a:rPr lang="en-US" sz="1400" b="1" dirty="0"/>
                        <a:t>Notes / Future Plans</a:t>
                      </a:r>
                      <a:endParaRPr lang="en-US" sz="1400" dirty="0"/>
                    </a:p>
                  </a:txBody>
                  <a:tcPr anchor="ctr"/>
                </a:tc>
                <a:extLst>
                  <a:ext uri="{0D108BD9-81ED-4DB2-BD59-A6C34878D82A}">
                    <a16:rowId xmlns:a16="http://schemas.microsoft.com/office/drawing/2014/main" val="3238503483"/>
                  </a:ext>
                </a:extLst>
              </a:tr>
              <a:tr h="696615">
                <a:tc>
                  <a:txBody>
                    <a:bodyPr/>
                    <a:lstStyle/>
                    <a:p>
                      <a:pPr>
                        <a:buNone/>
                      </a:pPr>
                      <a:r>
                        <a:rPr lang="en-US" sz="1400" dirty="0"/>
                        <a:t>Session termination</a:t>
                      </a:r>
                    </a:p>
                  </a:txBody>
                  <a:tcPr anchor="ctr"/>
                </a:tc>
                <a:tc>
                  <a:txBody>
                    <a:bodyPr/>
                    <a:lstStyle/>
                    <a:p>
                      <a:pPr>
                        <a:buNone/>
                      </a:pPr>
                      <a:r>
                        <a:rPr lang="en-US" sz="1400" dirty="0"/>
                        <a:t>Allow users to end an existing session if they no longer need it (end of module, confident enough to continue without help)</a:t>
                      </a:r>
                    </a:p>
                  </a:txBody>
                  <a:tcPr anchor="ctr"/>
                </a:tc>
                <a:tc>
                  <a:txBody>
                    <a:bodyPr/>
                    <a:lstStyle/>
                    <a:p>
                      <a:pPr>
                        <a:buNone/>
                      </a:pPr>
                      <a:r>
                        <a:rPr lang="en-US" sz="1400" dirty="0"/>
                        <a:t>Users clicks a button to end session</a:t>
                      </a:r>
                    </a:p>
                  </a:txBody>
                  <a:tcPr anchor="ctr"/>
                </a:tc>
                <a:tc>
                  <a:txBody>
                    <a:bodyPr/>
                    <a:lstStyle/>
                    <a:p>
                      <a:pPr>
                        <a:buNone/>
                      </a:pPr>
                      <a:r>
                        <a:rPr lang="en-US" sz="1400" dirty="0"/>
                        <a:t>Session ends and is deleted from the website</a:t>
                      </a:r>
                    </a:p>
                  </a:txBody>
                  <a:tcPr anchor="ctr"/>
                </a:tc>
                <a:tc>
                  <a:txBody>
                    <a:bodyPr/>
                    <a:lstStyle/>
                    <a:p>
                      <a:pPr>
                        <a:buNone/>
                      </a:pPr>
                      <a:r>
                        <a:rPr lang="en-US" sz="1400" dirty="0"/>
                        <a:t>May archive ended sessions for record-keeping or feedback review</a:t>
                      </a:r>
                    </a:p>
                  </a:txBody>
                  <a:tcPr anchor="ctr"/>
                </a:tc>
                <a:extLst>
                  <a:ext uri="{0D108BD9-81ED-4DB2-BD59-A6C34878D82A}">
                    <a16:rowId xmlns:a16="http://schemas.microsoft.com/office/drawing/2014/main" val="195928634"/>
                  </a:ext>
                </a:extLst>
              </a:tr>
              <a:tr h="606868">
                <a:tc>
                  <a:txBody>
                    <a:bodyPr/>
                    <a:lstStyle/>
                    <a:p>
                      <a:pPr>
                        <a:buNone/>
                      </a:pPr>
                      <a:r>
                        <a:rPr lang="en-US" sz="1400" dirty="0"/>
                        <a:t>Rating</a:t>
                      </a:r>
                    </a:p>
                  </a:txBody>
                  <a:tcPr anchor="ctr"/>
                </a:tc>
                <a:tc>
                  <a:txBody>
                    <a:bodyPr/>
                    <a:lstStyle/>
                    <a:p>
                      <a:pPr>
                        <a:buNone/>
                      </a:pPr>
                      <a:r>
                        <a:rPr lang="en-US" sz="1400" dirty="0"/>
                        <a:t>Enable learners to rate their peer tutor’s teaching. The higher the rating, the better the teaching is, leading to higher credibility</a:t>
                      </a:r>
                    </a:p>
                  </a:txBody>
                  <a:tcPr anchor="ctr"/>
                </a:tc>
                <a:tc>
                  <a:txBody>
                    <a:bodyPr/>
                    <a:lstStyle/>
                    <a:p>
                      <a:pPr>
                        <a:buNone/>
                      </a:pPr>
                      <a:r>
                        <a:rPr lang="en-US" sz="1400" dirty="0"/>
                        <a:t>Users can select a rating from 1 to 5 after the end of a session</a:t>
                      </a:r>
                    </a:p>
                  </a:txBody>
                  <a:tcPr anchor="ctr"/>
                </a:tc>
                <a:tc>
                  <a:txBody>
                    <a:bodyPr/>
                    <a:lstStyle/>
                    <a:p>
                      <a:pPr>
                        <a:buNone/>
                      </a:pPr>
                      <a:r>
                        <a:rPr lang="en-US" sz="1400" dirty="0"/>
                        <a:t>The website stores their selections, averages all previous ratings and displays them on the tutor’s profile, where other learners can see</a:t>
                      </a:r>
                    </a:p>
                  </a:txBody>
                  <a:tcPr anchor="ctr"/>
                </a:tc>
                <a:tc>
                  <a:txBody>
                    <a:bodyPr/>
                    <a:lstStyle/>
                    <a:p>
                      <a:pPr>
                        <a:buNone/>
                      </a:pPr>
                      <a:r>
                        <a:rPr lang="en-US" sz="1400" dirty="0"/>
                        <a:t>Rating is optional but recommended for learners</a:t>
                      </a:r>
                    </a:p>
                    <a:p>
                      <a:pPr>
                        <a:buNone/>
                      </a:pPr>
                      <a:r>
                        <a:rPr lang="en-US" sz="1400" dirty="0"/>
                        <a:t>Could later allow written feedback for more details</a:t>
                      </a:r>
                    </a:p>
                  </a:txBody>
                  <a:tcPr anchor="ctr"/>
                </a:tc>
                <a:extLst>
                  <a:ext uri="{0D108BD9-81ED-4DB2-BD59-A6C34878D82A}">
                    <a16:rowId xmlns:a16="http://schemas.microsoft.com/office/drawing/2014/main" val="3488274501"/>
                  </a:ext>
                </a:extLst>
              </a:tr>
              <a:tr h="0">
                <a:tc>
                  <a:txBody>
                    <a:bodyPr/>
                    <a:lstStyle/>
                    <a:p>
                      <a:pPr>
                        <a:buNone/>
                      </a:pPr>
                      <a:r>
                        <a:rPr lang="en-SG" sz="1400" dirty="0"/>
                        <a:t>Achievement badges (additional feature)</a:t>
                      </a:r>
                      <a:endParaRPr lang="en-US" sz="1400" dirty="0"/>
                    </a:p>
                  </a:txBody>
                  <a:tcPr anchor="ctr"/>
                </a:tc>
                <a:tc>
                  <a:txBody>
                    <a:bodyPr/>
                    <a:lstStyle/>
                    <a:p>
                      <a:pPr>
                        <a:buNone/>
                      </a:pPr>
                      <a:r>
                        <a:rPr lang="en-US" sz="1400" dirty="0"/>
                        <a:t>Motivate students to participate actively through rewards</a:t>
                      </a:r>
                    </a:p>
                  </a:txBody>
                  <a:tcPr anchor="ctr"/>
                </a:tc>
                <a:tc>
                  <a:txBody>
                    <a:bodyPr/>
                    <a:lstStyle/>
                    <a:p>
                      <a:pPr>
                        <a:buNone/>
                      </a:pPr>
                      <a:r>
                        <a:rPr lang="en-US" sz="1400" dirty="0"/>
                        <a:t>Users earn badges or points for helping others and completing sessions</a:t>
                      </a:r>
                    </a:p>
                  </a:txBody>
                  <a:tcPr anchor="ctr"/>
                </a:tc>
                <a:tc>
                  <a:txBody>
                    <a:bodyPr/>
                    <a:lstStyle/>
                    <a:p>
                      <a:pPr>
                        <a:buNone/>
                      </a:pPr>
                      <a:r>
                        <a:rPr lang="en-US" sz="1400" dirty="0"/>
                        <a:t>Profile displays badges as recognition of their effort</a:t>
                      </a:r>
                    </a:p>
                  </a:txBody>
                  <a:tcPr anchor="ctr"/>
                </a:tc>
                <a:tc>
                  <a:txBody>
                    <a:bodyPr/>
                    <a:lstStyle/>
                    <a:p>
                      <a:pPr>
                        <a:buNone/>
                      </a:pPr>
                      <a:r>
                        <a:rPr lang="en-US" sz="1400" dirty="0"/>
                        <a:t>May expand to include leaderboard or tier-based rewards</a:t>
                      </a:r>
                    </a:p>
                  </a:txBody>
                  <a:tcPr anchor="ctr"/>
                </a:tc>
                <a:extLst>
                  <a:ext uri="{0D108BD9-81ED-4DB2-BD59-A6C34878D82A}">
                    <a16:rowId xmlns:a16="http://schemas.microsoft.com/office/drawing/2014/main" val="4124828537"/>
                  </a:ext>
                </a:extLst>
              </a:tr>
            </a:tbl>
          </a:graphicData>
        </a:graphic>
      </p:graphicFrame>
    </p:spTree>
    <p:extLst>
      <p:ext uri="{BB962C8B-B14F-4D97-AF65-F5344CB8AC3E}">
        <p14:creationId xmlns:p14="http://schemas.microsoft.com/office/powerpoint/2010/main" val="2880665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3AE4F-9C69-5CA8-1960-C0B0060EE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DDA9D7-0DA0-475B-60AB-8F6F0DAA3946}"/>
              </a:ext>
            </a:extLst>
          </p:cNvPr>
          <p:cNvSpPr>
            <a:spLocks noGrp="1"/>
          </p:cNvSpPr>
          <p:nvPr>
            <p:ph type="title"/>
          </p:nvPr>
        </p:nvSpPr>
        <p:spPr/>
        <p:txBody>
          <a:bodyPr/>
          <a:lstStyle/>
          <a:p>
            <a:pPr lvl="0"/>
            <a:r>
              <a:rPr lang="en-US" b="1" dirty="0"/>
              <a:t>Wireframe (5%)</a:t>
            </a:r>
            <a:endParaRPr lang="en-US" dirty="0"/>
          </a:p>
        </p:txBody>
      </p:sp>
      <p:pic>
        <p:nvPicPr>
          <p:cNvPr id="7" name="Picture 6">
            <a:extLst>
              <a:ext uri="{FF2B5EF4-FFF2-40B4-BE49-F238E27FC236}">
                <a16:creationId xmlns:a16="http://schemas.microsoft.com/office/drawing/2014/main" id="{FC14D8E4-299B-5DA1-A0F7-A9B19FD77C39}"/>
              </a:ext>
            </a:extLst>
          </p:cNvPr>
          <p:cNvPicPr>
            <a:picLocks noChangeAspect="1"/>
          </p:cNvPicPr>
          <p:nvPr/>
        </p:nvPicPr>
        <p:blipFill>
          <a:blip r:embed="rId2"/>
          <a:stretch>
            <a:fillRect/>
          </a:stretch>
        </p:blipFill>
        <p:spPr>
          <a:xfrm>
            <a:off x="838199" y="1512512"/>
            <a:ext cx="9230764" cy="2706113"/>
          </a:xfrm>
          <a:prstGeom prst="rect">
            <a:avLst/>
          </a:prstGeom>
        </p:spPr>
      </p:pic>
      <p:graphicFrame>
        <p:nvGraphicFramePr>
          <p:cNvPr id="4" name="Table 3">
            <a:extLst>
              <a:ext uri="{FF2B5EF4-FFF2-40B4-BE49-F238E27FC236}">
                <a16:creationId xmlns:a16="http://schemas.microsoft.com/office/drawing/2014/main" id="{FDD10CA0-C2DC-B756-B64D-6ED30734DDAE}"/>
              </a:ext>
            </a:extLst>
          </p:cNvPr>
          <p:cNvGraphicFramePr>
            <a:graphicFrameLocks noGrp="1"/>
          </p:cNvGraphicFramePr>
          <p:nvPr>
            <p:extLst>
              <p:ext uri="{D42A27DB-BD31-4B8C-83A1-F6EECF244321}">
                <p14:modId xmlns:p14="http://schemas.microsoft.com/office/powerpoint/2010/main" val="3241147306"/>
              </p:ext>
            </p:extLst>
          </p:nvPr>
        </p:nvGraphicFramePr>
        <p:xfrm>
          <a:off x="838199" y="4477108"/>
          <a:ext cx="10515599" cy="1751163"/>
        </p:xfrm>
        <a:graphic>
          <a:graphicData uri="http://schemas.openxmlformats.org/drawingml/2006/table">
            <a:tbl>
              <a:tblPr firstRow="1" firstCol="1" bandRow="1">
                <a:tableStyleId>{5940675A-B579-460E-94D1-54222C63F5DA}</a:tableStyleId>
              </a:tblPr>
              <a:tblGrid>
                <a:gridCol w="1269745">
                  <a:extLst>
                    <a:ext uri="{9D8B030D-6E8A-4147-A177-3AD203B41FA5}">
                      <a16:colId xmlns:a16="http://schemas.microsoft.com/office/drawing/2014/main" val="3760068235"/>
                    </a:ext>
                  </a:extLst>
                </a:gridCol>
                <a:gridCol w="9245854">
                  <a:extLst>
                    <a:ext uri="{9D8B030D-6E8A-4147-A177-3AD203B41FA5}">
                      <a16:colId xmlns:a16="http://schemas.microsoft.com/office/drawing/2014/main" val="2796207316"/>
                    </a:ext>
                  </a:extLst>
                </a:gridCol>
              </a:tblGrid>
              <a:tr h="583721">
                <a:tc>
                  <a:txBody>
                    <a:bodyPr/>
                    <a:lstStyle/>
                    <a:p>
                      <a:pPr>
                        <a:spcBef>
                          <a:spcPts val="600"/>
                        </a:spcBef>
                        <a:spcAft>
                          <a:spcPts val="600"/>
                        </a:spcAft>
                        <a:buNone/>
                      </a:pPr>
                      <a:r>
                        <a:rPr lang="en-SG" sz="1800" dirty="0">
                          <a:effectLst/>
                        </a:rPr>
                        <a:t>Design Mode</a:t>
                      </a:r>
                      <a:endParaRPr lang="en-SG" sz="1800" dirty="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tc>
                  <a:txBody>
                    <a:bodyPr/>
                    <a:lstStyle/>
                    <a:p>
                      <a:pPr>
                        <a:spcBef>
                          <a:spcPts val="600"/>
                        </a:spcBef>
                        <a:spcAft>
                          <a:spcPts val="600"/>
                        </a:spcAft>
                        <a:buNone/>
                      </a:pPr>
                      <a:r>
                        <a:rPr lang="en-SG" sz="1800" kern="1200" dirty="0">
                          <a:solidFill>
                            <a:schemeClr val="tx1"/>
                          </a:solidFill>
                          <a:effectLst/>
                          <a:latin typeface="+mn-lt"/>
                          <a:ea typeface="+mn-ea"/>
                          <a:cs typeface="+mn-cs"/>
                          <a:hlinkClick r:id="rId3"/>
                        </a:rPr>
                        <a:t>https://www.figma.com/design/RdPDrRscPmeS607B2ZwCFJ/FWEB-Project?node-id=0-1&amp;t=MDfOoJ2KDvxQMfAS-1</a:t>
                      </a:r>
                      <a:r>
                        <a:rPr lang="en-SG" sz="1800" kern="1200" dirty="0">
                          <a:solidFill>
                            <a:schemeClr val="tx1"/>
                          </a:solidFill>
                          <a:effectLst/>
                          <a:latin typeface="+mn-lt"/>
                          <a:ea typeface="+mn-ea"/>
                          <a:cs typeface="+mn-cs"/>
                        </a:rPr>
                        <a:t> </a:t>
                      </a:r>
                      <a:endParaRPr lang="en-SG" sz="1800" dirty="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70963934"/>
                  </a:ext>
                </a:extLst>
              </a:tr>
              <a:tr h="583721">
                <a:tc>
                  <a:txBody>
                    <a:bodyPr/>
                    <a:lstStyle/>
                    <a:p>
                      <a:pPr>
                        <a:spcBef>
                          <a:spcPts val="600"/>
                        </a:spcBef>
                        <a:spcAft>
                          <a:spcPts val="600"/>
                        </a:spcAft>
                        <a:buNone/>
                      </a:pPr>
                      <a:r>
                        <a:rPr lang="en-SG" sz="1800" dirty="0">
                          <a:effectLst/>
                        </a:rPr>
                        <a:t>Dev Mode </a:t>
                      </a:r>
                      <a:endParaRPr lang="en-SG" sz="1800" dirty="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tc>
                  <a:txBody>
                    <a:bodyPr/>
                    <a:lstStyle/>
                    <a:p>
                      <a:pPr>
                        <a:spcBef>
                          <a:spcPts val="600"/>
                        </a:spcBef>
                        <a:spcAft>
                          <a:spcPts val="600"/>
                        </a:spcAft>
                        <a:buNone/>
                      </a:pPr>
                      <a:r>
                        <a:rPr lang="en-US" sz="1800" u="sng" dirty="0">
                          <a:effectLst/>
                          <a:hlinkClick r:id="rId4"/>
                        </a:rPr>
                        <a:t>https://www.figma.com/design/RdPDrRscPmeS607B2ZwCFJ/FWEB-Project?node-id=0-1&amp;m=dev&amp;t=MDfOoJ2KDvxQMfAS-1</a:t>
                      </a:r>
                      <a:r>
                        <a:rPr lang="en-US" sz="1800" u="sng" dirty="0">
                          <a:effectLst/>
                        </a:rPr>
                        <a:t> </a:t>
                      </a:r>
                      <a:endParaRPr lang="en-SG" sz="1800" dirty="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19724053"/>
                  </a:ext>
                </a:extLst>
              </a:tr>
              <a:tr h="583721">
                <a:tc>
                  <a:txBody>
                    <a:bodyPr/>
                    <a:lstStyle/>
                    <a:p>
                      <a:pPr>
                        <a:spcBef>
                          <a:spcPts val="600"/>
                        </a:spcBef>
                        <a:spcAft>
                          <a:spcPts val="600"/>
                        </a:spcAft>
                        <a:buNone/>
                      </a:pPr>
                      <a:r>
                        <a:rPr lang="en-SG" sz="1800" dirty="0">
                          <a:effectLst/>
                        </a:rPr>
                        <a:t>Prototype Mode </a:t>
                      </a:r>
                      <a:endParaRPr lang="en-SG" sz="1800" dirty="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tc>
                  <a:txBody>
                    <a:bodyPr/>
                    <a:lstStyle/>
                    <a:p>
                      <a:pPr>
                        <a:spcBef>
                          <a:spcPts val="600"/>
                        </a:spcBef>
                        <a:spcAft>
                          <a:spcPts val="600"/>
                        </a:spcAft>
                        <a:buNone/>
                      </a:pPr>
                      <a:r>
                        <a:rPr lang="en-US" sz="1800" u="sng" dirty="0">
                          <a:effectLst/>
                          <a:hlinkClick r:id="rId5"/>
                        </a:rPr>
                        <a:t>https://www.figma.com/proto/RdPDrRscPmeS607B2ZwCFJ/FWEB-Project?node-id=0-1&amp;t=MDfOoJ2KDvxQMfAS-1</a:t>
                      </a:r>
                      <a:r>
                        <a:rPr lang="en-US" sz="1800" u="sng" dirty="0">
                          <a:effectLst/>
                        </a:rPr>
                        <a:t> </a:t>
                      </a:r>
                      <a:endParaRPr lang="en-SG" sz="1800" dirty="0">
                        <a:solidFill>
                          <a:srgbClr val="000000"/>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75743496"/>
                  </a:ext>
                </a:extLst>
              </a:tr>
            </a:tbl>
          </a:graphicData>
        </a:graphic>
      </p:graphicFrame>
    </p:spTree>
    <p:extLst>
      <p:ext uri="{BB962C8B-B14F-4D97-AF65-F5344CB8AC3E}">
        <p14:creationId xmlns:p14="http://schemas.microsoft.com/office/powerpoint/2010/main" val="3659370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CD14D-4CF5-18B8-F837-17A4AFA7E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4748A-D343-3DEC-3D11-FB826E9C59E5}"/>
              </a:ext>
            </a:extLst>
          </p:cNvPr>
          <p:cNvSpPr>
            <a:spLocks noGrp="1"/>
          </p:cNvSpPr>
          <p:nvPr>
            <p:ph type="title"/>
          </p:nvPr>
        </p:nvSpPr>
        <p:spPr/>
        <p:txBody>
          <a:bodyPr/>
          <a:lstStyle/>
          <a:p>
            <a:pPr lvl="0"/>
            <a:r>
              <a:rPr lang="en-US" b="1" dirty="0"/>
              <a:t>Wireframe (5%)</a:t>
            </a:r>
            <a:endParaRPr lang="en-US" dirty="0"/>
          </a:p>
        </p:txBody>
      </p:sp>
      <p:pic>
        <p:nvPicPr>
          <p:cNvPr id="6" name="Content Placeholder 5">
            <a:extLst>
              <a:ext uri="{FF2B5EF4-FFF2-40B4-BE49-F238E27FC236}">
                <a16:creationId xmlns:a16="http://schemas.microsoft.com/office/drawing/2014/main" id="{86FD4080-463A-CBA2-D9EE-1C21D8294C1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972436" y="1389063"/>
            <a:ext cx="7227887" cy="4787900"/>
          </a:xfrm>
        </p:spPr>
      </p:pic>
      <p:sp>
        <p:nvSpPr>
          <p:cNvPr id="7" name="TextBox 6">
            <a:extLst>
              <a:ext uri="{FF2B5EF4-FFF2-40B4-BE49-F238E27FC236}">
                <a16:creationId xmlns:a16="http://schemas.microsoft.com/office/drawing/2014/main" id="{75A87913-0592-AAB5-DDAF-96D8B3348D2D}"/>
              </a:ext>
            </a:extLst>
          </p:cNvPr>
          <p:cNvSpPr txBox="1"/>
          <p:nvPr/>
        </p:nvSpPr>
        <p:spPr>
          <a:xfrm>
            <a:off x="8334559" y="1389063"/>
            <a:ext cx="3534886" cy="1477328"/>
          </a:xfrm>
          <a:prstGeom prst="rect">
            <a:avLst/>
          </a:prstGeom>
          <a:noFill/>
        </p:spPr>
        <p:txBody>
          <a:bodyPr wrap="square" rtlCol="0">
            <a:spAutoFit/>
          </a:bodyPr>
          <a:lstStyle/>
          <a:p>
            <a:r>
              <a:rPr lang="en-SG" b="1" dirty="0"/>
              <a:t>Description:</a:t>
            </a:r>
          </a:p>
          <a:p>
            <a:r>
              <a:rPr lang="en-SG" dirty="0"/>
              <a:t>This page contains the user-personalised recommendations for the user to pair with based on their strengths and weaknesses.</a:t>
            </a:r>
          </a:p>
        </p:txBody>
      </p:sp>
    </p:spTree>
    <p:extLst>
      <p:ext uri="{BB962C8B-B14F-4D97-AF65-F5344CB8AC3E}">
        <p14:creationId xmlns:p14="http://schemas.microsoft.com/office/powerpoint/2010/main" val="3059070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945AE-F08A-3BB9-A876-A0560FA51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6C03C-0B08-6A4F-CB9B-CC9508193A5D}"/>
              </a:ext>
            </a:extLst>
          </p:cNvPr>
          <p:cNvSpPr>
            <a:spLocks noGrp="1"/>
          </p:cNvSpPr>
          <p:nvPr>
            <p:ph type="title"/>
          </p:nvPr>
        </p:nvSpPr>
        <p:spPr/>
        <p:txBody>
          <a:bodyPr/>
          <a:lstStyle/>
          <a:p>
            <a:pPr lvl="0"/>
            <a:r>
              <a:rPr lang="en-US" b="1" dirty="0"/>
              <a:t>Wireframe (5%)</a:t>
            </a:r>
            <a:endParaRPr lang="en-US" dirty="0"/>
          </a:p>
        </p:txBody>
      </p:sp>
      <p:pic>
        <p:nvPicPr>
          <p:cNvPr id="6" name="Content Placeholder 5">
            <a:extLst>
              <a:ext uri="{FF2B5EF4-FFF2-40B4-BE49-F238E27FC236}">
                <a16:creationId xmlns:a16="http://schemas.microsoft.com/office/drawing/2014/main" id="{1F624183-734B-3765-79AD-0431077B6B8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972436" y="1389063"/>
            <a:ext cx="7227887" cy="4787900"/>
          </a:xfrm>
        </p:spPr>
      </p:pic>
      <p:sp>
        <p:nvSpPr>
          <p:cNvPr id="7" name="TextBox 6">
            <a:extLst>
              <a:ext uri="{FF2B5EF4-FFF2-40B4-BE49-F238E27FC236}">
                <a16:creationId xmlns:a16="http://schemas.microsoft.com/office/drawing/2014/main" id="{7EBFEB2A-45F7-2D1B-E9E0-AA83F16BE875}"/>
              </a:ext>
            </a:extLst>
          </p:cNvPr>
          <p:cNvSpPr txBox="1"/>
          <p:nvPr/>
        </p:nvSpPr>
        <p:spPr>
          <a:xfrm>
            <a:off x="8334559" y="1389063"/>
            <a:ext cx="3534886" cy="2308324"/>
          </a:xfrm>
          <a:prstGeom prst="rect">
            <a:avLst/>
          </a:prstGeom>
          <a:noFill/>
        </p:spPr>
        <p:txBody>
          <a:bodyPr wrap="square" rtlCol="0">
            <a:spAutoFit/>
          </a:bodyPr>
          <a:lstStyle/>
          <a:p>
            <a:r>
              <a:rPr lang="en-SG" b="1" dirty="0"/>
              <a:t>Description:</a:t>
            </a:r>
          </a:p>
          <a:p>
            <a:r>
              <a:rPr lang="en-SG" dirty="0"/>
              <a:t>This page contains the form that users would fill in when requesting a pair session.</a:t>
            </a:r>
          </a:p>
          <a:p>
            <a:endParaRPr lang="en-SG" dirty="0"/>
          </a:p>
          <a:p>
            <a:r>
              <a:rPr lang="en-SG" dirty="0"/>
              <a:t>It also pre-selects the form options when users want to edit a pair request.</a:t>
            </a:r>
          </a:p>
        </p:txBody>
      </p:sp>
    </p:spTree>
    <p:extLst>
      <p:ext uri="{BB962C8B-B14F-4D97-AF65-F5344CB8AC3E}">
        <p14:creationId xmlns:p14="http://schemas.microsoft.com/office/powerpoint/2010/main" val="2883086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FEE84-E0EC-27C0-BE4B-DDEDC696B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4578B6-7740-F397-849F-70C0F56CCDDF}"/>
              </a:ext>
            </a:extLst>
          </p:cNvPr>
          <p:cNvSpPr>
            <a:spLocks noGrp="1"/>
          </p:cNvSpPr>
          <p:nvPr>
            <p:ph type="title"/>
          </p:nvPr>
        </p:nvSpPr>
        <p:spPr/>
        <p:txBody>
          <a:bodyPr/>
          <a:lstStyle/>
          <a:p>
            <a:pPr lvl="0"/>
            <a:r>
              <a:rPr lang="en-US" b="1" dirty="0"/>
              <a:t>Wireframe (5%)</a:t>
            </a:r>
            <a:endParaRPr lang="en-US" dirty="0"/>
          </a:p>
        </p:txBody>
      </p:sp>
      <p:pic>
        <p:nvPicPr>
          <p:cNvPr id="6" name="Content Placeholder 5">
            <a:extLst>
              <a:ext uri="{FF2B5EF4-FFF2-40B4-BE49-F238E27FC236}">
                <a16:creationId xmlns:a16="http://schemas.microsoft.com/office/drawing/2014/main" id="{B7B13CAA-9877-A380-D876-76FF34CAF00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972436" y="1389063"/>
            <a:ext cx="7227887" cy="4787900"/>
          </a:xfrm>
        </p:spPr>
      </p:pic>
      <p:sp>
        <p:nvSpPr>
          <p:cNvPr id="7" name="TextBox 6">
            <a:extLst>
              <a:ext uri="{FF2B5EF4-FFF2-40B4-BE49-F238E27FC236}">
                <a16:creationId xmlns:a16="http://schemas.microsoft.com/office/drawing/2014/main" id="{F6010367-9577-D2FD-C69F-0B5EDD614A06}"/>
              </a:ext>
            </a:extLst>
          </p:cNvPr>
          <p:cNvSpPr txBox="1"/>
          <p:nvPr/>
        </p:nvSpPr>
        <p:spPr>
          <a:xfrm>
            <a:off x="8334559" y="1389063"/>
            <a:ext cx="3534886" cy="3139321"/>
          </a:xfrm>
          <a:prstGeom prst="rect">
            <a:avLst/>
          </a:prstGeom>
          <a:noFill/>
        </p:spPr>
        <p:txBody>
          <a:bodyPr wrap="square" rtlCol="0">
            <a:spAutoFit/>
          </a:bodyPr>
          <a:lstStyle/>
          <a:p>
            <a:r>
              <a:rPr lang="en-SG" b="1" dirty="0"/>
              <a:t>Description:</a:t>
            </a:r>
          </a:p>
          <a:p>
            <a:r>
              <a:rPr lang="en-SG" dirty="0"/>
              <a:t>This page allows users to see the requests received from other students and the requests that the user sent.</a:t>
            </a:r>
          </a:p>
          <a:p>
            <a:endParaRPr lang="en-SG" dirty="0"/>
          </a:p>
          <a:p>
            <a:r>
              <a:rPr lang="en-SG" dirty="0"/>
              <a:t>Request received can be accepted or declined. Request sent can be withdraw or edited (must be before the other student accepts the request)</a:t>
            </a:r>
          </a:p>
        </p:txBody>
      </p:sp>
    </p:spTree>
    <p:extLst>
      <p:ext uri="{BB962C8B-B14F-4D97-AF65-F5344CB8AC3E}">
        <p14:creationId xmlns:p14="http://schemas.microsoft.com/office/powerpoint/2010/main" val="3302953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D3945-E0E5-559C-A4A7-49CEEF1183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5D452B-F645-CBEA-CA94-4A4A71B44421}"/>
              </a:ext>
            </a:extLst>
          </p:cNvPr>
          <p:cNvSpPr>
            <a:spLocks noGrp="1"/>
          </p:cNvSpPr>
          <p:nvPr>
            <p:ph type="title"/>
          </p:nvPr>
        </p:nvSpPr>
        <p:spPr/>
        <p:txBody>
          <a:bodyPr/>
          <a:lstStyle/>
          <a:p>
            <a:pPr lvl="0"/>
            <a:r>
              <a:rPr lang="en-US" b="1" dirty="0"/>
              <a:t>Wireframe (5%)</a:t>
            </a:r>
            <a:endParaRPr lang="en-US" dirty="0"/>
          </a:p>
        </p:txBody>
      </p:sp>
      <p:pic>
        <p:nvPicPr>
          <p:cNvPr id="6" name="Content Placeholder 5">
            <a:extLst>
              <a:ext uri="{FF2B5EF4-FFF2-40B4-BE49-F238E27FC236}">
                <a16:creationId xmlns:a16="http://schemas.microsoft.com/office/drawing/2014/main" id="{7B766FF9-0B63-948D-4236-FF3FAA6731D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972436" y="1389063"/>
            <a:ext cx="7227887" cy="4787900"/>
          </a:xfrm>
        </p:spPr>
      </p:pic>
      <p:sp>
        <p:nvSpPr>
          <p:cNvPr id="7" name="TextBox 6">
            <a:extLst>
              <a:ext uri="{FF2B5EF4-FFF2-40B4-BE49-F238E27FC236}">
                <a16:creationId xmlns:a16="http://schemas.microsoft.com/office/drawing/2014/main" id="{AC50B03A-9C21-F769-5576-13FC73DFFBE6}"/>
              </a:ext>
            </a:extLst>
          </p:cNvPr>
          <p:cNvSpPr txBox="1"/>
          <p:nvPr/>
        </p:nvSpPr>
        <p:spPr>
          <a:xfrm>
            <a:off x="8334559" y="1389063"/>
            <a:ext cx="3534886" cy="1477328"/>
          </a:xfrm>
          <a:prstGeom prst="rect">
            <a:avLst/>
          </a:prstGeom>
          <a:noFill/>
        </p:spPr>
        <p:txBody>
          <a:bodyPr wrap="square" rtlCol="0">
            <a:spAutoFit/>
          </a:bodyPr>
          <a:lstStyle/>
          <a:p>
            <a:r>
              <a:rPr lang="en-SG" b="1" dirty="0"/>
              <a:t>Description:</a:t>
            </a:r>
          </a:p>
          <a:p>
            <a:r>
              <a:rPr lang="en-SG" dirty="0"/>
              <a:t>This page allows users to see their existing pairing. It also allows the user to unpair with the other student when needed.</a:t>
            </a:r>
          </a:p>
        </p:txBody>
      </p:sp>
    </p:spTree>
    <p:extLst>
      <p:ext uri="{BB962C8B-B14F-4D97-AF65-F5344CB8AC3E}">
        <p14:creationId xmlns:p14="http://schemas.microsoft.com/office/powerpoint/2010/main" val="2603726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EB4DB-F559-AF00-FBE2-ACE6CCCB35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4E117-8BC5-2D40-1286-9A6108DF67FE}"/>
              </a:ext>
            </a:extLst>
          </p:cNvPr>
          <p:cNvSpPr>
            <a:spLocks noGrp="1"/>
          </p:cNvSpPr>
          <p:nvPr>
            <p:ph type="title"/>
          </p:nvPr>
        </p:nvSpPr>
        <p:spPr/>
        <p:txBody>
          <a:bodyPr/>
          <a:lstStyle/>
          <a:p>
            <a:pPr lvl="0"/>
            <a:r>
              <a:rPr lang="en-US" b="1" dirty="0"/>
              <a:t>Wireframe (5%)</a:t>
            </a:r>
            <a:endParaRPr lang="en-US" dirty="0"/>
          </a:p>
        </p:txBody>
      </p:sp>
      <p:pic>
        <p:nvPicPr>
          <p:cNvPr id="9" name="Content Placeholder 8" descr="A screenshot of a computer screen&#10;&#10;AI-generated content may be incorrect.">
            <a:extLst>
              <a:ext uri="{FF2B5EF4-FFF2-40B4-BE49-F238E27FC236}">
                <a16:creationId xmlns:a16="http://schemas.microsoft.com/office/drawing/2014/main" id="{477297BA-4125-2E52-6A52-83F3CEE577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3767" y="1846263"/>
            <a:ext cx="5304466" cy="4330700"/>
          </a:xfrm>
        </p:spPr>
      </p:pic>
      <p:sp>
        <p:nvSpPr>
          <p:cNvPr id="5" name="TextBox 4">
            <a:extLst>
              <a:ext uri="{FF2B5EF4-FFF2-40B4-BE49-F238E27FC236}">
                <a16:creationId xmlns:a16="http://schemas.microsoft.com/office/drawing/2014/main" id="{2E54EDC3-4363-28B1-35A5-884315090AC8}"/>
              </a:ext>
            </a:extLst>
          </p:cNvPr>
          <p:cNvSpPr txBox="1"/>
          <p:nvPr/>
        </p:nvSpPr>
        <p:spPr>
          <a:xfrm>
            <a:off x="838200" y="1397480"/>
            <a:ext cx="2167645" cy="369332"/>
          </a:xfrm>
          <a:prstGeom prst="rect">
            <a:avLst/>
          </a:prstGeom>
          <a:noFill/>
        </p:spPr>
        <p:txBody>
          <a:bodyPr wrap="none" rtlCol="0">
            <a:spAutoFit/>
          </a:bodyPr>
          <a:lstStyle/>
          <a:p>
            <a:r>
              <a:rPr lang="en-SG" dirty="0"/>
              <a:t>User Navigation Flow</a:t>
            </a:r>
          </a:p>
        </p:txBody>
      </p:sp>
    </p:spTree>
    <p:extLst>
      <p:ext uri="{BB962C8B-B14F-4D97-AF65-F5344CB8AC3E}">
        <p14:creationId xmlns:p14="http://schemas.microsoft.com/office/powerpoint/2010/main" val="3707489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DDDA8-0BB5-4448-3CBD-11C97A6855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F6DF98-9B02-A042-B2C3-D5B84ECC9489}"/>
              </a:ext>
            </a:extLst>
          </p:cNvPr>
          <p:cNvSpPr>
            <a:spLocks noGrp="1"/>
          </p:cNvSpPr>
          <p:nvPr>
            <p:ph type="title"/>
          </p:nvPr>
        </p:nvSpPr>
        <p:spPr/>
        <p:txBody>
          <a:bodyPr/>
          <a:lstStyle/>
          <a:p>
            <a:pPr lvl="0"/>
            <a:r>
              <a:rPr lang="en-US" b="1" dirty="0"/>
              <a:t>Wireframe (5%)</a:t>
            </a:r>
            <a:endParaRPr lang="en-US" dirty="0"/>
          </a:p>
        </p:txBody>
      </p:sp>
      <p:pic>
        <p:nvPicPr>
          <p:cNvPr id="9" name="Content Placeholder 8">
            <a:extLst>
              <a:ext uri="{FF2B5EF4-FFF2-40B4-BE49-F238E27FC236}">
                <a16:creationId xmlns:a16="http://schemas.microsoft.com/office/drawing/2014/main" id="{EBC796BE-01B9-1934-A383-EA6DADFE7F4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443767" y="1846263"/>
            <a:ext cx="5304466" cy="4330700"/>
          </a:xfrm>
        </p:spPr>
      </p:pic>
      <p:sp>
        <p:nvSpPr>
          <p:cNvPr id="5" name="TextBox 4">
            <a:extLst>
              <a:ext uri="{FF2B5EF4-FFF2-40B4-BE49-F238E27FC236}">
                <a16:creationId xmlns:a16="http://schemas.microsoft.com/office/drawing/2014/main" id="{C5E0BF3F-8C29-B439-AA91-3368269C94F4}"/>
              </a:ext>
            </a:extLst>
          </p:cNvPr>
          <p:cNvSpPr txBox="1"/>
          <p:nvPr/>
        </p:nvSpPr>
        <p:spPr>
          <a:xfrm>
            <a:off x="838200" y="1397480"/>
            <a:ext cx="1867884" cy="369332"/>
          </a:xfrm>
          <a:prstGeom prst="rect">
            <a:avLst/>
          </a:prstGeom>
          <a:noFill/>
        </p:spPr>
        <p:txBody>
          <a:bodyPr wrap="none" rtlCol="0">
            <a:spAutoFit/>
          </a:bodyPr>
          <a:lstStyle/>
          <a:p>
            <a:r>
              <a:rPr lang="en-SG" dirty="0"/>
              <a:t>Use Case Diagram</a:t>
            </a:r>
          </a:p>
        </p:txBody>
      </p:sp>
    </p:spTree>
    <p:extLst>
      <p:ext uri="{BB962C8B-B14F-4D97-AF65-F5344CB8AC3E}">
        <p14:creationId xmlns:p14="http://schemas.microsoft.com/office/powerpoint/2010/main" val="1064286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2FDA4-8B25-E74F-AD93-1CCDFD130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1B39DC-B97E-3BEB-7EA1-E8049DA09B4C}"/>
              </a:ext>
            </a:extLst>
          </p:cNvPr>
          <p:cNvSpPr>
            <a:spLocks noGrp="1"/>
          </p:cNvSpPr>
          <p:nvPr>
            <p:ph type="title"/>
          </p:nvPr>
        </p:nvSpPr>
        <p:spPr/>
        <p:txBody>
          <a:bodyPr/>
          <a:lstStyle/>
          <a:p>
            <a:pPr lvl="0"/>
            <a:r>
              <a:rPr lang="en-US" b="1" dirty="0"/>
              <a:t>Data Modeling (5%)</a:t>
            </a:r>
            <a:endParaRPr lang="en-US" dirty="0"/>
          </a:p>
        </p:txBody>
      </p:sp>
      <p:sp>
        <p:nvSpPr>
          <p:cNvPr id="3" name="Content Placeholder 2">
            <a:extLst>
              <a:ext uri="{FF2B5EF4-FFF2-40B4-BE49-F238E27FC236}">
                <a16:creationId xmlns:a16="http://schemas.microsoft.com/office/drawing/2014/main" id="{BC23B266-F5B8-7E31-BAF0-075A9F1D09C8}"/>
              </a:ext>
            </a:extLst>
          </p:cNvPr>
          <p:cNvSpPr>
            <a:spLocks noGrp="1"/>
          </p:cNvSpPr>
          <p:nvPr>
            <p:ph idx="1"/>
          </p:nvPr>
        </p:nvSpPr>
        <p:spPr/>
        <p:txBody>
          <a:bodyPr/>
          <a:lstStyle/>
          <a:p>
            <a:pPr algn="just"/>
            <a:r>
              <a:rPr lang="en-US" dirty="0"/>
              <a:t>Initial identification of entities in your application.</a:t>
            </a:r>
          </a:p>
          <a:p>
            <a:pPr algn="just"/>
            <a:r>
              <a:rPr lang="en-US" dirty="0"/>
              <a:t>Include </a:t>
            </a:r>
            <a:r>
              <a:rPr lang="en-US" b="1" dirty="0"/>
              <a:t>at least four</a:t>
            </a:r>
            <a:r>
              <a:rPr lang="en-US" dirty="0"/>
              <a:t> key data models and provide sample attributes for each model.</a:t>
            </a:r>
          </a:p>
          <a:p>
            <a:pPr algn="just"/>
            <a:r>
              <a:rPr lang="en-US" dirty="0">
                <a:solidFill>
                  <a:srgbClr val="FF0000"/>
                </a:solidFill>
              </a:rPr>
              <a:t>Note: Refer to the sample table in the next slide</a:t>
            </a:r>
          </a:p>
        </p:txBody>
      </p:sp>
    </p:spTree>
    <p:extLst>
      <p:ext uri="{BB962C8B-B14F-4D97-AF65-F5344CB8AC3E}">
        <p14:creationId xmlns:p14="http://schemas.microsoft.com/office/powerpoint/2010/main" val="3696013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FA80E-5A4B-DB2F-F111-FA9D71DB2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50CCA-F94C-1D77-C8CA-D43C19560BBB}"/>
              </a:ext>
            </a:extLst>
          </p:cNvPr>
          <p:cNvSpPr>
            <a:spLocks noGrp="1"/>
          </p:cNvSpPr>
          <p:nvPr>
            <p:ph type="title"/>
          </p:nvPr>
        </p:nvSpPr>
        <p:spPr>
          <a:xfrm>
            <a:off x="710063" y="0"/>
            <a:ext cx="10515600" cy="1325563"/>
          </a:xfrm>
        </p:spPr>
        <p:txBody>
          <a:bodyPr/>
          <a:lstStyle/>
          <a:p>
            <a:pPr lvl="0"/>
            <a:r>
              <a:rPr lang="en-US" b="1" dirty="0"/>
              <a:t>Data Modeling - Sample</a:t>
            </a:r>
            <a:endParaRPr lang="en-US" dirty="0"/>
          </a:p>
        </p:txBody>
      </p:sp>
      <p:graphicFrame>
        <p:nvGraphicFramePr>
          <p:cNvPr id="6" name="Table 5">
            <a:extLst>
              <a:ext uri="{FF2B5EF4-FFF2-40B4-BE49-F238E27FC236}">
                <a16:creationId xmlns:a16="http://schemas.microsoft.com/office/drawing/2014/main" id="{EF2B62F6-4DA8-C6C3-8BD1-857E57BFA1E3}"/>
              </a:ext>
            </a:extLst>
          </p:cNvPr>
          <p:cNvGraphicFramePr>
            <a:graphicFrameLocks noGrp="1"/>
          </p:cNvGraphicFramePr>
          <p:nvPr>
            <p:extLst>
              <p:ext uri="{D42A27DB-BD31-4B8C-83A1-F6EECF244321}">
                <p14:modId xmlns:p14="http://schemas.microsoft.com/office/powerpoint/2010/main" val="1717254823"/>
              </p:ext>
            </p:extLst>
          </p:nvPr>
        </p:nvGraphicFramePr>
        <p:xfrm>
          <a:off x="613810" y="1080628"/>
          <a:ext cx="11398518" cy="560832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600" b="1" dirty="0"/>
                        <a:t>Table: </a:t>
                      </a:r>
                      <a:r>
                        <a:rPr lang="en-US" sz="1600" b="0" dirty="0"/>
                        <a:t>Event</a:t>
                      </a:r>
                    </a:p>
                  </a:txBody>
                  <a:tcPr anchor="ctr">
                    <a:solidFill>
                      <a:schemeClr val="bg1"/>
                    </a:solidFill>
                  </a:tcPr>
                </a:tc>
                <a:tc gridSpan="3">
                  <a:txBody>
                    <a:bodyPr/>
                    <a:lstStyle/>
                    <a:p>
                      <a:pPr>
                        <a:buNone/>
                      </a:pPr>
                      <a:r>
                        <a:rPr lang="en-US" sz="1600" b="1" dirty="0"/>
                        <a:t>Description: </a:t>
                      </a:r>
                    </a:p>
                    <a:p>
                      <a:pPr>
                        <a:buNone/>
                      </a:pPr>
                      <a:r>
                        <a:rPr lang="en-US" sz="1600" dirty="0"/>
                        <a:t>Represents campus events that users can view or register for.</a:t>
                      </a:r>
                    </a:p>
                    <a:p>
                      <a:pPr>
                        <a:buNone/>
                      </a:pPr>
                      <a:endParaRPr lang="en-US" sz="1600" b="1" dirty="0"/>
                    </a:p>
                    <a:p>
                      <a:pPr>
                        <a:buNone/>
                      </a:pPr>
                      <a:r>
                        <a:rPr lang="en-US" sz="1600" b="1" dirty="0"/>
                        <a:t>Usage in App:</a:t>
                      </a:r>
                      <a:r>
                        <a:rPr lang="en-US" sz="1600" dirty="0"/>
                        <a:t> </a:t>
                      </a:r>
                    </a:p>
                    <a:p>
                      <a:pPr>
                        <a:buNone/>
                      </a:pPr>
                      <a:r>
                        <a:rPr lang="en-US" sz="1600" dirty="0"/>
                        <a:t>Holds event details that will be displayed on the dashboard and allows users to register for events.</a:t>
                      </a:r>
                      <a:endParaRPr lang="en-US" sz="1600" b="1" dirty="0"/>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buNone/>
                      </a:pPr>
                      <a:r>
                        <a:rPr lang="en-US" sz="1600" dirty="0"/>
                        <a:t>eventId</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E1001</a:t>
                      </a:r>
                    </a:p>
                  </a:txBody>
                  <a:tcPr anchor="ctr">
                    <a:solidFill>
                      <a:schemeClr val="bg1"/>
                    </a:solidFill>
                  </a:tcPr>
                </a:tc>
                <a:tc>
                  <a:txBody>
                    <a:bodyPr/>
                    <a:lstStyle/>
                    <a:p>
                      <a:pPr>
                        <a:buNone/>
                      </a:pPr>
                      <a:r>
                        <a:rPr lang="en-US" sz="1600" dirty="0"/>
                        <a:t>Unique identifier for each event, used to link with bookings and prevent duplicate records.</a:t>
                      </a:r>
                    </a:p>
                  </a:txBody>
                  <a:tcPr anchor="ctr">
                    <a:solidFill>
                      <a:schemeClr val="bg1"/>
                    </a:solidFill>
                  </a:tcPr>
                </a:tc>
                <a:extLst>
                  <a:ext uri="{0D108BD9-81ED-4DB2-BD59-A6C34878D82A}">
                    <a16:rowId xmlns:a16="http://schemas.microsoft.com/office/drawing/2014/main" val="2707098043"/>
                  </a:ext>
                </a:extLst>
              </a:tr>
              <a:tr h="0">
                <a:tc>
                  <a:txBody>
                    <a:bodyPr/>
                    <a:lstStyle/>
                    <a:p>
                      <a:pPr>
                        <a:buNone/>
                      </a:pPr>
                      <a:r>
                        <a:rPr lang="en-US" sz="1600" dirty="0"/>
                        <a:t>title</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Campus Music Festival</a:t>
                      </a:r>
                    </a:p>
                  </a:txBody>
                  <a:tcPr anchor="ctr">
                    <a:solidFill>
                      <a:schemeClr val="bg1"/>
                    </a:solidFill>
                  </a:tcPr>
                </a:tc>
                <a:tc>
                  <a:txBody>
                    <a:bodyPr/>
                    <a:lstStyle/>
                    <a:p>
                      <a:pPr>
                        <a:buNone/>
                      </a:pPr>
                      <a:r>
                        <a:rPr lang="en-US" sz="1600" dirty="0"/>
                        <a:t>Name of the event, displayed in listings, dashboards, and notifications.</a:t>
                      </a:r>
                    </a:p>
                  </a:txBody>
                  <a:tcPr anchor="ctr">
                    <a:solidFill>
                      <a:schemeClr val="bg1"/>
                    </a:solidFill>
                  </a:tcPr>
                </a:tc>
                <a:extLst>
                  <a:ext uri="{0D108BD9-81ED-4DB2-BD59-A6C34878D82A}">
                    <a16:rowId xmlns:a16="http://schemas.microsoft.com/office/drawing/2014/main" val="1840665485"/>
                  </a:ext>
                </a:extLst>
              </a:tr>
              <a:tr h="0">
                <a:tc>
                  <a:txBody>
                    <a:bodyPr/>
                    <a:lstStyle/>
                    <a:p>
                      <a:pPr>
                        <a:buNone/>
                      </a:pPr>
                      <a:r>
                        <a:rPr lang="en-US" sz="1600" dirty="0"/>
                        <a:t>description</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An evening of live music performances by student bands.</a:t>
                      </a:r>
                    </a:p>
                  </a:txBody>
                  <a:tcPr anchor="ctr">
                    <a:solidFill>
                      <a:schemeClr val="bg1"/>
                    </a:solidFill>
                  </a:tcPr>
                </a:tc>
                <a:tc>
                  <a:txBody>
                    <a:bodyPr/>
                    <a:lstStyle/>
                    <a:p>
                      <a:pPr>
                        <a:buNone/>
                      </a:pPr>
                      <a:r>
                        <a:rPr lang="en-US" sz="1600" dirty="0"/>
                        <a:t>Detailed information about the event, including purpose, schedule, and prerequisites.</a:t>
                      </a:r>
                    </a:p>
                  </a:txBody>
                  <a:tcPr anchor="ctr">
                    <a:solidFill>
                      <a:schemeClr val="bg1"/>
                    </a:solidFill>
                  </a:tcPr>
                </a:tc>
                <a:extLst>
                  <a:ext uri="{0D108BD9-81ED-4DB2-BD59-A6C34878D82A}">
                    <a16:rowId xmlns:a16="http://schemas.microsoft.com/office/drawing/2014/main" val="2234607868"/>
                  </a:ext>
                </a:extLst>
              </a:tr>
              <a:tr h="0">
                <a:tc>
                  <a:txBody>
                    <a:bodyPr/>
                    <a:lstStyle/>
                    <a:p>
                      <a:pPr>
                        <a:buNone/>
                      </a:pPr>
                      <a:r>
                        <a:rPr lang="en-US" sz="1600" dirty="0"/>
                        <a:t>date</a:t>
                      </a:r>
                    </a:p>
                  </a:txBody>
                  <a:tcPr anchor="ctr">
                    <a:solidFill>
                      <a:schemeClr val="bg1"/>
                    </a:solidFill>
                  </a:tcPr>
                </a:tc>
                <a:tc>
                  <a:txBody>
                    <a:bodyPr/>
                    <a:lstStyle/>
                    <a:p>
                      <a:pPr>
                        <a:buNone/>
                      </a:pPr>
                      <a:r>
                        <a:rPr lang="en-US" sz="1600" dirty="0"/>
                        <a:t>Date</a:t>
                      </a:r>
                    </a:p>
                  </a:txBody>
                  <a:tcPr anchor="ctr">
                    <a:solidFill>
                      <a:schemeClr val="bg1"/>
                    </a:solidFill>
                  </a:tcPr>
                </a:tc>
                <a:tc>
                  <a:txBody>
                    <a:bodyPr/>
                    <a:lstStyle/>
                    <a:p>
                      <a:pPr>
                        <a:buNone/>
                      </a:pPr>
                      <a:r>
                        <a:rPr lang="en-US" sz="1600" dirty="0"/>
                        <a:t>2026-02-20T18:00:00Z</a:t>
                      </a:r>
                    </a:p>
                  </a:txBody>
                  <a:tcPr anchor="ctr">
                    <a:solidFill>
                      <a:schemeClr val="bg1"/>
                    </a:solidFill>
                  </a:tcPr>
                </a:tc>
                <a:tc>
                  <a:txBody>
                    <a:bodyPr/>
                    <a:lstStyle/>
                    <a:p>
                      <a:pPr>
                        <a:buNone/>
                      </a:pPr>
                      <a:r>
                        <a:rPr lang="en-US" sz="1600" dirty="0"/>
                        <a:t>Date and time of the event, used for sorting, filtering, and scheduling notifications.</a:t>
                      </a:r>
                    </a:p>
                  </a:txBody>
                  <a:tcPr anchor="ctr">
                    <a:solidFill>
                      <a:schemeClr val="bg1"/>
                    </a:solidFill>
                  </a:tcPr>
                </a:tc>
                <a:extLst>
                  <a:ext uri="{0D108BD9-81ED-4DB2-BD59-A6C34878D82A}">
                    <a16:rowId xmlns:a16="http://schemas.microsoft.com/office/drawing/2014/main" val="3913391811"/>
                  </a:ext>
                </a:extLst>
              </a:tr>
              <a:tr h="0">
                <a:tc>
                  <a:txBody>
                    <a:bodyPr/>
                    <a:lstStyle/>
                    <a:p>
                      <a:pPr>
                        <a:buNone/>
                      </a:pPr>
                      <a:r>
                        <a:rPr lang="en-US" sz="1600" dirty="0"/>
                        <a:t>location</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Main Auditorium</a:t>
                      </a:r>
                    </a:p>
                  </a:txBody>
                  <a:tcPr anchor="ctr">
                    <a:solidFill>
                      <a:schemeClr val="bg1"/>
                    </a:solidFill>
                  </a:tcPr>
                </a:tc>
                <a:tc>
                  <a:txBody>
                    <a:bodyPr/>
                    <a:lstStyle/>
                    <a:p>
                      <a:pPr>
                        <a:buNone/>
                      </a:pPr>
                      <a:r>
                        <a:rPr lang="en-US" sz="1600" dirty="0"/>
                        <a:t>Venue of the event, displayed to users and used for logistics planning.</a:t>
                      </a:r>
                    </a:p>
                  </a:txBody>
                  <a:tcPr anchor="ctr">
                    <a:solidFill>
                      <a:schemeClr val="bg1"/>
                    </a:solidFill>
                  </a:tcPr>
                </a:tc>
                <a:extLst>
                  <a:ext uri="{0D108BD9-81ED-4DB2-BD59-A6C34878D82A}">
                    <a16:rowId xmlns:a16="http://schemas.microsoft.com/office/drawing/2014/main" val="2445594671"/>
                  </a:ext>
                </a:extLst>
              </a:tr>
              <a:tr h="0">
                <a:tc>
                  <a:txBody>
                    <a:bodyPr/>
                    <a:lstStyle/>
                    <a:p>
                      <a:pPr>
                        <a:buNone/>
                      </a:pPr>
                      <a:r>
                        <a:rPr lang="en-US" sz="1600" dirty="0"/>
                        <a:t>createdBy</a:t>
                      </a:r>
                    </a:p>
                  </a:txBody>
                  <a:tcPr anchor="ctr">
                    <a:solidFill>
                      <a:schemeClr val="bg1"/>
                    </a:solidFill>
                  </a:tcPr>
                </a:tc>
                <a:tc>
                  <a:txBody>
                    <a:bodyPr/>
                    <a:lstStyle/>
                    <a:p>
                      <a:pPr>
                        <a:buNone/>
                      </a:pPr>
                      <a:r>
                        <a:rPr lang="en-US" sz="1600" dirty="0"/>
                        <a:t>String</a:t>
                      </a:r>
                    </a:p>
                  </a:txBody>
                  <a:tcPr anchor="ctr">
                    <a:solidFill>
                      <a:schemeClr val="bg1"/>
                    </a:solidFill>
                  </a:tcPr>
                </a:tc>
                <a:tc>
                  <a:txBody>
                    <a:bodyPr/>
                    <a:lstStyle/>
                    <a:p>
                      <a:pPr>
                        <a:buNone/>
                      </a:pPr>
                      <a:r>
                        <a:rPr lang="en-US" sz="1600" dirty="0"/>
                        <a:t>U1001</a:t>
                      </a:r>
                    </a:p>
                  </a:txBody>
                  <a:tcPr anchor="ctr">
                    <a:solidFill>
                      <a:schemeClr val="bg1"/>
                    </a:solidFill>
                  </a:tcPr>
                </a:tc>
                <a:tc>
                  <a:txBody>
                    <a:bodyPr/>
                    <a:lstStyle/>
                    <a:p>
                      <a:pPr>
                        <a:buNone/>
                      </a:pPr>
                      <a:r>
                        <a:rPr lang="en-US" sz="1600" dirty="0"/>
                        <a:t>User ID of the person who created the event, used to track ownership and manage permissions.</a:t>
                      </a:r>
                    </a:p>
                  </a:txBody>
                  <a:tcPr anchor="ctr">
                    <a:solidFill>
                      <a:schemeClr val="bg1"/>
                    </a:solidFill>
                  </a:tcPr>
                </a:tc>
                <a:extLst>
                  <a:ext uri="{0D108BD9-81ED-4DB2-BD59-A6C34878D82A}">
                    <a16:rowId xmlns:a16="http://schemas.microsoft.com/office/drawing/2014/main" val="2299822991"/>
                  </a:ext>
                </a:extLst>
              </a:tr>
            </a:tbl>
          </a:graphicData>
        </a:graphic>
      </p:graphicFrame>
    </p:spTree>
    <p:extLst>
      <p:ext uri="{BB962C8B-B14F-4D97-AF65-F5344CB8AC3E}">
        <p14:creationId xmlns:p14="http://schemas.microsoft.com/office/powerpoint/2010/main" val="371361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E380C-90C6-9BD5-88C8-BA4332A81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74E33-D068-09F6-AFFB-1700939F76BB}"/>
              </a:ext>
            </a:extLst>
          </p:cNvPr>
          <p:cNvSpPr>
            <a:spLocks noGrp="1"/>
          </p:cNvSpPr>
          <p:nvPr>
            <p:ph type="title"/>
          </p:nvPr>
        </p:nvSpPr>
        <p:spPr>
          <a:xfrm>
            <a:off x="710063" y="0"/>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8C9709C9-5184-9A01-C86C-9141AB001067}"/>
              </a:ext>
            </a:extLst>
          </p:cNvPr>
          <p:cNvGraphicFramePr>
            <a:graphicFrameLocks noGrp="1"/>
          </p:cNvGraphicFramePr>
          <p:nvPr>
            <p:extLst>
              <p:ext uri="{D42A27DB-BD31-4B8C-83A1-F6EECF244321}">
                <p14:modId xmlns:p14="http://schemas.microsoft.com/office/powerpoint/2010/main" val="3177031804"/>
              </p:ext>
            </p:extLst>
          </p:nvPr>
        </p:nvGraphicFramePr>
        <p:xfrm>
          <a:off x="498308" y="983411"/>
          <a:ext cx="11398518" cy="4431558"/>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046105">
                <a:tc>
                  <a:txBody>
                    <a:bodyPr/>
                    <a:lstStyle/>
                    <a:p>
                      <a:pPr>
                        <a:buNone/>
                      </a:pPr>
                      <a:r>
                        <a:rPr lang="en-US" sz="1400" b="1" dirty="0">
                          <a:latin typeface="+mn-lt"/>
                        </a:rPr>
                        <a:t>Table: Users</a:t>
                      </a:r>
                      <a:endParaRPr lang="en-US" sz="1400" b="0" dirty="0">
                        <a:latin typeface="+mn-lt"/>
                      </a:endParaRPr>
                    </a:p>
                  </a:txBody>
                  <a:tcPr anchor="ctr">
                    <a:solidFill>
                      <a:schemeClr val="bg1"/>
                    </a:solidFill>
                  </a:tcPr>
                </a:tc>
                <a:tc gridSpan="3">
                  <a:txBody>
                    <a:bodyPr/>
                    <a:lstStyle/>
                    <a:p>
                      <a:pPr>
                        <a:buNone/>
                      </a:pPr>
                      <a:r>
                        <a:rPr lang="en-US" sz="1400" b="1" dirty="0">
                          <a:latin typeface="+mn-lt"/>
                        </a:rPr>
                        <a:t>Description: </a:t>
                      </a:r>
                      <a:r>
                        <a:rPr lang="en-US" sz="1400" dirty="0">
                          <a:latin typeface="+mn-lt"/>
                        </a:rPr>
                        <a:t>Represents general user information such as name, email, student ID, and role. Does not include module proficiency</a:t>
                      </a:r>
                    </a:p>
                    <a:p>
                      <a:pPr>
                        <a:buNone/>
                      </a:pPr>
                      <a:endParaRPr lang="en-US" sz="1400" b="1"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latin typeface="+mn-lt"/>
                        </a:rPr>
                        <a:t>Usage in App:</a:t>
                      </a:r>
                      <a:r>
                        <a:rPr lang="en-US" sz="1400" dirty="0">
                          <a:latin typeface="+mn-lt"/>
                        </a:rPr>
                        <a:t> Stores user details used for authentication, and displaying user profiles throughout the app.</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337453">
                <a:tc>
                  <a:txBody>
                    <a:bodyPr/>
                    <a:lstStyle/>
                    <a:p>
                      <a:pPr>
                        <a:buNone/>
                      </a:pPr>
                      <a:r>
                        <a:rPr lang="en-US" sz="1400" b="1" dirty="0">
                          <a:latin typeface="+mn-lt"/>
                        </a:rPr>
                        <a:t>Attribute</a:t>
                      </a:r>
                    </a:p>
                  </a:txBody>
                  <a:tcPr anchor="ctr">
                    <a:solidFill>
                      <a:schemeClr val="bg1"/>
                    </a:solidFill>
                  </a:tcPr>
                </a:tc>
                <a:tc>
                  <a:txBody>
                    <a:bodyPr/>
                    <a:lstStyle/>
                    <a:p>
                      <a:pPr>
                        <a:buNone/>
                      </a:pPr>
                      <a:r>
                        <a:rPr lang="en-US" sz="1400" b="1" dirty="0">
                          <a:latin typeface="+mn-lt"/>
                        </a:rPr>
                        <a:t>Type</a:t>
                      </a:r>
                    </a:p>
                  </a:txBody>
                  <a:tcPr anchor="ctr">
                    <a:solidFill>
                      <a:schemeClr val="bg1"/>
                    </a:solidFill>
                  </a:tcPr>
                </a:tc>
                <a:tc>
                  <a:txBody>
                    <a:bodyPr/>
                    <a:lstStyle/>
                    <a:p>
                      <a:pPr>
                        <a:buNone/>
                      </a:pPr>
                      <a:r>
                        <a:rPr lang="en-US" sz="1400" b="1" dirty="0">
                          <a:latin typeface="+mn-lt"/>
                        </a:rPr>
                        <a:t>Sample Value</a:t>
                      </a:r>
                    </a:p>
                  </a:txBody>
                  <a:tcPr anchor="ctr">
                    <a:solidFill>
                      <a:schemeClr val="bg1"/>
                    </a:solidFill>
                  </a:tcPr>
                </a:tc>
                <a:tc>
                  <a:txBody>
                    <a:bodyPr/>
                    <a:lstStyle/>
                    <a:p>
                      <a:pPr>
                        <a:buNone/>
                      </a:pPr>
                      <a:r>
                        <a:rPr lang="en-US" sz="1400" b="1" dirty="0">
                          <a:latin typeface="+mn-lt"/>
                        </a:rPr>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spcBef>
                          <a:spcPts val="0"/>
                        </a:spcBef>
                        <a:spcAft>
                          <a:spcPts val="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student_id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a:spcBef>
                          <a:spcPts val="600"/>
                        </a:spcBef>
                        <a:spcAft>
                          <a:spcPts val="600"/>
                        </a:spcAft>
                        <a:buNone/>
                      </a:pPr>
                      <a:r>
                        <a:rPr lang="en-US" sz="1400" dirty="0">
                          <a:latin typeface="+mn-lt"/>
                        </a:rPr>
                        <a:t>String</a:t>
                      </a:r>
                    </a:p>
                  </a:txBody>
                  <a:tcPr anchor="ctr">
                    <a:solidFill>
                      <a:schemeClr val="bg1"/>
                    </a:solidFill>
                  </a:tcPr>
                </a:tc>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1234567A</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lvl="0">
                        <a:buNone/>
                      </a:pPr>
                      <a:r>
                        <a:rPr lang="en-US" sz="1400" kern="1200" dirty="0">
                          <a:solidFill>
                            <a:schemeClr val="tx1"/>
                          </a:solidFill>
                          <a:effectLst/>
                          <a:latin typeface="+mn-lt"/>
                          <a:ea typeface="+mn-ea"/>
                          <a:cs typeface="+mn-cs"/>
                        </a:rPr>
                        <a:t>Unique identifier of each student</a:t>
                      </a:r>
                      <a:endParaRPr lang="en-US" sz="1400" dirty="0">
                        <a:latin typeface="+mn-lt"/>
                      </a:endParaRPr>
                    </a:p>
                  </a:txBody>
                  <a:tcPr anchor="ctr">
                    <a:solidFill>
                      <a:schemeClr val="bg1"/>
                    </a:solidFill>
                  </a:tcPr>
                </a:tc>
                <a:extLst>
                  <a:ext uri="{0D108BD9-81ED-4DB2-BD59-A6C34878D82A}">
                    <a16:rowId xmlns:a16="http://schemas.microsoft.com/office/drawing/2014/main" val="2707098043"/>
                  </a:ext>
                </a:extLst>
              </a:tr>
              <a:tr h="0">
                <a:tc>
                  <a:txBody>
                    <a:bodyPr/>
                    <a:lstStyle/>
                    <a:p>
                      <a:pPr>
                        <a:spcBef>
                          <a:spcPts val="0"/>
                        </a:spcBef>
                        <a:spcAft>
                          <a:spcPts val="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name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a:spcBef>
                          <a:spcPts val="600"/>
                        </a:spcBef>
                        <a:spcAft>
                          <a:spcPts val="600"/>
                        </a:spcAft>
                        <a:buNone/>
                      </a:pPr>
                      <a:r>
                        <a:rPr lang="en-US" sz="1400" dirty="0">
                          <a:latin typeface="+mn-lt"/>
                        </a:rPr>
                        <a:t>String</a:t>
                      </a:r>
                    </a:p>
                  </a:txBody>
                  <a:tcPr anchor="ctr">
                    <a:solidFill>
                      <a:schemeClr val="bg1"/>
                    </a:solidFill>
                  </a:tcPr>
                </a:tc>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John Doe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lvl="0">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Student’s name which will displayed for pairing</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840665485"/>
                  </a:ext>
                </a:extLst>
              </a:tr>
              <a:tr h="0">
                <a:tc>
                  <a:txBody>
                    <a:bodyPr/>
                    <a:lstStyle/>
                    <a:p>
                      <a:pPr>
                        <a:spcBef>
                          <a:spcPts val="0"/>
                        </a:spcBef>
                        <a:spcAft>
                          <a:spcPts val="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diploma</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a:spcBef>
                          <a:spcPts val="600"/>
                        </a:spcBef>
                        <a:spcAft>
                          <a:spcPts val="600"/>
                        </a:spcAft>
                        <a:buNone/>
                      </a:pPr>
                      <a:r>
                        <a:rPr lang="en-US" sz="1400" dirty="0">
                          <a:latin typeface="+mn-lt"/>
                        </a:rPr>
                        <a:t>String</a:t>
                      </a:r>
                    </a:p>
                  </a:txBody>
                  <a:tcPr anchor="ctr">
                    <a:solidFill>
                      <a:schemeClr val="bg1"/>
                    </a:solidFill>
                  </a:tcPr>
                </a:tc>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Diploma in Information Technology</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lvl="0">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The diploma that the student is studying for</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2234607868"/>
                  </a:ext>
                </a:extLst>
              </a:tr>
              <a:tr h="0">
                <a:tc>
                  <a:txBody>
                    <a:bodyPr/>
                    <a:lstStyle/>
                    <a:p>
                      <a:pPr>
                        <a:spcBef>
                          <a:spcPts val="0"/>
                        </a:spcBef>
                        <a:spcAft>
                          <a:spcPts val="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year_of_study</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a:spcBef>
                          <a:spcPts val="600"/>
                        </a:spcBef>
                        <a:spcAft>
                          <a:spcPts val="600"/>
                        </a:spcAft>
                        <a:buNone/>
                      </a:pPr>
                      <a:r>
                        <a:rPr lang="en-US" sz="1400" dirty="0">
                          <a:latin typeface="+mn-lt"/>
                        </a:rPr>
                        <a:t>Number</a:t>
                      </a:r>
                    </a:p>
                  </a:txBody>
                  <a:tcPr anchor="ctr">
                    <a:solidFill>
                      <a:schemeClr val="bg1"/>
                    </a:solidFill>
                  </a:tcPr>
                </a:tc>
                <a:tc>
                  <a:txBody>
                    <a:bodyPr/>
                    <a:lstStyle/>
                    <a:p>
                      <a:pPr marL="0">
                        <a:lnSpc>
                          <a:spcPct val="100000"/>
                        </a:lnSpc>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1</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lvl="0">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The student’s current year of study. Only allow 1 to 3.</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3913391811"/>
                  </a:ext>
                </a:extLst>
              </a:tr>
              <a:tr h="0">
                <a:tc>
                  <a:txBody>
                    <a:bodyPr/>
                    <a:lstStyle/>
                    <a:p>
                      <a:pPr>
                        <a:spcBef>
                          <a:spcPts val="0"/>
                        </a:spcBef>
                        <a:spcAft>
                          <a:spcPts val="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password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a:spcBef>
                          <a:spcPts val="600"/>
                        </a:spcBef>
                        <a:spcAft>
                          <a:spcPts val="600"/>
                        </a:spcAft>
                        <a:buNone/>
                      </a:pPr>
                      <a:r>
                        <a:rPr lang="en-US" sz="1400" dirty="0">
                          <a:latin typeface="+mn-lt"/>
                        </a:rPr>
                        <a:t>String</a:t>
                      </a:r>
                    </a:p>
                  </a:txBody>
                  <a:tcPr anchor="ctr">
                    <a:solidFill>
                      <a:schemeClr val="bg1"/>
                    </a:solidFill>
                  </a:tcPr>
                </a:tc>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$2a$12$MJ9…</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lvl="0">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Hashed password for login during authentication. </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2445594671"/>
                  </a:ext>
                </a:extLst>
              </a:tr>
              <a:tr h="0">
                <a:tc>
                  <a:txBody>
                    <a:bodyPr/>
                    <a:lstStyle/>
                    <a:p>
                      <a:pPr>
                        <a:spcBef>
                          <a:spcPts val="0"/>
                        </a:spcBef>
                        <a:spcAft>
                          <a:spcPts val="0"/>
                        </a:spcAft>
                        <a:buNone/>
                      </a:pPr>
                      <a:r>
                        <a:rPr lang="en-US" sz="1400" dirty="0">
                          <a:latin typeface="+mn-lt"/>
                        </a:rPr>
                        <a:t>image</a:t>
                      </a:r>
                    </a:p>
                  </a:txBody>
                  <a:tcPr anchor="ctr">
                    <a:solidFill>
                      <a:schemeClr val="bg1"/>
                    </a:solidFill>
                  </a:tcPr>
                </a:tc>
                <a:tc>
                  <a:txBody>
                    <a:bodyPr/>
                    <a:lstStyle/>
                    <a:p>
                      <a:pPr>
                        <a:spcBef>
                          <a:spcPts val="600"/>
                        </a:spcBef>
                        <a:spcAft>
                          <a:spcPts val="600"/>
                        </a:spcAft>
                        <a:buNone/>
                      </a:pPr>
                      <a:r>
                        <a:rPr lang="en-US" sz="1400" dirty="0">
                          <a:latin typeface="+mn-lt"/>
                        </a:rPr>
                        <a:t>String</a:t>
                      </a:r>
                    </a:p>
                  </a:txBody>
                  <a:tcPr anchor="ctr">
                    <a:solidFill>
                      <a:schemeClr val="bg1"/>
                    </a:solidFill>
                  </a:tcPr>
                </a:tc>
                <a:tc>
                  <a:txBody>
                    <a:bodyPr/>
                    <a:lstStyle/>
                    <a:p>
                      <a:pPr>
                        <a:spcBef>
                          <a:spcPts val="600"/>
                        </a:spcBef>
                        <a:spcAft>
                          <a:spcPts val="600"/>
                        </a:spcAft>
                        <a:buNone/>
                      </a:pPr>
                      <a:r>
                        <a:rPr lang="en-US" sz="1400" dirty="0">
                          <a:latin typeface="+mn-lt"/>
                        </a:rPr>
                        <a:t>&lt;Image in Base64&gt;</a:t>
                      </a:r>
                    </a:p>
                    <a:p>
                      <a:pPr>
                        <a:spcBef>
                          <a:spcPts val="600"/>
                        </a:spcBef>
                        <a:spcAft>
                          <a:spcPts val="600"/>
                        </a:spcAft>
                        <a:buNone/>
                      </a:pPr>
                      <a:r>
                        <a:rPr lang="en-SG" sz="1400" b="0" i="0" kern="1200" dirty="0">
                          <a:solidFill>
                            <a:schemeClr val="tx1"/>
                          </a:solidFill>
                          <a:effectLst/>
                          <a:latin typeface="+mn-lt"/>
                          <a:ea typeface="+mn-ea"/>
                          <a:cs typeface="+mn-cs"/>
                        </a:rPr>
                        <a:t>data:image/jpeg;base64,/9j/4AAQSkZJRg…</a:t>
                      </a:r>
                      <a:endParaRPr lang="en-US" sz="1400" dirty="0">
                        <a:latin typeface="+mn-lt"/>
                      </a:endParaRPr>
                    </a:p>
                  </a:txBody>
                  <a:tcPr anchor="ctr">
                    <a:solidFill>
                      <a:schemeClr val="bg1"/>
                    </a:solidFill>
                  </a:tcPr>
                </a:tc>
                <a:tc>
                  <a:txBody>
                    <a:bodyPr/>
                    <a:lstStyle/>
                    <a:p>
                      <a:pPr lvl="0">
                        <a:buNone/>
                      </a:pPr>
                      <a:r>
                        <a:rPr lang="en-US" sz="1400" dirty="0">
                          <a:latin typeface="+mn-lt"/>
                        </a:rPr>
                        <a:t>Used to display the user’s profile picture across different parts of the website</a:t>
                      </a:r>
                    </a:p>
                  </a:txBody>
                  <a:tcPr anchor="ctr">
                    <a:solidFill>
                      <a:schemeClr val="bg1"/>
                    </a:solidFill>
                  </a:tcPr>
                </a:tc>
                <a:extLst>
                  <a:ext uri="{0D108BD9-81ED-4DB2-BD59-A6C34878D82A}">
                    <a16:rowId xmlns:a16="http://schemas.microsoft.com/office/drawing/2014/main" val="2299822991"/>
                  </a:ext>
                </a:extLst>
              </a:tr>
              <a:tr h="212329">
                <a:tc>
                  <a:txBody>
                    <a:bodyPr/>
                    <a:lstStyle/>
                    <a:p>
                      <a:pPr>
                        <a:spcBef>
                          <a:spcPts val="0"/>
                        </a:spcBef>
                        <a:spcAft>
                          <a:spcPts val="0"/>
                        </a:spcAft>
                        <a:buNone/>
                      </a:pPr>
                      <a:r>
                        <a:rPr lang="en-US" sz="1400" dirty="0">
                          <a:latin typeface="+mn-lt"/>
                        </a:rPr>
                        <a:t>rating</a:t>
                      </a:r>
                    </a:p>
                  </a:txBody>
                  <a:tcPr anchor="ctr">
                    <a:solidFill>
                      <a:schemeClr val="bg1"/>
                    </a:solidFill>
                  </a:tcPr>
                </a:tc>
                <a:tc>
                  <a:txBody>
                    <a:bodyPr/>
                    <a:lstStyle/>
                    <a:p>
                      <a:pPr>
                        <a:spcBef>
                          <a:spcPts val="600"/>
                        </a:spcBef>
                        <a:spcAft>
                          <a:spcPts val="600"/>
                        </a:spcAft>
                        <a:buNone/>
                      </a:pPr>
                      <a:r>
                        <a:rPr lang="en-US" sz="1400" dirty="0">
                          <a:latin typeface="+mn-lt"/>
                        </a:rPr>
                        <a:t>Array</a:t>
                      </a:r>
                    </a:p>
                  </a:txBody>
                  <a:tcPr anchor="ctr">
                    <a:solidFill>
                      <a:schemeClr val="bg1"/>
                    </a:solidFill>
                  </a:tcPr>
                </a:tc>
                <a:tc>
                  <a:txBody>
                    <a:bodyPr/>
                    <a:lstStyle/>
                    <a:p>
                      <a:pPr>
                        <a:spcBef>
                          <a:spcPts val="600"/>
                        </a:spcBef>
                        <a:spcAft>
                          <a:spcPts val="600"/>
                        </a:spcAft>
                        <a:buNone/>
                      </a:pPr>
                      <a:r>
                        <a:rPr lang="en-US" sz="1400" dirty="0">
                          <a:latin typeface="+mn-lt"/>
                        </a:rPr>
                        <a:t>[3.8, 4, 2.1]</a:t>
                      </a:r>
                    </a:p>
                  </a:txBody>
                  <a:tcPr anchor="ctr">
                    <a:solidFill>
                      <a:schemeClr val="bg1"/>
                    </a:solidFill>
                  </a:tcPr>
                </a:tc>
                <a:tc>
                  <a:txBody>
                    <a:bodyPr/>
                    <a:lstStyle/>
                    <a:p>
                      <a:pPr lvl="0">
                        <a:buNone/>
                      </a:pPr>
                      <a:r>
                        <a:rPr lang="en-US" sz="1400" dirty="0">
                          <a:latin typeface="+mn-lt"/>
                        </a:rPr>
                        <a:t>Rating (0-5) given for the student for their teaching capability.</a:t>
                      </a:r>
                    </a:p>
                  </a:txBody>
                  <a:tcPr anchor="ctr">
                    <a:solidFill>
                      <a:schemeClr val="bg1"/>
                    </a:solidFill>
                  </a:tcPr>
                </a:tc>
                <a:extLst>
                  <a:ext uri="{0D108BD9-81ED-4DB2-BD59-A6C34878D82A}">
                    <a16:rowId xmlns:a16="http://schemas.microsoft.com/office/drawing/2014/main" val="3476714483"/>
                  </a:ext>
                </a:extLst>
              </a:tr>
            </a:tbl>
          </a:graphicData>
        </a:graphic>
      </p:graphicFrame>
    </p:spTree>
    <p:extLst>
      <p:ext uri="{BB962C8B-B14F-4D97-AF65-F5344CB8AC3E}">
        <p14:creationId xmlns:p14="http://schemas.microsoft.com/office/powerpoint/2010/main" val="26610112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FEDB5-2AE9-808B-3809-59AD4961F749}"/>
              </a:ext>
            </a:extLst>
          </p:cNvPr>
          <p:cNvSpPr>
            <a:spLocks noGrp="1"/>
          </p:cNvSpPr>
          <p:nvPr>
            <p:ph type="title"/>
          </p:nvPr>
        </p:nvSpPr>
        <p:spPr>
          <a:xfrm>
            <a:off x="838200" y="365126"/>
            <a:ext cx="10515600" cy="644166"/>
          </a:xfrm>
        </p:spPr>
        <p:txBody>
          <a:bodyPr>
            <a:normAutofit fontScale="90000"/>
          </a:bodyPr>
          <a:lstStyle/>
          <a:p>
            <a:r>
              <a:rPr lang="en-SG" b="1" dirty="0"/>
              <a:t>Data Modeling - Users (Explanation)</a:t>
            </a:r>
          </a:p>
        </p:txBody>
      </p:sp>
      <p:graphicFrame>
        <p:nvGraphicFramePr>
          <p:cNvPr id="4" name="Content Placeholder 3">
            <a:extLst>
              <a:ext uri="{FF2B5EF4-FFF2-40B4-BE49-F238E27FC236}">
                <a16:creationId xmlns:a16="http://schemas.microsoft.com/office/drawing/2014/main" id="{C8D846BB-3579-10E0-50AF-97082C63EAF3}"/>
              </a:ext>
            </a:extLst>
          </p:cNvPr>
          <p:cNvGraphicFramePr>
            <a:graphicFrameLocks noGrp="1"/>
          </p:cNvGraphicFramePr>
          <p:nvPr>
            <p:ph idx="1"/>
            <p:extLst>
              <p:ext uri="{D42A27DB-BD31-4B8C-83A1-F6EECF244321}">
                <p14:modId xmlns:p14="http://schemas.microsoft.com/office/powerpoint/2010/main" val="1389580134"/>
              </p:ext>
            </p:extLst>
          </p:nvPr>
        </p:nvGraphicFramePr>
        <p:xfrm>
          <a:off x="838200" y="1089863"/>
          <a:ext cx="10515600" cy="5013613"/>
        </p:xfrm>
        <a:graphic>
          <a:graphicData uri="http://schemas.openxmlformats.org/drawingml/2006/table">
            <a:tbl>
              <a:tblPr firstRow="1" bandRow="1">
                <a:tableStyleId>{5940675A-B579-460E-94D1-54222C63F5DA}</a:tableStyleId>
              </a:tblPr>
              <a:tblGrid>
                <a:gridCol w="1283898">
                  <a:extLst>
                    <a:ext uri="{9D8B030D-6E8A-4147-A177-3AD203B41FA5}">
                      <a16:colId xmlns:a16="http://schemas.microsoft.com/office/drawing/2014/main" val="3699532382"/>
                    </a:ext>
                  </a:extLst>
                </a:gridCol>
                <a:gridCol w="9231702">
                  <a:extLst>
                    <a:ext uri="{9D8B030D-6E8A-4147-A177-3AD203B41FA5}">
                      <a16:colId xmlns:a16="http://schemas.microsoft.com/office/drawing/2014/main" val="2339287375"/>
                    </a:ext>
                  </a:extLst>
                </a:gridCol>
              </a:tblGrid>
              <a:tr h="411133">
                <a:tc>
                  <a:txBody>
                    <a:bodyPr/>
                    <a:lstStyle/>
                    <a:p>
                      <a:r>
                        <a:rPr lang="en-SG" sz="1400" b="1" dirty="0"/>
                        <a:t>Attribute</a:t>
                      </a:r>
                    </a:p>
                  </a:txBody>
                  <a:tcPr anchor="ctr"/>
                </a:tc>
                <a:tc>
                  <a:txBody>
                    <a:bodyPr/>
                    <a:lstStyle/>
                    <a:p>
                      <a:r>
                        <a:rPr lang="en-SG" sz="1400" b="1" dirty="0"/>
                        <a:t>Additional Explanation</a:t>
                      </a:r>
                    </a:p>
                  </a:txBody>
                  <a:tcPr anchor="ctr"/>
                </a:tc>
                <a:extLst>
                  <a:ext uri="{0D108BD9-81ED-4DB2-BD59-A6C34878D82A}">
                    <a16:rowId xmlns:a16="http://schemas.microsoft.com/office/drawing/2014/main" val="1943573786"/>
                  </a:ext>
                </a:extLst>
              </a:tr>
              <a:tr h="0">
                <a:tc>
                  <a:txBody>
                    <a:bodyPr/>
                    <a:lstStyle/>
                    <a:p>
                      <a:pPr>
                        <a:spcBef>
                          <a:spcPts val="0"/>
                        </a:spcBef>
                        <a:spcAft>
                          <a:spcPts val="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student_id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The student_id serves as a unique identifier for each user in the system, using the String data type to represent standard student IDs (e.g., “1234567A”). This field is mandatory and unique, ensuring that every user can be efficiently retrieved and clearly distinguished from others. Within the application, the student ID is used for authentication, pairing, and communication, allowing paired users to identify and connect with one another through email or Microsoft Teams.</a:t>
                      </a:r>
                      <a:endParaRPr lang="en-SG" sz="14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347488079"/>
                  </a:ext>
                </a:extLst>
              </a:tr>
              <a:tr h="0">
                <a:tc>
                  <a:txBody>
                    <a:bodyPr/>
                    <a:lstStyle/>
                    <a:p>
                      <a:pPr>
                        <a:spcBef>
                          <a:spcPts val="0"/>
                        </a:spcBef>
                        <a:spcAft>
                          <a:spcPts val="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name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The name attribute stores each student’s full name and serves as a human-readable identifier across the system. It enhances usability and user experience by displaying familiar names instead of technical identifiers such as student_id. Within the application, this attribute is used in the explore page, pairing lists, and other user-related displays to improve user accessibility and website usability.</a:t>
                      </a:r>
                      <a:endParaRPr lang="en-SG" sz="14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153471041"/>
                  </a:ext>
                </a:extLst>
              </a:tr>
              <a:tr h="718868">
                <a:tc>
                  <a:txBody>
                    <a:bodyPr/>
                    <a:lstStyle/>
                    <a:p>
                      <a:pPr>
                        <a:spcBef>
                          <a:spcPts val="0"/>
                        </a:spcBef>
                        <a:spcAft>
                          <a:spcPts val="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diploma</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r>
                        <a:rPr lang="en-SG" sz="1400" kern="1200" dirty="0">
                          <a:solidFill>
                            <a:schemeClr val="tx1"/>
                          </a:solidFill>
                          <a:effectLst/>
                          <a:latin typeface="+mn-lt"/>
                          <a:ea typeface="+mn-ea"/>
                          <a:cs typeface="+mn-cs"/>
                        </a:rPr>
                        <a:t>The “diploma” attribute stores the name of the diploma program that the student is enrolled in. This information aids in filtering and displaying relevant academic matches, </a:t>
                      </a:r>
                      <a:r>
                        <a:rPr lang="en-US" sz="1400" kern="1200" dirty="0">
                          <a:solidFill>
                            <a:schemeClr val="tx1"/>
                          </a:solidFill>
                          <a:effectLst/>
                          <a:latin typeface="+mn-lt"/>
                          <a:ea typeface="+mn-ea"/>
                          <a:cs typeface="+mn-cs"/>
                        </a:rPr>
                        <a:t>enables students a make a more informed decision when choosing who they wished to be paired with, such as choosing peers from the same diploma</a:t>
                      </a:r>
                      <a:r>
                        <a:rPr lang="en-SG" sz="1400" kern="1200" dirty="0">
                          <a:solidFill>
                            <a:schemeClr val="tx1"/>
                          </a:solidFill>
                          <a:effectLst/>
                          <a:latin typeface="+mn-lt"/>
                          <a:ea typeface="+mn-ea"/>
                          <a:cs typeface="+mn-cs"/>
                        </a:rPr>
                        <a:t>.</a:t>
                      </a:r>
                      <a:endParaRPr lang="en-SG" sz="1400" dirty="0"/>
                    </a:p>
                  </a:txBody>
                  <a:tcPr anchor="ctr"/>
                </a:tc>
                <a:extLst>
                  <a:ext uri="{0D108BD9-81ED-4DB2-BD59-A6C34878D82A}">
                    <a16:rowId xmlns:a16="http://schemas.microsoft.com/office/drawing/2014/main" val="4263304971"/>
                  </a:ext>
                </a:extLst>
              </a:tr>
              <a:tr h="718868">
                <a:tc>
                  <a:txBody>
                    <a:bodyPr/>
                    <a:lstStyle/>
                    <a:p>
                      <a:pPr>
                        <a:spcBef>
                          <a:spcPts val="0"/>
                        </a:spcBef>
                        <a:spcAft>
                          <a:spcPts val="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year_of_study</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kern="1200" dirty="0">
                          <a:solidFill>
                            <a:schemeClr val="tx1"/>
                          </a:solidFill>
                          <a:effectLst/>
                          <a:latin typeface="+mn-lt"/>
                          <a:ea typeface="+mn-ea"/>
                          <a:cs typeface="+mn-cs"/>
                        </a:rPr>
                        <a:t>The year_of_study field indicates the student's current year in their diploma program, ranging from 1 to 3. It uses the Number data type, which is efficient for numerical comparisons. It improves</a:t>
                      </a:r>
                      <a:r>
                        <a:rPr lang="en-US" sz="1400" kern="1200" dirty="0">
                          <a:solidFill>
                            <a:schemeClr val="tx1"/>
                          </a:solidFill>
                          <a:effectLst/>
                          <a:latin typeface="+mn-lt"/>
                          <a:ea typeface="+mn-ea"/>
                          <a:cs typeface="+mn-cs"/>
                        </a:rPr>
                        <a:t> user-friendliness by allowing students to make a more informed choice about who to pair with, </a:t>
                      </a:r>
                      <a:r>
                        <a:rPr lang="en-US" sz="1400" dirty="0"/>
                        <a:t>such as choosing peers from the same or higher academic year.</a:t>
                      </a:r>
                      <a:endParaRPr lang="en-SG" sz="14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3211975710"/>
                  </a:ext>
                </a:extLst>
              </a:tr>
              <a:tr h="0">
                <a:tc>
                  <a:txBody>
                    <a:bodyPr/>
                    <a:lstStyle/>
                    <a:p>
                      <a:pPr>
                        <a:spcBef>
                          <a:spcPts val="0"/>
                        </a:spcBef>
                        <a:spcAft>
                          <a:spcPts val="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password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kern="1200" dirty="0">
                          <a:solidFill>
                            <a:schemeClr val="tx1"/>
                          </a:solidFill>
                          <a:effectLst/>
                          <a:latin typeface="+mn-lt"/>
                          <a:ea typeface="+mn-ea"/>
                          <a:cs typeface="+mn-cs"/>
                        </a:rPr>
                        <a:t>The “password” attribute stores each student’s login password. It should be hashed with Bcrypt to ensure security. This field is crucial for user authentication in the system and is required for login functionality.</a:t>
                      </a:r>
                    </a:p>
                  </a:txBody>
                  <a:tcPr anchor="ctr"/>
                </a:tc>
                <a:extLst>
                  <a:ext uri="{0D108BD9-81ED-4DB2-BD59-A6C34878D82A}">
                    <a16:rowId xmlns:a16="http://schemas.microsoft.com/office/drawing/2014/main" val="2472146296"/>
                  </a:ext>
                </a:extLst>
              </a:tr>
              <a:tr h="718868">
                <a:tc>
                  <a:txBody>
                    <a:bodyPr/>
                    <a:lstStyle/>
                    <a:p>
                      <a:pPr>
                        <a:spcBef>
                          <a:spcPts val="0"/>
                        </a:spcBef>
                        <a:spcAft>
                          <a:spcPts val="0"/>
                        </a:spcAft>
                        <a:buNone/>
                      </a:pPr>
                      <a:r>
                        <a:rPr lang="en-US" sz="1400" dirty="0">
                          <a:latin typeface="+mn-lt"/>
                        </a:rPr>
                        <a:t>image</a:t>
                      </a:r>
                    </a:p>
                  </a:txBody>
                  <a:tcPr anchor="ctr"/>
                </a:tc>
                <a:tc>
                  <a:txBody>
                    <a:bodyPr/>
                    <a:lstStyle/>
                    <a:p>
                      <a:r>
                        <a:rPr lang="en-US" sz="1400" dirty="0"/>
                        <a:t>This field stores each user’s profile picture in Base64-encoded format. This field personalizes the user interface and improves engagement by visually identifying students on the website. It helps users recognize peers quickly when browsing or selecting partners for peer-to-peer learning sessions.</a:t>
                      </a:r>
                      <a:endParaRPr lang="en-SG" sz="1400" dirty="0"/>
                    </a:p>
                  </a:txBody>
                  <a:tcPr anchor="ctr"/>
                </a:tc>
                <a:extLst>
                  <a:ext uri="{0D108BD9-81ED-4DB2-BD59-A6C34878D82A}">
                    <a16:rowId xmlns:a16="http://schemas.microsoft.com/office/drawing/2014/main" val="3185853377"/>
                  </a:ext>
                </a:extLst>
              </a:tr>
            </a:tbl>
          </a:graphicData>
        </a:graphic>
      </p:graphicFrame>
    </p:spTree>
    <p:extLst>
      <p:ext uri="{BB962C8B-B14F-4D97-AF65-F5344CB8AC3E}">
        <p14:creationId xmlns:p14="http://schemas.microsoft.com/office/powerpoint/2010/main" val="30478983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BE21B-FF00-7334-986F-1A74330D3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768B8E-2F73-D498-67F6-BAAE93FA6210}"/>
              </a:ext>
            </a:extLst>
          </p:cNvPr>
          <p:cNvSpPr>
            <a:spLocks noGrp="1"/>
          </p:cNvSpPr>
          <p:nvPr>
            <p:ph type="title"/>
          </p:nvPr>
        </p:nvSpPr>
        <p:spPr>
          <a:xfrm>
            <a:off x="838200" y="365126"/>
            <a:ext cx="10515600" cy="644166"/>
          </a:xfrm>
        </p:spPr>
        <p:txBody>
          <a:bodyPr>
            <a:normAutofit fontScale="90000"/>
          </a:bodyPr>
          <a:lstStyle/>
          <a:p>
            <a:r>
              <a:rPr lang="en-SG" b="1" dirty="0"/>
              <a:t>Data Modeling - Users (Explanation)</a:t>
            </a:r>
          </a:p>
        </p:txBody>
      </p:sp>
      <p:graphicFrame>
        <p:nvGraphicFramePr>
          <p:cNvPr id="4" name="Content Placeholder 3">
            <a:extLst>
              <a:ext uri="{FF2B5EF4-FFF2-40B4-BE49-F238E27FC236}">
                <a16:creationId xmlns:a16="http://schemas.microsoft.com/office/drawing/2014/main" id="{014BFFFA-21D6-4D1C-53DF-E1950D5204A9}"/>
              </a:ext>
            </a:extLst>
          </p:cNvPr>
          <p:cNvGraphicFramePr>
            <a:graphicFrameLocks noGrp="1"/>
          </p:cNvGraphicFramePr>
          <p:nvPr>
            <p:ph idx="1"/>
            <p:extLst>
              <p:ext uri="{D42A27DB-BD31-4B8C-83A1-F6EECF244321}">
                <p14:modId xmlns:p14="http://schemas.microsoft.com/office/powerpoint/2010/main" val="1182948768"/>
              </p:ext>
            </p:extLst>
          </p:nvPr>
        </p:nvGraphicFramePr>
        <p:xfrm>
          <a:off x="838200" y="1089863"/>
          <a:ext cx="10515600" cy="1782733"/>
        </p:xfrm>
        <a:graphic>
          <a:graphicData uri="http://schemas.openxmlformats.org/drawingml/2006/table">
            <a:tbl>
              <a:tblPr firstRow="1" bandRow="1">
                <a:tableStyleId>{5940675A-B579-460E-94D1-54222C63F5DA}</a:tableStyleId>
              </a:tblPr>
              <a:tblGrid>
                <a:gridCol w="1283898">
                  <a:extLst>
                    <a:ext uri="{9D8B030D-6E8A-4147-A177-3AD203B41FA5}">
                      <a16:colId xmlns:a16="http://schemas.microsoft.com/office/drawing/2014/main" val="3699532382"/>
                    </a:ext>
                  </a:extLst>
                </a:gridCol>
                <a:gridCol w="9231702">
                  <a:extLst>
                    <a:ext uri="{9D8B030D-6E8A-4147-A177-3AD203B41FA5}">
                      <a16:colId xmlns:a16="http://schemas.microsoft.com/office/drawing/2014/main" val="2339287375"/>
                    </a:ext>
                  </a:extLst>
                </a:gridCol>
              </a:tblGrid>
              <a:tr h="411133">
                <a:tc>
                  <a:txBody>
                    <a:bodyPr/>
                    <a:lstStyle/>
                    <a:p>
                      <a:r>
                        <a:rPr lang="en-SG" sz="1400" b="1" dirty="0"/>
                        <a:t>Attribute</a:t>
                      </a:r>
                    </a:p>
                  </a:txBody>
                  <a:tcPr anchor="ctr"/>
                </a:tc>
                <a:tc>
                  <a:txBody>
                    <a:bodyPr/>
                    <a:lstStyle/>
                    <a:p>
                      <a:r>
                        <a:rPr lang="en-SG" sz="1400" b="1" dirty="0"/>
                        <a:t>Additional Explanation</a:t>
                      </a:r>
                    </a:p>
                  </a:txBody>
                  <a:tcPr anchor="ctr"/>
                </a:tc>
                <a:extLst>
                  <a:ext uri="{0D108BD9-81ED-4DB2-BD59-A6C34878D82A}">
                    <a16:rowId xmlns:a16="http://schemas.microsoft.com/office/drawing/2014/main" val="1943573786"/>
                  </a:ext>
                </a:extLst>
              </a:tr>
              <a:tr h="0">
                <a:tc>
                  <a:txBody>
                    <a:bodyPr/>
                    <a:lstStyle/>
                    <a:p>
                      <a:pPr>
                        <a:spcBef>
                          <a:spcPts val="0"/>
                        </a:spcBef>
                        <a:spcAft>
                          <a:spcPts val="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rating</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kern="1200" dirty="0">
                          <a:solidFill>
                            <a:schemeClr val="tx1"/>
                          </a:solidFill>
                          <a:effectLst/>
                          <a:latin typeface="+mn-lt"/>
                          <a:ea typeface="+mn-ea"/>
                          <a:cs typeface="+mn-cs"/>
                        </a:rPr>
                        <a:t>This stores the given rating for the student. This rating refers to how well the this user taught the learner. The learner would be able to rate their mentors, which will be appended to the existing rating array. Each index within this array refers to a user that rated this student. Through this rating, the website would be able to calculate the average rating, which will be reflected in the student’s profile. The credibility of the student being a mentor would be determined by this rating, where a higher rating would likely mean a better mentor. As such, learners can make a more informed decision as to who to pick as their mentor.</a:t>
                      </a:r>
                    </a:p>
                  </a:txBody>
                  <a:tcPr anchor="ctr"/>
                </a:tc>
                <a:extLst>
                  <a:ext uri="{0D108BD9-81ED-4DB2-BD59-A6C34878D82A}">
                    <a16:rowId xmlns:a16="http://schemas.microsoft.com/office/drawing/2014/main" val="1347488079"/>
                  </a:ext>
                </a:extLst>
              </a:tr>
            </a:tbl>
          </a:graphicData>
        </a:graphic>
      </p:graphicFrame>
    </p:spTree>
    <p:extLst>
      <p:ext uri="{BB962C8B-B14F-4D97-AF65-F5344CB8AC3E}">
        <p14:creationId xmlns:p14="http://schemas.microsoft.com/office/powerpoint/2010/main" val="229793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50502-26AC-E4A9-A7A4-85B2BA6C46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1DDEA3-7B24-0AD2-4053-348320CC3FEE}"/>
              </a:ext>
            </a:extLst>
          </p:cNvPr>
          <p:cNvSpPr>
            <a:spLocks noGrp="1"/>
          </p:cNvSpPr>
          <p:nvPr>
            <p:ph type="title"/>
          </p:nvPr>
        </p:nvSpPr>
        <p:spPr>
          <a:xfrm>
            <a:off x="710063" y="0"/>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09ECFA42-05A0-A07A-EE79-B07B225A7016}"/>
              </a:ext>
            </a:extLst>
          </p:cNvPr>
          <p:cNvGraphicFramePr>
            <a:graphicFrameLocks noGrp="1"/>
          </p:cNvGraphicFramePr>
          <p:nvPr>
            <p:extLst>
              <p:ext uri="{D42A27DB-BD31-4B8C-83A1-F6EECF244321}">
                <p14:modId xmlns:p14="http://schemas.microsoft.com/office/powerpoint/2010/main" val="1304729802"/>
              </p:ext>
            </p:extLst>
          </p:nvPr>
        </p:nvGraphicFramePr>
        <p:xfrm>
          <a:off x="498308" y="983411"/>
          <a:ext cx="11398518" cy="310226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043797">
                <a:tc>
                  <a:txBody>
                    <a:bodyPr/>
                    <a:lstStyle/>
                    <a:p>
                      <a:pPr>
                        <a:buNone/>
                      </a:pPr>
                      <a:r>
                        <a:rPr lang="en-US" sz="1400" b="1" dirty="0">
                          <a:latin typeface="+mn-lt"/>
                        </a:rPr>
                        <a:t>Table: Proficiencies</a:t>
                      </a:r>
                      <a:endParaRPr lang="en-US" sz="1400" b="0" dirty="0">
                        <a:latin typeface="+mn-lt"/>
                      </a:endParaRPr>
                    </a:p>
                  </a:txBody>
                  <a:tcPr anchor="ctr">
                    <a:solidFill>
                      <a:schemeClr val="bg1"/>
                    </a:solidFill>
                  </a:tcPr>
                </a:tc>
                <a:tc gridSpan="3">
                  <a:txBody>
                    <a:bodyPr/>
                    <a:lstStyle/>
                    <a:p>
                      <a:pPr>
                        <a:buNone/>
                      </a:pPr>
                      <a:r>
                        <a:rPr lang="en-US" sz="1400" b="1" dirty="0">
                          <a:latin typeface="+mn-lt"/>
                        </a:rPr>
                        <a:t>Description: </a:t>
                      </a:r>
                      <a:r>
                        <a:rPr lang="en-US" sz="1400" dirty="0">
                          <a:latin typeface="+mn-lt"/>
                        </a:rPr>
                        <a:t>Represents user proficiencies as well as whether the module is marked as a strength or struggle</a:t>
                      </a:r>
                    </a:p>
                    <a:p>
                      <a:pPr>
                        <a:buNone/>
                      </a:pPr>
                      <a:endParaRPr lang="en-US" sz="1400" b="1"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latin typeface="+mn-lt"/>
                        </a:rPr>
                        <a:t>Usage in App:</a:t>
                      </a:r>
                      <a:r>
                        <a:rPr lang="en-US" sz="1400" dirty="0">
                          <a:latin typeface="+mn-lt"/>
                        </a:rPr>
                        <a:t> </a:t>
                      </a:r>
                      <a:r>
                        <a:rPr lang="en-US" sz="1400" dirty="0"/>
                        <a:t>Stores user proficiencies for displaying academic capabilities across the website, such as in user profiles and is crucial for helping the website filter students who you can help, or students who can help you.</a:t>
                      </a:r>
                      <a:endParaRPr lang="en-US" sz="1400" dirty="0">
                        <a:latin typeface="+mn-lt"/>
                      </a:endParaRP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337453">
                <a:tc>
                  <a:txBody>
                    <a:bodyPr/>
                    <a:lstStyle/>
                    <a:p>
                      <a:pPr>
                        <a:buNone/>
                      </a:pPr>
                      <a:r>
                        <a:rPr lang="en-US" sz="1400" b="1" dirty="0">
                          <a:latin typeface="+mn-lt"/>
                        </a:rPr>
                        <a:t>Attribute</a:t>
                      </a:r>
                    </a:p>
                  </a:txBody>
                  <a:tcPr anchor="ctr">
                    <a:solidFill>
                      <a:schemeClr val="bg1"/>
                    </a:solidFill>
                  </a:tcPr>
                </a:tc>
                <a:tc>
                  <a:txBody>
                    <a:bodyPr/>
                    <a:lstStyle/>
                    <a:p>
                      <a:pPr>
                        <a:buNone/>
                      </a:pPr>
                      <a:r>
                        <a:rPr lang="en-US" sz="1400" b="1" dirty="0">
                          <a:latin typeface="+mn-lt"/>
                        </a:rPr>
                        <a:t>Type</a:t>
                      </a:r>
                    </a:p>
                  </a:txBody>
                  <a:tcPr anchor="ctr">
                    <a:solidFill>
                      <a:schemeClr val="bg1"/>
                    </a:solidFill>
                  </a:tcPr>
                </a:tc>
                <a:tc>
                  <a:txBody>
                    <a:bodyPr/>
                    <a:lstStyle/>
                    <a:p>
                      <a:pPr>
                        <a:buNone/>
                      </a:pPr>
                      <a:r>
                        <a:rPr lang="en-US" sz="1400" b="1" dirty="0">
                          <a:latin typeface="+mn-lt"/>
                        </a:rPr>
                        <a:t>Sample Value</a:t>
                      </a:r>
                    </a:p>
                  </a:txBody>
                  <a:tcPr anchor="ctr">
                    <a:solidFill>
                      <a:schemeClr val="bg1"/>
                    </a:solidFill>
                  </a:tcPr>
                </a:tc>
                <a:tc>
                  <a:txBody>
                    <a:bodyPr/>
                    <a:lstStyle/>
                    <a:p>
                      <a:pPr>
                        <a:buNone/>
                      </a:pPr>
                      <a:r>
                        <a:rPr lang="en-US" sz="1400" b="1" dirty="0">
                          <a:latin typeface="+mn-lt"/>
                        </a:rPr>
                        <a:t>Description</a:t>
                      </a:r>
                    </a:p>
                  </a:txBody>
                  <a:tcPr anchor="ctr">
                    <a:solidFill>
                      <a:schemeClr val="bg1"/>
                    </a:solidFill>
                  </a:tcPr>
                </a:tc>
                <a:extLst>
                  <a:ext uri="{0D108BD9-81ED-4DB2-BD59-A6C34878D82A}">
                    <a16:rowId xmlns:a16="http://schemas.microsoft.com/office/drawing/2014/main" val="70020745"/>
                  </a:ext>
                </a:extLst>
              </a:tr>
              <a:tr h="337453">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proficiency_id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a:spcBef>
                          <a:spcPts val="600"/>
                        </a:spcBef>
                        <a:spcAft>
                          <a:spcPts val="600"/>
                        </a:spcAft>
                        <a:buNone/>
                      </a:pPr>
                      <a:r>
                        <a:rPr lang="en-US" sz="1400" dirty="0">
                          <a:latin typeface="+mn-lt"/>
                        </a:rPr>
                        <a:t>String</a:t>
                      </a:r>
                    </a:p>
                  </a:txBody>
                  <a:tcPr anchor="ctr">
                    <a:solidFill>
                      <a:schemeClr val="bg1"/>
                    </a:solidFill>
                  </a:tcPr>
                </a:tc>
                <a:tc>
                  <a:txBody>
                    <a:bodyPr/>
                    <a:lstStyle/>
                    <a:p>
                      <a:pPr>
                        <a:spcBef>
                          <a:spcPts val="600"/>
                        </a:spcBef>
                        <a:spcAft>
                          <a:spcPts val="600"/>
                        </a:spcAft>
                        <a:buNone/>
                      </a:pPr>
                      <a:r>
                        <a:rPr lang="en-SG" sz="1400" dirty="0">
                          <a:solidFill>
                            <a:srgbClr val="000000"/>
                          </a:solidFill>
                          <a:effectLst/>
                          <a:latin typeface="+mn-lt"/>
                          <a:ea typeface="SimSun" panose="02010600030101010101" pitchFamily="2" charset="-122"/>
                          <a:cs typeface="Times New Roman" panose="02020603050405020304" pitchFamily="18" charset="0"/>
                        </a:rPr>
                        <a:t>68f5f1687347193</a:t>
                      </a:r>
                    </a:p>
                  </a:txBody>
                  <a:tcPr marL="68580" marR="68580" marT="0" marB="0" anchor="ctr">
                    <a:solidFill>
                      <a:schemeClr val="bg1"/>
                    </a:solidFill>
                  </a:tcPr>
                </a:tc>
                <a:tc>
                  <a:txBody>
                    <a:bodyPr/>
                    <a:lstStyle/>
                    <a:p>
                      <a:pPr lvl="0">
                        <a:buNone/>
                      </a:pPr>
                      <a:r>
                        <a:rPr lang="en-US" sz="1400" kern="1200" dirty="0">
                          <a:solidFill>
                            <a:schemeClr val="tx1"/>
                          </a:solidFill>
                          <a:effectLst/>
                          <a:latin typeface="+mn-lt"/>
                          <a:ea typeface="+mn-ea"/>
                          <a:cs typeface="+mn-cs"/>
                        </a:rPr>
                        <a:t>Unique identifier of each student’s proficiency</a:t>
                      </a:r>
                      <a:endParaRPr lang="en-US" sz="1400" dirty="0">
                        <a:latin typeface="+mn-lt"/>
                      </a:endParaRPr>
                    </a:p>
                  </a:txBody>
                  <a:tcPr anchor="ctr">
                    <a:solidFill>
                      <a:schemeClr val="bg1"/>
                    </a:solidFill>
                  </a:tcPr>
                </a:tc>
                <a:extLst>
                  <a:ext uri="{0D108BD9-81ED-4DB2-BD59-A6C34878D82A}">
                    <a16:rowId xmlns:a16="http://schemas.microsoft.com/office/drawing/2014/main" val="2707098043"/>
                  </a:ext>
                </a:extLst>
              </a:tr>
              <a:tr h="337453">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type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a:spcBef>
                          <a:spcPts val="600"/>
                        </a:spcBef>
                        <a:spcAft>
                          <a:spcPts val="600"/>
                        </a:spcAft>
                        <a:buNone/>
                      </a:pPr>
                      <a:r>
                        <a:rPr lang="en-US" sz="1400" dirty="0">
                          <a:latin typeface="+mn-lt"/>
                        </a:rPr>
                        <a:t>Number</a:t>
                      </a:r>
                    </a:p>
                  </a:txBody>
                  <a:tcPr anchor="ctr">
                    <a:solidFill>
                      <a:schemeClr val="bg1"/>
                    </a:solidFill>
                  </a:tcPr>
                </a:tc>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1</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lvl="0">
                        <a:spcBef>
                          <a:spcPts val="600"/>
                        </a:spcBef>
                        <a:spcAft>
                          <a:spcPts val="600"/>
                        </a:spcAft>
                        <a:buNone/>
                      </a:pPr>
                      <a:r>
                        <a:rPr lang="en-US" sz="1400" kern="1200" dirty="0">
                          <a:solidFill>
                            <a:schemeClr val="tx1"/>
                          </a:solidFill>
                          <a:effectLst/>
                          <a:latin typeface="+mn-lt"/>
                          <a:ea typeface="+mn-ea"/>
                          <a:cs typeface="+mn-cs"/>
                        </a:rPr>
                        <a:t>Stores whether the record is a strength (1) or weakness (2)</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840665485"/>
                  </a:ext>
                </a:extLst>
              </a:tr>
              <a:tr h="708651">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student_id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a:spcBef>
                          <a:spcPts val="600"/>
                        </a:spcBef>
                        <a:spcAft>
                          <a:spcPts val="600"/>
                        </a:spcAft>
                        <a:buNone/>
                      </a:pPr>
                      <a:r>
                        <a:rPr lang="en-US" sz="1400" dirty="0">
                          <a:latin typeface="+mn-lt"/>
                        </a:rPr>
                        <a:t>String</a:t>
                      </a:r>
                    </a:p>
                  </a:txBody>
                  <a:tcPr anchor="ctr">
                    <a:solidFill>
                      <a:schemeClr val="bg1"/>
                    </a:solidFill>
                  </a:tcPr>
                </a:tc>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1234567A</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lvl="0">
                        <a:spcBef>
                          <a:spcPts val="600"/>
                        </a:spcBef>
                        <a:spcAft>
                          <a:spcPts val="600"/>
                        </a:spcAft>
                        <a:buNone/>
                      </a:pPr>
                      <a:r>
                        <a:rPr lang="en-US" sz="1400" kern="1200" dirty="0">
                          <a:solidFill>
                            <a:schemeClr val="tx1"/>
                          </a:solidFill>
                          <a:effectLst/>
                          <a:latin typeface="+mn-lt"/>
                          <a:ea typeface="+mn-ea"/>
                          <a:cs typeface="+mn-cs"/>
                        </a:rPr>
                        <a:t>Associates this record to a student</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2234607868"/>
                  </a:ext>
                </a:extLst>
              </a:tr>
              <a:tr h="337453">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module_id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a:spcBef>
                          <a:spcPts val="600"/>
                        </a:spcBef>
                        <a:spcAft>
                          <a:spcPts val="600"/>
                        </a:spcAft>
                        <a:buNone/>
                      </a:pPr>
                      <a:r>
                        <a:rPr lang="en-US" sz="1400" dirty="0">
                          <a:latin typeface="+mn-lt"/>
                        </a:rPr>
                        <a:t>String</a:t>
                      </a:r>
                    </a:p>
                  </a:txBody>
                  <a:tcPr anchor="ctr">
                    <a:solidFill>
                      <a:schemeClr val="bg1"/>
                    </a:solidFill>
                  </a:tcPr>
                </a:tc>
                <a:tc>
                  <a:txBody>
                    <a:bodyPr/>
                    <a:lstStyle/>
                    <a:p>
                      <a:pPr marL="0">
                        <a:lnSpc>
                          <a:spcPct val="100000"/>
                        </a:lnSpc>
                        <a:spcBef>
                          <a:spcPts val="600"/>
                        </a:spcBef>
                        <a:spcAft>
                          <a:spcPts val="600"/>
                        </a:spcAft>
                        <a:buNone/>
                      </a:pPr>
                      <a:r>
                        <a:rPr lang="en-SG" sz="1400" dirty="0">
                          <a:solidFill>
                            <a:srgbClr val="000000"/>
                          </a:solidFill>
                          <a:effectLst/>
                          <a:latin typeface="+mn-lt"/>
                          <a:ea typeface="SimSun" panose="02010600030101010101" pitchFamily="2" charset="-122"/>
                          <a:cs typeface="Times New Roman" panose="02020603050405020304" pitchFamily="18" charset="0"/>
                        </a:rPr>
                        <a:t>68f5f1697347193</a:t>
                      </a:r>
                    </a:p>
                  </a:txBody>
                  <a:tcPr marL="68580" marR="68580" marT="0" marB="0" anchor="ctr">
                    <a:solidFill>
                      <a:schemeClr val="bg1"/>
                    </a:solidFill>
                  </a:tcPr>
                </a:tc>
                <a:tc>
                  <a:txBody>
                    <a:bodyPr/>
                    <a:lstStyle/>
                    <a:p>
                      <a:pPr lvl="0">
                        <a:spcBef>
                          <a:spcPts val="600"/>
                        </a:spcBef>
                        <a:spcAft>
                          <a:spcPts val="600"/>
                        </a:spcAft>
                        <a:buNone/>
                      </a:pPr>
                      <a:r>
                        <a:rPr lang="en-US" sz="1400" kern="1200" dirty="0">
                          <a:solidFill>
                            <a:schemeClr val="tx1"/>
                          </a:solidFill>
                          <a:effectLst/>
                          <a:latin typeface="+mn-lt"/>
                          <a:ea typeface="+mn-ea"/>
                          <a:cs typeface="+mn-cs"/>
                        </a:rPr>
                        <a:t>Associates this record to a module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3913391811"/>
                  </a:ext>
                </a:extLst>
              </a:tr>
            </a:tbl>
          </a:graphicData>
        </a:graphic>
      </p:graphicFrame>
    </p:spTree>
    <p:extLst>
      <p:ext uri="{BB962C8B-B14F-4D97-AF65-F5344CB8AC3E}">
        <p14:creationId xmlns:p14="http://schemas.microsoft.com/office/powerpoint/2010/main" val="42249657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FC35D-8A15-E77A-8811-2243719E6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26DDAC-BFF7-522B-3066-F5C3EF11AE7D}"/>
              </a:ext>
            </a:extLst>
          </p:cNvPr>
          <p:cNvSpPr>
            <a:spLocks noGrp="1"/>
          </p:cNvSpPr>
          <p:nvPr>
            <p:ph type="title"/>
          </p:nvPr>
        </p:nvSpPr>
        <p:spPr>
          <a:xfrm>
            <a:off x="838200" y="365126"/>
            <a:ext cx="10515600" cy="644166"/>
          </a:xfrm>
        </p:spPr>
        <p:txBody>
          <a:bodyPr>
            <a:normAutofit fontScale="90000"/>
          </a:bodyPr>
          <a:lstStyle/>
          <a:p>
            <a:r>
              <a:rPr lang="en-SG" b="1" dirty="0"/>
              <a:t>Data Modeling - Proficiency (Explanation)</a:t>
            </a:r>
          </a:p>
        </p:txBody>
      </p:sp>
      <p:graphicFrame>
        <p:nvGraphicFramePr>
          <p:cNvPr id="4" name="Content Placeholder 3">
            <a:extLst>
              <a:ext uri="{FF2B5EF4-FFF2-40B4-BE49-F238E27FC236}">
                <a16:creationId xmlns:a16="http://schemas.microsoft.com/office/drawing/2014/main" id="{2C947685-5068-B0A8-A00B-B3991588D48A}"/>
              </a:ext>
            </a:extLst>
          </p:cNvPr>
          <p:cNvGraphicFramePr>
            <a:graphicFrameLocks noGrp="1"/>
          </p:cNvGraphicFramePr>
          <p:nvPr>
            <p:ph idx="1"/>
            <p:extLst>
              <p:ext uri="{D42A27DB-BD31-4B8C-83A1-F6EECF244321}">
                <p14:modId xmlns:p14="http://schemas.microsoft.com/office/powerpoint/2010/main" val="4256002766"/>
              </p:ext>
            </p:extLst>
          </p:nvPr>
        </p:nvGraphicFramePr>
        <p:xfrm>
          <a:off x="838200" y="1089863"/>
          <a:ext cx="10515600" cy="3537921"/>
        </p:xfrm>
        <a:graphic>
          <a:graphicData uri="http://schemas.openxmlformats.org/drawingml/2006/table">
            <a:tbl>
              <a:tblPr firstRow="1" bandRow="1">
                <a:tableStyleId>{5940675A-B579-460E-94D1-54222C63F5DA}</a:tableStyleId>
              </a:tblPr>
              <a:tblGrid>
                <a:gridCol w="1283898">
                  <a:extLst>
                    <a:ext uri="{9D8B030D-6E8A-4147-A177-3AD203B41FA5}">
                      <a16:colId xmlns:a16="http://schemas.microsoft.com/office/drawing/2014/main" val="3699532382"/>
                    </a:ext>
                  </a:extLst>
                </a:gridCol>
                <a:gridCol w="9231702">
                  <a:extLst>
                    <a:ext uri="{9D8B030D-6E8A-4147-A177-3AD203B41FA5}">
                      <a16:colId xmlns:a16="http://schemas.microsoft.com/office/drawing/2014/main" val="2339287375"/>
                    </a:ext>
                  </a:extLst>
                </a:gridCol>
              </a:tblGrid>
              <a:tr h="411133">
                <a:tc>
                  <a:txBody>
                    <a:bodyPr/>
                    <a:lstStyle/>
                    <a:p>
                      <a:r>
                        <a:rPr lang="en-SG" sz="1400" b="1" dirty="0"/>
                        <a:t>Attribute</a:t>
                      </a:r>
                    </a:p>
                  </a:txBody>
                  <a:tcPr anchor="ctr"/>
                </a:tc>
                <a:tc>
                  <a:txBody>
                    <a:bodyPr/>
                    <a:lstStyle/>
                    <a:p>
                      <a:r>
                        <a:rPr lang="en-SG" sz="1400" b="1" dirty="0"/>
                        <a:t>Additional Explanation</a:t>
                      </a:r>
                    </a:p>
                  </a:txBody>
                  <a:tcPr anchor="ctr"/>
                </a:tc>
                <a:extLst>
                  <a:ext uri="{0D108BD9-81ED-4DB2-BD59-A6C34878D82A}">
                    <a16:rowId xmlns:a16="http://schemas.microsoft.com/office/drawing/2014/main" val="1943573786"/>
                  </a:ext>
                </a:extLst>
              </a:tr>
              <a:tr h="718868">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proficiency_id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This attribute uniquely identifies each record in the table. Its </a:t>
                      </a:r>
                      <a:r>
                        <a:rPr lang="en-US" sz="1400" b="0" dirty="0"/>
                        <a:t>unique and non-null to </a:t>
                      </a:r>
                      <a:r>
                        <a:rPr lang="en-US" sz="1400" dirty="0"/>
                        <a:t>ensure that every record can be referenced and retrieved. By having such </a:t>
                      </a:r>
                      <a:r>
                        <a:rPr lang="en-US" sz="1400" b="0" dirty="0"/>
                        <a:t>identifier</a:t>
                      </a:r>
                      <a:r>
                        <a:rPr lang="en-US" sz="1400" dirty="0"/>
                        <a:t> for each record, it would support faster lookups and updates.</a:t>
                      </a:r>
                      <a:endParaRPr lang="en-SG" sz="14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347488079"/>
                  </a:ext>
                </a:extLst>
              </a:tr>
              <a:tr h="718868">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type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lvl="0"/>
                      <a:r>
                        <a:rPr lang="en-SG" sz="1400" kern="1200" dirty="0">
                          <a:solidFill>
                            <a:schemeClr val="tx1"/>
                          </a:solidFill>
                          <a:effectLst/>
                          <a:latin typeface="+mn-lt"/>
                          <a:ea typeface="+mn-ea"/>
                          <a:cs typeface="+mn-cs"/>
                        </a:rPr>
                        <a:t>The “type” attribute indicates whether a module is a strength (1) or a weakness (2). The data type is Number to efficiently represent binary categories. It can be used to match students who excel in modules that the user struggles in. On the website interface, this attribute would enable it to accurately group this record as a strength/weakness, and enables accurate peer matching and filtering.</a:t>
                      </a:r>
                    </a:p>
                  </a:txBody>
                  <a:tcPr anchor="ctr"/>
                </a:tc>
                <a:extLst>
                  <a:ext uri="{0D108BD9-81ED-4DB2-BD59-A6C34878D82A}">
                    <a16:rowId xmlns:a16="http://schemas.microsoft.com/office/drawing/2014/main" val="1153471041"/>
                  </a:ext>
                </a:extLst>
              </a:tr>
              <a:tr h="718868">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student_id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r>
                        <a:rPr lang="en-SG" sz="1400" kern="1200" dirty="0">
                          <a:solidFill>
                            <a:schemeClr val="tx1"/>
                          </a:solidFill>
                          <a:effectLst/>
                          <a:latin typeface="+mn-lt"/>
                          <a:ea typeface="+mn-ea"/>
                          <a:cs typeface="+mn-cs"/>
                        </a:rPr>
                        <a:t>The student_id attribute links each proficiency record to a specific student. It references the “student_id” from the users table,</a:t>
                      </a:r>
                      <a:r>
                        <a:rPr lang="en-US" sz="1400" dirty="0"/>
                        <a:t> establishing a one-to-many relationship between the student and their proficiencies. It ensures that information retrieved or displayed within the application accurately reflects the student it belongs to. </a:t>
                      </a:r>
                      <a:endParaRPr lang="en-SG" sz="1400" dirty="0"/>
                    </a:p>
                  </a:txBody>
                  <a:tcPr anchor="ctr"/>
                </a:tc>
                <a:extLst>
                  <a:ext uri="{0D108BD9-81ED-4DB2-BD59-A6C34878D82A}">
                    <a16:rowId xmlns:a16="http://schemas.microsoft.com/office/drawing/2014/main" val="4263304971"/>
                  </a:ext>
                </a:extLst>
              </a:tr>
              <a:tr h="718868">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module_id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r>
                        <a:rPr lang="en-SG" sz="1400" kern="1200" dirty="0">
                          <a:solidFill>
                            <a:schemeClr val="tx1"/>
                          </a:solidFill>
                          <a:effectLst/>
                          <a:latin typeface="+mn-lt"/>
                          <a:ea typeface="+mn-ea"/>
                          <a:cs typeface="+mn-cs"/>
                        </a:rPr>
                        <a:t>The module_id attribute links the module of each proficiency record to a specific module record. It references the “module_id” from the modules table.</a:t>
                      </a:r>
                      <a:r>
                        <a:rPr lang="en-US" sz="1400" dirty="0"/>
                        <a:t> It ensures accurate data retrieval and display when showing module-specific proficiencies in user profiles, recommendations, or peer-matching features.</a:t>
                      </a:r>
                      <a:endParaRPr lang="en-SG" sz="1400" dirty="0"/>
                    </a:p>
                  </a:txBody>
                  <a:tcPr anchor="ctr"/>
                </a:tc>
                <a:extLst>
                  <a:ext uri="{0D108BD9-81ED-4DB2-BD59-A6C34878D82A}">
                    <a16:rowId xmlns:a16="http://schemas.microsoft.com/office/drawing/2014/main" val="3211975710"/>
                  </a:ext>
                </a:extLst>
              </a:tr>
            </a:tbl>
          </a:graphicData>
        </a:graphic>
      </p:graphicFrame>
    </p:spTree>
    <p:extLst>
      <p:ext uri="{BB962C8B-B14F-4D97-AF65-F5344CB8AC3E}">
        <p14:creationId xmlns:p14="http://schemas.microsoft.com/office/powerpoint/2010/main" val="19148177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4B4D4-1B52-AD31-65F7-CFD3ACF80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C7C21-5EB6-A4EE-713A-716B9E273676}"/>
              </a:ext>
            </a:extLst>
          </p:cNvPr>
          <p:cNvSpPr>
            <a:spLocks noGrp="1"/>
          </p:cNvSpPr>
          <p:nvPr>
            <p:ph type="title"/>
          </p:nvPr>
        </p:nvSpPr>
        <p:spPr>
          <a:xfrm>
            <a:off x="710063" y="0"/>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B1D23553-067A-4514-E11B-458EE92CEC93}"/>
              </a:ext>
            </a:extLst>
          </p:cNvPr>
          <p:cNvGraphicFramePr>
            <a:graphicFrameLocks noGrp="1"/>
          </p:cNvGraphicFramePr>
          <p:nvPr>
            <p:extLst>
              <p:ext uri="{D42A27DB-BD31-4B8C-83A1-F6EECF244321}">
                <p14:modId xmlns:p14="http://schemas.microsoft.com/office/powerpoint/2010/main" val="1619708121"/>
              </p:ext>
            </p:extLst>
          </p:nvPr>
        </p:nvGraphicFramePr>
        <p:xfrm>
          <a:off x="558693" y="1021369"/>
          <a:ext cx="11398518" cy="423672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400" b="1" dirty="0"/>
                        <a:t>Table: Pairs</a:t>
                      </a:r>
                      <a:endParaRPr lang="en-US" sz="1400" b="0" dirty="0"/>
                    </a:p>
                  </a:txBody>
                  <a:tcPr anchor="ctr">
                    <a:solidFill>
                      <a:schemeClr val="bg1"/>
                    </a:solidFill>
                  </a:tcPr>
                </a:tc>
                <a:tc gridSpan="3">
                  <a:txBody>
                    <a:bodyPr/>
                    <a:lstStyle/>
                    <a:p>
                      <a:pPr>
                        <a:buNone/>
                      </a:pPr>
                      <a:r>
                        <a:rPr lang="en-US" sz="1400" b="1" dirty="0"/>
                        <a:t>Description: </a:t>
                      </a:r>
                      <a:r>
                        <a:rPr lang="en-US" sz="1400" dirty="0"/>
                        <a:t>Stores peer-to-peer pairing requests and session details between students</a:t>
                      </a:r>
                      <a:endParaRPr lang="en-US" sz="1400" b="1" dirty="0"/>
                    </a:p>
                    <a:p>
                      <a:pPr>
                        <a:buNone/>
                      </a:pPr>
                      <a:endParaRPr lang="en-US" sz="1400" b="1" dirty="0"/>
                    </a:p>
                    <a:p>
                      <a:pPr>
                        <a:buNone/>
                      </a:pPr>
                      <a:r>
                        <a:rPr lang="en-US" sz="1400" b="1" dirty="0"/>
                        <a:t>Usage in App:</a:t>
                      </a:r>
                      <a:r>
                        <a:rPr lang="en-US" sz="1400" dirty="0"/>
                        <a:t> Used to manage, track, and display session requests and active pairings.</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pair_id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a:buNone/>
                      </a:pPr>
                      <a:r>
                        <a:rPr lang="en-US" sz="1400" dirty="0">
                          <a:latin typeface="+mn-lt"/>
                        </a:rPr>
                        <a:t>String</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dirty="0">
                          <a:solidFill>
                            <a:srgbClr val="000000"/>
                          </a:solidFill>
                          <a:effectLst/>
                          <a:latin typeface="+mn-lt"/>
                          <a:ea typeface="SimSun" panose="02010600030101010101" pitchFamily="2" charset="-122"/>
                          <a:cs typeface="Times New Roman" panose="02020603050405020304" pitchFamily="18" charset="0"/>
                        </a:rPr>
                        <a:t>68f6f1697347193</a:t>
                      </a:r>
                    </a:p>
                  </a:txBody>
                  <a:tcPr anchor="ctr">
                    <a:solidFill>
                      <a:schemeClr val="bg1"/>
                    </a:solidFill>
                  </a:tcPr>
                </a:tc>
                <a:tc>
                  <a:txBody>
                    <a:bodyPr/>
                    <a:lstStyle/>
                    <a:p>
                      <a:pPr>
                        <a:buNone/>
                      </a:pPr>
                      <a:r>
                        <a:rPr lang="en-US" sz="1400" kern="1200" dirty="0">
                          <a:solidFill>
                            <a:schemeClr val="tx1"/>
                          </a:solidFill>
                          <a:effectLst/>
                          <a:latin typeface="+mn-lt"/>
                          <a:ea typeface="+mn-ea"/>
                          <a:cs typeface="+mn-cs"/>
                        </a:rPr>
                        <a:t>Unique identifier of each pair</a:t>
                      </a:r>
                      <a:endParaRPr lang="en-US" sz="1400" dirty="0">
                        <a:latin typeface="+mn-lt"/>
                      </a:endParaRPr>
                    </a:p>
                  </a:txBody>
                  <a:tcPr anchor="ctr">
                    <a:solidFill>
                      <a:schemeClr val="bg1"/>
                    </a:solidFill>
                  </a:tcPr>
                </a:tc>
                <a:extLst>
                  <a:ext uri="{0D108BD9-81ED-4DB2-BD59-A6C34878D82A}">
                    <a16:rowId xmlns:a16="http://schemas.microsoft.com/office/drawing/2014/main" val="2707098043"/>
                  </a:ext>
                </a:extLst>
              </a:tr>
              <a:tr h="0">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sender_id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String</a:t>
                      </a:r>
                    </a:p>
                  </a:txBody>
                  <a:tcPr anchor="ctr">
                    <a:solidFill>
                      <a:schemeClr val="bg1"/>
                    </a:solidFill>
                  </a:tcPr>
                </a:tc>
                <a:tc>
                  <a:txBody>
                    <a:bodyPr/>
                    <a:lstStyle/>
                    <a:p>
                      <a:pPr>
                        <a:buNone/>
                      </a:pPr>
                      <a:r>
                        <a:rPr lang="en-US" sz="1400" dirty="0">
                          <a:latin typeface="+mn-lt"/>
                        </a:rPr>
                        <a:t>1234567A</a:t>
                      </a:r>
                    </a:p>
                  </a:txBody>
                  <a:tcPr anchor="ctr">
                    <a:solidFill>
                      <a:schemeClr val="bg1"/>
                    </a:solidFill>
                  </a:tcPr>
                </a:tc>
                <a:tc>
                  <a:txBody>
                    <a:bodyPr/>
                    <a:lstStyle/>
                    <a:p>
                      <a:pPr>
                        <a:buNone/>
                      </a:pPr>
                      <a:r>
                        <a:rPr lang="en-US" sz="1400" kern="1200" dirty="0">
                          <a:solidFill>
                            <a:schemeClr val="tx1"/>
                          </a:solidFill>
                          <a:effectLst/>
                          <a:latin typeface="+mn-lt"/>
                          <a:ea typeface="+mn-ea"/>
                          <a:cs typeface="+mn-cs"/>
                        </a:rPr>
                        <a:t>Student ID who sent the request</a:t>
                      </a:r>
                      <a:endParaRPr lang="en-US" sz="1400" dirty="0">
                        <a:latin typeface="+mn-lt"/>
                      </a:endParaRPr>
                    </a:p>
                  </a:txBody>
                  <a:tcPr anchor="ctr">
                    <a:solidFill>
                      <a:schemeClr val="bg1"/>
                    </a:solidFill>
                  </a:tcPr>
                </a:tc>
                <a:extLst>
                  <a:ext uri="{0D108BD9-81ED-4DB2-BD59-A6C34878D82A}">
                    <a16:rowId xmlns:a16="http://schemas.microsoft.com/office/drawing/2014/main" val="1840665485"/>
                  </a:ext>
                </a:extLst>
              </a:tr>
              <a:tr h="0">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receiver_id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String</a:t>
                      </a:r>
                    </a:p>
                  </a:txBody>
                  <a:tcPr anchor="ctr">
                    <a:solidFill>
                      <a:schemeClr val="bg1"/>
                    </a:solidFill>
                  </a:tcPr>
                </a:tc>
                <a:tc>
                  <a:txBody>
                    <a:bodyPr/>
                    <a:lstStyle/>
                    <a:p>
                      <a:pPr>
                        <a:buNone/>
                      </a:pPr>
                      <a:r>
                        <a:rPr lang="en-US" sz="1400" dirty="0">
                          <a:latin typeface="+mn-lt"/>
                        </a:rPr>
                        <a:t>1234567B</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effectLst/>
                          <a:latin typeface="+mn-lt"/>
                          <a:ea typeface="+mn-ea"/>
                          <a:cs typeface="+mn-cs"/>
                        </a:rPr>
                        <a:t>Student ID who received the request</a:t>
                      </a:r>
                      <a:endParaRPr lang="en-US" sz="1400" dirty="0">
                        <a:latin typeface="+mn-lt"/>
                      </a:endParaRPr>
                    </a:p>
                  </a:txBody>
                  <a:tcPr anchor="ctr">
                    <a:solidFill>
                      <a:schemeClr val="bg1"/>
                    </a:solidFill>
                  </a:tcPr>
                </a:tc>
                <a:extLst>
                  <a:ext uri="{0D108BD9-81ED-4DB2-BD59-A6C34878D82A}">
                    <a16:rowId xmlns:a16="http://schemas.microsoft.com/office/drawing/2014/main" val="2234607868"/>
                  </a:ext>
                </a:extLst>
              </a:tr>
              <a:tr h="0">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module_id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mn-lt"/>
                        </a:rPr>
                        <a:t>String</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dirty="0">
                          <a:solidFill>
                            <a:srgbClr val="000000"/>
                          </a:solidFill>
                          <a:effectLst/>
                          <a:latin typeface="+mn-lt"/>
                          <a:ea typeface="SimSun" panose="02010600030101010101" pitchFamily="2" charset="-122"/>
                          <a:cs typeface="Times New Roman" panose="02020603050405020304" pitchFamily="18" charset="0"/>
                        </a:rPr>
                        <a:t>68f5f1697347193</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effectLst/>
                          <a:latin typeface="+mn-lt"/>
                          <a:ea typeface="+mn-ea"/>
                          <a:cs typeface="+mn-cs"/>
                        </a:rPr>
                        <a:t>Associates this record to a module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3913391811"/>
                  </a:ext>
                </a:extLst>
              </a:tr>
              <a:tr h="0">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day</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a:buNone/>
                      </a:pPr>
                      <a:r>
                        <a:rPr lang="en-US" sz="1400" dirty="0">
                          <a:latin typeface="+mn-lt"/>
                        </a:rPr>
                        <a:t>Number</a:t>
                      </a:r>
                    </a:p>
                  </a:txBody>
                  <a:tcPr anchor="ctr">
                    <a:solidFill>
                      <a:schemeClr val="bg1"/>
                    </a:solidFill>
                  </a:tcPr>
                </a:tc>
                <a:tc>
                  <a:txBody>
                    <a:bodyPr/>
                    <a:lstStyle/>
                    <a:p>
                      <a:pPr>
                        <a:buNone/>
                      </a:pPr>
                      <a:r>
                        <a:rPr lang="en-US" sz="1400" dirty="0">
                          <a:latin typeface="+mn-lt"/>
                        </a:rPr>
                        <a:t>1</a:t>
                      </a:r>
                    </a:p>
                  </a:txBody>
                  <a:tcPr anchor="ctr">
                    <a:solidFill>
                      <a:schemeClr val="bg1"/>
                    </a:solidFill>
                  </a:tcPr>
                </a:tc>
                <a:tc>
                  <a:txBody>
                    <a:bodyPr/>
                    <a:lstStyle/>
                    <a:p>
                      <a:pPr>
                        <a:buNone/>
                      </a:pPr>
                      <a:r>
                        <a:rPr lang="en-US" sz="1400" dirty="0">
                          <a:latin typeface="+mn-lt"/>
                        </a:rPr>
                        <a:t>Day when the learning session will happen, </a:t>
                      </a:r>
                      <a:r>
                        <a:rPr lang="en-US" sz="1400" kern="1200" dirty="0">
                          <a:solidFill>
                            <a:schemeClr val="tx1"/>
                          </a:solidFill>
                          <a:effectLst/>
                          <a:latin typeface="+mn-lt"/>
                          <a:ea typeface="+mn-ea"/>
                          <a:cs typeface="+mn-cs"/>
                        </a:rPr>
                        <a:t>where 1 is Monday, 7 is Sunday</a:t>
                      </a:r>
                      <a:endParaRPr lang="en-US" sz="1400" dirty="0">
                        <a:latin typeface="+mn-lt"/>
                      </a:endParaRPr>
                    </a:p>
                  </a:txBody>
                  <a:tcPr anchor="ctr">
                    <a:solidFill>
                      <a:schemeClr val="bg1"/>
                    </a:solidFill>
                  </a:tcPr>
                </a:tc>
                <a:extLst>
                  <a:ext uri="{0D108BD9-81ED-4DB2-BD59-A6C34878D82A}">
                    <a16:rowId xmlns:a16="http://schemas.microsoft.com/office/drawing/2014/main" val="2445594671"/>
                  </a:ext>
                </a:extLst>
              </a:tr>
              <a:tr h="0">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start_time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String</a:t>
                      </a:r>
                    </a:p>
                  </a:txBody>
                  <a:tcPr anchor="ctr">
                    <a:solidFill>
                      <a:schemeClr val="bg1"/>
                    </a:solidFill>
                  </a:tcPr>
                </a:tc>
                <a:tc>
                  <a:txBody>
                    <a:bodyPr/>
                    <a:lstStyle/>
                    <a:p>
                      <a:pPr>
                        <a:buNone/>
                      </a:pPr>
                      <a:r>
                        <a:rPr lang="en-US" sz="1400" dirty="0">
                          <a:latin typeface="+mn-lt"/>
                        </a:rPr>
                        <a:t>11:30</a:t>
                      </a:r>
                    </a:p>
                  </a:txBody>
                  <a:tcPr anchor="ctr">
                    <a:solidFill>
                      <a:schemeClr val="bg1"/>
                    </a:solidFill>
                  </a:tcPr>
                </a:tc>
                <a:tc>
                  <a:txBody>
                    <a:bodyPr/>
                    <a:lstStyle/>
                    <a:p>
                      <a:pPr>
                        <a:buNone/>
                      </a:pPr>
                      <a:r>
                        <a:rPr lang="en-SG" sz="1400" kern="1200" dirty="0">
                          <a:solidFill>
                            <a:schemeClr val="tx1"/>
                          </a:solidFill>
                          <a:effectLst/>
                          <a:latin typeface="+mn-lt"/>
                          <a:ea typeface="+mn-ea"/>
                          <a:cs typeface="+mn-cs"/>
                        </a:rPr>
                        <a:t>Time that the learning session is to begin</a:t>
                      </a:r>
                      <a:endParaRPr lang="en-US" sz="1400" dirty="0">
                        <a:latin typeface="+mn-lt"/>
                      </a:endParaRPr>
                    </a:p>
                  </a:txBody>
                  <a:tcPr anchor="ctr">
                    <a:solidFill>
                      <a:schemeClr val="bg1"/>
                    </a:solidFill>
                  </a:tcPr>
                </a:tc>
                <a:extLst>
                  <a:ext uri="{0D108BD9-81ED-4DB2-BD59-A6C34878D82A}">
                    <a16:rowId xmlns:a16="http://schemas.microsoft.com/office/drawing/2014/main" val="2299822991"/>
                  </a:ext>
                </a:extLst>
              </a:tr>
              <a:tr h="0">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end_time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String</a:t>
                      </a:r>
                    </a:p>
                  </a:txBody>
                  <a:tcPr anchor="ctr">
                    <a:solidFill>
                      <a:schemeClr val="bg1"/>
                    </a:solidFill>
                  </a:tcPr>
                </a:tc>
                <a:tc>
                  <a:txBody>
                    <a:bodyPr/>
                    <a:lstStyle/>
                    <a:p>
                      <a:pPr>
                        <a:buNone/>
                      </a:pPr>
                      <a:r>
                        <a:rPr lang="en-US" sz="1400" dirty="0">
                          <a:latin typeface="+mn-lt"/>
                        </a:rPr>
                        <a:t>13:30</a:t>
                      </a:r>
                    </a:p>
                  </a:txBody>
                  <a:tcPr anchor="ctr">
                    <a:solidFill>
                      <a:schemeClr val="bg1"/>
                    </a:solidFill>
                  </a:tcPr>
                </a:tc>
                <a:tc>
                  <a:txBody>
                    <a:bodyPr/>
                    <a:lstStyle/>
                    <a:p>
                      <a:pPr>
                        <a:buNone/>
                      </a:pPr>
                      <a:r>
                        <a:rPr lang="en-SG" sz="1400" kern="1200" dirty="0">
                          <a:solidFill>
                            <a:schemeClr val="tx1"/>
                          </a:solidFill>
                          <a:effectLst/>
                          <a:latin typeface="+mn-lt"/>
                          <a:ea typeface="+mn-ea"/>
                          <a:cs typeface="+mn-cs"/>
                        </a:rPr>
                        <a:t>Time that the learning session is to end</a:t>
                      </a:r>
                      <a:endParaRPr lang="en-US" sz="1400" dirty="0">
                        <a:latin typeface="+mn-lt"/>
                      </a:endParaRPr>
                    </a:p>
                  </a:txBody>
                  <a:tcPr anchor="ctr">
                    <a:solidFill>
                      <a:schemeClr val="bg1"/>
                    </a:solidFill>
                  </a:tcPr>
                </a:tc>
                <a:extLst>
                  <a:ext uri="{0D108BD9-81ED-4DB2-BD59-A6C34878D82A}">
                    <a16:rowId xmlns:a16="http://schemas.microsoft.com/office/drawing/2014/main" val="58047437"/>
                  </a:ext>
                </a:extLst>
              </a:tr>
              <a:tr h="0">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status</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a:buNone/>
                      </a:pPr>
                      <a:r>
                        <a:rPr lang="en-US" sz="1400" dirty="0">
                          <a:latin typeface="+mn-lt"/>
                        </a:rPr>
                        <a:t>Number</a:t>
                      </a:r>
                    </a:p>
                  </a:txBody>
                  <a:tcPr anchor="ctr">
                    <a:solidFill>
                      <a:schemeClr val="bg1"/>
                    </a:solidFill>
                  </a:tcPr>
                </a:tc>
                <a:tc>
                  <a:txBody>
                    <a:bodyPr/>
                    <a:lstStyle/>
                    <a:p>
                      <a:pPr>
                        <a:buNone/>
                      </a:pPr>
                      <a:r>
                        <a:rPr lang="en-US" sz="1400" dirty="0">
                          <a:latin typeface="+mn-lt"/>
                        </a:rPr>
                        <a:t>1</a:t>
                      </a:r>
                    </a:p>
                  </a:txBody>
                  <a:tcPr anchor="ctr">
                    <a:solidFill>
                      <a:schemeClr val="bg1"/>
                    </a:solidFill>
                  </a:tcPr>
                </a:tc>
                <a:tc>
                  <a:txBody>
                    <a:bodyPr/>
                    <a:lstStyle/>
                    <a:p>
                      <a:pPr>
                        <a:buNone/>
                      </a:pPr>
                      <a:r>
                        <a:rPr lang="en-SG" sz="1400" kern="1200" dirty="0">
                          <a:solidFill>
                            <a:schemeClr val="tx1"/>
                          </a:solidFill>
                          <a:effectLst/>
                          <a:latin typeface="+mn-lt"/>
                          <a:ea typeface="+mn-ea"/>
                          <a:cs typeface="+mn-cs"/>
                        </a:rPr>
                        <a:t>Status of the student pairing. Pending (1) or Ongoing (2)</a:t>
                      </a:r>
                      <a:endParaRPr lang="en-US" sz="1400" dirty="0">
                        <a:latin typeface="+mn-lt"/>
                      </a:endParaRPr>
                    </a:p>
                  </a:txBody>
                  <a:tcPr anchor="ctr">
                    <a:solidFill>
                      <a:schemeClr val="bg1"/>
                    </a:solidFill>
                  </a:tcPr>
                </a:tc>
                <a:extLst>
                  <a:ext uri="{0D108BD9-81ED-4DB2-BD59-A6C34878D82A}">
                    <a16:rowId xmlns:a16="http://schemas.microsoft.com/office/drawing/2014/main" val="3892878512"/>
                  </a:ext>
                </a:extLst>
              </a:tr>
              <a:tr h="0">
                <a:tc>
                  <a:txBody>
                    <a:bodyPr/>
                    <a:lstStyle/>
                    <a:p>
                      <a:pPr>
                        <a:spcBef>
                          <a:spcPts val="600"/>
                        </a:spcBef>
                        <a:spcAft>
                          <a:spcPts val="600"/>
                        </a:spcAft>
                        <a:buNone/>
                      </a:pPr>
                      <a:r>
                        <a:rPr lang="en-SG" sz="1400" dirty="0">
                          <a:solidFill>
                            <a:srgbClr val="000000"/>
                          </a:solidFill>
                          <a:effectLst/>
                          <a:latin typeface="+mn-lt"/>
                          <a:ea typeface="SimSun" panose="02010600030101010101" pitchFamily="2" charset="-122"/>
                          <a:cs typeface="Times New Roman" panose="02020603050405020304" pitchFamily="18" charset="0"/>
                        </a:rPr>
                        <a:t>end_date</a:t>
                      </a:r>
                    </a:p>
                  </a:txBody>
                  <a:tcPr marL="68580" marR="68580" marT="0" marB="0" anchor="ctr">
                    <a:solidFill>
                      <a:schemeClr val="bg1"/>
                    </a:solidFill>
                  </a:tcPr>
                </a:tc>
                <a:tc>
                  <a:txBody>
                    <a:bodyPr/>
                    <a:lstStyle/>
                    <a:p>
                      <a:pPr>
                        <a:buNone/>
                      </a:pPr>
                      <a:r>
                        <a:rPr lang="en-US" sz="1400" dirty="0">
                          <a:latin typeface="+mn-lt"/>
                        </a:rPr>
                        <a:t>Date</a:t>
                      </a:r>
                    </a:p>
                  </a:txBody>
                  <a:tcPr anchor="ctr">
                    <a:solidFill>
                      <a:schemeClr val="bg1"/>
                    </a:solidFill>
                  </a:tcPr>
                </a:tc>
                <a:tc>
                  <a:txBody>
                    <a:bodyPr/>
                    <a:lstStyle/>
                    <a:p>
                      <a:pPr>
                        <a:buNone/>
                      </a:pPr>
                      <a:r>
                        <a:rPr lang="en-US" sz="1400" dirty="0">
                          <a:latin typeface="+mn-lt"/>
                        </a:rPr>
                        <a:t>2025-11-08T00:00:00Z</a:t>
                      </a:r>
                    </a:p>
                  </a:txBody>
                  <a:tcPr anchor="ctr">
                    <a:solidFill>
                      <a:schemeClr val="bg1"/>
                    </a:solidFill>
                  </a:tcPr>
                </a:tc>
                <a:tc>
                  <a:txBody>
                    <a:bodyPr/>
                    <a:lstStyle/>
                    <a:p>
                      <a:pPr>
                        <a:buNone/>
                      </a:pPr>
                      <a:r>
                        <a:rPr lang="en-US" sz="1400" dirty="0">
                          <a:latin typeface="+mn-lt"/>
                        </a:rPr>
                        <a:t>Date will this pair is scheduled to end</a:t>
                      </a:r>
                    </a:p>
                  </a:txBody>
                  <a:tcPr anchor="ctr">
                    <a:solidFill>
                      <a:schemeClr val="bg1"/>
                    </a:solidFill>
                  </a:tcPr>
                </a:tc>
                <a:extLst>
                  <a:ext uri="{0D108BD9-81ED-4DB2-BD59-A6C34878D82A}">
                    <a16:rowId xmlns:a16="http://schemas.microsoft.com/office/drawing/2014/main" val="3191307136"/>
                  </a:ext>
                </a:extLst>
              </a:tr>
            </a:tbl>
          </a:graphicData>
        </a:graphic>
      </p:graphicFrame>
    </p:spTree>
    <p:extLst>
      <p:ext uri="{BB962C8B-B14F-4D97-AF65-F5344CB8AC3E}">
        <p14:creationId xmlns:p14="http://schemas.microsoft.com/office/powerpoint/2010/main" val="2627074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8861F-F5CD-FF56-1356-C2CBC27487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579154-7A17-1064-0E9A-A9A124E77147}"/>
              </a:ext>
            </a:extLst>
          </p:cNvPr>
          <p:cNvSpPr>
            <a:spLocks noGrp="1"/>
          </p:cNvSpPr>
          <p:nvPr>
            <p:ph type="title"/>
          </p:nvPr>
        </p:nvSpPr>
        <p:spPr>
          <a:xfrm>
            <a:off x="838200" y="365126"/>
            <a:ext cx="10515600" cy="644166"/>
          </a:xfrm>
        </p:spPr>
        <p:txBody>
          <a:bodyPr>
            <a:normAutofit fontScale="90000"/>
          </a:bodyPr>
          <a:lstStyle/>
          <a:p>
            <a:r>
              <a:rPr lang="en-SG" b="1" dirty="0"/>
              <a:t>Data Modeling - Pairs (Explanation)</a:t>
            </a:r>
          </a:p>
        </p:txBody>
      </p:sp>
      <p:graphicFrame>
        <p:nvGraphicFramePr>
          <p:cNvPr id="4" name="Content Placeholder 3">
            <a:extLst>
              <a:ext uri="{FF2B5EF4-FFF2-40B4-BE49-F238E27FC236}">
                <a16:creationId xmlns:a16="http://schemas.microsoft.com/office/drawing/2014/main" id="{D9C8EE49-D3A5-525D-E182-FA5E4D19EB84}"/>
              </a:ext>
            </a:extLst>
          </p:cNvPr>
          <p:cNvGraphicFramePr>
            <a:graphicFrameLocks noGrp="1"/>
          </p:cNvGraphicFramePr>
          <p:nvPr>
            <p:ph idx="1"/>
            <p:extLst>
              <p:ext uri="{D42A27DB-BD31-4B8C-83A1-F6EECF244321}">
                <p14:modId xmlns:p14="http://schemas.microsoft.com/office/powerpoint/2010/main" val="827464448"/>
              </p:ext>
            </p:extLst>
          </p:nvPr>
        </p:nvGraphicFramePr>
        <p:xfrm>
          <a:off x="838200" y="1089863"/>
          <a:ext cx="10515600" cy="5138984"/>
        </p:xfrm>
        <a:graphic>
          <a:graphicData uri="http://schemas.openxmlformats.org/drawingml/2006/table">
            <a:tbl>
              <a:tblPr firstRow="1" bandRow="1">
                <a:tableStyleId>{5940675A-B579-460E-94D1-54222C63F5DA}</a:tableStyleId>
              </a:tblPr>
              <a:tblGrid>
                <a:gridCol w="1283898">
                  <a:extLst>
                    <a:ext uri="{9D8B030D-6E8A-4147-A177-3AD203B41FA5}">
                      <a16:colId xmlns:a16="http://schemas.microsoft.com/office/drawing/2014/main" val="3699532382"/>
                    </a:ext>
                  </a:extLst>
                </a:gridCol>
                <a:gridCol w="9231702">
                  <a:extLst>
                    <a:ext uri="{9D8B030D-6E8A-4147-A177-3AD203B41FA5}">
                      <a16:colId xmlns:a16="http://schemas.microsoft.com/office/drawing/2014/main" val="2339287375"/>
                    </a:ext>
                  </a:extLst>
                </a:gridCol>
              </a:tblGrid>
              <a:tr h="411133">
                <a:tc>
                  <a:txBody>
                    <a:bodyPr/>
                    <a:lstStyle/>
                    <a:p>
                      <a:r>
                        <a:rPr lang="en-SG" sz="1400" b="1" dirty="0"/>
                        <a:t>Attribute</a:t>
                      </a:r>
                    </a:p>
                  </a:txBody>
                  <a:tcPr anchor="ctr"/>
                </a:tc>
                <a:tc>
                  <a:txBody>
                    <a:bodyPr/>
                    <a:lstStyle/>
                    <a:p>
                      <a:r>
                        <a:rPr lang="en-SG" sz="1400" b="1" dirty="0"/>
                        <a:t>Additional Explanation</a:t>
                      </a:r>
                    </a:p>
                  </a:txBody>
                  <a:tcPr anchor="ctr"/>
                </a:tc>
                <a:extLst>
                  <a:ext uri="{0D108BD9-81ED-4DB2-BD59-A6C34878D82A}">
                    <a16:rowId xmlns:a16="http://schemas.microsoft.com/office/drawing/2014/main" val="1943573786"/>
                  </a:ext>
                </a:extLst>
              </a:tr>
              <a:tr h="552091">
                <a:tc>
                  <a:txBody>
                    <a:bodyPr/>
                    <a:lstStyle/>
                    <a:p>
                      <a:pPr>
                        <a:spcBef>
                          <a:spcPts val="600"/>
                        </a:spcBef>
                        <a:spcAft>
                          <a:spcPts val="600"/>
                        </a:spcAft>
                        <a:buNone/>
                      </a:pPr>
                      <a:r>
                        <a:rPr lang="en-US" sz="1400" dirty="0" err="1">
                          <a:solidFill>
                            <a:srgbClr val="000000"/>
                          </a:solidFill>
                          <a:effectLst/>
                          <a:latin typeface="+mn-lt"/>
                          <a:ea typeface="SimSun" panose="02010600030101010101" pitchFamily="2" charset="-122"/>
                          <a:cs typeface="Times New Roman" panose="02020603050405020304" pitchFamily="18" charset="0"/>
                        </a:rPr>
                        <a:t>pair_id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This attribute uniquely identifies each record in the table. Its </a:t>
                      </a:r>
                      <a:r>
                        <a:rPr lang="en-US" sz="1400" b="0" dirty="0"/>
                        <a:t>unique and non-null to </a:t>
                      </a:r>
                      <a:r>
                        <a:rPr lang="en-US" sz="1400" dirty="0"/>
                        <a:t>ensure that every record can be referenced and retrieved. By having such </a:t>
                      </a:r>
                      <a:r>
                        <a:rPr lang="en-US" sz="1400" b="0" dirty="0"/>
                        <a:t>identifier</a:t>
                      </a:r>
                      <a:r>
                        <a:rPr lang="en-US" sz="1400" dirty="0"/>
                        <a:t> for each record, it would support faster lookups and updates.</a:t>
                      </a:r>
                      <a:endParaRPr lang="en-SG" sz="14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347488079"/>
                  </a:ext>
                </a:extLst>
              </a:tr>
              <a:tr h="508958">
                <a:tc>
                  <a:txBody>
                    <a:bodyPr/>
                    <a:lstStyle/>
                    <a:p>
                      <a:pPr>
                        <a:spcBef>
                          <a:spcPts val="600"/>
                        </a:spcBef>
                        <a:spcAft>
                          <a:spcPts val="600"/>
                        </a:spcAft>
                        <a:buNone/>
                      </a:pPr>
                      <a:r>
                        <a:rPr lang="en-US" sz="1400" dirty="0" err="1">
                          <a:solidFill>
                            <a:srgbClr val="000000"/>
                          </a:solidFill>
                          <a:effectLst/>
                          <a:latin typeface="+mn-lt"/>
                          <a:ea typeface="SimSun" panose="02010600030101010101" pitchFamily="2" charset="-122"/>
                          <a:cs typeface="Times New Roman" panose="02020603050405020304" pitchFamily="18" charset="0"/>
                        </a:rPr>
                        <a:t>sender_id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lvl="0"/>
                      <a:r>
                        <a:rPr lang="en-US" sz="1400" dirty="0"/>
                        <a:t>Identifies the student who initiated the pairing request. This attribute links each record to a specific student in the </a:t>
                      </a:r>
                      <a:r>
                        <a:rPr lang="en-US" sz="1400" b="0" dirty="0"/>
                        <a:t>“users”</a:t>
                      </a:r>
                      <a:r>
                        <a:rPr lang="en-US" sz="1400" dirty="0"/>
                        <a:t> table and enables efficient grouping or querying of all pairing requests made by that student. This allows the website to show pair requests that were sent by the user, allowing them to edit their request or withdraw them.</a:t>
                      </a:r>
                      <a:endParaRPr lang="en-SG" sz="14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153471041"/>
                  </a:ext>
                </a:extLst>
              </a:tr>
              <a:tr h="0">
                <a:tc>
                  <a:txBody>
                    <a:bodyPr/>
                    <a:lstStyle/>
                    <a:p>
                      <a:pPr>
                        <a:spcBef>
                          <a:spcPts val="600"/>
                        </a:spcBef>
                        <a:spcAft>
                          <a:spcPts val="600"/>
                        </a:spcAft>
                        <a:buNone/>
                      </a:pPr>
                      <a:r>
                        <a:rPr lang="en-US" sz="1400" dirty="0" err="1">
                          <a:solidFill>
                            <a:srgbClr val="000000"/>
                          </a:solidFill>
                          <a:effectLst/>
                          <a:latin typeface="+mn-lt"/>
                          <a:ea typeface="SimSun" panose="02010600030101010101" pitchFamily="2" charset="-122"/>
                          <a:cs typeface="Times New Roman" panose="02020603050405020304" pitchFamily="18" charset="0"/>
                        </a:rPr>
                        <a:t>receiver_id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r>
                        <a:rPr lang="en-US" sz="1400" dirty="0"/>
                        <a:t>Identifies the student who receives the pairing request. This attribute links the record to the recipient’s profile in the </a:t>
                      </a:r>
                      <a:r>
                        <a:rPr lang="en-US" sz="1400" b="1" dirty="0"/>
                        <a:t>“users”</a:t>
                      </a:r>
                      <a:r>
                        <a:rPr lang="en-US" sz="1400" dirty="0"/>
                        <a:t> table, allowing the system to retrieve and manage all requests directed to a specific student. It helps in tracking pending or accepted tutoring invitations for each user. This allows the website to show received pair request, allowing users to accept or decline the request</a:t>
                      </a:r>
                      <a:endParaRPr lang="en-SG" sz="1400" dirty="0"/>
                    </a:p>
                  </a:txBody>
                  <a:tcPr anchor="ctr"/>
                </a:tc>
                <a:extLst>
                  <a:ext uri="{0D108BD9-81ED-4DB2-BD59-A6C34878D82A}">
                    <a16:rowId xmlns:a16="http://schemas.microsoft.com/office/drawing/2014/main" val="4263304971"/>
                  </a:ext>
                </a:extLst>
              </a:tr>
              <a:tr h="0">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module_id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r>
                        <a:rPr lang="en-SG" sz="1400" kern="1200" dirty="0">
                          <a:solidFill>
                            <a:schemeClr val="tx1"/>
                          </a:solidFill>
                          <a:effectLst/>
                          <a:latin typeface="+mn-lt"/>
                          <a:ea typeface="+mn-ea"/>
                          <a:cs typeface="+mn-cs"/>
                        </a:rPr>
                        <a:t>The module_id attribute links the module of each pair record to a specific module record. It references the “module_id” from the modules table.</a:t>
                      </a:r>
                      <a:r>
                        <a:rPr lang="en-US" sz="1400" dirty="0"/>
                        <a:t> It ensures accurate data retrieval and display of the module that the pair will tackle.</a:t>
                      </a:r>
                      <a:endParaRPr lang="en-SG" sz="1400" dirty="0"/>
                    </a:p>
                  </a:txBody>
                  <a:tcPr anchor="ctr"/>
                </a:tc>
                <a:extLst>
                  <a:ext uri="{0D108BD9-81ED-4DB2-BD59-A6C34878D82A}">
                    <a16:rowId xmlns:a16="http://schemas.microsoft.com/office/drawing/2014/main" val="3211975710"/>
                  </a:ext>
                </a:extLst>
              </a:tr>
              <a:tr h="718868">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day</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The day attribute indicates the day of the week (1–7) on which the requested session takes place, where 1 = Monday and 7 = Sunday. All pair sessions are assumed to be recurring weekly on the specified day, meaning both students will meet regularly on this day for their learning session.</a:t>
                      </a:r>
                      <a:endParaRPr lang="en-SG" sz="1400" b="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2238071172"/>
                  </a:ext>
                </a:extLst>
              </a:tr>
              <a:tr h="718868">
                <a:tc>
                  <a:txBody>
                    <a:bodyPr/>
                    <a:lstStyle/>
                    <a:p>
                      <a:pPr>
                        <a:spcBef>
                          <a:spcPts val="600"/>
                        </a:spcBef>
                        <a:spcAft>
                          <a:spcPts val="600"/>
                        </a:spcAft>
                        <a:buNone/>
                      </a:pPr>
                      <a:r>
                        <a:rPr lang="en-US" sz="1400" dirty="0" err="1">
                          <a:solidFill>
                            <a:srgbClr val="000000"/>
                          </a:solidFill>
                          <a:effectLst/>
                          <a:latin typeface="+mn-lt"/>
                          <a:ea typeface="SimSun" panose="02010600030101010101" pitchFamily="2" charset="-122"/>
                          <a:cs typeface="Times New Roman" panose="02020603050405020304" pitchFamily="18" charset="0"/>
                        </a:rPr>
                        <a:t>start_time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The </a:t>
                      </a:r>
                      <a:r>
                        <a:rPr lang="en-US" sz="1400" b="0" dirty="0"/>
                        <a:t>start_time</a:t>
                      </a:r>
                      <a:r>
                        <a:rPr lang="en-US" sz="1400" dirty="0"/>
                        <a:t> attribute specifies the exact time when the pair session is scheduled to begin. It allows the students to coordinate and decide they are free to teach/learn based on the start and end times, preventing schedule overlaps and ensuring smooth session planning. This then will determine whether they should accept or decline the request.</a:t>
                      </a:r>
                    </a:p>
                  </a:txBody>
                  <a:tcPr anchor="ctr"/>
                </a:tc>
                <a:extLst>
                  <a:ext uri="{0D108BD9-81ED-4DB2-BD59-A6C34878D82A}">
                    <a16:rowId xmlns:a16="http://schemas.microsoft.com/office/drawing/2014/main" val="3406653553"/>
                  </a:ext>
                </a:extLst>
              </a:tr>
              <a:tr h="496306">
                <a:tc>
                  <a:txBody>
                    <a:bodyPr/>
                    <a:lstStyle/>
                    <a:p>
                      <a:pPr>
                        <a:spcBef>
                          <a:spcPts val="600"/>
                        </a:spcBef>
                        <a:spcAft>
                          <a:spcPts val="600"/>
                        </a:spcAft>
                        <a:buNone/>
                      </a:pPr>
                      <a:r>
                        <a:rPr lang="en-US" sz="1400" dirty="0" err="1">
                          <a:solidFill>
                            <a:srgbClr val="000000"/>
                          </a:solidFill>
                          <a:effectLst/>
                          <a:latin typeface="+mn-lt"/>
                          <a:ea typeface="SimSun" panose="02010600030101010101" pitchFamily="2" charset="-122"/>
                          <a:cs typeface="Times New Roman" panose="02020603050405020304" pitchFamily="18" charset="0"/>
                        </a:rPr>
                        <a:t>end_time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The </a:t>
                      </a:r>
                      <a:r>
                        <a:rPr lang="en-US" sz="1400" b="0" dirty="0"/>
                        <a:t>end_time</a:t>
                      </a:r>
                      <a:r>
                        <a:rPr lang="en-US" sz="1400" dirty="0"/>
                        <a:t> attribute specifies the exact time when the pair session is scheduled to end. Like the start_time, it helps student coordinate and prevents schedule overlaps, ultimately helping to make a more informed decision.</a:t>
                      </a:r>
                    </a:p>
                  </a:txBody>
                  <a:tcPr anchor="ctr"/>
                </a:tc>
                <a:extLst>
                  <a:ext uri="{0D108BD9-81ED-4DB2-BD59-A6C34878D82A}">
                    <a16:rowId xmlns:a16="http://schemas.microsoft.com/office/drawing/2014/main" val="730386803"/>
                  </a:ext>
                </a:extLst>
              </a:tr>
            </a:tbl>
          </a:graphicData>
        </a:graphic>
      </p:graphicFrame>
    </p:spTree>
    <p:extLst>
      <p:ext uri="{BB962C8B-B14F-4D97-AF65-F5344CB8AC3E}">
        <p14:creationId xmlns:p14="http://schemas.microsoft.com/office/powerpoint/2010/main" val="1655476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62334-5B6C-3F18-E601-75AFF689D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4D4D2-E474-52F9-3BD5-54A0878B3D2F}"/>
              </a:ext>
            </a:extLst>
          </p:cNvPr>
          <p:cNvSpPr>
            <a:spLocks noGrp="1"/>
          </p:cNvSpPr>
          <p:nvPr>
            <p:ph type="title"/>
          </p:nvPr>
        </p:nvSpPr>
        <p:spPr>
          <a:xfrm>
            <a:off x="838200" y="365126"/>
            <a:ext cx="10515600" cy="644166"/>
          </a:xfrm>
        </p:spPr>
        <p:txBody>
          <a:bodyPr>
            <a:normAutofit fontScale="90000"/>
          </a:bodyPr>
          <a:lstStyle/>
          <a:p>
            <a:r>
              <a:rPr lang="en-SG" b="1" dirty="0"/>
              <a:t>Data Modeling - Pairs (Explanation)</a:t>
            </a:r>
          </a:p>
        </p:txBody>
      </p:sp>
      <p:graphicFrame>
        <p:nvGraphicFramePr>
          <p:cNvPr id="4" name="Content Placeholder 3">
            <a:extLst>
              <a:ext uri="{FF2B5EF4-FFF2-40B4-BE49-F238E27FC236}">
                <a16:creationId xmlns:a16="http://schemas.microsoft.com/office/drawing/2014/main" id="{C8CE53A6-6D15-DC6B-59C4-5CF97F0AB976}"/>
              </a:ext>
            </a:extLst>
          </p:cNvPr>
          <p:cNvGraphicFramePr>
            <a:graphicFrameLocks noGrp="1"/>
          </p:cNvGraphicFramePr>
          <p:nvPr>
            <p:ph idx="1"/>
            <p:extLst>
              <p:ext uri="{D42A27DB-BD31-4B8C-83A1-F6EECF244321}">
                <p14:modId xmlns:p14="http://schemas.microsoft.com/office/powerpoint/2010/main" val="2001989642"/>
              </p:ext>
            </p:extLst>
          </p:nvPr>
        </p:nvGraphicFramePr>
        <p:xfrm>
          <a:off x="838200" y="1089863"/>
          <a:ext cx="10515600" cy="2087533"/>
        </p:xfrm>
        <a:graphic>
          <a:graphicData uri="http://schemas.openxmlformats.org/drawingml/2006/table">
            <a:tbl>
              <a:tblPr firstRow="1" bandRow="1">
                <a:tableStyleId>{5940675A-B579-460E-94D1-54222C63F5DA}</a:tableStyleId>
              </a:tblPr>
              <a:tblGrid>
                <a:gridCol w="1283898">
                  <a:extLst>
                    <a:ext uri="{9D8B030D-6E8A-4147-A177-3AD203B41FA5}">
                      <a16:colId xmlns:a16="http://schemas.microsoft.com/office/drawing/2014/main" val="3699532382"/>
                    </a:ext>
                  </a:extLst>
                </a:gridCol>
                <a:gridCol w="9231702">
                  <a:extLst>
                    <a:ext uri="{9D8B030D-6E8A-4147-A177-3AD203B41FA5}">
                      <a16:colId xmlns:a16="http://schemas.microsoft.com/office/drawing/2014/main" val="2339287375"/>
                    </a:ext>
                  </a:extLst>
                </a:gridCol>
              </a:tblGrid>
              <a:tr h="411133">
                <a:tc>
                  <a:txBody>
                    <a:bodyPr/>
                    <a:lstStyle/>
                    <a:p>
                      <a:r>
                        <a:rPr lang="en-SG" sz="1400" b="1" dirty="0"/>
                        <a:t>Attribute</a:t>
                      </a:r>
                    </a:p>
                  </a:txBody>
                  <a:tcPr anchor="ctr"/>
                </a:tc>
                <a:tc>
                  <a:txBody>
                    <a:bodyPr/>
                    <a:lstStyle/>
                    <a:p>
                      <a:r>
                        <a:rPr lang="en-SG" sz="1400" b="1" dirty="0"/>
                        <a:t>Additional Explanation</a:t>
                      </a:r>
                    </a:p>
                  </a:txBody>
                  <a:tcPr anchor="ctr"/>
                </a:tc>
                <a:extLst>
                  <a:ext uri="{0D108BD9-81ED-4DB2-BD59-A6C34878D82A}">
                    <a16:rowId xmlns:a16="http://schemas.microsoft.com/office/drawing/2014/main" val="1943573786"/>
                  </a:ext>
                </a:extLst>
              </a:tr>
              <a:tr h="718868">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status</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r>
                        <a:rPr lang="en-SG" sz="1400" b="0" kern="1200" dirty="0">
                          <a:solidFill>
                            <a:schemeClr val="tx1"/>
                          </a:solidFill>
                          <a:effectLst/>
                          <a:latin typeface="+mn-lt"/>
                          <a:ea typeface="+mn-ea"/>
                          <a:cs typeface="+mn-cs"/>
                        </a:rPr>
                        <a:t>The status attribute tracks the state of the pairing request, where 1 indicates "pending" and 2 indicates "ongoing". It enables the application to differentiate between pending requests and actual pairs. </a:t>
                      </a:r>
                      <a:r>
                        <a:rPr lang="en-US" sz="1400" b="0" dirty="0"/>
                        <a:t>Only pending pairs can be modified or edited, ensuring that once a session has started, its details remain consistent and tamper-proof.</a:t>
                      </a:r>
                      <a:endParaRPr lang="en-SG" sz="1400" b="0" dirty="0"/>
                    </a:p>
                  </a:txBody>
                  <a:tcPr anchor="ctr"/>
                </a:tc>
                <a:extLst>
                  <a:ext uri="{0D108BD9-81ED-4DB2-BD59-A6C34878D82A}">
                    <a16:rowId xmlns:a16="http://schemas.microsoft.com/office/drawing/2014/main" val="1913152042"/>
                  </a:ext>
                </a:extLst>
              </a:tr>
              <a:tr h="718868">
                <a:tc>
                  <a:txBody>
                    <a:bodyPr/>
                    <a:lstStyle/>
                    <a:p>
                      <a:pPr>
                        <a:spcBef>
                          <a:spcPts val="600"/>
                        </a:spcBef>
                        <a:spcAft>
                          <a:spcPts val="600"/>
                        </a:spcAft>
                        <a:buNone/>
                      </a:pPr>
                      <a:r>
                        <a:rPr lang="en-SG" sz="1400" dirty="0">
                          <a:solidFill>
                            <a:srgbClr val="000000"/>
                          </a:solidFill>
                          <a:effectLst/>
                          <a:latin typeface="+mn-lt"/>
                          <a:ea typeface="SimSun" panose="02010600030101010101" pitchFamily="2" charset="-122"/>
                          <a:cs typeface="Times New Roman" panose="02020603050405020304" pitchFamily="18" charset="0"/>
                        </a:rPr>
                        <a:t>end_date</a:t>
                      </a:r>
                    </a:p>
                  </a:txBody>
                  <a:tcPr marL="68580" marR="68580" marT="0" marB="0" anchor="ctr"/>
                </a:tc>
                <a:tc>
                  <a:txBody>
                    <a:bodyPr/>
                    <a:lstStyle/>
                    <a:p>
                      <a:r>
                        <a:rPr lang="en-SG" sz="1400" dirty="0"/>
                        <a:t>As pair sessions are assumed to be recurring, the end_date is the exact date that these recurring sessions is scheduled to end. By combining the day, request creation date, and end date, it allows the system to automatically calculate the total number of sessions. </a:t>
                      </a:r>
                      <a:r>
                        <a:rPr lang="en-US" sz="1400" dirty="0"/>
                        <a:t>This enhances the user experience by allowing students to track their overall learning timeline and manage commitments better.</a:t>
                      </a:r>
                      <a:endParaRPr lang="en-SG" sz="1400" dirty="0"/>
                    </a:p>
                  </a:txBody>
                  <a:tcPr anchor="ctr"/>
                </a:tc>
                <a:extLst>
                  <a:ext uri="{0D108BD9-81ED-4DB2-BD59-A6C34878D82A}">
                    <a16:rowId xmlns:a16="http://schemas.microsoft.com/office/drawing/2014/main" val="570779297"/>
                  </a:ext>
                </a:extLst>
              </a:tr>
            </a:tbl>
          </a:graphicData>
        </a:graphic>
      </p:graphicFrame>
    </p:spTree>
    <p:extLst>
      <p:ext uri="{BB962C8B-B14F-4D97-AF65-F5344CB8AC3E}">
        <p14:creationId xmlns:p14="http://schemas.microsoft.com/office/powerpoint/2010/main" val="27716015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FCC03-FCE8-B41A-6CE8-04D43C0DCE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CE6ADB-CB53-FBDD-BD05-44D5565BC9A4}"/>
              </a:ext>
            </a:extLst>
          </p:cNvPr>
          <p:cNvSpPr>
            <a:spLocks noGrp="1"/>
          </p:cNvSpPr>
          <p:nvPr>
            <p:ph type="title"/>
          </p:nvPr>
        </p:nvSpPr>
        <p:spPr>
          <a:xfrm>
            <a:off x="710063" y="0"/>
            <a:ext cx="10515600" cy="1325563"/>
          </a:xfrm>
        </p:spPr>
        <p:txBody>
          <a:bodyPr/>
          <a:lstStyle/>
          <a:p>
            <a:pPr lvl="0"/>
            <a:r>
              <a:rPr lang="en-US" b="1" dirty="0"/>
              <a:t>Data Modeling</a:t>
            </a:r>
            <a:endParaRPr lang="en-US" dirty="0"/>
          </a:p>
        </p:txBody>
      </p:sp>
      <p:graphicFrame>
        <p:nvGraphicFramePr>
          <p:cNvPr id="6" name="Table 5">
            <a:extLst>
              <a:ext uri="{FF2B5EF4-FFF2-40B4-BE49-F238E27FC236}">
                <a16:creationId xmlns:a16="http://schemas.microsoft.com/office/drawing/2014/main" id="{1F81AC00-0DCE-AE25-13E2-6E43F873279D}"/>
              </a:ext>
            </a:extLst>
          </p:cNvPr>
          <p:cNvGraphicFramePr>
            <a:graphicFrameLocks noGrp="1"/>
          </p:cNvGraphicFramePr>
          <p:nvPr>
            <p:extLst>
              <p:ext uri="{D42A27DB-BD31-4B8C-83A1-F6EECF244321}">
                <p14:modId xmlns:p14="http://schemas.microsoft.com/office/powerpoint/2010/main" val="2971113392"/>
              </p:ext>
            </p:extLst>
          </p:nvPr>
        </p:nvGraphicFramePr>
        <p:xfrm>
          <a:off x="558693" y="1021369"/>
          <a:ext cx="11398518" cy="210312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400" b="1" dirty="0"/>
                        <a:t>Table: Modules</a:t>
                      </a:r>
                      <a:endParaRPr lang="en-US" sz="1400" b="0" dirty="0"/>
                    </a:p>
                  </a:txBody>
                  <a:tcPr anchor="ctr">
                    <a:solidFill>
                      <a:schemeClr val="bg1"/>
                    </a:solidFill>
                  </a:tcPr>
                </a:tc>
                <a:tc gridSpan="3">
                  <a:txBody>
                    <a:bodyPr/>
                    <a:lstStyle/>
                    <a:p>
                      <a:pPr>
                        <a:buNone/>
                      </a:pPr>
                      <a:r>
                        <a:rPr lang="en-US" sz="1400" b="1" dirty="0"/>
                        <a:t>Description: </a:t>
                      </a:r>
                      <a:r>
                        <a:rPr lang="en-US" sz="1400" dirty="0"/>
                        <a:t>Stores a list of all modules or subjects offered within the course</a:t>
                      </a:r>
                    </a:p>
                    <a:p>
                      <a:pPr>
                        <a:buNone/>
                      </a:pPr>
                      <a:endParaRPr lang="en-US" sz="1400" b="1" dirty="0"/>
                    </a:p>
                    <a:p>
                      <a:pPr>
                        <a:buNone/>
                      </a:pPr>
                      <a:r>
                        <a:rPr lang="en-US" sz="1400" b="1" dirty="0"/>
                        <a:t>Usage in App:</a:t>
                      </a:r>
                      <a:r>
                        <a:rPr lang="en-US" sz="1400" dirty="0"/>
                        <a:t> Used to display module selection option for proficiency, maintain data consistency by providing standard way to select modules </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module_id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a:buNone/>
                      </a:pPr>
                      <a:r>
                        <a:rPr lang="en-US" sz="1400" dirty="0">
                          <a:latin typeface="+mn-lt"/>
                        </a:rPr>
                        <a:t>String</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dirty="0">
                          <a:solidFill>
                            <a:srgbClr val="000000"/>
                          </a:solidFill>
                          <a:effectLst/>
                          <a:latin typeface="+mn-lt"/>
                          <a:ea typeface="SimSun" panose="02010600030101010101" pitchFamily="2" charset="-122"/>
                          <a:cs typeface="Times New Roman" panose="02020603050405020304" pitchFamily="18" charset="0"/>
                        </a:rPr>
                        <a:t>68f6f1697347193</a:t>
                      </a:r>
                    </a:p>
                  </a:txBody>
                  <a:tcPr anchor="ctr">
                    <a:solidFill>
                      <a:schemeClr val="bg1"/>
                    </a:solidFill>
                  </a:tcPr>
                </a:tc>
                <a:tc>
                  <a:txBody>
                    <a:bodyPr/>
                    <a:lstStyle/>
                    <a:p>
                      <a:pPr>
                        <a:buNone/>
                      </a:pPr>
                      <a:r>
                        <a:rPr lang="en-US" sz="1400" kern="1200" dirty="0">
                          <a:solidFill>
                            <a:schemeClr val="tx1"/>
                          </a:solidFill>
                          <a:effectLst/>
                          <a:latin typeface="+mn-lt"/>
                          <a:ea typeface="+mn-ea"/>
                          <a:cs typeface="+mn-cs"/>
                        </a:rPr>
                        <a:t>Unique identifier of each module </a:t>
                      </a:r>
                      <a:endParaRPr lang="en-US" sz="1400" dirty="0">
                        <a:latin typeface="+mn-lt"/>
                      </a:endParaRPr>
                    </a:p>
                  </a:txBody>
                  <a:tcPr anchor="ctr">
                    <a:solidFill>
                      <a:schemeClr val="bg1"/>
                    </a:solidFill>
                  </a:tcPr>
                </a:tc>
                <a:extLst>
                  <a:ext uri="{0D108BD9-81ED-4DB2-BD59-A6C34878D82A}">
                    <a16:rowId xmlns:a16="http://schemas.microsoft.com/office/drawing/2014/main" val="2707098043"/>
                  </a:ext>
                </a:extLst>
              </a:tr>
              <a:tr h="0">
                <a:tc>
                  <a:txBody>
                    <a:bodyPr/>
                    <a:lstStyle/>
                    <a:p>
                      <a:pPr>
                        <a:spcBef>
                          <a:spcPts val="600"/>
                        </a:spcBef>
                        <a:spcAft>
                          <a:spcPts val="600"/>
                        </a:spcAft>
                        <a:buNone/>
                      </a:pPr>
                      <a:r>
                        <a:rPr lang="en-US" sz="1400" dirty="0" err="1">
                          <a:solidFill>
                            <a:srgbClr val="000000"/>
                          </a:solidFill>
                          <a:effectLst/>
                          <a:latin typeface="+mn-lt"/>
                          <a:ea typeface="SimSun" panose="02010600030101010101" pitchFamily="2" charset="-122"/>
                          <a:cs typeface="Times New Roman" panose="02020603050405020304" pitchFamily="18" charset="0"/>
                        </a:rPr>
                        <a:t>module_name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String</a:t>
                      </a:r>
                    </a:p>
                  </a:txBody>
                  <a:tcPr anchor="ctr">
                    <a:solidFill>
                      <a:schemeClr val="bg1"/>
                    </a:solidFill>
                  </a:tcPr>
                </a:tc>
                <a:tc>
                  <a:txBody>
                    <a:bodyPr/>
                    <a:lstStyle/>
                    <a:p>
                      <a:pPr>
                        <a:buNone/>
                      </a:pPr>
                      <a:r>
                        <a:rPr lang="en-SG" sz="1400" b="0" i="0" kern="1200" dirty="0">
                          <a:solidFill>
                            <a:schemeClr val="tx1"/>
                          </a:solidFill>
                          <a:effectLst/>
                          <a:latin typeface="+mn-lt"/>
                          <a:ea typeface="+mn-ea"/>
                          <a:cs typeface="+mn-cs"/>
                        </a:rPr>
                        <a:t>Computational Thinking (COMT)</a:t>
                      </a:r>
                      <a:endParaRPr lang="en-US" sz="1400" dirty="0">
                        <a:latin typeface="+mn-lt"/>
                      </a:endParaRPr>
                    </a:p>
                  </a:txBody>
                  <a:tcPr anchor="ctr">
                    <a:solidFill>
                      <a:schemeClr val="bg1"/>
                    </a:solidFill>
                  </a:tcPr>
                </a:tc>
                <a:tc>
                  <a:txBody>
                    <a:bodyPr/>
                    <a:lstStyle/>
                    <a:p>
                      <a:pPr>
                        <a:buNone/>
                      </a:pPr>
                      <a:r>
                        <a:rPr lang="en-US" sz="1400" kern="1200" dirty="0">
                          <a:solidFill>
                            <a:schemeClr val="tx1"/>
                          </a:solidFill>
                          <a:effectLst/>
                          <a:latin typeface="+mn-lt"/>
                          <a:ea typeface="+mn-ea"/>
                          <a:cs typeface="+mn-cs"/>
                        </a:rPr>
                        <a:t>Name of the module</a:t>
                      </a:r>
                      <a:endParaRPr lang="en-US" sz="1400" dirty="0">
                        <a:latin typeface="+mn-lt"/>
                      </a:endParaRPr>
                    </a:p>
                  </a:txBody>
                  <a:tcPr anchor="ctr">
                    <a:solidFill>
                      <a:schemeClr val="bg1"/>
                    </a:solidFill>
                  </a:tcPr>
                </a:tc>
                <a:extLst>
                  <a:ext uri="{0D108BD9-81ED-4DB2-BD59-A6C34878D82A}">
                    <a16:rowId xmlns:a16="http://schemas.microsoft.com/office/drawing/2014/main" val="1840665485"/>
                  </a:ext>
                </a:extLst>
              </a:tr>
            </a:tbl>
          </a:graphicData>
        </a:graphic>
      </p:graphicFrame>
    </p:spTree>
    <p:extLst>
      <p:ext uri="{BB962C8B-B14F-4D97-AF65-F5344CB8AC3E}">
        <p14:creationId xmlns:p14="http://schemas.microsoft.com/office/powerpoint/2010/main" val="24901026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0EA0D-D772-74CD-FF4B-E45309D5D0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E7FEC-EEE7-2592-C973-E279A48C8337}"/>
              </a:ext>
            </a:extLst>
          </p:cNvPr>
          <p:cNvSpPr>
            <a:spLocks noGrp="1"/>
          </p:cNvSpPr>
          <p:nvPr>
            <p:ph type="title"/>
          </p:nvPr>
        </p:nvSpPr>
        <p:spPr>
          <a:xfrm>
            <a:off x="838200" y="365126"/>
            <a:ext cx="10515600" cy="644166"/>
          </a:xfrm>
        </p:spPr>
        <p:txBody>
          <a:bodyPr>
            <a:normAutofit fontScale="90000"/>
          </a:bodyPr>
          <a:lstStyle/>
          <a:p>
            <a:r>
              <a:rPr lang="en-SG" b="1" dirty="0"/>
              <a:t>Data Modeling - Modules (Explanation)</a:t>
            </a:r>
          </a:p>
        </p:txBody>
      </p:sp>
      <p:graphicFrame>
        <p:nvGraphicFramePr>
          <p:cNvPr id="4" name="Content Placeholder 3">
            <a:extLst>
              <a:ext uri="{FF2B5EF4-FFF2-40B4-BE49-F238E27FC236}">
                <a16:creationId xmlns:a16="http://schemas.microsoft.com/office/drawing/2014/main" id="{11E32672-CB7A-5BDE-6193-4AE66B1FAEDD}"/>
              </a:ext>
            </a:extLst>
          </p:cNvPr>
          <p:cNvGraphicFramePr>
            <a:graphicFrameLocks noGrp="1"/>
          </p:cNvGraphicFramePr>
          <p:nvPr>
            <p:ph idx="1"/>
            <p:extLst>
              <p:ext uri="{D42A27DB-BD31-4B8C-83A1-F6EECF244321}">
                <p14:modId xmlns:p14="http://schemas.microsoft.com/office/powerpoint/2010/main" val="398228889"/>
              </p:ext>
            </p:extLst>
          </p:nvPr>
        </p:nvGraphicFramePr>
        <p:xfrm>
          <a:off x="838200" y="1089863"/>
          <a:ext cx="10515600" cy="2288241"/>
        </p:xfrm>
        <a:graphic>
          <a:graphicData uri="http://schemas.openxmlformats.org/drawingml/2006/table">
            <a:tbl>
              <a:tblPr firstRow="1" bandRow="1">
                <a:tableStyleId>{5940675A-B579-460E-94D1-54222C63F5DA}</a:tableStyleId>
              </a:tblPr>
              <a:tblGrid>
                <a:gridCol w="1283898">
                  <a:extLst>
                    <a:ext uri="{9D8B030D-6E8A-4147-A177-3AD203B41FA5}">
                      <a16:colId xmlns:a16="http://schemas.microsoft.com/office/drawing/2014/main" val="3699532382"/>
                    </a:ext>
                  </a:extLst>
                </a:gridCol>
                <a:gridCol w="9231702">
                  <a:extLst>
                    <a:ext uri="{9D8B030D-6E8A-4147-A177-3AD203B41FA5}">
                      <a16:colId xmlns:a16="http://schemas.microsoft.com/office/drawing/2014/main" val="2339287375"/>
                    </a:ext>
                  </a:extLst>
                </a:gridCol>
              </a:tblGrid>
              <a:tr h="411133">
                <a:tc>
                  <a:txBody>
                    <a:bodyPr/>
                    <a:lstStyle/>
                    <a:p>
                      <a:r>
                        <a:rPr lang="en-SG" sz="1400" b="1" dirty="0"/>
                        <a:t>Attribute</a:t>
                      </a:r>
                    </a:p>
                  </a:txBody>
                  <a:tcPr anchor="ctr"/>
                </a:tc>
                <a:tc>
                  <a:txBody>
                    <a:bodyPr/>
                    <a:lstStyle/>
                    <a:p>
                      <a:r>
                        <a:rPr lang="en-SG" sz="1400" b="1" dirty="0"/>
                        <a:t>Additional Explanation</a:t>
                      </a:r>
                    </a:p>
                  </a:txBody>
                  <a:tcPr anchor="ctr"/>
                </a:tc>
                <a:extLst>
                  <a:ext uri="{0D108BD9-81ED-4DB2-BD59-A6C34878D82A}">
                    <a16:rowId xmlns:a16="http://schemas.microsoft.com/office/drawing/2014/main" val="1943573786"/>
                  </a:ext>
                </a:extLst>
              </a:tr>
              <a:tr h="718868">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module_id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This attribute uniquely identifies each module record in the table. Its </a:t>
                      </a:r>
                      <a:r>
                        <a:rPr lang="en-US" sz="1400" b="0" dirty="0"/>
                        <a:t>unique and non-null to </a:t>
                      </a:r>
                      <a:r>
                        <a:rPr lang="en-US" sz="1400" dirty="0"/>
                        <a:t>ensure that every record can be referenced and retrieved. By having such </a:t>
                      </a:r>
                      <a:r>
                        <a:rPr lang="en-US" sz="1400" b="0" dirty="0"/>
                        <a:t>identifier</a:t>
                      </a:r>
                      <a:r>
                        <a:rPr lang="en-US" sz="1400" dirty="0"/>
                        <a:t> for each record, it would support faster lookups and referencing.</a:t>
                      </a:r>
                      <a:endParaRPr lang="en-SG" sz="14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913152042"/>
                  </a:ext>
                </a:extLst>
              </a:tr>
              <a:tr h="718868">
                <a:tc>
                  <a:txBody>
                    <a:bodyPr/>
                    <a:lstStyle/>
                    <a:p>
                      <a:pPr>
                        <a:spcBef>
                          <a:spcPts val="600"/>
                        </a:spcBef>
                        <a:spcAft>
                          <a:spcPts val="600"/>
                        </a:spcAft>
                        <a:buNone/>
                      </a:pPr>
                      <a:r>
                        <a:rPr lang="en-US" sz="1400" dirty="0" err="1">
                          <a:solidFill>
                            <a:srgbClr val="000000"/>
                          </a:solidFill>
                          <a:effectLst/>
                          <a:latin typeface="+mn-lt"/>
                          <a:ea typeface="SimSun" panose="02010600030101010101" pitchFamily="2" charset="-122"/>
                          <a:cs typeface="Times New Roman" panose="02020603050405020304" pitchFamily="18" charset="0"/>
                        </a:rPr>
                        <a:t>module_name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r>
                        <a:rPr lang="en-US" sz="1400" dirty="0"/>
                        <a:t>The </a:t>
                      </a:r>
                      <a:r>
                        <a:rPr lang="en-US" sz="1400" b="0" dirty="0" err="1"/>
                        <a:t>module_name</a:t>
                      </a:r>
                      <a:r>
                        <a:rPr lang="en-US" sz="1400" b="0" dirty="0"/>
                        <a:t> </a:t>
                      </a:r>
                      <a:r>
                        <a:rPr lang="en-US" sz="1400" dirty="0"/>
                        <a:t>attribute stores the official name of the module. It allows the system to clearly display module titles throughout the website, such as in pairing requests, search filters and proficiencies, ensuring users can easily identify and select the correct subject for their learning sessions. Having such an attribute means that instead of manually typing each module names, which can lead to data inconsistencies, all module references are linked to the standardized entries in this table.</a:t>
                      </a:r>
                      <a:endParaRPr lang="en-SG" sz="1400" dirty="0"/>
                    </a:p>
                  </a:txBody>
                  <a:tcPr anchor="ctr"/>
                </a:tc>
                <a:extLst>
                  <a:ext uri="{0D108BD9-81ED-4DB2-BD59-A6C34878D82A}">
                    <a16:rowId xmlns:a16="http://schemas.microsoft.com/office/drawing/2014/main" val="570779297"/>
                  </a:ext>
                </a:extLst>
              </a:tr>
            </a:tbl>
          </a:graphicData>
        </a:graphic>
      </p:graphicFrame>
    </p:spTree>
    <p:extLst>
      <p:ext uri="{BB962C8B-B14F-4D97-AF65-F5344CB8AC3E}">
        <p14:creationId xmlns:p14="http://schemas.microsoft.com/office/powerpoint/2010/main" val="14903990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4896A-08F9-8885-F988-E56A2B204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05381-9415-BF96-EF5D-A3469A384769}"/>
              </a:ext>
            </a:extLst>
          </p:cNvPr>
          <p:cNvSpPr>
            <a:spLocks noGrp="1"/>
          </p:cNvSpPr>
          <p:nvPr>
            <p:ph type="title"/>
          </p:nvPr>
        </p:nvSpPr>
        <p:spPr>
          <a:xfrm>
            <a:off x="710063" y="0"/>
            <a:ext cx="10515600" cy="1325563"/>
          </a:xfrm>
        </p:spPr>
        <p:txBody>
          <a:bodyPr/>
          <a:lstStyle/>
          <a:p>
            <a:pPr lvl="0"/>
            <a:r>
              <a:rPr lang="en-US" b="1" dirty="0"/>
              <a:t>Data Modeling (Additional Feature)</a:t>
            </a:r>
            <a:endParaRPr lang="en-US" dirty="0"/>
          </a:p>
        </p:txBody>
      </p:sp>
      <p:graphicFrame>
        <p:nvGraphicFramePr>
          <p:cNvPr id="6" name="Table 5">
            <a:extLst>
              <a:ext uri="{FF2B5EF4-FFF2-40B4-BE49-F238E27FC236}">
                <a16:creationId xmlns:a16="http://schemas.microsoft.com/office/drawing/2014/main" id="{1002EB8D-FF9B-BFF4-169B-3FD101FC4AA3}"/>
              </a:ext>
            </a:extLst>
          </p:cNvPr>
          <p:cNvGraphicFramePr>
            <a:graphicFrameLocks noGrp="1"/>
          </p:cNvGraphicFramePr>
          <p:nvPr>
            <p:extLst>
              <p:ext uri="{D42A27DB-BD31-4B8C-83A1-F6EECF244321}">
                <p14:modId xmlns:p14="http://schemas.microsoft.com/office/powerpoint/2010/main" val="147450936"/>
              </p:ext>
            </p:extLst>
          </p:nvPr>
        </p:nvGraphicFramePr>
        <p:xfrm>
          <a:off x="558693" y="1021369"/>
          <a:ext cx="11398518" cy="359664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400" b="1" dirty="0"/>
                        <a:t>Table: Achievements</a:t>
                      </a:r>
                      <a:endParaRPr lang="en-US" sz="1400" b="0" dirty="0"/>
                    </a:p>
                  </a:txBody>
                  <a:tcPr anchor="ctr">
                    <a:solidFill>
                      <a:schemeClr val="bg1"/>
                    </a:solidFill>
                  </a:tcPr>
                </a:tc>
                <a:tc gridSpan="3">
                  <a:txBody>
                    <a:bodyPr/>
                    <a:lstStyle/>
                    <a:p>
                      <a:pPr>
                        <a:buNone/>
                      </a:pPr>
                      <a:r>
                        <a:rPr lang="en-US" sz="1400" b="1" dirty="0"/>
                        <a:t>Description: </a:t>
                      </a:r>
                      <a:r>
                        <a:rPr lang="en-US" sz="1400" dirty="0"/>
                        <a:t>Stores a list of all possible achievements that the website offers</a:t>
                      </a:r>
                    </a:p>
                    <a:p>
                      <a:pPr>
                        <a:buNone/>
                      </a:pPr>
                      <a:endParaRPr lang="en-US" sz="1400" b="1" dirty="0"/>
                    </a:p>
                    <a:p>
                      <a:pPr>
                        <a:buNone/>
                      </a:pPr>
                      <a:r>
                        <a:rPr lang="en-US" sz="1400" b="1" dirty="0"/>
                        <a:t>Usage in App:</a:t>
                      </a:r>
                      <a:r>
                        <a:rPr lang="en-US" sz="1400" dirty="0"/>
                        <a:t> Used to display gamification features like badges that the user can achieve</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spcBef>
                          <a:spcPts val="600"/>
                        </a:spcBef>
                        <a:spcAft>
                          <a:spcPts val="600"/>
                        </a:spcAft>
                        <a:buNone/>
                      </a:pPr>
                      <a:r>
                        <a:rPr lang="en-US" sz="1400" dirty="0" err="1">
                          <a:solidFill>
                            <a:srgbClr val="000000"/>
                          </a:solidFill>
                          <a:effectLst/>
                          <a:latin typeface="+mn-lt"/>
                          <a:ea typeface="SimSun" panose="02010600030101010101" pitchFamily="2" charset="-122"/>
                          <a:cs typeface="Times New Roman" panose="02020603050405020304" pitchFamily="18" charset="0"/>
                        </a:rPr>
                        <a:t>achievement_id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a:buNone/>
                      </a:pPr>
                      <a:r>
                        <a:rPr lang="en-US" sz="1400" dirty="0">
                          <a:latin typeface="+mn-lt"/>
                        </a:rPr>
                        <a:t>String</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dirty="0">
                          <a:solidFill>
                            <a:srgbClr val="000000"/>
                          </a:solidFill>
                          <a:effectLst/>
                          <a:latin typeface="+mn-lt"/>
                          <a:ea typeface="SimSun" panose="02010600030101010101" pitchFamily="2" charset="-122"/>
                          <a:cs typeface="Times New Roman" panose="02020603050405020304" pitchFamily="18" charset="0"/>
                        </a:rPr>
                        <a:t>68f6f1697347193</a:t>
                      </a:r>
                    </a:p>
                  </a:txBody>
                  <a:tcPr anchor="ctr">
                    <a:solidFill>
                      <a:schemeClr val="bg1"/>
                    </a:solidFill>
                  </a:tcPr>
                </a:tc>
                <a:tc>
                  <a:txBody>
                    <a:bodyPr/>
                    <a:lstStyle/>
                    <a:p>
                      <a:pPr>
                        <a:buNone/>
                      </a:pPr>
                      <a:r>
                        <a:rPr lang="en-US" sz="1400" kern="1200" dirty="0">
                          <a:solidFill>
                            <a:schemeClr val="tx1"/>
                          </a:solidFill>
                          <a:effectLst/>
                          <a:latin typeface="+mn-lt"/>
                          <a:ea typeface="+mn-ea"/>
                          <a:cs typeface="+mn-cs"/>
                        </a:rPr>
                        <a:t>Unique identifier of each achievement </a:t>
                      </a:r>
                      <a:endParaRPr lang="en-US" sz="1400" dirty="0">
                        <a:latin typeface="+mn-lt"/>
                      </a:endParaRPr>
                    </a:p>
                  </a:txBody>
                  <a:tcPr anchor="ctr">
                    <a:solidFill>
                      <a:schemeClr val="bg1"/>
                    </a:solidFill>
                  </a:tcPr>
                </a:tc>
                <a:extLst>
                  <a:ext uri="{0D108BD9-81ED-4DB2-BD59-A6C34878D82A}">
                    <a16:rowId xmlns:a16="http://schemas.microsoft.com/office/drawing/2014/main" val="2707098043"/>
                  </a:ext>
                </a:extLst>
              </a:tr>
              <a:tr h="0">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name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String</a:t>
                      </a:r>
                    </a:p>
                  </a:txBody>
                  <a:tcPr anchor="ctr">
                    <a:solidFill>
                      <a:schemeClr val="bg1"/>
                    </a:solidFill>
                  </a:tcPr>
                </a:tc>
                <a:tc>
                  <a:txBody>
                    <a:bodyPr/>
                    <a:lstStyle/>
                    <a:p>
                      <a:pPr>
                        <a:buNone/>
                      </a:pPr>
                      <a:r>
                        <a:rPr lang="en-US" sz="1400" dirty="0">
                          <a:latin typeface="+mn-lt"/>
                        </a:rPr>
                        <a:t>Double Agree</a:t>
                      </a:r>
                    </a:p>
                  </a:txBody>
                  <a:tcPr anchor="ctr">
                    <a:solidFill>
                      <a:schemeClr val="bg1"/>
                    </a:solidFill>
                  </a:tcPr>
                </a:tc>
                <a:tc>
                  <a:txBody>
                    <a:bodyPr/>
                    <a:lstStyle/>
                    <a:p>
                      <a:pPr>
                        <a:buNone/>
                      </a:pPr>
                      <a:r>
                        <a:rPr lang="en-US" sz="1400" kern="1200" dirty="0">
                          <a:solidFill>
                            <a:schemeClr val="tx1"/>
                          </a:solidFill>
                          <a:effectLst/>
                          <a:latin typeface="+mn-lt"/>
                          <a:ea typeface="+mn-ea"/>
                          <a:cs typeface="+mn-cs"/>
                        </a:rPr>
                        <a:t>Title of this achievement</a:t>
                      </a:r>
                      <a:endParaRPr lang="en-US" sz="1400" dirty="0">
                        <a:latin typeface="+mn-lt"/>
                      </a:endParaRPr>
                    </a:p>
                  </a:txBody>
                  <a:tcPr anchor="ctr">
                    <a:solidFill>
                      <a:schemeClr val="bg1"/>
                    </a:solidFill>
                  </a:tcPr>
                </a:tc>
                <a:extLst>
                  <a:ext uri="{0D108BD9-81ED-4DB2-BD59-A6C34878D82A}">
                    <a16:rowId xmlns:a16="http://schemas.microsoft.com/office/drawing/2014/main" val="1840665485"/>
                  </a:ext>
                </a:extLst>
              </a:tr>
              <a:tr h="0">
                <a:tc>
                  <a:txBody>
                    <a:bodyPr/>
                    <a:lstStyle/>
                    <a:p>
                      <a:pPr>
                        <a:spcBef>
                          <a:spcPts val="600"/>
                        </a:spcBef>
                        <a:spcAft>
                          <a:spcPts val="600"/>
                        </a:spcAft>
                        <a:buNone/>
                      </a:pPr>
                      <a:r>
                        <a:rPr lang="en-SG" sz="1400" dirty="0">
                          <a:solidFill>
                            <a:srgbClr val="000000"/>
                          </a:solidFill>
                          <a:effectLst/>
                          <a:latin typeface="+mn-lt"/>
                          <a:ea typeface="SimSun" panose="02010600030101010101" pitchFamily="2" charset="-122"/>
                          <a:cs typeface="Times New Roman" panose="02020603050405020304" pitchFamily="18" charset="0"/>
                        </a:rPr>
                        <a:t>description</a:t>
                      </a:r>
                    </a:p>
                  </a:txBody>
                  <a:tcPr marL="68580" marR="6858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String</a:t>
                      </a:r>
                    </a:p>
                  </a:txBody>
                  <a:tcPr anchor="ctr">
                    <a:solidFill>
                      <a:schemeClr val="bg1"/>
                    </a:solidFill>
                  </a:tcPr>
                </a:tc>
                <a:tc>
                  <a:txBody>
                    <a:bodyPr/>
                    <a:lstStyle/>
                    <a:p>
                      <a:pPr>
                        <a:buNone/>
                      </a:pPr>
                      <a:r>
                        <a:rPr lang="en-US" sz="1400" dirty="0">
                          <a:latin typeface="+mn-lt"/>
                        </a:rPr>
                        <a:t>Pair with 3 people to attain this achievement</a:t>
                      </a:r>
                    </a:p>
                  </a:txBody>
                  <a:tcPr anchor="ctr">
                    <a:solidFill>
                      <a:schemeClr val="bg1"/>
                    </a:solidFill>
                  </a:tcPr>
                </a:tc>
                <a:tc>
                  <a:txBody>
                    <a:bodyPr/>
                    <a:lstStyle/>
                    <a:p>
                      <a:pPr>
                        <a:buNone/>
                      </a:pPr>
                      <a:r>
                        <a:rPr lang="en-US" sz="1400" dirty="0">
                          <a:latin typeface="+mn-lt"/>
                        </a:rPr>
                        <a:t>The task required to attain this achievement badge</a:t>
                      </a:r>
                    </a:p>
                  </a:txBody>
                  <a:tcPr anchor="ctr">
                    <a:solidFill>
                      <a:schemeClr val="bg1"/>
                    </a:solidFill>
                  </a:tcPr>
                </a:tc>
                <a:extLst>
                  <a:ext uri="{0D108BD9-81ED-4DB2-BD59-A6C34878D82A}">
                    <a16:rowId xmlns:a16="http://schemas.microsoft.com/office/drawing/2014/main" val="4186078119"/>
                  </a:ext>
                </a:extLst>
              </a:tr>
              <a:tr h="0">
                <a:tc>
                  <a:txBody>
                    <a:bodyPr/>
                    <a:lstStyle/>
                    <a:p>
                      <a:pPr>
                        <a:spcBef>
                          <a:spcPts val="600"/>
                        </a:spcBef>
                        <a:spcAft>
                          <a:spcPts val="600"/>
                        </a:spcAft>
                        <a:buNone/>
                      </a:pPr>
                      <a:r>
                        <a:rPr lang="en-SG" sz="1400" dirty="0">
                          <a:solidFill>
                            <a:srgbClr val="000000"/>
                          </a:solidFill>
                          <a:effectLst/>
                          <a:latin typeface="+mn-lt"/>
                          <a:ea typeface="SimSun" panose="02010600030101010101" pitchFamily="2" charset="-122"/>
                          <a:cs typeface="Times New Roman" panose="02020603050405020304" pitchFamily="18" charset="0"/>
                        </a:rPr>
                        <a:t>difficulty</a:t>
                      </a:r>
                    </a:p>
                  </a:txBody>
                  <a:tcPr marL="68580" marR="6858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Number</a:t>
                      </a:r>
                    </a:p>
                  </a:txBody>
                  <a:tcPr anchor="ctr">
                    <a:solidFill>
                      <a:schemeClr val="bg1"/>
                    </a:solidFill>
                  </a:tcPr>
                </a:tc>
                <a:tc>
                  <a:txBody>
                    <a:bodyPr/>
                    <a:lstStyle/>
                    <a:p>
                      <a:pPr>
                        <a:buNone/>
                      </a:pPr>
                      <a:r>
                        <a:rPr lang="en-US" sz="1400" dirty="0">
                          <a:latin typeface="+mn-lt"/>
                        </a:rPr>
                        <a:t>2</a:t>
                      </a:r>
                    </a:p>
                  </a:txBody>
                  <a:tcPr anchor="ctr">
                    <a:solidFill>
                      <a:schemeClr val="bg1"/>
                    </a:solidFill>
                  </a:tcPr>
                </a:tc>
                <a:tc>
                  <a:txBody>
                    <a:bodyPr/>
                    <a:lstStyle/>
                    <a:p>
                      <a:pPr>
                        <a:buNone/>
                      </a:pPr>
                      <a:r>
                        <a:rPr lang="en-US" sz="1400" dirty="0">
                          <a:latin typeface="+mn-lt"/>
                        </a:rPr>
                        <a:t>Difficulty to attain this achievement. Ranges 1 (Easy) to 3 (Hard)</a:t>
                      </a:r>
                    </a:p>
                  </a:txBody>
                  <a:tcPr anchor="ctr">
                    <a:solidFill>
                      <a:schemeClr val="bg1"/>
                    </a:solidFill>
                  </a:tcPr>
                </a:tc>
                <a:extLst>
                  <a:ext uri="{0D108BD9-81ED-4DB2-BD59-A6C34878D82A}">
                    <a16:rowId xmlns:a16="http://schemas.microsoft.com/office/drawing/2014/main" val="2917213991"/>
                  </a:ext>
                </a:extLst>
              </a:tr>
              <a:tr h="0">
                <a:tc>
                  <a:txBody>
                    <a:bodyPr/>
                    <a:lstStyle/>
                    <a:p>
                      <a:pPr>
                        <a:spcBef>
                          <a:spcPts val="600"/>
                        </a:spcBef>
                        <a:spcAft>
                          <a:spcPts val="600"/>
                        </a:spcAft>
                        <a:buNone/>
                      </a:pPr>
                      <a:r>
                        <a:rPr lang="en-SG" sz="1400" dirty="0">
                          <a:solidFill>
                            <a:srgbClr val="000000"/>
                          </a:solidFill>
                          <a:effectLst/>
                          <a:latin typeface="+mn-lt"/>
                          <a:ea typeface="SimSun" panose="02010600030101010101" pitchFamily="2" charset="-122"/>
                          <a:cs typeface="Times New Roman" panose="02020603050405020304" pitchFamily="18" charset="0"/>
                        </a:rPr>
                        <a:t>image</a:t>
                      </a:r>
                    </a:p>
                  </a:txBody>
                  <a:tcPr marL="68580" marR="6858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String</a:t>
                      </a:r>
                    </a:p>
                  </a:txBody>
                  <a:tcPr anchor="ctr">
                    <a:solidFill>
                      <a:schemeClr val="bg1"/>
                    </a:solidFill>
                  </a:tcPr>
                </a:tc>
                <a:tc>
                  <a:txBody>
                    <a:bodyPr/>
                    <a:lstStyle/>
                    <a:p>
                      <a:pPr>
                        <a:spcBef>
                          <a:spcPts val="600"/>
                        </a:spcBef>
                        <a:spcAft>
                          <a:spcPts val="600"/>
                        </a:spcAft>
                        <a:buNone/>
                      </a:pPr>
                      <a:r>
                        <a:rPr lang="en-US" sz="1400" dirty="0">
                          <a:latin typeface="+mn-lt"/>
                        </a:rPr>
                        <a:t>&lt;Image in Base64&gt;</a:t>
                      </a:r>
                    </a:p>
                    <a:p>
                      <a:pPr>
                        <a:spcBef>
                          <a:spcPts val="600"/>
                        </a:spcBef>
                        <a:spcAft>
                          <a:spcPts val="600"/>
                        </a:spcAft>
                        <a:buNone/>
                      </a:pPr>
                      <a:r>
                        <a:rPr lang="en-SG" sz="1400" b="0" i="0" kern="1200" dirty="0">
                          <a:solidFill>
                            <a:schemeClr val="tx1"/>
                          </a:solidFill>
                          <a:effectLst/>
                          <a:latin typeface="+mn-lt"/>
                          <a:ea typeface="+mn-ea"/>
                          <a:cs typeface="+mn-cs"/>
                        </a:rPr>
                        <a:t>data:image/jpeg;base64,/9j/4AAQSkZJRg…</a:t>
                      </a:r>
                      <a:endParaRPr lang="en-US" sz="1400" dirty="0">
                        <a:latin typeface="+mn-lt"/>
                      </a:endParaRPr>
                    </a:p>
                  </a:txBody>
                  <a:tcPr anchor="ctr">
                    <a:solidFill>
                      <a:schemeClr val="bg1"/>
                    </a:solidFill>
                  </a:tcPr>
                </a:tc>
                <a:tc>
                  <a:txBody>
                    <a:bodyPr/>
                    <a:lstStyle/>
                    <a:p>
                      <a:pPr>
                        <a:buNone/>
                      </a:pPr>
                      <a:r>
                        <a:rPr lang="en-US" sz="1400" dirty="0">
                          <a:latin typeface="+mn-lt"/>
                        </a:rPr>
                        <a:t>Image of the achievement badge</a:t>
                      </a:r>
                    </a:p>
                  </a:txBody>
                  <a:tcPr anchor="ctr">
                    <a:solidFill>
                      <a:schemeClr val="bg1"/>
                    </a:solidFill>
                  </a:tcPr>
                </a:tc>
                <a:extLst>
                  <a:ext uri="{0D108BD9-81ED-4DB2-BD59-A6C34878D82A}">
                    <a16:rowId xmlns:a16="http://schemas.microsoft.com/office/drawing/2014/main" val="283690548"/>
                  </a:ext>
                </a:extLst>
              </a:tr>
            </a:tbl>
          </a:graphicData>
        </a:graphic>
      </p:graphicFrame>
    </p:spTree>
    <p:extLst>
      <p:ext uri="{BB962C8B-B14F-4D97-AF65-F5344CB8AC3E}">
        <p14:creationId xmlns:p14="http://schemas.microsoft.com/office/powerpoint/2010/main" val="3617159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FA96A-28C0-3011-834F-786C716A3A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4A73BB-4874-F0C0-56F4-C7726703D0C3}"/>
              </a:ext>
            </a:extLst>
          </p:cNvPr>
          <p:cNvSpPr>
            <a:spLocks noGrp="1"/>
          </p:cNvSpPr>
          <p:nvPr>
            <p:ph type="title"/>
          </p:nvPr>
        </p:nvSpPr>
        <p:spPr>
          <a:xfrm>
            <a:off x="838200" y="365126"/>
            <a:ext cx="10515600" cy="644166"/>
          </a:xfrm>
        </p:spPr>
        <p:txBody>
          <a:bodyPr>
            <a:normAutofit fontScale="90000"/>
          </a:bodyPr>
          <a:lstStyle/>
          <a:p>
            <a:r>
              <a:rPr lang="en-SG" b="1" dirty="0"/>
              <a:t>Data Modeling - Achievements (Explanation)</a:t>
            </a:r>
          </a:p>
        </p:txBody>
      </p:sp>
      <p:graphicFrame>
        <p:nvGraphicFramePr>
          <p:cNvPr id="4" name="Content Placeholder 3">
            <a:extLst>
              <a:ext uri="{FF2B5EF4-FFF2-40B4-BE49-F238E27FC236}">
                <a16:creationId xmlns:a16="http://schemas.microsoft.com/office/drawing/2014/main" id="{1C44B840-3499-3950-2FE1-4521F365ABEF}"/>
              </a:ext>
            </a:extLst>
          </p:cNvPr>
          <p:cNvGraphicFramePr>
            <a:graphicFrameLocks noGrp="1"/>
          </p:cNvGraphicFramePr>
          <p:nvPr>
            <p:ph idx="1"/>
            <p:extLst>
              <p:ext uri="{D42A27DB-BD31-4B8C-83A1-F6EECF244321}">
                <p14:modId xmlns:p14="http://schemas.microsoft.com/office/powerpoint/2010/main" val="691888621"/>
              </p:ext>
            </p:extLst>
          </p:nvPr>
        </p:nvGraphicFramePr>
        <p:xfrm>
          <a:off x="838200" y="1089863"/>
          <a:ext cx="10515600" cy="5135533"/>
        </p:xfrm>
        <a:graphic>
          <a:graphicData uri="http://schemas.openxmlformats.org/drawingml/2006/table">
            <a:tbl>
              <a:tblPr firstRow="1" bandRow="1">
                <a:tableStyleId>{5940675A-B579-460E-94D1-54222C63F5DA}</a:tableStyleId>
              </a:tblPr>
              <a:tblGrid>
                <a:gridCol w="1283898">
                  <a:extLst>
                    <a:ext uri="{9D8B030D-6E8A-4147-A177-3AD203B41FA5}">
                      <a16:colId xmlns:a16="http://schemas.microsoft.com/office/drawing/2014/main" val="3699532382"/>
                    </a:ext>
                  </a:extLst>
                </a:gridCol>
                <a:gridCol w="9231702">
                  <a:extLst>
                    <a:ext uri="{9D8B030D-6E8A-4147-A177-3AD203B41FA5}">
                      <a16:colId xmlns:a16="http://schemas.microsoft.com/office/drawing/2014/main" val="2339287375"/>
                    </a:ext>
                  </a:extLst>
                </a:gridCol>
              </a:tblGrid>
              <a:tr h="411133">
                <a:tc>
                  <a:txBody>
                    <a:bodyPr/>
                    <a:lstStyle/>
                    <a:p>
                      <a:r>
                        <a:rPr lang="en-SG" sz="1400" b="1" dirty="0"/>
                        <a:t>Attribute</a:t>
                      </a:r>
                    </a:p>
                  </a:txBody>
                  <a:tcPr anchor="ctr"/>
                </a:tc>
                <a:tc>
                  <a:txBody>
                    <a:bodyPr/>
                    <a:lstStyle/>
                    <a:p>
                      <a:r>
                        <a:rPr lang="en-SG" sz="1400" b="1" dirty="0"/>
                        <a:t>Additional Explanation</a:t>
                      </a:r>
                    </a:p>
                  </a:txBody>
                  <a:tcPr anchor="ctr"/>
                </a:tc>
                <a:extLst>
                  <a:ext uri="{0D108BD9-81ED-4DB2-BD59-A6C34878D82A}">
                    <a16:rowId xmlns:a16="http://schemas.microsoft.com/office/drawing/2014/main" val="1943573786"/>
                  </a:ext>
                </a:extLst>
              </a:tr>
              <a:tr h="718868">
                <a:tc>
                  <a:txBody>
                    <a:bodyPr/>
                    <a:lstStyle/>
                    <a:p>
                      <a:pPr>
                        <a:spcBef>
                          <a:spcPts val="600"/>
                        </a:spcBef>
                        <a:spcAft>
                          <a:spcPts val="600"/>
                        </a:spcAft>
                        <a:buNone/>
                      </a:pPr>
                      <a:r>
                        <a:rPr lang="en-US" sz="1400" dirty="0" err="1">
                          <a:solidFill>
                            <a:srgbClr val="000000"/>
                          </a:solidFill>
                          <a:effectLst/>
                          <a:latin typeface="+mn-lt"/>
                          <a:ea typeface="SimSun" panose="02010600030101010101" pitchFamily="2" charset="-122"/>
                          <a:cs typeface="Times New Roman" panose="02020603050405020304" pitchFamily="18" charset="0"/>
                        </a:rPr>
                        <a:t>achievement_id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err="1"/>
                        <a:t>achievement_id</a:t>
                      </a:r>
                      <a:r>
                        <a:rPr lang="en-US" sz="1400" dirty="0"/>
                        <a:t> is a unique string assigned to every achievement within the system. The purpose will be to uniquely identify any one achievement from another when there are two with similar or the same name, so that the application fetches, updates, or gives out a badge to the intended user without mix-ups. This keeps the data organized and free from mix-ups, hence making the whole achievement system stable and dependable.</a:t>
                      </a:r>
                      <a:endParaRPr lang="en-SG" sz="14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913152042"/>
                  </a:ext>
                </a:extLst>
              </a:tr>
              <a:tr h="718868">
                <a:tc>
                  <a:txBody>
                    <a:bodyPr/>
                    <a:lstStyle/>
                    <a:p>
                      <a:pPr>
                        <a:spcBef>
                          <a:spcPts val="600"/>
                        </a:spcBef>
                        <a:spcAft>
                          <a:spcPts val="600"/>
                        </a:spcAft>
                        <a:buNone/>
                      </a:pPr>
                      <a:r>
                        <a:rPr lang="en-US" sz="1400" dirty="0">
                          <a:solidFill>
                            <a:srgbClr val="000000"/>
                          </a:solidFill>
                          <a:effectLst/>
                          <a:latin typeface="+mn-lt"/>
                          <a:ea typeface="SimSun" panose="02010600030101010101" pitchFamily="2" charset="-122"/>
                          <a:cs typeface="Times New Roman" panose="02020603050405020304" pitchFamily="18" charset="0"/>
                        </a:rPr>
                        <a:t>name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r>
                        <a:rPr lang="en-US" sz="1400" dirty="0"/>
                        <a:t>The name attribute shows the title of the achievement, such as "Double Agree." This is used to give every badge a clear and meaningful label that the user can easily recognize. This makes the gamification feature more intuitive and engaging, allowing users to more easily see what they have earned and feel a sense of accomplishment when viewing the name of the badge.</a:t>
                      </a:r>
                      <a:endParaRPr lang="en-SG" sz="1400" dirty="0"/>
                    </a:p>
                  </a:txBody>
                  <a:tcPr anchor="ctr"/>
                </a:tc>
                <a:extLst>
                  <a:ext uri="{0D108BD9-81ED-4DB2-BD59-A6C34878D82A}">
                    <a16:rowId xmlns:a16="http://schemas.microsoft.com/office/drawing/2014/main" val="570779297"/>
                  </a:ext>
                </a:extLst>
              </a:tr>
              <a:tr h="718868">
                <a:tc>
                  <a:txBody>
                    <a:bodyPr/>
                    <a:lstStyle/>
                    <a:p>
                      <a:pPr>
                        <a:spcBef>
                          <a:spcPts val="600"/>
                        </a:spcBef>
                        <a:spcAft>
                          <a:spcPts val="600"/>
                        </a:spcAft>
                        <a:buNone/>
                      </a:pPr>
                      <a:r>
                        <a:rPr lang="en-SG" sz="1400" dirty="0">
                          <a:solidFill>
                            <a:srgbClr val="000000"/>
                          </a:solidFill>
                          <a:effectLst/>
                          <a:latin typeface="+mn-lt"/>
                          <a:ea typeface="SimSun" panose="02010600030101010101" pitchFamily="2" charset="-122"/>
                          <a:cs typeface="Times New Roman" panose="02020603050405020304" pitchFamily="18" charset="0"/>
                        </a:rPr>
                        <a:t>description</a:t>
                      </a:r>
                    </a:p>
                  </a:txBody>
                  <a:tcPr marL="68580" marR="68580" marT="0" marB="0" anchor="ctr"/>
                </a:tc>
                <a:tc>
                  <a:txBody>
                    <a:bodyPr/>
                    <a:lstStyle/>
                    <a:p>
                      <a:r>
                        <a:rPr lang="en-US" sz="1400" dirty="0"/>
                        <a:t>The description provides a short explanation of what the user must do to unlock that achievement. It aims to provide users with clarity and direction by outlining what precisely the requirement for each badge is. This benefits the user experience in that it motivates users by giving them clear goals, showing them how to progress or complete certain challenges within the app.</a:t>
                      </a:r>
                      <a:endParaRPr lang="en-SG" sz="1400" dirty="0"/>
                    </a:p>
                  </a:txBody>
                  <a:tcPr anchor="ctr"/>
                </a:tc>
                <a:extLst>
                  <a:ext uri="{0D108BD9-81ED-4DB2-BD59-A6C34878D82A}">
                    <a16:rowId xmlns:a16="http://schemas.microsoft.com/office/drawing/2014/main" val="775338638"/>
                  </a:ext>
                </a:extLst>
              </a:tr>
              <a:tr h="718868">
                <a:tc>
                  <a:txBody>
                    <a:bodyPr/>
                    <a:lstStyle/>
                    <a:p>
                      <a:pPr>
                        <a:spcBef>
                          <a:spcPts val="600"/>
                        </a:spcBef>
                        <a:spcAft>
                          <a:spcPts val="600"/>
                        </a:spcAft>
                        <a:buNone/>
                      </a:pPr>
                      <a:r>
                        <a:rPr lang="en-SG" sz="1400" dirty="0">
                          <a:solidFill>
                            <a:srgbClr val="000000"/>
                          </a:solidFill>
                          <a:effectLst/>
                          <a:latin typeface="+mn-lt"/>
                          <a:ea typeface="SimSun" panose="02010600030101010101" pitchFamily="2" charset="-122"/>
                          <a:cs typeface="Times New Roman" panose="02020603050405020304" pitchFamily="18" charset="0"/>
                        </a:rPr>
                        <a:t>difficulty</a:t>
                      </a:r>
                    </a:p>
                  </a:txBody>
                  <a:tcPr marL="68580" marR="68580" marT="0" marB="0" anchor="ctr"/>
                </a:tc>
                <a:tc>
                  <a:txBody>
                    <a:bodyPr/>
                    <a:lstStyle/>
                    <a:p>
                      <a:r>
                        <a:rPr lang="en-US" sz="1400" dirty="0"/>
                        <a:t>The difficulty attribute conveys how difficult it is to get certain achievements, usually on a scale of 1-easy to 3-hard. It aims at grouping achievements based on the level of effort they require so that the app can present them in meaningful and structured ways to the user. This, in turn, would give users a chance to make sense of their progress, develop a sense of reward when going through difficult challenges.</a:t>
                      </a:r>
                      <a:endParaRPr lang="en-SG" sz="1400" dirty="0"/>
                    </a:p>
                  </a:txBody>
                  <a:tcPr anchor="ctr"/>
                </a:tc>
                <a:extLst>
                  <a:ext uri="{0D108BD9-81ED-4DB2-BD59-A6C34878D82A}">
                    <a16:rowId xmlns:a16="http://schemas.microsoft.com/office/drawing/2014/main" val="3431582869"/>
                  </a:ext>
                </a:extLst>
              </a:tr>
              <a:tr h="718868">
                <a:tc>
                  <a:txBody>
                    <a:bodyPr/>
                    <a:lstStyle/>
                    <a:p>
                      <a:pPr>
                        <a:spcBef>
                          <a:spcPts val="600"/>
                        </a:spcBef>
                        <a:spcAft>
                          <a:spcPts val="600"/>
                        </a:spcAft>
                        <a:buNone/>
                      </a:pPr>
                      <a:r>
                        <a:rPr lang="en-SG" sz="1400" dirty="0">
                          <a:solidFill>
                            <a:srgbClr val="000000"/>
                          </a:solidFill>
                          <a:effectLst/>
                          <a:latin typeface="+mn-lt"/>
                          <a:ea typeface="SimSun" panose="02010600030101010101" pitchFamily="2" charset="-122"/>
                          <a:cs typeface="Times New Roman" panose="02020603050405020304" pitchFamily="18" charset="0"/>
                        </a:rPr>
                        <a:t>image</a:t>
                      </a:r>
                    </a:p>
                  </a:txBody>
                  <a:tcPr marL="68580" marR="68580" marT="0" marB="0" anchor="ctr"/>
                </a:tc>
                <a:tc>
                  <a:txBody>
                    <a:bodyPr/>
                    <a:lstStyle/>
                    <a:p>
                      <a:r>
                        <a:rPr lang="en-US" sz="1400" dirty="0"/>
                        <a:t>The image attribute stores the badge artwork, encoded in Base64 format. Its purpose is to visually represent the achievement inside the app, providing each badge with a unique look and feel. This way, it allows for the badge to display consistently without relying on external image hosting, but also making the achievement system becomes visually attractive and satisfying for the user.</a:t>
                      </a:r>
                      <a:endParaRPr lang="en-SG" sz="1400" dirty="0"/>
                    </a:p>
                  </a:txBody>
                  <a:tcPr anchor="ctr"/>
                </a:tc>
                <a:extLst>
                  <a:ext uri="{0D108BD9-81ED-4DB2-BD59-A6C34878D82A}">
                    <a16:rowId xmlns:a16="http://schemas.microsoft.com/office/drawing/2014/main" val="3371406228"/>
                  </a:ext>
                </a:extLst>
              </a:tr>
            </a:tbl>
          </a:graphicData>
        </a:graphic>
      </p:graphicFrame>
    </p:spTree>
    <p:extLst>
      <p:ext uri="{BB962C8B-B14F-4D97-AF65-F5344CB8AC3E}">
        <p14:creationId xmlns:p14="http://schemas.microsoft.com/office/powerpoint/2010/main" val="41623014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3B6FA-C0D6-8486-5FF4-5D4A4D0843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145FA-00B6-6B48-2A16-94260EADD828}"/>
              </a:ext>
            </a:extLst>
          </p:cNvPr>
          <p:cNvSpPr>
            <a:spLocks noGrp="1"/>
          </p:cNvSpPr>
          <p:nvPr>
            <p:ph type="title"/>
          </p:nvPr>
        </p:nvSpPr>
        <p:spPr>
          <a:xfrm>
            <a:off x="710063" y="0"/>
            <a:ext cx="10515600" cy="1325563"/>
          </a:xfrm>
        </p:spPr>
        <p:txBody>
          <a:bodyPr/>
          <a:lstStyle/>
          <a:p>
            <a:pPr lvl="0"/>
            <a:r>
              <a:rPr lang="en-US" b="1" dirty="0"/>
              <a:t>Data Modeling (Additional Feature)</a:t>
            </a:r>
            <a:endParaRPr lang="en-US" dirty="0"/>
          </a:p>
        </p:txBody>
      </p:sp>
      <p:graphicFrame>
        <p:nvGraphicFramePr>
          <p:cNvPr id="6" name="Table 5">
            <a:extLst>
              <a:ext uri="{FF2B5EF4-FFF2-40B4-BE49-F238E27FC236}">
                <a16:creationId xmlns:a16="http://schemas.microsoft.com/office/drawing/2014/main" id="{972B65BB-FD52-5436-4872-9A435BC72753}"/>
              </a:ext>
            </a:extLst>
          </p:cNvPr>
          <p:cNvGraphicFramePr>
            <a:graphicFrameLocks noGrp="1"/>
          </p:cNvGraphicFramePr>
          <p:nvPr>
            <p:extLst>
              <p:ext uri="{D42A27DB-BD31-4B8C-83A1-F6EECF244321}">
                <p14:modId xmlns:p14="http://schemas.microsoft.com/office/powerpoint/2010/main" val="2431717279"/>
              </p:ext>
            </p:extLst>
          </p:nvPr>
        </p:nvGraphicFramePr>
        <p:xfrm>
          <a:off x="558693" y="1021369"/>
          <a:ext cx="11398518" cy="2926080"/>
        </p:xfrm>
        <a:graphic>
          <a:graphicData uri="http://schemas.openxmlformats.org/drawingml/2006/table">
            <a:tbl>
              <a:tblPr>
                <a:tableStyleId>{5940675A-B579-460E-94D1-54222C63F5DA}</a:tableStyleId>
              </a:tblPr>
              <a:tblGrid>
                <a:gridCol w="3034164">
                  <a:extLst>
                    <a:ext uri="{9D8B030D-6E8A-4147-A177-3AD203B41FA5}">
                      <a16:colId xmlns:a16="http://schemas.microsoft.com/office/drawing/2014/main" val="402914341"/>
                    </a:ext>
                  </a:extLst>
                </a:gridCol>
                <a:gridCol w="1769442">
                  <a:extLst>
                    <a:ext uri="{9D8B030D-6E8A-4147-A177-3AD203B41FA5}">
                      <a16:colId xmlns:a16="http://schemas.microsoft.com/office/drawing/2014/main" val="2214403198"/>
                    </a:ext>
                  </a:extLst>
                </a:gridCol>
                <a:gridCol w="1811156">
                  <a:extLst>
                    <a:ext uri="{9D8B030D-6E8A-4147-A177-3AD203B41FA5}">
                      <a16:colId xmlns:a16="http://schemas.microsoft.com/office/drawing/2014/main" val="4128410810"/>
                    </a:ext>
                  </a:extLst>
                </a:gridCol>
                <a:gridCol w="4783756">
                  <a:extLst>
                    <a:ext uri="{9D8B030D-6E8A-4147-A177-3AD203B41FA5}">
                      <a16:colId xmlns:a16="http://schemas.microsoft.com/office/drawing/2014/main" val="1825415284"/>
                    </a:ext>
                  </a:extLst>
                </a:gridCol>
              </a:tblGrid>
              <a:tr h="182880">
                <a:tc>
                  <a:txBody>
                    <a:bodyPr/>
                    <a:lstStyle/>
                    <a:p>
                      <a:pPr>
                        <a:buNone/>
                      </a:pPr>
                      <a:r>
                        <a:rPr lang="en-US" sz="1400" b="1" dirty="0"/>
                        <a:t>Table: Attainment</a:t>
                      </a:r>
                      <a:endParaRPr lang="en-US" sz="1400" b="0" dirty="0"/>
                    </a:p>
                  </a:txBody>
                  <a:tcPr anchor="ctr">
                    <a:solidFill>
                      <a:schemeClr val="bg1"/>
                    </a:solidFill>
                  </a:tcPr>
                </a:tc>
                <a:tc gridSpan="3">
                  <a:txBody>
                    <a:bodyPr/>
                    <a:lstStyle/>
                    <a:p>
                      <a:pPr>
                        <a:buNone/>
                      </a:pPr>
                      <a:r>
                        <a:rPr lang="en-US" sz="1400" b="1" dirty="0"/>
                        <a:t>Description: </a:t>
                      </a:r>
                      <a:r>
                        <a:rPr lang="en-US" sz="1400" dirty="0"/>
                        <a:t>Stores a list of all achievements that the user has attained</a:t>
                      </a:r>
                    </a:p>
                    <a:p>
                      <a:pPr>
                        <a:buNone/>
                      </a:pPr>
                      <a:endParaRPr lang="en-US" sz="1400" b="1" dirty="0"/>
                    </a:p>
                    <a:p>
                      <a:pPr>
                        <a:buNone/>
                      </a:pPr>
                      <a:r>
                        <a:rPr lang="en-US" sz="1400" b="1" dirty="0"/>
                        <a:t>Usage in App:</a:t>
                      </a:r>
                      <a:r>
                        <a:rPr lang="en-US" sz="1400" dirty="0"/>
                        <a:t> Used to display which badges the user has achieved</a:t>
                      </a:r>
                    </a:p>
                  </a:txBody>
                  <a:tcPr anchor="ctr">
                    <a:solidFill>
                      <a:schemeClr val="bg1"/>
                    </a:solidFill>
                  </a:tcPr>
                </a:tc>
                <a:tc hMerge="1">
                  <a:txBody>
                    <a:bodyPr/>
                    <a:lstStyle/>
                    <a:p>
                      <a:endParaRPr lang="en-US"/>
                    </a:p>
                  </a:txBody>
                  <a:tcPr/>
                </a:tc>
                <a:tc hMerge="1">
                  <a:txBody>
                    <a:bodyPr/>
                    <a:lstStyle/>
                    <a:p>
                      <a:pPr>
                        <a:buNone/>
                      </a:pPr>
                      <a:endParaRPr lang="en-US" b="1" dirty="0"/>
                    </a:p>
                  </a:txBody>
                  <a:tcPr anchor="ctr"/>
                </a:tc>
                <a:extLst>
                  <a:ext uri="{0D108BD9-81ED-4DB2-BD59-A6C34878D82A}">
                    <a16:rowId xmlns:a16="http://schemas.microsoft.com/office/drawing/2014/main" val="2947018476"/>
                  </a:ext>
                </a:extLst>
              </a:tr>
              <a:tr h="182880">
                <a:tc>
                  <a:txBody>
                    <a:bodyPr/>
                    <a:lstStyle/>
                    <a:p>
                      <a:pPr>
                        <a:buNone/>
                      </a:pPr>
                      <a:r>
                        <a:rPr lang="en-US" sz="1600" b="1" dirty="0"/>
                        <a:t>Attribute</a:t>
                      </a:r>
                    </a:p>
                  </a:txBody>
                  <a:tcPr anchor="ctr">
                    <a:solidFill>
                      <a:schemeClr val="bg1"/>
                    </a:solidFill>
                  </a:tcPr>
                </a:tc>
                <a:tc>
                  <a:txBody>
                    <a:bodyPr/>
                    <a:lstStyle/>
                    <a:p>
                      <a:pPr>
                        <a:buNone/>
                      </a:pPr>
                      <a:r>
                        <a:rPr lang="en-US" sz="1600" b="1" dirty="0"/>
                        <a:t>Type</a:t>
                      </a:r>
                    </a:p>
                  </a:txBody>
                  <a:tcPr anchor="ctr">
                    <a:solidFill>
                      <a:schemeClr val="bg1"/>
                    </a:solidFill>
                  </a:tcPr>
                </a:tc>
                <a:tc>
                  <a:txBody>
                    <a:bodyPr/>
                    <a:lstStyle/>
                    <a:p>
                      <a:pPr>
                        <a:buNone/>
                      </a:pPr>
                      <a:r>
                        <a:rPr lang="en-US" sz="1600" b="1" dirty="0"/>
                        <a:t>Sample Value</a:t>
                      </a:r>
                    </a:p>
                  </a:txBody>
                  <a:tcPr anchor="ctr">
                    <a:solidFill>
                      <a:schemeClr val="bg1"/>
                    </a:solidFill>
                  </a:tcPr>
                </a:tc>
                <a:tc>
                  <a:txBody>
                    <a:bodyPr/>
                    <a:lstStyle/>
                    <a:p>
                      <a:pPr>
                        <a:buNone/>
                      </a:pPr>
                      <a:r>
                        <a:rPr lang="en-US" sz="1600" b="1" dirty="0"/>
                        <a:t>Description</a:t>
                      </a:r>
                    </a:p>
                  </a:txBody>
                  <a:tcPr anchor="ctr">
                    <a:solidFill>
                      <a:schemeClr val="bg1"/>
                    </a:solidFill>
                  </a:tcPr>
                </a:tc>
                <a:extLst>
                  <a:ext uri="{0D108BD9-81ED-4DB2-BD59-A6C34878D82A}">
                    <a16:rowId xmlns:a16="http://schemas.microsoft.com/office/drawing/2014/main" val="70020745"/>
                  </a:ext>
                </a:extLst>
              </a:tr>
              <a:tr h="0">
                <a:tc>
                  <a:txBody>
                    <a:bodyPr/>
                    <a:lstStyle/>
                    <a:p>
                      <a:pPr>
                        <a:spcBef>
                          <a:spcPts val="600"/>
                        </a:spcBef>
                        <a:spcAft>
                          <a:spcPts val="600"/>
                        </a:spcAft>
                        <a:buNone/>
                      </a:pPr>
                      <a:r>
                        <a:rPr lang="en-US" sz="1400" dirty="0" err="1">
                          <a:solidFill>
                            <a:srgbClr val="000000"/>
                          </a:solidFill>
                          <a:effectLst/>
                          <a:latin typeface="+mn-lt"/>
                          <a:ea typeface="SimSun" panose="02010600030101010101" pitchFamily="2" charset="-122"/>
                          <a:cs typeface="Times New Roman" panose="02020603050405020304" pitchFamily="18" charset="0"/>
                        </a:rPr>
                        <a:t>attained_id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a:buNone/>
                      </a:pPr>
                      <a:r>
                        <a:rPr lang="en-US" sz="1400" dirty="0">
                          <a:latin typeface="+mn-lt"/>
                        </a:rPr>
                        <a:t>String</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dirty="0">
                          <a:solidFill>
                            <a:srgbClr val="000000"/>
                          </a:solidFill>
                          <a:effectLst/>
                          <a:latin typeface="+mn-lt"/>
                          <a:ea typeface="SimSun" panose="02010600030101010101" pitchFamily="2" charset="-122"/>
                          <a:cs typeface="Times New Roman" panose="02020603050405020304" pitchFamily="18" charset="0"/>
                        </a:rPr>
                        <a:t>68f6f1697347193</a:t>
                      </a:r>
                    </a:p>
                  </a:txBody>
                  <a:tcPr anchor="ctr">
                    <a:solidFill>
                      <a:schemeClr val="bg1"/>
                    </a:solidFill>
                  </a:tcPr>
                </a:tc>
                <a:tc>
                  <a:txBody>
                    <a:bodyPr/>
                    <a:lstStyle/>
                    <a:p>
                      <a:pPr>
                        <a:buNone/>
                      </a:pPr>
                      <a:r>
                        <a:rPr lang="en-US" sz="1400" kern="1200" dirty="0">
                          <a:solidFill>
                            <a:schemeClr val="tx1"/>
                          </a:solidFill>
                          <a:effectLst/>
                          <a:latin typeface="+mn-lt"/>
                          <a:ea typeface="+mn-ea"/>
                          <a:cs typeface="+mn-cs"/>
                        </a:rPr>
                        <a:t>Unique identifier of each attained achievement record </a:t>
                      </a:r>
                      <a:endParaRPr lang="en-US" sz="1400" dirty="0">
                        <a:latin typeface="+mn-lt"/>
                      </a:endParaRPr>
                    </a:p>
                  </a:txBody>
                  <a:tcPr anchor="ctr">
                    <a:solidFill>
                      <a:schemeClr val="bg1"/>
                    </a:solidFill>
                  </a:tcPr>
                </a:tc>
                <a:extLst>
                  <a:ext uri="{0D108BD9-81ED-4DB2-BD59-A6C34878D82A}">
                    <a16:rowId xmlns:a16="http://schemas.microsoft.com/office/drawing/2014/main" val="2707098043"/>
                  </a:ext>
                </a:extLst>
              </a:tr>
              <a:tr h="0">
                <a:tc>
                  <a:txBody>
                    <a:bodyPr/>
                    <a:lstStyle/>
                    <a:p>
                      <a:pPr>
                        <a:spcBef>
                          <a:spcPts val="600"/>
                        </a:spcBef>
                        <a:spcAft>
                          <a:spcPts val="600"/>
                        </a:spcAft>
                        <a:buNone/>
                      </a:pPr>
                      <a:r>
                        <a:rPr lang="en-US" sz="1400" dirty="0" err="1">
                          <a:solidFill>
                            <a:srgbClr val="000000"/>
                          </a:solidFill>
                          <a:effectLst/>
                          <a:latin typeface="+mn-lt"/>
                          <a:ea typeface="SimSun" panose="02010600030101010101" pitchFamily="2" charset="-122"/>
                          <a:cs typeface="Times New Roman" panose="02020603050405020304" pitchFamily="18" charset="0"/>
                        </a:rPr>
                        <a:t>achievement_id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String</a:t>
                      </a:r>
                    </a:p>
                  </a:txBody>
                  <a:tcPr anchor="ctr">
                    <a:solidFill>
                      <a:schemeClr val="bg1"/>
                    </a:solidFill>
                  </a:tcPr>
                </a:tc>
                <a:tc>
                  <a:txBody>
                    <a:bodyPr/>
                    <a:lstStyle/>
                    <a:p>
                      <a:pPr>
                        <a:buNone/>
                      </a:pPr>
                      <a:r>
                        <a:rPr lang="en-SG" sz="1400" dirty="0">
                          <a:solidFill>
                            <a:srgbClr val="000000"/>
                          </a:solidFill>
                          <a:effectLst/>
                          <a:latin typeface="+mn-lt"/>
                          <a:ea typeface="SimSun" panose="02010600030101010101" pitchFamily="2" charset="-122"/>
                          <a:cs typeface="Times New Roman" panose="02020603050405020304" pitchFamily="18" charset="0"/>
                        </a:rPr>
                        <a:t>68f6f1697347194</a:t>
                      </a:r>
                      <a:endParaRPr lang="en-US" sz="1400" dirty="0">
                        <a:latin typeface="+mn-lt"/>
                      </a:endParaRP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effectLst/>
                          <a:latin typeface="+mn-lt"/>
                          <a:ea typeface="+mn-ea"/>
                          <a:cs typeface="+mn-cs"/>
                        </a:rPr>
                        <a:t>The achievement that this is referring to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tx1"/>
                          </a:solidFill>
                          <a:effectLst/>
                          <a:latin typeface="+mn-lt"/>
                          <a:ea typeface="+mn-ea"/>
                          <a:cs typeface="+mn-cs"/>
                        </a:rPr>
                        <a:t>References an </a:t>
                      </a:r>
                      <a:r>
                        <a:rPr lang="en-US" sz="1400" kern="1200" dirty="0" err="1">
                          <a:solidFill>
                            <a:schemeClr val="tx1"/>
                          </a:solidFill>
                          <a:effectLst/>
                          <a:latin typeface="+mn-lt"/>
                          <a:ea typeface="+mn-ea"/>
                          <a:cs typeface="+mn-cs"/>
                        </a:rPr>
                        <a:t>achievement_id</a:t>
                      </a:r>
                      <a:r>
                        <a:rPr lang="en-US" sz="1400" kern="1200" dirty="0">
                          <a:solidFill>
                            <a:schemeClr val="tx1"/>
                          </a:solidFill>
                          <a:effectLst/>
                          <a:latin typeface="+mn-lt"/>
                          <a:ea typeface="+mn-ea"/>
                          <a:cs typeface="+mn-cs"/>
                        </a:rPr>
                        <a:t> from the Achievement Table</a:t>
                      </a:r>
                      <a:endParaRPr lang="en-US" sz="1400" dirty="0">
                        <a:latin typeface="+mn-lt"/>
                      </a:endParaRPr>
                    </a:p>
                  </a:txBody>
                  <a:tcPr anchor="ctr">
                    <a:solidFill>
                      <a:schemeClr val="bg1"/>
                    </a:solidFill>
                  </a:tcPr>
                </a:tc>
                <a:extLst>
                  <a:ext uri="{0D108BD9-81ED-4DB2-BD59-A6C34878D82A}">
                    <a16:rowId xmlns:a16="http://schemas.microsoft.com/office/drawing/2014/main" val="1840665485"/>
                  </a:ext>
                </a:extLst>
              </a:tr>
              <a:tr h="0">
                <a:tc>
                  <a:txBody>
                    <a:bodyPr/>
                    <a:lstStyle/>
                    <a:p>
                      <a:pPr>
                        <a:spcBef>
                          <a:spcPts val="600"/>
                        </a:spcBef>
                        <a:spcAft>
                          <a:spcPts val="600"/>
                        </a:spcAft>
                        <a:buNone/>
                      </a:pPr>
                      <a:r>
                        <a:rPr lang="en-SG" sz="1400" dirty="0">
                          <a:solidFill>
                            <a:srgbClr val="000000"/>
                          </a:solidFill>
                          <a:effectLst/>
                          <a:latin typeface="+mn-lt"/>
                          <a:ea typeface="SimSun" panose="02010600030101010101" pitchFamily="2" charset="-122"/>
                          <a:cs typeface="Times New Roman" panose="02020603050405020304" pitchFamily="18" charset="0"/>
                        </a:rPr>
                        <a:t>student_id</a:t>
                      </a:r>
                    </a:p>
                  </a:txBody>
                  <a:tcPr marL="68580" marR="6858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String</a:t>
                      </a:r>
                    </a:p>
                  </a:txBody>
                  <a:tcPr anchor="ctr">
                    <a:solidFill>
                      <a:schemeClr val="bg1"/>
                    </a:solidFill>
                  </a:tcPr>
                </a:tc>
                <a:tc>
                  <a:txBody>
                    <a:bodyPr/>
                    <a:lstStyle/>
                    <a:p>
                      <a:pPr>
                        <a:buNone/>
                      </a:pPr>
                      <a:r>
                        <a:rPr lang="en-US" sz="1400" dirty="0">
                          <a:solidFill>
                            <a:srgbClr val="000000"/>
                          </a:solidFill>
                          <a:effectLst/>
                          <a:latin typeface="+mn-lt"/>
                          <a:ea typeface="SimSun" panose="02010600030101010101" pitchFamily="2" charset="-122"/>
                          <a:cs typeface="Times New Roman" panose="02020603050405020304" pitchFamily="18" charset="0"/>
                        </a:rPr>
                        <a:t>1234567A</a:t>
                      </a:r>
                      <a:endParaRPr lang="en-US" sz="1400" dirty="0">
                        <a:latin typeface="+mn-lt"/>
                      </a:endParaRPr>
                    </a:p>
                  </a:txBody>
                  <a:tcPr anchor="ctr">
                    <a:solidFill>
                      <a:schemeClr val="bg1"/>
                    </a:solidFill>
                  </a:tcPr>
                </a:tc>
                <a:tc>
                  <a:txBody>
                    <a:bodyPr/>
                    <a:lstStyle/>
                    <a:p>
                      <a:pPr>
                        <a:buNone/>
                      </a:pPr>
                      <a:r>
                        <a:rPr lang="en-US" sz="1400" dirty="0">
                          <a:latin typeface="+mn-lt"/>
                        </a:rPr>
                        <a:t>The student that this attainment belongs to</a:t>
                      </a:r>
                    </a:p>
                    <a:p>
                      <a:pPr>
                        <a:buNone/>
                      </a:pPr>
                      <a:r>
                        <a:rPr lang="en-US" sz="1400" dirty="0">
                          <a:latin typeface="+mn-lt"/>
                        </a:rPr>
                        <a:t>References a student record from the Users Table</a:t>
                      </a:r>
                    </a:p>
                  </a:txBody>
                  <a:tcPr anchor="ctr">
                    <a:solidFill>
                      <a:schemeClr val="bg1"/>
                    </a:solidFill>
                  </a:tcPr>
                </a:tc>
                <a:extLst>
                  <a:ext uri="{0D108BD9-81ED-4DB2-BD59-A6C34878D82A}">
                    <a16:rowId xmlns:a16="http://schemas.microsoft.com/office/drawing/2014/main" val="4186078119"/>
                  </a:ext>
                </a:extLst>
              </a:tr>
              <a:tr h="0">
                <a:tc>
                  <a:txBody>
                    <a:bodyPr/>
                    <a:lstStyle/>
                    <a:p>
                      <a:pPr>
                        <a:spcBef>
                          <a:spcPts val="600"/>
                        </a:spcBef>
                        <a:spcAft>
                          <a:spcPts val="600"/>
                        </a:spcAft>
                        <a:buNone/>
                      </a:pPr>
                      <a:r>
                        <a:rPr lang="en-SG" sz="1400" dirty="0" err="1">
                          <a:solidFill>
                            <a:srgbClr val="000000"/>
                          </a:solidFill>
                          <a:effectLst/>
                          <a:latin typeface="+mn-lt"/>
                          <a:ea typeface="SimSun" panose="02010600030101010101" pitchFamily="2" charset="-122"/>
                          <a:cs typeface="Times New Roman" panose="02020603050405020304" pitchFamily="18" charset="0"/>
                        </a:rPr>
                        <a:t>achieved_date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Date</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mn-lt"/>
                        </a:rPr>
                        <a:t>2025-11-08T00:00:00Z</a:t>
                      </a:r>
                    </a:p>
                  </a:txBody>
                  <a:tcPr anchor="ctr">
                    <a:solidFill>
                      <a:schemeClr val="bg1"/>
                    </a:solidFill>
                  </a:tcPr>
                </a:tc>
                <a:tc>
                  <a:txBody>
                    <a:bodyPr/>
                    <a:lstStyle/>
                    <a:p>
                      <a:pPr>
                        <a:buNone/>
                      </a:pPr>
                      <a:r>
                        <a:rPr lang="en-US" sz="1400" dirty="0">
                          <a:latin typeface="+mn-lt"/>
                        </a:rPr>
                        <a:t>The date that the student achieved this badge</a:t>
                      </a:r>
                    </a:p>
                  </a:txBody>
                  <a:tcPr anchor="ctr">
                    <a:solidFill>
                      <a:schemeClr val="bg1"/>
                    </a:solidFill>
                  </a:tcPr>
                </a:tc>
                <a:extLst>
                  <a:ext uri="{0D108BD9-81ED-4DB2-BD59-A6C34878D82A}">
                    <a16:rowId xmlns:a16="http://schemas.microsoft.com/office/drawing/2014/main" val="2917213991"/>
                  </a:ext>
                </a:extLst>
              </a:tr>
            </a:tbl>
          </a:graphicData>
        </a:graphic>
      </p:graphicFrame>
    </p:spTree>
    <p:extLst>
      <p:ext uri="{BB962C8B-B14F-4D97-AF65-F5344CB8AC3E}">
        <p14:creationId xmlns:p14="http://schemas.microsoft.com/office/powerpoint/2010/main" val="10540451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6B647-1F13-00FC-5239-74D46F85A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C0CC8-2CFC-DAA9-4B7F-2876CA26A97F}"/>
              </a:ext>
            </a:extLst>
          </p:cNvPr>
          <p:cNvSpPr>
            <a:spLocks noGrp="1"/>
          </p:cNvSpPr>
          <p:nvPr>
            <p:ph type="title"/>
          </p:nvPr>
        </p:nvSpPr>
        <p:spPr>
          <a:xfrm>
            <a:off x="838200" y="365126"/>
            <a:ext cx="10515600" cy="644166"/>
          </a:xfrm>
        </p:spPr>
        <p:txBody>
          <a:bodyPr>
            <a:normAutofit fontScale="90000"/>
          </a:bodyPr>
          <a:lstStyle/>
          <a:p>
            <a:r>
              <a:rPr lang="en-SG" b="1" dirty="0"/>
              <a:t>Data Modeling - </a:t>
            </a:r>
            <a:r>
              <a:rPr lang="en-US" b="1" dirty="0"/>
              <a:t>Attainment</a:t>
            </a:r>
            <a:r>
              <a:rPr lang="en-SG" b="1" dirty="0"/>
              <a:t> (Explanation)</a:t>
            </a:r>
          </a:p>
        </p:txBody>
      </p:sp>
      <p:graphicFrame>
        <p:nvGraphicFramePr>
          <p:cNvPr id="4" name="Content Placeholder 3">
            <a:extLst>
              <a:ext uri="{FF2B5EF4-FFF2-40B4-BE49-F238E27FC236}">
                <a16:creationId xmlns:a16="http://schemas.microsoft.com/office/drawing/2014/main" id="{98BAA241-0FE9-0219-BDA0-790D0D957537}"/>
              </a:ext>
            </a:extLst>
          </p:cNvPr>
          <p:cNvGraphicFramePr>
            <a:graphicFrameLocks noGrp="1"/>
          </p:cNvGraphicFramePr>
          <p:nvPr>
            <p:ph idx="1"/>
            <p:extLst>
              <p:ext uri="{D42A27DB-BD31-4B8C-83A1-F6EECF244321}">
                <p14:modId xmlns:p14="http://schemas.microsoft.com/office/powerpoint/2010/main" val="948683721"/>
              </p:ext>
            </p:extLst>
          </p:nvPr>
        </p:nvGraphicFramePr>
        <p:xfrm>
          <a:off x="838200" y="1089863"/>
          <a:ext cx="10515600" cy="3550573"/>
        </p:xfrm>
        <a:graphic>
          <a:graphicData uri="http://schemas.openxmlformats.org/drawingml/2006/table">
            <a:tbl>
              <a:tblPr firstRow="1" bandRow="1">
                <a:tableStyleId>{5940675A-B579-460E-94D1-54222C63F5DA}</a:tableStyleId>
              </a:tblPr>
              <a:tblGrid>
                <a:gridCol w="1283898">
                  <a:extLst>
                    <a:ext uri="{9D8B030D-6E8A-4147-A177-3AD203B41FA5}">
                      <a16:colId xmlns:a16="http://schemas.microsoft.com/office/drawing/2014/main" val="3699532382"/>
                    </a:ext>
                  </a:extLst>
                </a:gridCol>
                <a:gridCol w="9231702">
                  <a:extLst>
                    <a:ext uri="{9D8B030D-6E8A-4147-A177-3AD203B41FA5}">
                      <a16:colId xmlns:a16="http://schemas.microsoft.com/office/drawing/2014/main" val="2339287375"/>
                    </a:ext>
                  </a:extLst>
                </a:gridCol>
              </a:tblGrid>
              <a:tr h="411133">
                <a:tc>
                  <a:txBody>
                    <a:bodyPr/>
                    <a:lstStyle/>
                    <a:p>
                      <a:r>
                        <a:rPr lang="en-SG" sz="1400" b="1" dirty="0"/>
                        <a:t>Attribute</a:t>
                      </a:r>
                    </a:p>
                  </a:txBody>
                  <a:tcPr anchor="ctr"/>
                </a:tc>
                <a:tc>
                  <a:txBody>
                    <a:bodyPr/>
                    <a:lstStyle/>
                    <a:p>
                      <a:r>
                        <a:rPr lang="en-SG" sz="1400" b="1" dirty="0"/>
                        <a:t>Additional Explanation</a:t>
                      </a:r>
                    </a:p>
                  </a:txBody>
                  <a:tcPr anchor="ctr"/>
                </a:tc>
                <a:extLst>
                  <a:ext uri="{0D108BD9-81ED-4DB2-BD59-A6C34878D82A}">
                    <a16:rowId xmlns:a16="http://schemas.microsoft.com/office/drawing/2014/main" val="1943573786"/>
                  </a:ext>
                </a:extLst>
              </a:tr>
              <a:tr h="718868">
                <a:tc>
                  <a:txBody>
                    <a:bodyPr/>
                    <a:lstStyle/>
                    <a:p>
                      <a:pPr>
                        <a:spcBef>
                          <a:spcPts val="600"/>
                        </a:spcBef>
                        <a:spcAft>
                          <a:spcPts val="600"/>
                        </a:spcAft>
                        <a:buNone/>
                      </a:pPr>
                      <a:r>
                        <a:rPr lang="en-US" sz="1400" dirty="0" err="1">
                          <a:solidFill>
                            <a:srgbClr val="000000"/>
                          </a:solidFill>
                          <a:effectLst/>
                          <a:latin typeface="+mn-lt"/>
                          <a:ea typeface="SimSun" panose="02010600030101010101" pitchFamily="2" charset="-122"/>
                          <a:cs typeface="Times New Roman" panose="02020603050405020304" pitchFamily="18" charset="0"/>
                        </a:rPr>
                        <a:t>attained_id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err="1"/>
                        <a:t>attained_id</a:t>
                      </a:r>
                      <a:r>
                        <a:rPr lang="en-US" sz="1400" dirty="0"/>
                        <a:t> is a unique identifier for each record of an achievement the user attains. This allows each attainment entry in the database to be uniquely referred to, even in the case where the same achievement has been achieved by different users. It keeps the tracking of user achievements accurate, without conflicts, because it can easily retrieve, update, or manage any individual attainment record through the website.</a:t>
                      </a:r>
                      <a:endParaRPr lang="en-SG" sz="14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913152042"/>
                  </a:ext>
                </a:extLst>
              </a:tr>
              <a:tr h="718868">
                <a:tc>
                  <a:txBody>
                    <a:bodyPr/>
                    <a:lstStyle/>
                    <a:p>
                      <a:pPr>
                        <a:spcBef>
                          <a:spcPts val="600"/>
                        </a:spcBef>
                        <a:spcAft>
                          <a:spcPts val="600"/>
                        </a:spcAft>
                        <a:buNone/>
                      </a:pPr>
                      <a:r>
                        <a:rPr lang="en-US" sz="1400" dirty="0" err="1">
                          <a:solidFill>
                            <a:srgbClr val="000000"/>
                          </a:solidFill>
                          <a:effectLst/>
                          <a:latin typeface="+mn-lt"/>
                          <a:ea typeface="SimSun" panose="02010600030101010101" pitchFamily="2" charset="-122"/>
                          <a:cs typeface="Times New Roman" panose="02020603050405020304" pitchFamily="18" charset="0"/>
                        </a:rPr>
                        <a:t>achievement_id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r>
                        <a:rPr lang="en-US" sz="1400" dirty="0" err="1"/>
                        <a:t>achievement_id</a:t>
                      </a:r>
                      <a:r>
                        <a:rPr lang="en-US" sz="1400" dirty="0"/>
                        <a:t> links each attainment back to the specific achievement in the Achievements table. This tells which badge the user earned by referring to its original table. This helps in displaying the appropriate badge details of name, description, and difficulty without duplication, hence keeping the data model organized with consistency.</a:t>
                      </a:r>
                      <a:endParaRPr lang="en-SG" sz="1400" dirty="0"/>
                    </a:p>
                  </a:txBody>
                  <a:tcPr anchor="ctr"/>
                </a:tc>
                <a:extLst>
                  <a:ext uri="{0D108BD9-81ED-4DB2-BD59-A6C34878D82A}">
                    <a16:rowId xmlns:a16="http://schemas.microsoft.com/office/drawing/2014/main" val="570779297"/>
                  </a:ext>
                </a:extLst>
              </a:tr>
              <a:tr h="718868">
                <a:tc>
                  <a:txBody>
                    <a:bodyPr/>
                    <a:lstStyle/>
                    <a:p>
                      <a:pPr>
                        <a:spcBef>
                          <a:spcPts val="600"/>
                        </a:spcBef>
                        <a:spcAft>
                          <a:spcPts val="600"/>
                        </a:spcAft>
                        <a:buNone/>
                      </a:pPr>
                      <a:r>
                        <a:rPr lang="en-SG" sz="1400" dirty="0" err="1">
                          <a:solidFill>
                            <a:srgbClr val="000000"/>
                          </a:solidFill>
                          <a:effectLst/>
                          <a:latin typeface="+mn-lt"/>
                          <a:ea typeface="SimSun" panose="02010600030101010101" pitchFamily="2" charset="-122"/>
                          <a:cs typeface="Times New Roman" panose="02020603050405020304" pitchFamily="18" charset="0"/>
                        </a:rPr>
                        <a:t>student_id</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r>
                        <a:rPr lang="en-US" sz="1400" dirty="0"/>
                        <a:t>The </a:t>
                      </a:r>
                      <a:r>
                        <a:rPr lang="en-US" sz="1400" dirty="0" err="1"/>
                        <a:t>student_id</a:t>
                      </a:r>
                      <a:r>
                        <a:rPr lang="en-US" sz="1400" dirty="0"/>
                        <a:t> identifies the student who achieved the achievement. Its purpose is to join each attainment record back to a user from the Users table. This allows the website to easily display personalized progress, show which badges belong to which user.</a:t>
                      </a:r>
                      <a:endParaRPr lang="en-SG" sz="1400" dirty="0"/>
                    </a:p>
                  </a:txBody>
                  <a:tcPr anchor="ctr"/>
                </a:tc>
                <a:extLst>
                  <a:ext uri="{0D108BD9-81ED-4DB2-BD59-A6C34878D82A}">
                    <a16:rowId xmlns:a16="http://schemas.microsoft.com/office/drawing/2014/main" val="775338638"/>
                  </a:ext>
                </a:extLst>
              </a:tr>
              <a:tr h="718868">
                <a:tc>
                  <a:txBody>
                    <a:bodyPr/>
                    <a:lstStyle/>
                    <a:p>
                      <a:pPr>
                        <a:spcBef>
                          <a:spcPts val="600"/>
                        </a:spcBef>
                        <a:spcAft>
                          <a:spcPts val="600"/>
                        </a:spcAft>
                        <a:buNone/>
                      </a:pPr>
                      <a:r>
                        <a:rPr lang="en-US" sz="1400" dirty="0" err="1"/>
                        <a:t>achieved_date</a:t>
                      </a:r>
                      <a:endParaRPr lang="en-SG" sz="1400" dirty="0">
                        <a:solidFill>
                          <a:srgbClr val="000000"/>
                        </a:solidFill>
                        <a:effectLst/>
                        <a:latin typeface="+mn-lt"/>
                        <a:ea typeface="SimSun" panose="02010600030101010101" pitchFamily="2" charset="-122"/>
                        <a:cs typeface="Times New Roman" panose="02020603050405020304" pitchFamily="18" charset="0"/>
                      </a:endParaRPr>
                    </a:p>
                  </a:txBody>
                  <a:tcPr marL="68580" marR="68580" marT="0" marB="0" anchor="ctr"/>
                </a:tc>
                <a:tc>
                  <a:txBody>
                    <a:bodyPr/>
                    <a:lstStyle/>
                    <a:p>
                      <a:r>
                        <a:rPr lang="en-US" sz="1400" dirty="0"/>
                        <a:t>The </a:t>
                      </a:r>
                      <a:r>
                        <a:rPr lang="en-US" sz="1400" dirty="0" err="1"/>
                        <a:t>achieved_date</a:t>
                      </a:r>
                      <a:r>
                        <a:rPr lang="en-US" sz="1400" dirty="0"/>
                        <a:t> records the date and time the student unlocked the achievement. This serves the purpose of storing a timeline of when each badge was earned. This enables the application to create progress histories and show recent accomplishments.</a:t>
                      </a:r>
                      <a:endParaRPr lang="en-SG" sz="1400" dirty="0"/>
                    </a:p>
                  </a:txBody>
                  <a:tcPr anchor="ctr"/>
                </a:tc>
                <a:extLst>
                  <a:ext uri="{0D108BD9-81ED-4DB2-BD59-A6C34878D82A}">
                    <a16:rowId xmlns:a16="http://schemas.microsoft.com/office/drawing/2014/main" val="3431582869"/>
                  </a:ext>
                </a:extLst>
              </a:tr>
            </a:tbl>
          </a:graphicData>
        </a:graphic>
      </p:graphicFrame>
    </p:spTree>
    <p:extLst>
      <p:ext uri="{BB962C8B-B14F-4D97-AF65-F5344CB8AC3E}">
        <p14:creationId xmlns:p14="http://schemas.microsoft.com/office/powerpoint/2010/main" val="7605754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D63F1-7100-3F4A-01D5-121E91BBA867}"/>
              </a:ext>
            </a:extLst>
          </p:cNvPr>
          <p:cNvSpPr>
            <a:spLocks noGrp="1"/>
          </p:cNvSpPr>
          <p:nvPr>
            <p:ph type="title"/>
          </p:nvPr>
        </p:nvSpPr>
        <p:spPr>
          <a:xfrm>
            <a:off x="645694" y="2578935"/>
            <a:ext cx="10515600" cy="1325563"/>
          </a:xfrm>
        </p:spPr>
        <p:txBody>
          <a:bodyPr/>
          <a:lstStyle/>
          <a:p>
            <a:pPr algn="ctr"/>
            <a:r>
              <a:rPr lang="en-US" b="1" dirty="0"/>
              <a:t>The End</a:t>
            </a:r>
          </a:p>
        </p:txBody>
      </p:sp>
    </p:spTree>
    <p:extLst>
      <p:ext uri="{BB962C8B-B14F-4D97-AF65-F5344CB8AC3E}">
        <p14:creationId xmlns:p14="http://schemas.microsoft.com/office/powerpoint/2010/main" val="31271306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0.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Usability Testing&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475&quot;&gt;&lt;property id=&quot;20148&quot; value=&quot;5&quot;/&gt;&lt;property id=&quot;20300&quot; value=&quot;Slide 6 - &amp;quot;Quick Recap | Tenets of Usability&amp;quot;&quot;/&gt;&lt;property id=&quot;20307&quot; value=&quot;268&quot;/&gt;&lt;/object&gt;&lt;object type=&quot;3&quot; unique_id=&quot;10477&quot;&gt;&lt;property id=&quot;20148&quot; value=&quot;5&quot;/&gt;&lt;property id=&quot;20300&quot; value=&quot;Slide 16&quot;/&gt;&lt;property id=&quot;20307&quot; value=&quot;260&quot;/&gt;&lt;/object&gt;&lt;object type=&quot;3&quot; unique_id=&quot;10615&quot;&gt;&lt;property id=&quot;20148&quot; value=&quot;5&quot;/&gt;&lt;property id=&quot;20300&quot; value=&quot;Slide 3&quot;/&gt;&lt;property id=&quot;20307&quot; value=&quot;272&quot;/&gt;&lt;/object&gt;&lt;object type=&quot;3&quot; unique_id=&quot;10616&quot;&gt;&lt;property id=&quot;20148&quot; value=&quot;5&quot;/&gt;&lt;property id=&quot;20300&quot; value=&quot;Slide 4&quot;/&gt;&lt;property id=&quot;20307&quot; value=&quot;273&quot;/&gt;&lt;/object&gt;&lt;object type=&quot;3&quot; unique_id=&quot;11145&quot;&gt;&lt;property id=&quot;20148&quot; value=&quot;5&quot;/&gt;&lt;property id=&quot;20300&quot; value=&quot;Slide 5 - &amp;quot;UXiD Project 2&amp;quot;&quot;/&gt;&lt;property id=&quot;20307&quot; value=&quot;282&quot;/&gt;&lt;/object&gt;&lt;object type=&quot;3&quot; unique_id=&quot;11246&quot;&gt;&lt;property id=&quot;20148&quot; value=&quot;5&quot;/&gt;&lt;property id=&quot;20300&quot; value=&quot;Slide 7&quot;/&gt;&lt;property id=&quot;20307&quot; value=&quot;284&quot;/&gt;&lt;/object&gt;&lt;object type=&quot;3&quot; unique_id=&quot;11247&quot;&gt;&lt;property id=&quot;20148&quot; value=&quot;5&quot;/&gt;&lt;property id=&quot;20300&quot; value=&quot;Slide 8 - &amp;quot;Usability Testing (UT)&amp;quot;&quot;/&gt;&lt;property id=&quot;20307&quot; value=&quot;285&quot;/&gt;&lt;/object&gt;&lt;object type=&quot;3&quot; unique_id=&quot;11369&quot;&gt;&lt;property id=&quot;20148&quot; value=&quot;5&quot;/&gt;&lt;property id=&quot;20300&quot; value=&quot;Slide 9 - &amp;quot;Usability Test Plan&amp;quot;&quot;/&gt;&lt;property id=&quot;20307&quot; value=&quot;286&quot;/&gt;&lt;/object&gt;&lt;object type=&quot;3&quot; unique_id=&quot;11370&quot;&gt;&lt;property id=&quot;20148&quot; value=&quot;5&quot;/&gt;&lt;property id=&quot;20300&quot; value=&quot;Slide 10 - &amp;quot;Content of a Usability Test Plan&amp;quot;&quot;/&gt;&lt;property id=&quot;20307&quot; value=&quot;287&quot;/&gt;&lt;/object&gt;&lt;object type=&quot;3&quot; unique_id=&quot;11474&quot;&gt;&lt;property id=&quot;20148&quot; value=&quot;5&quot;/&gt;&lt;property id=&quot;20300&quot; value=&quot;Slide 11 - &amp;quot;Examples of proceeding of UT&amp;quot;&quot;/&gt;&lt;property id=&quot;20307&quot; value=&quot;288&quot;/&gt;&lt;/object&gt;&lt;object type=&quot;3&quot; unique_id=&quot;11722&quot;&gt;&lt;property id=&quot;20148&quot; value=&quot;5&quot;/&gt;&lt;property id=&quot;20300&quot; value=&quot;Slide 12&quot;/&gt;&lt;property id=&quot;20307&quot; value=&quot;291&quot;/&gt;&lt;/object&gt;&lt;object type=&quot;3&quot; unique_id=&quot;11723&quot;&gt;&lt;property id=&quot;20148&quot; value=&quot;5&quot;/&gt;&lt;property id=&quot;20300&quot; value=&quot;Slide 13 - &amp;quot;Usability Test Plan – Usability Metrics&amp;quot;&quot;/&gt;&lt;property id=&quot;20307&quot; value=&quot;290&quot;/&gt;&lt;/object&gt;&lt;object type=&quot;3&quot; unique_id=&quot;11866&quot;&gt;&lt;property id=&quot;20148&quot; value=&quot;5&quot;/&gt;&lt;property id=&quot;20300&quot; value=&quot;Slide 14 - &amp;quot;An Extreme Example of  a good observation experiment &amp;quot;&quot;/&gt;&lt;property id=&quot;20307&quot; value=&quot;292&quot;/&gt;&lt;/object&gt;&lt;object type=&quot;3&quot; unique_id=&quot;11867&quot;&gt;&lt;property id=&quot;20148&quot; value=&quot;5&quot;/&gt;&lt;property id=&quot;20300&quot; value=&quot;Slide 15&quot;/&gt;&lt;property id=&quot;20307&quot; value=&quot;29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AAFB2A4F81AF499435FEF2B8BF6527" ma:contentTypeVersion="20" ma:contentTypeDescription="Create a new document." ma:contentTypeScope="" ma:versionID="8fc89b9a645bf330636a0f3d23764a75">
  <xsd:schema xmlns:xsd="http://www.w3.org/2001/XMLSchema" xmlns:xs="http://www.w3.org/2001/XMLSchema" xmlns:p="http://schemas.microsoft.com/office/2006/metadata/properties" xmlns:ns2="0c19ae56-3fd1-4134-ad5d-f1df2bf4580a" xmlns:ns3="8c74f92f-9345-451a-8fcd-82ad1ddda40a" targetNamespace="http://schemas.microsoft.com/office/2006/metadata/properties" ma:root="true" ma:fieldsID="0733dce4fb5020861a07591fa8b2954d" ns2:_="" ns3:_="">
    <xsd:import namespace="0c19ae56-3fd1-4134-ad5d-f1df2bf4580a"/>
    <xsd:import namespace="8c74f92f-9345-451a-8fcd-82ad1ddda40a"/>
    <xsd:element name="properties">
      <xsd:complexType>
        <xsd:sequence>
          <xsd:element name="documentManagement">
            <xsd:complexType>
              <xsd:all>
                <xsd:element ref="ns2:Description" minOccurs="0"/>
                <xsd:element ref="ns3:SharedWithUsers" minOccurs="0"/>
                <xsd:element ref="ns3:SharedWithDetails" minOccurs="0"/>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19ae56-3fd1-4134-ad5d-f1df2bf4580a" elementFormDefault="qualified">
    <xsd:import namespace="http://schemas.microsoft.com/office/2006/documentManagement/types"/>
    <xsd:import namespace="http://schemas.microsoft.com/office/infopath/2007/PartnerControls"/>
    <xsd:element name="Description" ma:index="4" nillable="true" ma:displayName="Description" ma:description="" ma:internalName="Description0" ma:readOnly="false">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description="" ma:hidden="true" ma:internalName="MediaServiceObjectDetectorVersions"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a45bf55a-4f35-4525-96d9-1748649c08ec"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c74f92f-9345-451a-8fcd-82ad1ddda40a" elementFormDefault="qualified">
    <xsd:import namespace="http://schemas.microsoft.com/office/2006/documentManagement/types"/>
    <xsd:import namespace="http://schemas.microsoft.com/office/infopath/2007/PartnerControls"/>
    <xsd:element name="SharedWithUsers" ma:index="5"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926a618a-99ec-4bae-a069-be77b10f9dbe}" ma:internalName="TaxCatchAll" ma:showField="CatchAllData" ma:web="8c74f92f-9345-451a-8fcd-82ad1ddda4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c19ae56-3fd1-4134-ad5d-f1df2bf4580a">
      <Terms xmlns="http://schemas.microsoft.com/office/infopath/2007/PartnerControls"/>
    </lcf76f155ced4ddcb4097134ff3c332f>
    <TaxCatchAll xmlns="8c74f92f-9345-451a-8fcd-82ad1ddda40a" xsi:nil="true"/>
    <Description xmlns="0c19ae56-3fd1-4134-ad5d-f1df2bf4580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985DBB-1056-42CF-AFCA-35AA542591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19ae56-3fd1-4134-ad5d-f1df2bf4580a"/>
    <ds:schemaRef ds:uri="8c74f92f-9345-451a-8fcd-82ad1ddda4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129C597-3B5F-44AD-AF64-5BD520CA0FB5}">
  <ds:schemaRefs>
    <ds:schemaRef ds:uri="http://schemas.microsoft.com/office/2006/metadata/properties"/>
    <ds:schemaRef ds:uri="http://schemas.microsoft.com/office/infopath/2007/PartnerControls"/>
    <ds:schemaRef ds:uri="361ef433-2f93-47b0-b37f-e8f140c5cb4b"/>
    <ds:schemaRef ds:uri="c44b0262-eb8d-4c37-a737-eb0f5af1596e"/>
    <ds:schemaRef ds:uri="0c19ae56-3fd1-4134-ad5d-f1df2bf4580a"/>
    <ds:schemaRef ds:uri="8c74f92f-9345-451a-8fcd-82ad1ddda40a"/>
  </ds:schemaRefs>
</ds:datastoreItem>
</file>

<file path=customXml/itemProps3.xml><?xml version="1.0" encoding="utf-8"?>
<ds:datastoreItem xmlns:ds="http://schemas.openxmlformats.org/officeDocument/2006/customXml" ds:itemID="{472F1AD2-7AF3-4F26-A99D-AF95852FCC0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16599</TotalTime>
  <Words>6468</Words>
  <Application>Microsoft Office PowerPoint</Application>
  <PresentationFormat>Widescreen</PresentationFormat>
  <Paragraphs>507</Paragraphs>
  <Slides>40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SimSun</vt:lpstr>
      <vt:lpstr>Arial</vt:lpstr>
      <vt:lpstr>Calibri</vt:lpstr>
      <vt:lpstr>Calibri Light</vt:lpstr>
      <vt:lpstr>Symbol</vt:lpstr>
      <vt:lpstr>Times New Roman</vt:lpstr>
      <vt:lpstr>Office Theme</vt:lpstr>
      <vt:lpstr>PowerPoint Presentation</vt:lpstr>
      <vt:lpstr>Declaration of Originality</vt:lpstr>
      <vt:lpstr>Declaration on the use of Generative AI tools for assignments</vt:lpstr>
      <vt:lpstr>PowerPoint Presentation</vt:lpstr>
      <vt:lpstr>Selected Use Case –  Highlight your selected use case below</vt:lpstr>
      <vt:lpstr>Problem Definition/Customer Needs (4%)</vt:lpstr>
      <vt:lpstr>Problem Definition/Customer Needs (4%)</vt:lpstr>
      <vt:lpstr>Problem Definition/Customer Needs (4%)</vt:lpstr>
      <vt:lpstr>User Findings</vt:lpstr>
      <vt:lpstr>Problem Definition/Customer Needs (4%)</vt:lpstr>
      <vt:lpstr>Problem Definition/Customer Needs (4%)</vt:lpstr>
      <vt:lpstr>Project Objectives (3%)</vt:lpstr>
      <vt:lpstr>Project Objectives (3%)</vt:lpstr>
      <vt:lpstr>Project Objectives (3%)</vt:lpstr>
      <vt:lpstr>Proposed Features (3%)</vt:lpstr>
      <vt:lpstr>Proposed Features (3%)</vt:lpstr>
      <vt:lpstr>Wireframe (5%)</vt:lpstr>
      <vt:lpstr>Wireframe (5%)</vt:lpstr>
      <vt:lpstr>Wireframe (5%)</vt:lpstr>
      <vt:lpstr>Wireframe (5%)</vt:lpstr>
      <vt:lpstr>Wireframe (5%)</vt:lpstr>
      <vt:lpstr>Wireframe (5%)</vt:lpstr>
      <vt:lpstr>Wireframe (5%)</vt:lpstr>
      <vt:lpstr>Data Modeling (5%)</vt:lpstr>
      <vt:lpstr>Data Modeling - Sample</vt:lpstr>
      <vt:lpstr>Data Modeling</vt:lpstr>
      <vt:lpstr>Data Modeling - Users (Explanation)</vt:lpstr>
      <vt:lpstr>Data Modeling - Users (Explanation)</vt:lpstr>
      <vt:lpstr>Data Modeling</vt:lpstr>
      <vt:lpstr>Data Modeling - Proficiency (Explanation)</vt:lpstr>
      <vt:lpstr>Data Modeling</vt:lpstr>
      <vt:lpstr>Data Modeling - Pairs (Explanation)</vt:lpstr>
      <vt:lpstr>Data Modeling - Pairs (Explanation)</vt:lpstr>
      <vt:lpstr>Data Modeling</vt:lpstr>
      <vt:lpstr>Data Modeling - Modules (Explanation)</vt:lpstr>
      <vt:lpstr>Data Modeling (Additional Feature)</vt:lpstr>
      <vt:lpstr>Data Modeling - Achievements (Explanation)</vt:lpstr>
      <vt:lpstr>Data Modeling (Additional Feature)</vt:lpstr>
      <vt:lpstr>Data Modeling - Attainment (Explanation)</vt:lpstr>
      <vt:lpstr>The End</vt:lpstr>
    </vt:vector>
  </TitlesOfParts>
  <Company>Temasek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Sofwtare Cluster Project Part 1</dc:title>
  <dc:creator>Tan Sio Poh</dc:creator>
  <cp:lastModifiedBy>DYLAN YEO WEN FENG</cp:lastModifiedBy>
  <cp:revision>304</cp:revision>
  <dcterms:created xsi:type="dcterms:W3CDTF">2016-03-04T00:57:19Z</dcterms:created>
  <dcterms:modified xsi:type="dcterms:W3CDTF">2025-11-14T03:01:53Z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69d7fc4-da81-42e5-b309-526f71322d86_Enabled">
    <vt:lpwstr>true</vt:lpwstr>
  </property>
  <property fmtid="{D5CDD505-2E9C-101B-9397-08002B2CF9AE}" pid="3" name="MSIP_Label_f69d7fc4-da81-42e5-b309-526f71322d86_SiteId">
    <vt:lpwstr>25a99bf0-8e72-472a-ae50-adfbdf0df6f1</vt:lpwstr>
  </property>
  <property fmtid="{D5CDD505-2E9C-101B-9397-08002B2CF9AE}" pid="4" name="MSIP_Label_f69d7fc4-da81-42e5-b309-526f71322d86_Owner">
    <vt:lpwstr>andrewt@TP.EDU.SG</vt:lpwstr>
  </property>
  <property fmtid="{D5CDD505-2E9C-101B-9397-08002B2CF9AE}" pid="5" name="MSIP_Label_f69d7fc4-da81-42e5-b309-526f71322d86_SetDate">
    <vt:lpwstr>2022-10-14T03:08:03Z</vt:lpwstr>
  </property>
  <property fmtid="{D5CDD505-2E9C-101B-9397-08002B2CF9AE}" pid="6" name="MSIP_Label_f69d7fc4-da81-42e5-b309-526f71322d86_Name">
    <vt:lpwstr>Non Sensitive</vt:lpwstr>
  </property>
  <property fmtid="{D5CDD505-2E9C-101B-9397-08002B2CF9AE}" pid="7" name="MSIP_Label_f69d7fc4-da81-42e5-b309-526f71322d86_Application">
    <vt:lpwstr>Microsoft Azure Information Protection</vt:lpwstr>
  </property>
  <property fmtid="{D5CDD505-2E9C-101B-9397-08002B2CF9AE}" pid="8" name="MSIP_Label_f69d7fc4-da81-42e5-b309-526f71322d86_ActionId">
    <vt:lpwstr>96db96d4-fc8e-4957-8f23-6c44ddf72d0d</vt:lpwstr>
  </property>
  <property fmtid="{D5CDD505-2E9C-101B-9397-08002B2CF9AE}" pid="9" name="MSIP_Label_f69d7fc4-da81-42e5-b309-526f71322d86_Parent">
    <vt:lpwstr>4bcb20ed-001a-45f4-b2e7-234c5fc91178</vt:lpwstr>
  </property>
  <property fmtid="{D5CDD505-2E9C-101B-9397-08002B2CF9AE}" pid="10" name="MSIP_Label_f69d7fc4-da81-42e5-b309-526f71322d86_Extended_MSFT_Method">
    <vt:lpwstr>Automatic</vt:lpwstr>
  </property>
  <property fmtid="{D5CDD505-2E9C-101B-9397-08002B2CF9AE}" pid="11" name="MSIP_Label_f69d7fc4-da81-42e5-b309-526f71322d86_Method">
    <vt:lpwstr>Standard</vt:lpwstr>
  </property>
  <property fmtid="{D5CDD505-2E9C-101B-9397-08002B2CF9AE}" pid="12" name="MSIP_Label_f69d7fc4-da81-42e5-b309-526f71322d86_ContentBits">
    <vt:lpwstr>0</vt:lpwstr>
  </property>
  <property fmtid="{D5CDD505-2E9C-101B-9397-08002B2CF9AE}" pid="13" name="ContentTypeId">
    <vt:lpwstr>0x0101006AAAFB2A4F81AF499435FEF2B8BF6527</vt:lpwstr>
  </property>
  <property fmtid="{D5CDD505-2E9C-101B-9397-08002B2CF9AE}" pid="14" name="MediaServiceImageTags">
    <vt:lpwstr/>
  </property>
</Properties>
</file>