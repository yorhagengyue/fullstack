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33"/>
  </p:notesMasterIdLst>
  <p:handoutMasterIdLst>
    <p:handoutMasterId r:id="rId34"/>
  </p:handoutMasterIdLst>
  <p:sldIdLst>
    <p:sldId id="292" r:id="rId5"/>
    <p:sldId id="278" r:id="rId6"/>
    <p:sldId id="314" r:id="rId7"/>
    <p:sldId id="315" r:id="rId8"/>
    <p:sldId id="313" r:id="rId9"/>
    <p:sldId id="307" r:id="rId10"/>
    <p:sldId id="329" r:id="rId11"/>
    <p:sldId id="316" r:id="rId12"/>
    <p:sldId id="330" r:id="rId13"/>
    <p:sldId id="332" r:id="rId14"/>
    <p:sldId id="308" r:id="rId15"/>
    <p:sldId id="317" r:id="rId16"/>
    <p:sldId id="331" r:id="rId17"/>
    <p:sldId id="334" r:id="rId18"/>
    <p:sldId id="309" r:id="rId19"/>
    <p:sldId id="328" r:id="rId20"/>
    <p:sldId id="311" r:id="rId21"/>
    <p:sldId id="319" r:id="rId22"/>
    <p:sldId id="320" r:id="rId23"/>
    <p:sldId id="321" r:id="rId24"/>
    <p:sldId id="335" r:id="rId25"/>
    <p:sldId id="310" r:id="rId26"/>
    <p:sldId id="327" r:id="rId27"/>
    <p:sldId id="324" r:id="rId28"/>
    <p:sldId id="325" r:id="rId29"/>
    <p:sldId id="326" r:id="rId30"/>
    <p:sldId id="333" r:id="rId31"/>
    <p:sldId id="323" r:id="rId32"/>
  </p:sldIdLst>
  <p:sldSz cx="12192000" cy="6858000"/>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5B4C828-EB6F-0E44-9382-2E86C03354A5}" name="Sankara RAJULU (TP)" initials="SR" userId="S::sankara@TP.EDU.SG::90b67e19-7016-40f5-ab67-6559d5fe8b43" providerId="AD"/>
  <p188:author id="{CC59AE2F-3574-9F4F-2F4C-204E8DFAB2CD}" name="Andrew TAN (TP)" initials="A(" userId="S::andrewt@tp.edu.sg::8d23f446-953f-4d3b-930e-ca720e8db7fb" providerId="AD"/>
  <p188:author id="{EBF51C77-9774-58D8-097E-AD8D40AA4809}" name="Zhao Hong LAU (TP)" initials="Z(" userId="S::zhaohong@tp.edu.sg::f195b425-1f12-426c-964c-75b48c020563" providerId="AD"/>
  <p188:author id="{5CAB91CD-DD79-7E8F-42B4-F84A0E5B22AB}" name="Ying Huey FUA (TP)" initials="Y(" userId="S::yinghuey@tp.edu.sg::9e739b7e-414d-4e3b-ac6d-84564ba345a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lena Saleh" initials="SS"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339933"/>
    <a:srgbClr val="FFC000"/>
    <a:srgbClr val="EEEEEE"/>
    <a:srgbClr val="FAD22C"/>
    <a:srgbClr val="1CADE4"/>
    <a:srgbClr val="61C5FF"/>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70" autoAdjust="0"/>
    <p:restoredTop sz="93910" autoAdjust="0"/>
  </p:normalViewPr>
  <p:slideViewPr>
    <p:cSldViewPr snapToGrid="0">
      <p:cViewPr>
        <p:scale>
          <a:sx n="63" d="100"/>
          <a:sy n="63" d="100"/>
        </p:scale>
        <p:origin x="648" y="56"/>
      </p:cViewPr>
      <p:guideLst>
        <p:guide orient="horz" pos="2160"/>
        <p:guide pos="3840"/>
      </p:guideLst>
    </p:cSldViewPr>
  </p:slideViewPr>
  <p:notesTextViewPr>
    <p:cViewPr>
      <p:scale>
        <a:sx n="1" d="1"/>
        <a:sy n="1" d="1"/>
      </p:scale>
      <p:origin x="0" y="0"/>
    </p:cViewPr>
  </p:notesTextViewPr>
  <p:notesViewPr>
    <p:cSldViewPr snapToGrid="0">
      <p:cViewPr varScale="1">
        <p:scale>
          <a:sx n="69" d="100"/>
          <a:sy n="69" d="100"/>
        </p:scale>
        <p:origin x="3264"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gs" Target="tags/tag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C11234-2D62-4BBD-86D3-88BD3B70B2B6}" type="datetimeFigureOut">
              <a:rPr lang="en-SG" smtClean="0"/>
              <a:t>12/11/2025</a:t>
            </a:fld>
            <a:endParaRPr lang="en-SG"/>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EECAF8-34D8-484C-A1FD-90CACC324DCB}" type="slidenum">
              <a:rPr lang="en-SG" smtClean="0"/>
              <a:t>‹#›</a:t>
            </a:fld>
            <a:endParaRPr lang="en-SG"/>
          </a:p>
        </p:txBody>
      </p:sp>
    </p:spTree>
    <p:extLst>
      <p:ext uri="{BB962C8B-B14F-4D97-AF65-F5344CB8AC3E}">
        <p14:creationId xmlns:p14="http://schemas.microsoft.com/office/powerpoint/2010/main" val="255664521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15:40:54.553"/>
    </inkml:context>
    <inkml:brush xml:id="br0">
      <inkml:brushProperty name="width" value="0.1" units="cm"/>
      <inkml:brushProperty name="height" value="0.1" units="cm"/>
    </inkml:brush>
  </inkml:definitions>
  <inkml:trace contextRef="#ctx0" brushRef="#br0">1 1409 8192,'6'-3'11468,"181"-77"-11430,242-99-304,-369 157 80,607-239-9399,-386 139 8130,85-46 1427,188-84 200,7 26 1176,-276 136 4176,-259 84-5524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15:40:55.616"/>
    </inkml:context>
    <inkml:brush xml:id="br0">
      <inkml:brushProperty name="width" value="0.1" units="cm"/>
      <inkml:brushProperty name="height" value="0.1" units="cm"/>
    </inkml:brush>
  </inkml:definitions>
  <inkml:trace contextRef="#ctx0" brushRef="#br0">98 1 8192,'8'10'11126,"-7"-8"-10784,27 42-342,-2 1 0,-2 0 0,33 91 0,31 155 0,-34-101 0,-34-122 0,-9-25 0,3-1 0,1-1 0,32 64 0,-45-102 0,-1 0 0,1-1 0,0 1 0,0 0 0,0-1 0,0 1 0,1-1 0,-1 0 0,4 3 0,-5-5 0,0 1 0,0-1 0,0 1 0,0-1 0,0 0 0,1 0 0,-1 1 0,0-1 0,0 0 0,0 0 0,1 0 0,-1 0 0,0 0 0,0-1 0,0 1 0,0 0 0,1 0 0,-1-1 0,0 1 0,0-1 0,0 1 0,0-1 0,0 1 0,0-1 0,0 0 0,0 0 0,0 1 0,1-3 0,11-10-478,0 0 0,-1-2 0,-1 1 0,-1-1 0,0-1 0,10-19 0,-10 16-262,65-120-1721,-7-3 1,75-223-1,-105 232 5009,-35 119-2230,0 0 0,-2 0 1,0 0-1,0 0 1,-1 0-1,-1-1 1,-4-22-1,5 37-241,0-1 1,-1 1-1,1 0 0,0-1 0,-1 1 0,1 0 0,0-1 0,0 1 0,-1 0 1,1-1-1,0 1 0,-1 0 0,1 0 0,-1-1 0,1 1 0,0 0 1,-1 0-1,1 0 0,-1 0 0,1 0 0,-1-1 0,1 1 0,0 0 0,-1 0 1,1 0-1,-1 0 0,1 0 0,-1 0 0,1 0 0,0 1 0,-1-1 1,1 0-1,-1 0 0,0 0 0,-19 7 3410,17-5-3301,-42 19-1873,1 2-1,2 2 0,-52 39 1,71-48 899,-243 178-3528,-117 121 6071,344-279-1755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15:40:57.096"/>
    </inkml:context>
    <inkml:brush xml:id="br0">
      <inkml:brushProperty name="width" value="0.1" units="cm"/>
      <inkml:brushProperty name="height" value="0.1" units="cm"/>
    </inkml:brush>
  </inkml:definitions>
  <inkml:trace contextRef="#ctx0" brushRef="#br0">682 565 8192,'-1'65'6196,"-1"-25"-3560,6 53 0,-5-92-2636,2-1 0,-1 0 0,0 1 0,0-1 0,0 1 0,0-1 0,0 0 0,0 1 0,0-1 0,0 0 0,1 1 0,-1-1 0,0 0 0,0 1 0,0-1 0,1 0 0,-1 1 0,0-1 0,0 0 0,1 0 0,-1 1 0,0-1 0,1 0 0,-1 0 0,0 1 0,1-1 0,-1 0 0,0 0 0,1 0 0,-1 0 0,1 0 0,-1 0 0,0 0 0,1 0 0,0 1 0,17-7 0,16-16 0,-34 21 0,27-22 0,-1-1 0,39-47 0,-118 123 0,65-55 0,10-8 0,159-105 0,84-47 0,-256 157 0,-6 4 0,0 1 0,0-1 0,0 0 0,0 1 0,0 0 0,0 0 0,0 0 0,0 0 0,0 0 0,6 0 0,-8 3 0,-1 0 0,0 0 0,1 0 0,-1 0 0,0 0 0,0 0 0,0 0 0,0 0 0,0 0 0,-1 0 0,1 0 0,-1 0 0,0 3 0,0-2 0,0-2-10,1 0-1,0-1 0,0 1 1,0 0-1,0-1 0,0 1 1,-1 0-1,1-1 0,0 1 0,0-1 1,1 1-1,-1 0 0,0-1 1,0 1-1,0 0 0,0-1 1,0 1-1,1 0 0,-1-1 1,0 1-1,1-1 0,-1 1 1,0-1-1,1 1 0,-1-1 1,1 1-1,-1-1 0,1 1 1,-1-1-1,1 1 0,-1-1 1,1 0-1,-1 1 0,1-1 1,0 1-1,2-1-141,0 0 0,0 1 0,0-1 0,0 0 0,0-1 0,0 1 0,0 0-1,4-2 1,34-9-1517,-1-2-1,-1-2 1,0-2-1,50-28 1,-58 28 962,439-262 895,-440 260 3023,-25 18-2806,-9 7-432,-20 19 153,-1-2 0,-31 22 1,12-10-659,-118 95-1624,-1211 871 255,1354-988 2072,-90 59 578,-180 88-1,277-155-770,9-3-5,0 0 0,0-1 1,0 0-1,0 1 0,0-1 1,0 0-1,-1-1 0,1 1 1,0 0-1,-5-1 0,8 0 7,0 0 0,0 0 0,0 0 1,0 0-1,0-1 0,0 1 0,-1 0 0,1 0 0,0 0 0,0 0 0,0 0 0,0-1 0,0 1 0,0 0 0,0 0 0,0 0 0,0 0 0,0-1 0,0 1 0,0 0 0,0 0 0,0 0 0,0-1 0,0 1 0,0 0 0,0 0 0,0 0 0,0 0 0,0-1 0,0 1 0,0 0 0,0 0 0,0 0 0,0 0 0,0-1 1,1 1-1,-1 0 0,0 0 0,0 0 0,0 0 0,0 0 0,0 0 0,0-1 0,1 1 0,-1 0 0,0 0 0,0 0 0,0 0 0,0 0 0,1 0 0,-1 0 0,0 0 0,0 0 0,10-11 18,1 1 0,0 0 1,22-16-1,-4 4-79,653-438-95,45 64-62,-324 210 1048,13 39 1,-341 127-811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97268A-7AE4-432A-9318-AFE0CD5AF515}" type="datetimeFigureOut">
              <a:rPr lang="en-SG" smtClean="0"/>
              <a:t>12/11/2025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443D8-64E2-477C-8585-147863024541}" type="slidenum">
              <a:rPr lang="en-SG" smtClean="0"/>
              <a:t>‹#›</a:t>
            </a:fld>
            <a:endParaRPr lang="en-SG"/>
          </a:p>
        </p:txBody>
      </p:sp>
    </p:spTree>
    <p:extLst>
      <p:ext uri="{BB962C8B-B14F-4D97-AF65-F5344CB8AC3E}">
        <p14:creationId xmlns:p14="http://schemas.microsoft.com/office/powerpoint/2010/main" val="851762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5048880A-75DD-4838-AFBC-E75FBE476E55}" type="slidenum">
              <a:rPr lang="en-SG" smtClean="0"/>
              <a:t>1</a:t>
            </a:fld>
            <a:endParaRPr lang="en-SG"/>
          </a:p>
        </p:txBody>
      </p:sp>
    </p:spTree>
    <p:extLst>
      <p:ext uri="{BB962C8B-B14F-4D97-AF65-F5344CB8AC3E}">
        <p14:creationId xmlns:p14="http://schemas.microsoft.com/office/powerpoint/2010/main" val="1190466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D8CBB-99C9-0079-ED9C-FF21AD2BE9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97056B35-3E34-E11F-8ABE-A767FB29D8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F26A60A0-3A76-862F-BD49-95CEF91F1B54}"/>
              </a:ext>
            </a:extLst>
          </p:cNvPr>
          <p:cNvSpPr>
            <a:spLocks noGrp="1"/>
          </p:cNvSpPr>
          <p:nvPr>
            <p:ph type="dt" sz="half" idx="10"/>
          </p:nvPr>
        </p:nvSpPr>
        <p:spPr/>
        <p:txBody>
          <a:bodyPr/>
          <a:lstStyle/>
          <a:p>
            <a:fld id="{5586B75A-687E-405C-8A0B-8D00578BA2C3}" type="datetimeFigureOut">
              <a:rPr lang="en-US" smtClean="0"/>
              <a:pPr/>
              <a:t>11/12/2025</a:t>
            </a:fld>
            <a:endParaRPr lang="en-US" dirty="0"/>
          </a:p>
        </p:txBody>
      </p:sp>
      <p:sp>
        <p:nvSpPr>
          <p:cNvPr id="5" name="Footer Placeholder 4">
            <a:extLst>
              <a:ext uri="{FF2B5EF4-FFF2-40B4-BE49-F238E27FC236}">
                <a16:creationId xmlns:a16="http://schemas.microsoft.com/office/drawing/2014/main" id="{61B4C16B-32A2-0C2D-AB68-29C0567462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9C4051F-C2CC-C614-3D42-F9D33BD75BB6}"/>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3243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6EDE9-3DCB-63E8-A03F-02C909C1605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A34ECAB-B272-5233-F6BB-A4F6DDFF7B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0F30663-1A54-EA08-68E3-63A6F7AA077C}"/>
              </a:ext>
            </a:extLst>
          </p:cNvPr>
          <p:cNvSpPr>
            <a:spLocks noGrp="1"/>
          </p:cNvSpPr>
          <p:nvPr>
            <p:ph type="dt" sz="half" idx="10"/>
          </p:nvPr>
        </p:nvSpPr>
        <p:spPr/>
        <p:txBody>
          <a:bodyPr/>
          <a:lstStyle/>
          <a:p>
            <a:fld id="{5586B75A-687E-405C-8A0B-8D00578BA2C3}" type="datetimeFigureOut">
              <a:rPr lang="en-US" smtClean="0"/>
              <a:pPr/>
              <a:t>11/12/2025</a:t>
            </a:fld>
            <a:endParaRPr lang="en-US" dirty="0"/>
          </a:p>
        </p:txBody>
      </p:sp>
      <p:sp>
        <p:nvSpPr>
          <p:cNvPr id="5" name="Footer Placeholder 4">
            <a:extLst>
              <a:ext uri="{FF2B5EF4-FFF2-40B4-BE49-F238E27FC236}">
                <a16:creationId xmlns:a16="http://schemas.microsoft.com/office/drawing/2014/main" id="{BA5CC699-2893-3B03-3D97-FD3C23B061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9BE4E7C-86F9-6D12-49F3-B64424A9493E}"/>
              </a:ext>
            </a:extLst>
          </p:cNvPr>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1666485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D170-3C24-C353-3216-06A2B12A82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BD469EFA-00EA-18C2-3287-DDFF0E9880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494A4D-1D7E-FB6A-32B8-058E2F231603}"/>
              </a:ext>
            </a:extLst>
          </p:cNvPr>
          <p:cNvSpPr>
            <a:spLocks noGrp="1"/>
          </p:cNvSpPr>
          <p:nvPr>
            <p:ph type="dt" sz="half" idx="10"/>
          </p:nvPr>
        </p:nvSpPr>
        <p:spPr/>
        <p:txBody>
          <a:bodyPr/>
          <a:lstStyle/>
          <a:p>
            <a:fld id="{5586B75A-687E-405C-8A0B-8D00578BA2C3}" type="datetimeFigureOut">
              <a:rPr lang="en-US" smtClean="0"/>
              <a:pPr/>
              <a:t>11/12/2025</a:t>
            </a:fld>
            <a:endParaRPr lang="en-US" dirty="0"/>
          </a:p>
        </p:txBody>
      </p:sp>
      <p:sp>
        <p:nvSpPr>
          <p:cNvPr id="5" name="Footer Placeholder 4">
            <a:extLst>
              <a:ext uri="{FF2B5EF4-FFF2-40B4-BE49-F238E27FC236}">
                <a16:creationId xmlns:a16="http://schemas.microsoft.com/office/drawing/2014/main" id="{4880FA97-D6B4-8EEE-9689-C597162154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71227D-F124-5B2E-61AA-8D66C31347FA}"/>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401691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FCCE2-A671-CFC5-8869-92B4CBCB380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85E87A76-02D4-A39B-269E-D832CF645D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DFC8CD5-1192-88B9-1772-AE9CC397A6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1AB33E5E-FEA6-E8E9-D857-418A6B027283}"/>
              </a:ext>
            </a:extLst>
          </p:cNvPr>
          <p:cNvSpPr>
            <a:spLocks noGrp="1"/>
          </p:cNvSpPr>
          <p:nvPr>
            <p:ph type="dt" sz="half" idx="10"/>
          </p:nvPr>
        </p:nvSpPr>
        <p:spPr/>
        <p:txBody>
          <a:bodyPr/>
          <a:lstStyle/>
          <a:p>
            <a:fld id="{5586B75A-687E-405C-8A0B-8D00578BA2C3}" type="datetimeFigureOut">
              <a:rPr lang="en-US" smtClean="0"/>
              <a:pPr/>
              <a:t>11/12/2025</a:t>
            </a:fld>
            <a:endParaRPr lang="en-US" dirty="0"/>
          </a:p>
        </p:txBody>
      </p:sp>
      <p:sp>
        <p:nvSpPr>
          <p:cNvPr id="6" name="Footer Placeholder 5">
            <a:extLst>
              <a:ext uri="{FF2B5EF4-FFF2-40B4-BE49-F238E27FC236}">
                <a16:creationId xmlns:a16="http://schemas.microsoft.com/office/drawing/2014/main" id="{7669E379-0510-B904-110A-B9C868A9502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1F5887-88DF-0149-4E35-013FEB1F2E26}"/>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495503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8C1B1-9150-7531-5BB8-F62AFAC1152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E35E9F9E-2862-2862-E130-FA02D96037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1CA647-D139-F02C-D9E2-FADE9CACA0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8CC8255F-E4A2-848F-5FA7-B6F5D5B972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B77E57-0076-7663-AC26-6A5F2D5499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88C2E8B1-0BEB-9609-08E0-3E182B08CFAB}"/>
              </a:ext>
            </a:extLst>
          </p:cNvPr>
          <p:cNvSpPr>
            <a:spLocks noGrp="1"/>
          </p:cNvSpPr>
          <p:nvPr>
            <p:ph type="dt" sz="half" idx="10"/>
          </p:nvPr>
        </p:nvSpPr>
        <p:spPr/>
        <p:txBody>
          <a:bodyPr/>
          <a:lstStyle/>
          <a:p>
            <a:fld id="{5586B75A-687E-405C-8A0B-8D00578BA2C3}" type="datetimeFigureOut">
              <a:rPr lang="en-US" smtClean="0"/>
              <a:pPr/>
              <a:t>11/12/2025</a:t>
            </a:fld>
            <a:endParaRPr lang="en-US" dirty="0"/>
          </a:p>
        </p:txBody>
      </p:sp>
      <p:sp>
        <p:nvSpPr>
          <p:cNvPr id="8" name="Footer Placeholder 7">
            <a:extLst>
              <a:ext uri="{FF2B5EF4-FFF2-40B4-BE49-F238E27FC236}">
                <a16:creationId xmlns:a16="http://schemas.microsoft.com/office/drawing/2014/main" id="{7542D176-655D-E3F1-66B0-DD58F03C407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8E702C7-C396-1FC7-1371-CB7EDBB1C92C}"/>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735288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775C8-16C5-25D8-C276-90E082306898}"/>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CA48244B-5070-7AA7-D20D-BE01BC24E18B}"/>
              </a:ext>
            </a:extLst>
          </p:cNvPr>
          <p:cNvSpPr>
            <a:spLocks noGrp="1"/>
          </p:cNvSpPr>
          <p:nvPr>
            <p:ph type="dt" sz="half" idx="10"/>
          </p:nvPr>
        </p:nvSpPr>
        <p:spPr/>
        <p:txBody>
          <a:bodyPr/>
          <a:lstStyle/>
          <a:p>
            <a:fld id="{5049BF6B-4274-4F8F-BAA2-B27082AD9967}" type="datetimeFigureOut">
              <a:rPr lang="en-SG" smtClean="0"/>
              <a:t>12/11/2025</a:t>
            </a:fld>
            <a:endParaRPr lang="en-SG"/>
          </a:p>
        </p:txBody>
      </p:sp>
      <p:sp>
        <p:nvSpPr>
          <p:cNvPr id="4" name="Footer Placeholder 3">
            <a:extLst>
              <a:ext uri="{FF2B5EF4-FFF2-40B4-BE49-F238E27FC236}">
                <a16:creationId xmlns:a16="http://schemas.microsoft.com/office/drawing/2014/main" id="{500CD1BC-48CB-DA2B-F4E9-6A2F309D0D90}"/>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3C90FC4F-D4B0-AD00-369C-A6E1883354FA}"/>
              </a:ext>
            </a:extLst>
          </p:cNvPr>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515972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C8F61D-2519-FCC0-71BF-1003AC9E27D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AD1D330-035E-0B56-9851-3D75CA8D10C1}"/>
              </a:ext>
            </a:extLst>
          </p:cNvPr>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266455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DC0DA-1A25-D2A4-15F2-41F320115B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9871A6BA-84FE-C01C-B267-EBDBC463EE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2A6FA30-08B8-ADE3-801B-9A70CCDAA6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B672D15-C132-5339-588E-3B12A65633F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CF3BAB7-AFF5-CE42-94B5-1CDB974116F4}"/>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171758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B8CD1-D5A8-08C6-F89B-1EB6D8582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A7FC92A9-4CA1-0048-A864-A0FF1B44FD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43E9A9BA-746F-BFAC-9F4B-65B9636D2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F2A2DDD-9F60-4C73-D325-ADC4EF02EDE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946D2AD-1A5B-FAD9-24C2-04ACF6837809}"/>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51416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28BD-BA1C-B381-53AB-133B423AE64C}"/>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3414821-E238-AF06-2D97-F4581DB5EB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872C2A85-152E-24D0-5C1F-CC695DBA19E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36678C-B078-5524-C312-57E80F651D73}"/>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819209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8850CA-27A8-6E5D-31FA-B76AF87FE2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C22CCB1-1DE7-D21B-0069-C59E1C04E0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2E8FEF77-A8F2-D6FA-A67C-EF0CAD3AD34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5FAE588-A125-A715-15EC-71B890A37851}"/>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624770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12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68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8251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761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2169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FC703B-5018-D00F-D7F5-D563315D7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40C06FC-12F6-1C2F-8C12-BB747800DE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82F88C8-FB2E-B993-F23D-89C299A020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86B75A-687E-405C-8A0B-8D00578BA2C3}" type="datetimeFigureOut">
              <a:rPr lang="en-US" smtClean="0"/>
              <a:pPr/>
              <a:t>11/12/2025</a:t>
            </a:fld>
            <a:endParaRPr lang="en-US" dirty="0"/>
          </a:p>
        </p:txBody>
      </p:sp>
      <p:sp>
        <p:nvSpPr>
          <p:cNvPr id="5" name="Footer Placeholder 4">
            <a:extLst>
              <a:ext uri="{FF2B5EF4-FFF2-40B4-BE49-F238E27FC236}">
                <a16:creationId xmlns:a16="http://schemas.microsoft.com/office/drawing/2014/main" id="{F202E306-5064-BDD0-4094-D57FA2191E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7C841D-A6BA-C9D4-3F4D-F097F37EF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E4023-6F3A-457B-B0BB-8C1F114B424F}" type="slidenum">
              <a:rPr lang="en-SG" smtClean="0"/>
              <a:pPr/>
              <a:t>‹#›</a:t>
            </a:fld>
            <a:endParaRPr lang="en-SG"/>
          </a:p>
        </p:txBody>
      </p:sp>
      <p:sp>
        <p:nvSpPr>
          <p:cNvPr id="7" name="Rectangle 6">
            <a:extLst>
              <a:ext uri="{FF2B5EF4-FFF2-40B4-BE49-F238E27FC236}">
                <a16:creationId xmlns:a16="http://schemas.microsoft.com/office/drawing/2014/main" id="{D5FDBE67-2652-6A87-20FD-BC269099CE1A}"/>
              </a:ext>
            </a:extLst>
          </p:cNvPr>
          <p:cNvSpPr/>
          <p:nvPr userDrawn="1"/>
        </p:nvSpPr>
        <p:spPr>
          <a:xfrm>
            <a:off x="914083" y="6341602"/>
            <a:ext cx="10633904" cy="276999"/>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spc="80" dirty="0">
                <a:solidFill>
                  <a:srgbClr val="0070C0"/>
                </a:solidFill>
                <a:latin typeface="Calibri" panose="020F0502020204030204" pitchFamily="34" charset="0"/>
                <a:cs typeface="Calibri" panose="020F0502020204030204" pitchFamily="34" charset="0"/>
              </a:rPr>
              <a:t>[CIT2C20 – FULL STACK WEB DEVELOPMENT] 		</a:t>
            </a:r>
            <a:r>
              <a:rPr lang="en-SG" sz="1200" spc="80" baseline="0" dirty="0">
                <a:solidFill>
                  <a:srgbClr val="0070C0"/>
                </a:solidFill>
                <a:latin typeface="Calibri" panose="020F0502020204030204" pitchFamily="34" charset="0"/>
                <a:cs typeface="Calibri" panose="020F0502020204030204" pitchFamily="34" charset="0"/>
              </a:rPr>
              <a:t>      		      </a:t>
            </a:r>
            <a:r>
              <a:rPr lang="en-US" sz="1200" spc="80" dirty="0">
                <a:solidFill>
                  <a:schemeClr val="bg2">
                    <a:lumMod val="50000"/>
                  </a:schemeClr>
                </a:solidFill>
                <a:latin typeface="Calibri" panose="020F0502020204030204" pitchFamily="34" charset="0"/>
                <a:cs typeface="Calibri" panose="020F0502020204030204" pitchFamily="34" charset="0"/>
              </a:rPr>
              <a:t>TEMASEK POLYTECHNIC I </a:t>
            </a:r>
            <a:r>
              <a:rPr lang="en-US" sz="1200" b="1" spc="80" dirty="0">
                <a:solidFill>
                  <a:schemeClr val="bg2">
                    <a:lumMod val="50000"/>
                  </a:schemeClr>
                </a:solidFill>
                <a:latin typeface="Calibri" panose="020F0502020204030204" pitchFamily="34" charset="0"/>
                <a:cs typeface="Calibri" panose="020F0502020204030204" pitchFamily="34" charset="0"/>
              </a:rPr>
              <a:t>School of Informatics &amp; IT</a:t>
            </a:r>
          </a:p>
        </p:txBody>
      </p:sp>
      <p:sp>
        <p:nvSpPr>
          <p:cNvPr id="8" name="Rectangle 7">
            <a:extLst>
              <a:ext uri="{FF2B5EF4-FFF2-40B4-BE49-F238E27FC236}">
                <a16:creationId xmlns:a16="http://schemas.microsoft.com/office/drawing/2014/main" id="{7BA7BC12-5FAC-7E69-53C8-F966C8C9C568}"/>
              </a:ext>
            </a:extLst>
          </p:cNvPr>
          <p:cNvSpPr/>
          <p:nvPr userDrawn="1"/>
        </p:nvSpPr>
        <p:spPr>
          <a:xfrm>
            <a:off x="0" y="365126"/>
            <a:ext cx="284813" cy="81978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833789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75" r:id="rId12"/>
    <p:sldLayoutId id="2147483680" r:id="rId13"/>
    <p:sldLayoutId id="2147483681" r:id="rId14"/>
    <p:sldLayoutId id="2147483682" r:id="rId15"/>
    <p:sldLayoutId id="2147483683"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hat.openai.com/chat" TargetMode="Externa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figma.com/design/mVan8uqDlCnjZ5mHBP6iBM/FWEB-LOWIFI?node-id=0-1&amp;t=A89BDTVBqosqpbeT-1"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7030D-F9A5-469C-B08C-422CD33EDF0E}"/>
              </a:ext>
            </a:extLst>
          </p:cNvPr>
          <p:cNvSpPr txBox="1"/>
          <p:nvPr/>
        </p:nvSpPr>
        <p:spPr>
          <a:xfrm>
            <a:off x="2510902" y="723121"/>
            <a:ext cx="6889578" cy="2123658"/>
          </a:xfrm>
          <a:prstGeom prst="rect">
            <a:avLst/>
          </a:prstGeom>
          <a:noFill/>
        </p:spPr>
        <p:txBody>
          <a:bodyPr wrap="none" rtlCol="0">
            <a:spAutoFit/>
          </a:bodyPr>
          <a:lstStyle/>
          <a:p>
            <a:pPr algn="ctr"/>
            <a:r>
              <a:rPr lang="en-GB" sz="4400" b="1" dirty="0"/>
              <a:t>Full Stack Web Development</a:t>
            </a:r>
          </a:p>
          <a:p>
            <a:pPr algn="ctr"/>
            <a:r>
              <a:rPr lang="en-GB" sz="4400" b="1" dirty="0"/>
              <a:t>Project Proposal </a:t>
            </a:r>
          </a:p>
          <a:p>
            <a:pPr algn="ctr"/>
            <a:r>
              <a:rPr lang="en-GB" sz="4400" b="1" dirty="0"/>
              <a:t>(20%)</a:t>
            </a:r>
          </a:p>
        </p:txBody>
      </p:sp>
      <p:sp>
        <p:nvSpPr>
          <p:cNvPr id="3" name="TextBox 2">
            <a:extLst>
              <a:ext uri="{FF2B5EF4-FFF2-40B4-BE49-F238E27FC236}">
                <a16:creationId xmlns:a16="http://schemas.microsoft.com/office/drawing/2014/main" id="{5331E56D-DBB6-4920-8873-6BFF4DD931A4}"/>
              </a:ext>
            </a:extLst>
          </p:cNvPr>
          <p:cNvSpPr txBox="1"/>
          <p:nvPr/>
        </p:nvSpPr>
        <p:spPr>
          <a:xfrm>
            <a:off x="4798978" y="3109961"/>
            <a:ext cx="2594043" cy="646331"/>
          </a:xfrm>
          <a:prstGeom prst="rect">
            <a:avLst/>
          </a:prstGeom>
          <a:noFill/>
        </p:spPr>
        <p:txBody>
          <a:bodyPr wrap="none" rtlCol="0">
            <a:spAutoFit/>
          </a:bodyPr>
          <a:lstStyle/>
          <a:p>
            <a:r>
              <a:rPr lang="en-GB" sz="3600" dirty="0"/>
              <a:t>STUDY MATE</a:t>
            </a:r>
          </a:p>
        </p:txBody>
      </p:sp>
      <p:sp>
        <p:nvSpPr>
          <p:cNvPr id="4" name="TextBox 3">
            <a:extLst>
              <a:ext uri="{FF2B5EF4-FFF2-40B4-BE49-F238E27FC236}">
                <a16:creationId xmlns:a16="http://schemas.microsoft.com/office/drawing/2014/main" id="{DD8A0C03-BBA9-4AD2-9755-EAEAF6113563}"/>
              </a:ext>
            </a:extLst>
          </p:cNvPr>
          <p:cNvSpPr txBox="1"/>
          <p:nvPr/>
        </p:nvSpPr>
        <p:spPr>
          <a:xfrm>
            <a:off x="4398626" y="4557874"/>
            <a:ext cx="2994395" cy="400110"/>
          </a:xfrm>
          <a:prstGeom prst="rect">
            <a:avLst/>
          </a:prstGeom>
          <a:noFill/>
        </p:spPr>
        <p:txBody>
          <a:bodyPr wrap="square" rtlCol="0">
            <a:spAutoFit/>
          </a:bodyPr>
          <a:lstStyle/>
          <a:p>
            <a:r>
              <a:rPr lang="en-GB" sz="2000" dirty="0"/>
              <a:t>Danish Mohamed Thodiyil</a:t>
            </a:r>
          </a:p>
        </p:txBody>
      </p:sp>
      <p:sp>
        <p:nvSpPr>
          <p:cNvPr id="6" name="TextBox 5">
            <a:extLst>
              <a:ext uri="{FF2B5EF4-FFF2-40B4-BE49-F238E27FC236}">
                <a16:creationId xmlns:a16="http://schemas.microsoft.com/office/drawing/2014/main" id="{D8258169-E062-40F0-8371-2EA35A7D9BA1}"/>
              </a:ext>
            </a:extLst>
          </p:cNvPr>
          <p:cNvSpPr txBox="1"/>
          <p:nvPr/>
        </p:nvSpPr>
        <p:spPr>
          <a:xfrm>
            <a:off x="5247340" y="5133032"/>
            <a:ext cx="1056700" cy="369332"/>
          </a:xfrm>
          <a:prstGeom prst="rect">
            <a:avLst/>
          </a:prstGeom>
          <a:noFill/>
        </p:spPr>
        <p:txBody>
          <a:bodyPr wrap="none" rtlCol="0">
            <a:spAutoFit/>
          </a:bodyPr>
          <a:lstStyle/>
          <a:p>
            <a:r>
              <a:rPr lang="en-GB" dirty="0"/>
              <a:t>2403222i</a:t>
            </a:r>
          </a:p>
        </p:txBody>
      </p:sp>
      <p:sp>
        <p:nvSpPr>
          <p:cNvPr id="5" name="TextBox 4">
            <a:extLst>
              <a:ext uri="{FF2B5EF4-FFF2-40B4-BE49-F238E27FC236}">
                <a16:creationId xmlns:a16="http://schemas.microsoft.com/office/drawing/2014/main" id="{1B0C6BD1-AE9F-D085-E782-1457F1CA441F}"/>
              </a:ext>
            </a:extLst>
          </p:cNvPr>
          <p:cNvSpPr txBox="1"/>
          <p:nvPr/>
        </p:nvSpPr>
        <p:spPr>
          <a:xfrm>
            <a:off x="5516935" y="5677412"/>
            <a:ext cx="660758" cy="369332"/>
          </a:xfrm>
          <a:prstGeom prst="rect">
            <a:avLst/>
          </a:prstGeom>
          <a:noFill/>
        </p:spPr>
        <p:txBody>
          <a:bodyPr wrap="none" rtlCol="0">
            <a:spAutoFit/>
          </a:bodyPr>
          <a:lstStyle/>
          <a:p>
            <a:r>
              <a:rPr lang="en-GB" dirty="0"/>
              <a:t>PC02</a:t>
            </a:r>
          </a:p>
        </p:txBody>
      </p:sp>
    </p:spTree>
    <p:extLst>
      <p:ext uri="{BB962C8B-B14F-4D97-AF65-F5344CB8AC3E}">
        <p14:creationId xmlns:p14="http://schemas.microsoft.com/office/powerpoint/2010/main" val="3181263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27B9-0D28-49D9-97B5-B24FDEDB25D0}"/>
              </a:ext>
            </a:extLst>
          </p:cNvPr>
          <p:cNvSpPr>
            <a:spLocks noGrp="1"/>
          </p:cNvSpPr>
          <p:nvPr>
            <p:ph type="title"/>
          </p:nvPr>
        </p:nvSpPr>
        <p:spPr/>
        <p:txBody>
          <a:bodyPr/>
          <a:lstStyle/>
          <a:p>
            <a:pPr marL="0" marR="0" algn="ctr">
              <a:lnSpc>
                <a:spcPct val="150000"/>
              </a:lnSpc>
              <a:spcBef>
                <a:spcPts val="0"/>
              </a:spcBef>
              <a:spcAft>
                <a:spcPts val="0"/>
              </a:spcAft>
            </a:pPr>
            <a:r>
              <a:rPr lang="en-GB" sz="36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Declaration of Originality</a:t>
            </a:r>
            <a:endParaRPr lang="en-US" sz="1600" dirty="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3" name="Content Placeholder 2">
            <a:extLst>
              <a:ext uri="{FF2B5EF4-FFF2-40B4-BE49-F238E27FC236}">
                <a16:creationId xmlns:a16="http://schemas.microsoft.com/office/drawing/2014/main" id="{7C877F9F-D62A-45BB-9799-246A29611BAA}"/>
              </a:ext>
            </a:extLst>
          </p:cNvPr>
          <p:cNvSpPr>
            <a:spLocks noGrp="1"/>
          </p:cNvSpPr>
          <p:nvPr>
            <p:ph idx="1"/>
          </p:nvPr>
        </p:nvSpPr>
        <p:spPr/>
        <p:txBody>
          <a:bodyPr>
            <a:normAutofit fontScale="92500" lnSpcReduction="20000"/>
          </a:bodyPr>
          <a:lstStyle/>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I am the originator of this work and </a:t>
            </a:r>
            <a:r>
              <a:rPr lang="en-US" sz="2400" dirty="0">
                <a:solidFill>
                  <a:schemeClr val="tx1"/>
                </a:solidFill>
                <a:effectLst/>
                <a:latin typeface="Arial" panose="020B0604020202020204" pitchFamily="34" charset="0"/>
                <a:ea typeface="Times New Roman" panose="02020603050405020304" pitchFamily="18" charset="0"/>
              </a:rPr>
              <a:t>I have </a:t>
            </a:r>
            <a:r>
              <a:rPr lang="en-GB" sz="2400" dirty="0">
                <a:solidFill>
                  <a:schemeClr val="tx1"/>
                </a:solidFill>
                <a:effectLst/>
                <a:latin typeface="Arial" panose="020B0604020202020204" pitchFamily="34" charset="0"/>
                <a:ea typeface="Times New Roman" panose="02020603050405020304" pitchFamily="18" charset="0"/>
              </a:rPr>
              <a:t>appropriately acknowledged all other original sources used as my references for this work.</a:t>
            </a:r>
          </a:p>
          <a:p>
            <a:pPr marL="0" indent="0" algn="ctr">
              <a:spcBef>
                <a:spcPts val="0"/>
              </a:spcBef>
              <a:buNone/>
            </a:pPr>
            <a:endParaRPr lang="en-US" sz="2400" dirty="0">
              <a:solidFill>
                <a:schemeClr val="tx1"/>
              </a:solidFill>
              <a:effectLst/>
              <a:latin typeface="Arial" panose="020B0604020202020204" pitchFamily="34" charset="0"/>
              <a:ea typeface="Times New Roman" panose="02020603050405020304" pitchFamily="18" charset="0"/>
            </a:endParaRPr>
          </a:p>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I understand that Plagiarism is the act of taking and using the whole or any part of another person’s work, including work generated by AI, and presenting it as my own.</a:t>
            </a:r>
          </a:p>
          <a:p>
            <a:pPr marL="0" indent="0" algn="ctr">
              <a:spcBef>
                <a:spcPts val="0"/>
              </a:spcBef>
              <a:buNone/>
            </a:pPr>
            <a:endParaRPr lang="en-US" sz="2400" dirty="0">
              <a:solidFill>
                <a:schemeClr val="tx1"/>
              </a:solidFill>
              <a:effectLst/>
              <a:latin typeface="Arial" panose="020B0604020202020204" pitchFamily="34" charset="0"/>
              <a:ea typeface="Times New Roman" panose="02020603050405020304" pitchFamily="18" charset="0"/>
            </a:endParaRPr>
          </a:p>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I understand that Plagiarism is an academic offence</a:t>
            </a:r>
            <a:endParaRPr lang="en-US" sz="2400" dirty="0">
              <a:solidFill>
                <a:schemeClr val="tx1"/>
              </a:solidFill>
              <a:effectLst/>
              <a:latin typeface="Arial" panose="020B0604020202020204" pitchFamily="34" charset="0"/>
              <a:ea typeface="Times New Roman" panose="02020603050405020304" pitchFamily="18" charset="0"/>
            </a:endParaRPr>
          </a:p>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and if I am found to have committed or abetted the offence of plagiarism in relation to this submitted work, disciplinary action will be enforced.</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Name and Signature of Student: </a:t>
            </a:r>
            <a:endParaRPr lang="en-SG" sz="3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SG" sz="3000" dirty="0">
                <a:latin typeface="Calibri" panose="020F0502020204030204" pitchFamily="34" charset="0"/>
                <a:ea typeface="Calibri" panose="020F0502020204030204" pitchFamily="34" charset="0"/>
                <a:cs typeface="Times New Roman" panose="02020603050405020304" pitchFamily="18" charset="0"/>
              </a:rPr>
              <a:t>DANISH MOHAMED THODIYIL </a:t>
            </a:r>
            <a:endParaRPr lang="en-US" sz="3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1" name="Group 30">
            <a:extLst>
              <a:ext uri="{FF2B5EF4-FFF2-40B4-BE49-F238E27FC236}">
                <a16:creationId xmlns:a16="http://schemas.microsoft.com/office/drawing/2014/main" id="{263FC222-6F56-4373-7AD4-A13FCCB9112C}"/>
              </a:ext>
            </a:extLst>
          </p:cNvPr>
          <p:cNvGrpSpPr/>
          <p:nvPr/>
        </p:nvGrpSpPr>
        <p:grpSpPr>
          <a:xfrm>
            <a:off x="5386320" y="4841600"/>
            <a:ext cx="1232280" cy="938880"/>
            <a:chOff x="5386320" y="4841600"/>
            <a:chExt cx="1232280" cy="938880"/>
          </a:xfrm>
        </p:grpSpPr>
        <mc:AlternateContent xmlns:mc="http://schemas.openxmlformats.org/markup-compatibility/2006">
          <mc:Choice xmlns:p14="http://schemas.microsoft.com/office/powerpoint/2010/main" Requires="p14">
            <p:contentPart p14:bwMode="auto" r:id="rId2">
              <p14:nvContentPartPr>
                <p14:cNvPr id="27" name="Ink 26">
                  <a:extLst>
                    <a:ext uri="{FF2B5EF4-FFF2-40B4-BE49-F238E27FC236}">
                      <a16:creationId xmlns:a16="http://schemas.microsoft.com/office/drawing/2014/main" id="{66354B55-71B7-4C2F-F5B5-719AD4D33313}"/>
                    </a:ext>
                  </a:extLst>
                </p14:cNvPr>
                <p14:cNvContentPartPr/>
                <p14:nvPr/>
              </p14:nvContentPartPr>
              <p14:xfrm>
                <a:off x="5386320" y="4841600"/>
                <a:ext cx="1232280" cy="507600"/>
              </p14:xfrm>
            </p:contentPart>
          </mc:Choice>
          <mc:Fallback>
            <p:pic>
              <p:nvPicPr>
                <p:cNvPr id="27" name="Ink 26">
                  <a:extLst>
                    <a:ext uri="{FF2B5EF4-FFF2-40B4-BE49-F238E27FC236}">
                      <a16:creationId xmlns:a16="http://schemas.microsoft.com/office/drawing/2014/main" id="{66354B55-71B7-4C2F-F5B5-719AD4D33313}"/>
                    </a:ext>
                  </a:extLst>
                </p:cNvPr>
                <p:cNvPicPr/>
                <p:nvPr/>
              </p:nvPicPr>
              <p:blipFill>
                <a:blip r:embed="rId3"/>
                <a:stretch>
                  <a:fillRect/>
                </a:stretch>
              </p:blipFill>
              <p:spPr>
                <a:xfrm>
                  <a:off x="5368680" y="4823600"/>
                  <a:ext cx="1267920" cy="5432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8" name="Ink 27">
                  <a:extLst>
                    <a:ext uri="{FF2B5EF4-FFF2-40B4-BE49-F238E27FC236}">
                      <a16:creationId xmlns:a16="http://schemas.microsoft.com/office/drawing/2014/main" id="{ACC4BCF1-FD0C-17B3-B85D-EB022D577181}"/>
                    </a:ext>
                  </a:extLst>
                </p14:cNvPr>
                <p14:cNvContentPartPr/>
                <p14:nvPr/>
              </p14:nvContentPartPr>
              <p14:xfrm>
                <a:off x="5584320" y="5242640"/>
                <a:ext cx="352800" cy="393840"/>
              </p14:xfrm>
            </p:contentPart>
          </mc:Choice>
          <mc:Fallback>
            <p:pic>
              <p:nvPicPr>
                <p:cNvPr id="28" name="Ink 27">
                  <a:extLst>
                    <a:ext uri="{FF2B5EF4-FFF2-40B4-BE49-F238E27FC236}">
                      <a16:creationId xmlns:a16="http://schemas.microsoft.com/office/drawing/2014/main" id="{ACC4BCF1-FD0C-17B3-B85D-EB022D577181}"/>
                    </a:ext>
                  </a:extLst>
                </p:cNvPr>
                <p:cNvPicPr/>
                <p:nvPr/>
              </p:nvPicPr>
              <p:blipFill>
                <a:blip r:embed="rId5"/>
                <a:stretch>
                  <a:fillRect/>
                </a:stretch>
              </p:blipFill>
              <p:spPr>
                <a:xfrm>
                  <a:off x="5566680" y="5225000"/>
                  <a:ext cx="388440" cy="429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0" name="Ink 29">
                  <a:extLst>
                    <a:ext uri="{FF2B5EF4-FFF2-40B4-BE49-F238E27FC236}">
                      <a16:creationId xmlns:a16="http://schemas.microsoft.com/office/drawing/2014/main" id="{79FA2417-4CFE-ACEC-5A11-37EAD2669D9D}"/>
                    </a:ext>
                  </a:extLst>
                </p14:cNvPr>
                <p14:cNvContentPartPr/>
                <p14:nvPr/>
              </p14:nvContentPartPr>
              <p14:xfrm>
                <a:off x="5742000" y="5230400"/>
                <a:ext cx="864360" cy="550080"/>
              </p14:xfrm>
            </p:contentPart>
          </mc:Choice>
          <mc:Fallback>
            <p:pic>
              <p:nvPicPr>
                <p:cNvPr id="30" name="Ink 29">
                  <a:extLst>
                    <a:ext uri="{FF2B5EF4-FFF2-40B4-BE49-F238E27FC236}">
                      <a16:creationId xmlns:a16="http://schemas.microsoft.com/office/drawing/2014/main" id="{79FA2417-4CFE-ACEC-5A11-37EAD2669D9D}"/>
                    </a:ext>
                  </a:extLst>
                </p:cNvPr>
                <p:cNvPicPr/>
                <p:nvPr/>
              </p:nvPicPr>
              <p:blipFill>
                <a:blip r:embed="rId7"/>
                <a:stretch>
                  <a:fillRect/>
                </a:stretch>
              </p:blipFill>
              <p:spPr>
                <a:xfrm>
                  <a:off x="5724360" y="5212760"/>
                  <a:ext cx="900000" cy="585720"/>
                </a:xfrm>
                <a:prstGeom prst="rect">
                  <a:avLst/>
                </a:prstGeom>
              </p:spPr>
            </p:pic>
          </mc:Fallback>
        </mc:AlternateContent>
      </p:grpSp>
    </p:spTree>
    <p:extLst>
      <p:ext uri="{BB962C8B-B14F-4D97-AF65-F5344CB8AC3E}">
        <p14:creationId xmlns:p14="http://schemas.microsoft.com/office/powerpoint/2010/main" val="4241071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27B9-0D28-49D9-97B5-B24FDEDB25D0}"/>
              </a:ext>
            </a:extLst>
          </p:cNvPr>
          <p:cNvSpPr>
            <a:spLocks noGrp="1"/>
          </p:cNvSpPr>
          <p:nvPr>
            <p:ph type="title"/>
          </p:nvPr>
        </p:nvSpPr>
        <p:spPr/>
        <p:txBody>
          <a:bodyPr>
            <a:noAutofit/>
          </a:bodyPr>
          <a:lstStyle/>
          <a:p>
            <a:pPr marL="0" marR="0" algn="ctr">
              <a:lnSpc>
                <a:spcPct val="150000"/>
              </a:lnSpc>
              <a:spcBef>
                <a:spcPts val="0"/>
              </a:spcBef>
              <a:spcAft>
                <a:spcPts val="0"/>
              </a:spcAft>
            </a:pPr>
            <a:r>
              <a:rPr lang="en-SG" sz="24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Declaration on the use of Generative AI tools for assignments</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59D1921A-1635-F05B-3C5F-1FB1679BB9DC}"/>
              </a:ext>
            </a:extLst>
          </p:cNvPr>
          <p:cNvSpPr>
            <a:spLocks noGrp="1"/>
          </p:cNvSpPr>
          <p:nvPr>
            <p:ph idx="1"/>
          </p:nvPr>
        </p:nvSpPr>
        <p:spPr>
          <a:xfrm>
            <a:off x="959581" y="1499360"/>
            <a:ext cx="10336162" cy="1057410"/>
          </a:xfrm>
        </p:spPr>
        <p:txBody>
          <a:bodyPr>
            <a:normAutofit lnSpcReduction="10000"/>
          </a:bodyPr>
          <a:lstStyle/>
          <a:p>
            <a:pPr marL="0" marR="0" indent="0" algn="just">
              <a:spcBef>
                <a:spcPts val="0"/>
              </a:spcBef>
              <a:spcAft>
                <a:spcPts val="0"/>
              </a:spcAft>
              <a:buNone/>
              <a:tabLst>
                <a:tab pos="228600" algn="l"/>
              </a:tabLst>
            </a:pPr>
            <a:r>
              <a:rPr lang="en-GB" sz="1800" dirty="0">
                <a:solidFill>
                  <a:schemeClr val="tx1"/>
                </a:solidFill>
                <a:effectLst/>
                <a:latin typeface="Arial" panose="020B0604020202020204" pitchFamily="34" charset="0"/>
                <a:ea typeface="Times New Roman" panose="02020603050405020304" pitchFamily="18" charset="0"/>
              </a:rPr>
              <a:t>Describe how you have used Generative AI tools such as </a:t>
            </a:r>
            <a:r>
              <a:rPr lang="en-GB" sz="1800" dirty="0" err="1">
                <a:solidFill>
                  <a:schemeClr val="tx1"/>
                </a:solidFill>
                <a:effectLst/>
                <a:latin typeface="Arial" panose="020B0604020202020204" pitchFamily="34" charset="0"/>
                <a:ea typeface="Times New Roman" panose="02020603050405020304" pitchFamily="18" charset="0"/>
              </a:rPr>
              <a:t>ChatGPT</a:t>
            </a:r>
            <a:r>
              <a:rPr lang="en-GB" sz="1800" dirty="0">
                <a:solidFill>
                  <a:schemeClr val="tx1"/>
                </a:solidFill>
                <a:effectLst/>
                <a:latin typeface="Arial" panose="020B0604020202020204" pitchFamily="34" charset="0"/>
                <a:ea typeface="Times New Roman" panose="02020603050405020304" pitchFamily="18" charset="0"/>
              </a:rPr>
              <a:t> or Dall.E-2 in your assignment. </a:t>
            </a:r>
            <a:endParaRPr lang="en-US" sz="1800" dirty="0">
              <a:solidFill>
                <a:schemeClr val="tx1"/>
              </a:solidFill>
              <a:effectLst/>
              <a:latin typeface="Arial" panose="020B0604020202020204" pitchFamily="34" charset="0"/>
              <a:ea typeface="Times New Roman" panose="02020603050405020304" pitchFamily="18" charset="0"/>
            </a:endParaRPr>
          </a:p>
          <a:p>
            <a:pPr marL="0" marR="0" indent="0" algn="just">
              <a:spcBef>
                <a:spcPts val="0"/>
              </a:spcBef>
              <a:spcAft>
                <a:spcPts val="0"/>
              </a:spcAft>
              <a:buNone/>
              <a:tabLst>
                <a:tab pos="228600" algn="l"/>
              </a:tabLst>
            </a:pPr>
            <a:endParaRPr lang="en-US" sz="1800" dirty="0">
              <a:solidFill>
                <a:schemeClr val="tx1"/>
              </a:solidFill>
              <a:effectLst/>
              <a:latin typeface="Arial" panose="020B0604020202020204" pitchFamily="34" charset="0"/>
              <a:ea typeface="Times New Roman" panose="02020603050405020304" pitchFamily="18" charset="0"/>
            </a:endParaRPr>
          </a:p>
          <a:p>
            <a:pPr marL="0" marR="0" indent="0" algn="just">
              <a:spcBef>
                <a:spcPts val="0"/>
              </a:spcBef>
              <a:spcAft>
                <a:spcPts val="0"/>
              </a:spcAft>
              <a:buNone/>
              <a:tabLst>
                <a:tab pos="228600" algn="l"/>
              </a:tabLst>
            </a:pPr>
            <a:r>
              <a:rPr lang="en-GB" sz="1800" dirty="0">
                <a:solidFill>
                  <a:schemeClr val="tx1"/>
                </a:solidFill>
                <a:effectLst/>
                <a:latin typeface="Arial" panose="020B0604020202020204" pitchFamily="34" charset="0"/>
                <a:ea typeface="Times New Roman" panose="02020603050405020304" pitchFamily="18" charset="0"/>
              </a:rPr>
              <a:t>Show snapshots of the conversations with the AI tool (i.e., the prompts you used and the response you get from the AI tool).  </a:t>
            </a:r>
            <a:endParaRPr lang="en-US" sz="1800" dirty="0">
              <a:solidFill>
                <a:schemeClr val="tx1"/>
              </a:solidFill>
              <a:effectLst/>
              <a:latin typeface="Arial" panose="020B0604020202020204" pitchFamily="34" charset="0"/>
              <a:ea typeface="Times New Roman" panose="02020603050405020304" pitchFamily="18" charset="0"/>
            </a:endParaRPr>
          </a:p>
        </p:txBody>
      </p:sp>
      <p:sp>
        <p:nvSpPr>
          <p:cNvPr id="10" name="TextBox 9">
            <a:extLst>
              <a:ext uri="{FF2B5EF4-FFF2-40B4-BE49-F238E27FC236}">
                <a16:creationId xmlns:a16="http://schemas.microsoft.com/office/drawing/2014/main" id="{9877B34D-A3FD-6731-5308-300BCCC5C733}"/>
              </a:ext>
            </a:extLst>
          </p:cNvPr>
          <p:cNvSpPr txBox="1"/>
          <p:nvPr/>
        </p:nvSpPr>
        <p:spPr>
          <a:xfrm>
            <a:off x="959582" y="2663301"/>
            <a:ext cx="10336161" cy="211288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Tree>
    <p:extLst>
      <p:ext uri="{BB962C8B-B14F-4D97-AF65-F5344CB8AC3E}">
        <p14:creationId xmlns:p14="http://schemas.microsoft.com/office/powerpoint/2010/main" val="116405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91E037A-6BE5-7A11-AEC6-913324BAC69F}"/>
              </a:ext>
            </a:extLst>
          </p:cNvPr>
          <p:cNvSpPr txBox="1">
            <a:spLocks/>
          </p:cNvSpPr>
          <p:nvPr/>
        </p:nvSpPr>
        <p:spPr>
          <a:xfrm>
            <a:off x="959581" y="1184910"/>
            <a:ext cx="10336162" cy="2628758"/>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en-SG" sz="1600" dirty="0">
                <a:solidFill>
                  <a:schemeClr val="tx1"/>
                </a:solidFill>
                <a:latin typeface="Arial" panose="020B0604020202020204" pitchFamily="34" charset="0"/>
                <a:ea typeface="Times New Roman" panose="02020603050405020304" pitchFamily="18" charset="0"/>
              </a:rPr>
              <a:t>The content generated by AI tools are not retrievable except by the user who generated them, so they are considered non-recoverable sources. Although non-recoverable data or quotations in APA Style papers are usually cited as personal communications, with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-generated text there is no person communicating. Quoting text from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 chat is therefore more like sharing the output of an algorithm, with a reference list entry and the corresponding in-text citation.</a:t>
            </a:r>
          </a:p>
          <a:p>
            <a:pPr marL="0" indent="0" algn="just">
              <a:spcBef>
                <a:spcPts val="0"/>
              </a:spcBef>
              <a:buFont typeface="Arial" panose="020B0604020202020204" pitchFamily="34" charset="0"/>
              <a:buNone/>
            </a:pPr>
            <a:endParaRPr lang="en-SG" sz="1600" dirty="0">
              <a:solidFill>
                <a:schemeClr val="tx1"/>
              </a:solidFill>
              <a:latin typeface="Arial" panose="020B0604020202020204" pitchFamily="34" charset="0"/>
              <a:ea typeface="Times New Roman" panose="02020603050405020304" pitchFamily="18" charset="0"/>
            </a:endParaRPr>
          </a:p>
          <a:p>
            <a:pPr marL="0" indent="0" algn="just">
              <a:spcBef>
                <a:spcPts val="0"/>
              </a:spcBef>
              <a:buFont typeface="Arial" panose="020B0604020202020204" pitchFamily="34" charset="0"/>
              <a:buNone/>
            </a:pPr>
            <a:r>
              <a:rPr lang="en-SG" sz="1600" dirty="0">
                <a:solidFill>
                  <a:schemeClr val="tx1"/>
                </a:solidFill>
                <a:latin typeface="Arial" panose="020B0604020202020204" pitchFamily="34" charset="0"/>
                <a:ea typeface="Times New Roman" panose="02020603050405020304" pitchFamily="18" charset="0"/>
              </a:rPr>
              <a:t>According to the official APA Style site,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 references should be cited as:</a:t>
            </a:r>
          </a:p>
          <a:p>
            <a:pPr marL="0" indent="0" algn="just">
              <a:spcBef>
                <a:spcPts val="0"/>
              </a:spcBef>
              <a:buFont typeface="Arial" panose="020B0604020202020204" pitchFamily="34" charset="0"/>
              <a:buNone/>
            </a:pPr>
            <a:endParaRPr lang="en-SG" sz="1600" dirty="0">
              <a:solidFill>
                <a:schemeClr val="tx1"/>
              </a:solidFill>
              <a:latin typeface="Arial" panose="020B0604020202020204" pitchFamily="34" charset="0"/>
              <a:ea typeface="Times New Roman" panose="02020603050405020304" pitchFamily="18" charset="0"/>
            </a:endParaRPr>
          </a:p>
          <a:p>
            <a:pPr marL="0" indent="0" algn="just">
              <a:spcBef>
                <a:spcPts val="0"/>
              </a:spcBef>
              <a:buFont typeface="Arial" panose="020B0604020202020204" pitchFamily="34" charset="0"/>
              <a:buNone/>
            </a:pPr>
            <a:r>
              <a:rPr lang="en-SG" sz="1600" dirty="0">
                <a:solidFill>
                  <a:schemeClr val="tx1"/>
                </a:solidFill>
                <a:latin typeface="Arial" panose="020B0604020202020204" pitchFamily="34" charset="0"/>
                <a:ea typeface="Times New Roman" panose="02020603050405020304" pitchFamily="18" charset="0"/>
              </a:rPr>
              <a:t>E.g.   </a:t>
            </a:r>
            <a:r>
              <a:rPr lang="en-SG" sz="1600" dirty="0" err="1">
                <a:solidFill>
                  <a:schemeClr val="tx1"/>
                </a:solidFill>
                <a:latin typeface="Arial" panose="020B0604020202020204" pitchFamily="34" charset="0"/>
                <a:ea typeface="Times New Roman" panose="02020603050405020304" pitchFamily="18" charset="0"/>
              </a:rPr>
              <a:t>OpenAI</a:t>
            </a:r>
            <a:r>
              <a:rPr lang="en-SG" sz="1600" dirty="0">
                <a:solidFill>
                  <a:schemeClr val="tx1"/>
                </a:solidFill>
                <a:latin typeface="Arial" panose="020B0604020202020204" pitchFamily="34" charset="0"/>
                <a:ea typeface="Times New Roman" panose="02020603050405020304" pitchFamily="18" charset="0"/>
              </a:rPr>
              <a:t>. (2023).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 (Sep 25 version) [Large language model].       </a:t>
            </a:r>
          </a:p>
          <a:p>
            <a:pPr marL="0" indent="0" algn="just">
              <a:spcBef>
                <a:spcPts val="0"/>
              </a:spcBef>
              <a:buFont typeface="Arial" panose="020B0604020202020204" pitchFamily="34" charset="0"/>
              <a:buNone/>
            </a:pPr>
            <a:r>
              <a:rPr lang="en-SG" sz="1600" dirty="0">
                <a:latin typeface="Arial" panose="020B0604020202020204" pitchFamily="34" charset="0"/>
                <a:ea typeface="Times New Roman" panose="02020603050405020304" pitchFamily="18" charset="0"/>
              </a:rPr>
              <a:t>                    </a:t>
            </a:r>
            <a:r>
              <a:rPr lang="en-SG" sz="1600" dirty="0">
                <a:latin typeface="Arial" panose="020B0604020202020204" pitchFamily="34" charset="0"/>
                <a:ea typeface="Times New Roman" panose="02020603050405020304" pitchFamily="18" charset="0"/>
                <a:hlinkClick r:id="rId2"/>
              </a:rPr>
              <a:t>https://chat.openai.com/chat</a:t>
            </a:r>
            <a:r>
              <a:rPr lang="en-SG" sz="1600" dirty="0">
                <a:latin typeface="Arial" panose="020B0604020202020204" pitchFamily="34" charset="0"/>
                <a:ea typeface="Times New Roman" panose="02020603050405020304" pitchFamily="18" charset="0"/>
              </a:rPr>
              <a:t> </a:t>
            </a:r>
          </a:p>
        </p:txBody>
      </p:sp>
      <p:sp>
        <p:nvSpPr>
          <p:cNvPr id="3" name="Title 1">
            <a:extLst>
              <a:ext uri="{FF2B5EF4-FFF2-40B4-BE49-F238E27FC236}">
                <a16:creationId xmlns:a16="http://schemas.microsoft.com/office/drawing/2014/main" id="{5BDA16E0-F35F-9D0A-C62B-AB7CD8FD6F32}"/>
              </a:ext>
            </a:extLst>
          </p:cNvPr>
          <p:cNvSpPr txBox="1">
            <a:spLocks/>
          </p:cNvSpPr>
          <p:nvPr/>
        </p:nvSpPr>
        <p:spPr>
          <a:xfrm>
            <a:off x="959582" y="365126"/>
            <a:ext cx="10336161" cy="819784"/>
          </a:xfrm>
          <a:prstGeom prst="rect">
            <a:avLst/>
          </a:prstGeom>
        </p:spPr>
        <p:txBody>
          <a:bodyPr>
            <a:noAutofit/>
          </a:bodyPr>
          <a:lstStyle>
            <a:lvl1pPr algn="l" defTabSz="914400" rtl="0" eaLnBrk="1" latinLnBrk="0" hangingPunct="1">
              <a:lnSpc>
                <a:spcPct val="90000"/>
              </a:lnSpc>
              <a:spcBef>
                <a:spcPct val="0"/>
              </a:spcBef>
              <a:buNone/>
              <a:defRPr sz="3600" b="0" i="0" u="none" kern="1200">
                <a:solidFill>
                  <a:srgbClr val="0070C0"/>
                </a:solidFill>
                <a:latin typeface="+mn-lt"/>
                <a:ea typeface="+mj-ea"/>
                <a:cs typeface="+mj-cs"/>
              </a:defRPr>
            </a:lvl1pPr>
          </a:lstStyle>
          <a:p>
            <a:pPr algn="ctr">
              <a:lnSpc>
                <a:spcPct val="150000"/>
              </a:lnSpc>
              <a:spcBef>
                <a:spcPts val="0"/>
              </a:spcBef>
            </a:pPr>
            <a:r>
              <a:rPr lang="en-SG" sz="2400" b="1" dirty="0">
                <a:solidFill>
                  <a:srgbClr val="FF0000"/>
                </a:solidFill>
                <a:latin typeface="Arial" panose="020B0604020202020204" pitchFamily="34" charset="0"/>
                <a:ea typeface="Times New Roman" panose="02020603050405020304" pitchFamily="18" charset="0"/>
                <a:cs typeface="Arial" panose="020B0604020202020204" pitchFamily="34" charset="0"/>
              </a:rPr>
              <a:t>How do you indicate the reference?</a:t>
            </a:r>
            <a:endParaRPr lang="en-US" sz="1100" dirty="0">
              <a:latin typeface="Arial" panose="020B0604020202020204" pitchFamily="34"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60EFE433-EAE2-4855-84B2-7012E3FCB36E}"/>
              </a:ext>
            </a:extLst>
          </p:cNvPr>
          <p:cNvSpPr txBox="1"/>
          <p:nvPr/>
        </p:nvSpPr>
        <p:spPr>
          <a:xfrm>
            <a:off x="959581" y="3813668"/>
            <a:ext cx="10336162"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algn="just">
              <a:spcBef>
                <a:spcPts val="0"/>
              </a:spcBef>
              <a:spcAft>
                <a:spcPts val="0"/>
              </a:spcAft>
              <a:tabLst>
                <a:tab pos="228600" algn="l"/>
              </a:tabLst>
            </a:pPr>
            <a:r>
              <a:rPr lang="en-GB" sz="1600" b="1" dirty="0">
                <a:solidFill>
                  <a:srgbClr val="FF0000"/>
                </a:solidFill>
                <a:effectLst/>
                <a:latin typeface="Arial" panose="020B0604020202020204" pitchFamily="34" charset="0"/>
                <a:ea typeface="Times New Roman" panose="02020603050405020304" pitchFamily="18" charset="0"/>
              </a:rPr>
              <a:t>Important Note:</a:t>
            </a:r>
            <a:endParaRPr lang="en-US" sz="1600" dirty="0">
              <a:solidFill>
                <a:srgbClr val="FF0000"/>
              </a:solidFill>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endParaRPr lang="en-GB" sz="1600" dirty="0">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latin typeface="Arial" panose="020B0604020202020204" pitchFamily="34" charset="0"/>
                <a:ea typeface="Times New Roman" panose="02020603050405020304" pitchFamily="18" charset="0"/>
              </a:rPr>
              <a:t>Do not copy answers produced by the AI tool in totality as it is considered as plagiarism.  </a:t>
            </a:r>
            <a:endParaRPr lang="en-US" sz="1600" dirty="0">
              <a:effectLst/>
              <a:latin typeface="Arial" panose="020B0604020202020204" pitchFamily="34" charset="0"/>
              <a:ea typeface="Times New Roman" panose="02020603050405020304" pitchFamily="18" charset="0"/>
            </a:endParaRPr>
          </a:p>
          <a:p>
            <a:pPr marL="228600" marR="0" algn="just">
              <a:spcBef>
                <a:spcPts val="0"/>
              </a:spcBef>
              <a:spcAft>
                <a:spcPts val="0"/>
              </a:spcAft>
              <a:tabLst>
                <a:tab pos="228600" algn="l"/>
              </a:tabLst>
            </a:pPr>
            <a:r>
              <a:rPr lang="en-GB" sz="1600" dirty="0">
                <a:effectLst/>
                <a:latin typeface="Arial" panose="020B0604020202020204" pitchFamily="34" charset="0"/>
                <a:ea typeface="Times New Roman" panose="02020603050405020304" pitchFamily="18" charset="0"/>
              </a:rPr>
              <a:t> </a:t>
            </a:r>
            <a:endParaRPr lang="en-US" sz="1600" dirty="0">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latin typeface="Arial" panose="020B0604020202020204" pitchFamily="34" charset="0"/>
                <a:ea typeface="Times New Roman" panose="02020603050405020304" pitchFamily="18" charset="0"/>
              </a:rPr>
              <a:t>Do not rely on any information produced by the AI tool blindly. You should always verify the answer with other sources. Do not assume that these answers provided by the AI tool are correct.  </a:t>
            </a:r>
            <a:endParaRPr lang="en-US" sz="1600" dirty="0">
              <a:effectLst/>
              <a:latin typeface="Arial" panose="020B0604020202020204" pitchFamily="34" charset="0"/>
              <a:ea typeface="Times New Roman" panose="02020603050405020304" pitchFamily="18" charset="0"/>
            </a:endParaRPr>
          </a:p>
          <a:p>
            <a:pPr marL="457200" marR="0">
              <a:spcBef>
                <a:spcPts val="0"/>
              </a:spcBef>
              <a:spcAft>
                <a:spcPts val="0"/>
              </a:spcAft>
            </a:pPr>
            <a:r>
              <a:rPr lang="en-GB" sz="1600" dirty="0">
                <a:effectLst/>
                <a:latin typeface="Arial" panose="020B0604020202020204" pitchFamily="34" charset="0"/>
                <a:ea typeface="Times New Roman" panose="02020603050405020304" pitchFamily="18" charset="0"/>
              </a:rPr>
              <a:t> </a:t>
            </a:r>
            <a:endParaRPr lang="en-US" sz="1600" dirty="0">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latin typeface="Arial" panose="020B0604020202020204" pitchFamily="34" charset="0"/>
                <a:ea typeface="Times New Roman" panose="02020603050405020304" pitchFamily="18" charset="0"/>
              </a:rPr>
              <a:t>To achieve quality outputs from the AI tool, you should provide good prompt that is clear and specific. Be precise and provide context.  Avoid asking open-ended questions. </a:t>
            </a:r>
          </a:p>
          <a:p>
            <a:pPr marR="0" lvl="0" algn="just">
              <a:spcBef>
                <a:spcPts val="0"/>
              </a:spcBef>
              <a:spcAft>
                <a:spcPts val="0"/>
              </a:spcAft>
              <a:tabLst>
                <a:tab pos="228600" algn="l"/>
              </a:tabLst>
            </a:pPr>
            <a:endParaRPr lang="en-US" sz="1600" dirty="0">
              <a:effectLst/>
              <a:latin typeface="Arial" panose="020B0604020202020204" pitchFamily="34" charset="0"/>
              <a:ea typeface="Times New Roman" panose="02020603050405020304" pitchFamily="18" charset="0"/>
            </a:endParaRPr>
          </a:p>
        </p:txBody>
      </p:sp>
    </p:spTree>
    <p:extLst>
      <p:ext uri="{BB962C8B-B14F-4D97-AF65-F5344CB8AC3E}">
        <p14:creationId xmlns:p14="http://schemas.microsoft.com/office/powerpoint/2010/main" val="401178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17672-F6E5-9794-1B2A-1763A2756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77476-C6D1-EFDC-F7D7-707F9B4954F6}"/>
              </a:ext>
            </a:extLst>
          </p:cNvPr>
          <p:cNvSpPr>
            <a:spLocks noGrp="1"/>
          </p:cNvSpPr>
          <p:nvPr>
            <p:ph type="title"/>
          </p:nvPr>
        </p:nvSpPr>
        <p:spPr>
          <a:xfrm>
            <a:off x="838200" y="365126"/>
            <a:ext cx="10515600" cy="1078664"/>
          </a:xfrm>
        </p:spPr>
        <p:txBody>
          <a:bodyPr>
            <a:normAutofit fontScale="90000"/>
          </a:bodyPr>
          <a:lstStyle/>
          <a:p>
            <a:r>
              <a:rPr lang="en-US" b="1" dirty="0"/>
              <a:t>Selected Use Case – </a:t>
            </a:r>
            <a:br>
              <a:rPr lang="en-US" b="1" dirty="0"/>
            </a:br>
            <a:r>
              <a:rPr lang="en-US" b="1" dirty="0">
                <a:highlight>
                  <a:srgbClr val="FFFF00"/>
                </a:highlight>
              </a:rPr>
              <a:t>Highlight your selected use case below</a:t>
            </a:r>
            <a:endParaRPr lang="en-US" dirty="0">
              <a:highlight>
                <a:srgbClr val="FFFF00"/>
              </a:highlight>
            </a:endParaRPr>
          </a:p>
        </p:txBody>
      </p:sp>
      <p:sp>
        <p:nvSpPr>
          <p:cNvPr id="3" name="Content Placeholder 2">
            <a:extLst>
              <a:ext uri="{FF2B5EF4-FFF2-40B4-BE49-F238E27FC236}">
                <a16:creationId xmlns:a16="http://schemas.microsoft.com/office/drawing/2014/main" id="{C8760CD5-405C-869B-BC45-A94C15FE2050}"/>
              </a:ext>
            </a:extLst>
          </p:cNvPr>
          <p:cNvSpPr>
            <a:spLocks noGrp="1"/>
          </p:cNvSpPr>
          <p:nvPr>
            <p:ph idx="1"/>
          </p:nvPr>
        </p:nvSpPr>
        <p:spPr>
          <a:xfrm>
            <a:off x="548640" y="1536866"/>
            <a:ext cx="11290434" cy="4806182"/>
          </a:xfrm>
        </p:spPr>
        <p:txBody>
          <a:bodyPr>
            <a:normAutofit fontScale="92500" lnSpcReduction="10000"/>
          </a:bodyPr>
          <a:lstStyle/>
          <a:p>
            <a:pPr marL="0" indent="0" algn="just">
              <a:buNone/>
            </a:pPr>
            <a:r>
              <a:rPr lang="en-US" sz="1600" b="1" dirty="0"/>
              <a:t>Case Study Options</a:t>
            </a:r>
            <a:r>
              <a:rPr lang="en-US" sz="1600" dirty="0"/>
              <a:t> (</a:t>
            </a:r>
            <a:r>
              <a:rPr lang="en-US" sz="1600" i="1" dirty="0"/>
              <a:t>The problem statement serves as a starting point; you can use it as is or adapt it based on your users' specific needs.</a:t>
            </a:r>
            <a:r>
              <a:rPr lang="en-US" sz="1600" dirty="0"/>
              <a:t>):</a:t>
            </a:r>
          </a:p>
          <a:p>
            <a:pPr marL="0" indent="0" algn="just">
              <a:buNone/>
            </a:pPr>
            <a:endParaRPr lang="en-US" sz="1600" dirty="0"/>
          </a:p>
          <a:p>
            <a:pPr marL="0" lvl="0" indent="0" algn="just">
              <a:buNone/>
            </a:pPr>
            <a:r>
              <a:rPr lang="en-US" sz="1600" b="1" dirty="0"/>
              <a:t>Campus Event Management System</a:t>
            </a:r>
            <a:endParaRPr lang="en-US" sz="1600" dirty="0"/>
          </a:p>
          <a:p>
            <a:pPr algn="just"/>
            <a:r>
              <a:rPr lang="en-US" sz="1600" b="1" dirty="0"/>
              <a:t>Problem Statement:</a:t>
            </a:r>
            <a:r>
              <a:rPr lang="en-US" sz="1600" dirty="0"/>
              <a:t> Students often miss out on campus events due to scattered announcements, lack of reminders, and complicated registration processes, leading to low participation and poor event visibility. </a:t>
            </a:r>
          </a:p>
          <a:p>
            <a:pPr lvl="0" algn="just"/>
            <a:endParaRPr lang="en-US" sz="1600" b="1" dirty="0"/>
          </a:p>
          <a:p>
            <a:pPr marL="0" lvl="0" indent="0" algn="just">
              <a:buNone/>
            </a:pPr>
            <a:r>
              <a:rPr lang="en-US" sz="1600" b="1" dirty="0"/>
              <a:t>Library Book Finder &amp; Reservation System</a:t>
            </a:r>
            <a:endParaRPr lang="en-US" sz="1600" dirty="0"/>
          </a:p>
          <a:p>
            <a:pPr algn="just"/>
            <a:r>
              <a:rPr lang="en-US" sz="1600" b="1" dirty="0"/>
              <a:t>Problem Statement: </a:t>
            </a:r>
            <a:r>
              <a:rPr lang="en-US" sz="1600" dirty="0"/>
              <a:t>Students waste time searching for books in the library without knowing their availability, resulting in frustration and missed opportunities to access learning resources.</a:t>
            </a:r>
          </a:p>
          <a:p>
            <a:pPr marL="0" indent="0" algn="just">
              <a:buNone/>
            </a:pPr>
            <a:r>
              <a:rPr lang="en-US" sz="1600" dirty="0"/>
              <a:t> </a:t>
            </a:r>
          </a:p>
          <a:p>
            <a:pPr marL="0" lvl="0" indent="0" algn="just">
              <a:buNone/>
            </a:pPr>
            <a:r>
              <a:rPr lang="en-US" sz="1600" b="1" dirty="0">
                <a:highlight>
                  <a:srgbClr val="FFFF00"/>
                </a:highlight>
              </a:rPr>
              <a:t>Peer-to-Peer Learning / Tutor Finder</a:t>
            </a:r>
            <a:endParaRPr lang="en-US" sz="1600" dirty="0">
              <a:highlight>
                <a:srgbClr val="FFFF00"/>
              </a:highlight>
            </a:endParaRPr>
          </a:p>
          <a:p>
            <a:pPr algn="just"/>
            <a:r>
              <a:rPr lang="en-US" sz="1600" b="1" dirty="0">
                <a:highlight>
                  <a:srgbClr val="FFFF00"/>
                </a:highlight>
              </a:rPr>
              <a:t>Problem Statement: </a:t>
            </a:r>
            <a:r>
              <a:rPr lang="en-US" sz="1600" dirty="0">
                <a:highlight>
                  <a:srgbClr val="FFFF00"/>
                </a:highlight>
              </a:rPr>
              <a:t>Students often need academic help but struggle to find peers with the right expertise, leading to missed learning opportunities and uneven access to support.</a:t>
            </a:r>
          </a:p>
          <a:p>
            <a:pPr marL="0" indent="0" algn="just">
              <a:buNone/>
            </a:pPr>
            <a:r>
              <a:rPr lang="en-US" sz="1600" dirty="0"/>
              <a:t> </a:t>
            </a:r>
          </a:p>
          <a:p>
            <a:pPr marL="0" lvl="0" indent="0" algn="just">
              <a:buNone/>
            </a:pPr>
            <a:r>
              <a:rPr lang="en-US" sz="1600" b="1" dirty="0"/>
              <a:t>Internship &amp; Job Portal for Students</a:t>
            </a:r>
            <a:endParaRPr lang="en-US" sz="1600" dirty="0"/>
          </a:p>
          <a:p>
            <a:pPr algn="just"/>
            <a:r>
              <a:rPr lang="en-US" sz="1600" b="1" dirty="0"/>
              <a:t>Problem Statement: </a:t>
            </a:r>
            <a:r>
              <a:rPr lang="en-US" sz="1600" dirty="0"/>
              <a:t>Students often struggle to find internships and job opportunities relevant to their courses, as postings are scattered across multiple platforms with no campus-specific matching.</a:t>
            </a:r>
            <a:r>
              <a:rPr lang="en-US" sz="1600" b="1" dirty="0"/>
              <a:t> </a:t>
            </a:r>
            <a:endParaRPr lang="en-US" sz="1600" dirty="0"/>
          </a:p>
        </p:txBody>
      </p:sp>
    </p:spTree>
    <p:extLst>
      <p:ext uri="{BB962C8B-B14F-4D97-AF65-F5344CB8AC3E}">
        <p14:creationId xmlns:p14="http://schemas.microsoft.com/office/powerpoint/2010/main" val="1420197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04071-0090-17B7-2A90-3317FAB697E2}"/>
              </a:ext>
            </a:extLst>
          </p:cNvPr>
          <p:cNvSpPr>
            <a:spLocks noGrp="1"/>
          </p:cNvSpPr>
          <p:nvPr>
            <p:ph type="title"/>
          </p:nvPr>
        </p:nvSpPr>
        <p:spPr/>
        <p:txBody>
          <a:bodyPr/>
          <a:lstStyle/>
          <a:p>
            <a:r>
              <a:rPr lang="en-US" b="1" dirty="0"/>
              <a:t>Problem Definition/Customer Needs (4%)</a:t>
            </a:r>
            <a:endParaRPr lang="en-US" dirty="0"/>
          </a:p>
        </p:txBody>
      </p:sp>
      <p:pic>
        <p:nvPicPr>
          <p:cNvPr id="9" name="Picture 8">
            <a:extLst>
              <a:ext uri="{FF2B5EF4-FFF2-40B4-BE49-F238E27FC236}">
                <a16:creationId xmlns:a16="http://schemas.microsoft.com/office/drawing/2014/main" id="{B01B1A60-B793-6598-607D-FCBA88207E1A}"/>
              </a:ext>
            </a:extLst>
          </p:cNvPr>
          <p:cNvPicPr>
            <a:picLocks noChangeAspect="1"/>
          </p:cNvPicPr>
          <p:nvPr/>
        </p:nvPicPr>
        <p:blipFill>
          <a:blip r:embed="rId2"/>
          <a:stretch>
            <a:fillRect/>
          </a:stretch>
        </p:blipFill>
        <p:spPr>
          <a:xfrm>
            <a:off x="739942" y="1619656"/>
            <a:ext cx="10712116" cy="4112009"/>
          </a:xfrm>
          <a:prstGeom prst="rect">
            <a:avLst/>
          </a:prstGeom>
        </p:spPr>
      </p:pic>
    </p:spTree>
    <p:extLst>
      <p:ext uri="{BB962C8B-B14F-4D97-AF65-F5344CB8AC3E}">
        <p14:creationId xmlns:p14="http://schemas.microsoft.com/office/powerpoint/2010/main" val="1716147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97609-7E63-91E9-4F40-2C682556F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5ABC2-6FF3-8999-3B72-7CAEA897975A}"/>
              </a:ext>
            </a:extLst>
          </p:cNvPr>
          <p:cNvSpPr>
            <a:spLocks noGrp="1"/>
          </p:cNvSpPr>
          <p:nvPr>
            <p:ph type="title"/>
          </p:nvPr>
        </p:nvSpPr>
        <p:spPr/>
        <p:txBody>
          <a:bodyPr/>
          <a:lstStyle/>
          <a:p>
            <a:r>
              <a:rPr lang="en-US" b="1" dirty="0"/>
              <a:t>Problem Definition/Customer Needs (4%)</a:t>
            </a:r>
            <a:endParaRPr lang="en-US" dirty="0"/>
          </a:p>
        </p:txBody>
      </p:sp>
      <p:sp>
        <p:nvSpPr>
          <p:cNvPr id="11" name="Content Placeholder 2">
            <a:extLst>
              <a:ext uri="{FF2B5EF4-FFF2-40B4-BE49-F238E27FC236}">
                <a16:creationId xmlns:a16="http://schemas.microsoft.com/office/drawing/2014/main" id="{53AE8302-EB5E-93F9-9B7A-3BCDD82FAEA9}"/>
              </a:ext>
            </a:extLst>
          </p:cNvPr>
          <p:cNvSpPr>
            <a:spLocks noGrp="1"/>
          </p:cNvSpPr>
          <p:nvPr>
            <p:ph idx="1"/>
          </p:nvPr>
        </p:nvSpPr>
        <p:spPr>
          <a:xfrm>
            <a:off x="838200" y="1825625"/>
            <a:ext cx="10515600" cy="4351338"/>
          </a:xfrm>
        </p:spPr>
        <p:txBody>
          <a:bodyPr>
            <a:normAutofit/>
          </a:bodyPr>
          <a:lstStyle/>
          <a:p>
            <a:pPr>
              <a:buFontTx/>
              <a:buChar char="-"/>
            </a:pPr>
            <a:r>
              <a:rPr lang="en-SG" sz="2400" dirty="0"/>
              <a:t>Students often struggle to find someone who can help them in academics. Some student may need a quick assistance in certain topic of the subject while some others may need a group to revise or prepare for exams. Currently school doesn't have any such facility for student to rely on. </a:t>
            </a:r>
          </a:p>
          <a:p>
            <a:pPr>
              <a:buFontTx/>
              <a:buChar char="-"/>
            </a:pPr>
            <a:r>
              <a:rPr lang="en-SG" sz="2400" b="1" dirty="0" err="1"/>
              <a:t>StudyMate</a:t>
            </a:r>
            <a:r>
              <a:rPr lang="en-SG" sz="2400" dirty="0"/>
              <a:t> can help connect students who want help and those who are ready to help. </a:t>
            </a:r>
          </a:p>
          <a:p>
            <a:pPr>
              <a:buFontTx/>
              <a:buChar char="-"/>
            </a:pPr>
            <a:r>
              <a:rPr lang="en-SG" sz="2400" dirty="0"/>
              <a:t>Students will be able to search by subject; create new study group and join in existing groups.</a:t>
            </a:r>
          </a:p>
          <a:p>
            <a:pPr marL="0" indent="0">
              <a:buNone/>
            </a:pPr>
            <a:endParaRPr lang="en-SG" sz="2600" dirty="0"/>
          </a:p>
          <a:p>
            <a:pPr marL="0" indent="0">
              <a:buNone/>
            </a:pPr>
            <a:endParaRPr lang="en-SG" dirty="0"/>
          </a:p>
        </p:txBody>
      </p:sp>
    </p:spTree>
    <p:extLst>
      <p:ext uri="{BB962C8B-B14F-4D97-AF65-F5344CB8AC3E}">
        <p14:creationId xmlns:p14="http://schemas.microsoft.com/office/powerpoint/2010/main" val="2092595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4485F-1971-E1E1-0150-CFD6CDF85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6E75E-9C10-B9DF-1FE3-0DF030A1F9EB}"/>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33470A05-E2C0-BC32-CE16-D1FB03A78EBF}"/>
              </a:ext>
            </a:extLst>
          </p:cNvPr>
          <p:cNvSpPr>
            <a:spLocks noGrp="1"/>
          </p:cNvSpPr>
          <p:nvPr>
            <p:ph idx="1"/>
          </p:nvPr>
        </p:nvSpPr>
        <p:spPr>
          <a:xfrm>
            <a:off x="838200" y="1755468"/>
            <a:ext cx="10515600" cy="4737407"/>
          </a:xfrm>
        </p:spPr>
        <p:txBody>
          <a:bodyPr>
            <a:normAutofit/>
          </a:bodyPr>
          <a:lstStyle/>
          <a:p>
            <a:pPr algn="just"/>
            <a:r>
              <a:rPr lang="en-US" sz="2400" dirty="0"/>
              <a:t>Students face difficulties when trying to find someone who can help them with the subject, student often rely on their small friend group or internet to understand difficult topics but instead waste their time without understanding anything.</a:t>
            </a:r>
          </a:p>
          <a:p>
            <a:pPr algn="just"/>
            <a:r>
              <a:rPr lang="en-US" sz="2400" dirty="0"/>
              <a:t>Students who know a subject very well and is willing to teach others; don’t know who need their help. They don’t have a proper way to connect and arrange meeting with others.</a:t>
            </a:r>
          </a:p>
          <a:p>
            <a:pPr algn="just"/>
            <a:r>
              <a:rPr lang="en-US" sz="2400" dirty="0"/>
              <a:t>There is no platform that connect the students who need help and students who are willing to help. The WhatsApp group or the telegram group may be helpful at first but later become messy and hard to manage.</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p:txBody>
      </p:sp>
    </p:spTree>
    <p:extLst>
      <p:ext uri="{BB962C8B-B14F-4D97-AF65-F5344CB8AC3E}">
        <p14:creationId xmlns:p14="http://schemas.microsoft.com/office/powerpoint/2010/main" val="3971626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6E505-E00A-ADB7-DB57-8E7073E084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BD7E70-523F-D5D2-D773-B858A91E77EE}"/>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44B76BC5-0BC3-D00D-C700-98ECC0B5B2A6}"/>
              </a:ext>
            </a:extLst>
          </p:cNvPr>
          <p:cNvSpPr>
            <a:spLocks noGrp="1"/>
          </p:cNvSpPr>
          <p:nvPr>
            <p:ph idx="1"/>
          </p:nvPr>
        </p:nvSpPr>
        <p:spPr>
          <a:xfrm>
            <a:off x="816591" y="1417732"/>
            <a:ext cx="10515600" cy="4737407"/>
          </a:xfrm>
        </p:spPr>
        <p:txBody>
          <a:bodyPr>
            <a:normAutofit/>
          </a:bodyPr>
          <a:lstStyle/>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p:txBody>
      </p:sp>
      <p:sp>
        <p:nvSpPr>
          <p:cNvPr id="4" name="Content Placeholder 2">
            <a:extLst>
              <a:ext uri="{FF2B5EF4-FFF2-40B4-BE49-F238E27FC236}">
                <a16:creationId xmlns:a16="http://schemas.microsoft.com/office/drawing/2014/main" id="{44BB9AB2-CED7-0A1E-3831-49FE7688ACE9}"/>
              </a:ext>
            </a:extLst>
          </p:cNvPr>
          <p:cNvSpPr txBox="1">
            <a:spLocks/>
          </p:cNvSpPr>
          <p:nvPr/>
        </p:nvSpPr>
        <p:spPr>
          <a:xfrm>
            <a:off x="968991" y="1570132"/>
            <a:ext cx="10515600" cy="4737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b="1" u="sng" dirty="0"/>
              <a:t>User Stories</a:t>
            </a:r>
          </a:p>
          <a:p>
            <a:pPr marL="0" indent="0" algn="just">
              <a:buFont typeface="Arial" panose="020B0604020202020204" pitchFamily="34" charset="0"/>
              <a:buNone/>
            </a:pPr>
            <a:r>
              <a:rPr lang="en-US" dirty="0"/>
              <a:t>-</a:t>
            </a:r>
            <a:r>
              <a:rPr lang="en-US" sz="2400" dirty="0"/>
              <a:t>As a student who needs help on studies, I need to find peers who excel in the module that I have issue understanding with</a:t>
            </a:r>
          </a:p>
          <a:p>
            <a:pPr marL="0" indent="0" algn="just">
              <a:buFont typeface="Arial" panose="020B0604020202020204" pitchFamily="34" charset="0"/>
              <a:buNone/>
            </a:pPr>
            <a:r>
              <a:rPr lang="en-US" sz="2400" dirty="0"/>
              <a:t>-As a student, I need to join or create peer group for combine and collaborative learning for preparation over projects and exams</a:t>
            </a:r>
          </a:p>
          <a:p>
            <a:pPr marL="0" indent="0" algn="just">
              <a:buFont typeface="Arial" panose="020B0604020202020204" pitchFamily="34" charset="0"/>
              <a:buNone/>
            </a:pPr>
            <a:r>
              <a:rPr lang="en-US" sz="2400" dirty="0"/>
              <a:t>-As a student exceling in certain module, I need to help other peers and improve skills</a:t>
            </a:r>
          </a:p>
          <a:p>
            <a:pPr marL="0" indent="0" algn="just">
              <a:buFont typeface="Arial" panose="020B0604020202020204" pitchFamily="34" charset="0"/>
              <a:buNone/>
            </a:pPr>
            <a:endParaRPr lang="en-US" dirty="0"/>
          </a:p>
        </p:txBody>
      </p:sp>
    </p:spTree>
    <p:extLst>
      <p:ext uri="{BB962C8B-B14F-4D97-AF65-F5344CB8AC3E}">
        <p14:creationId xmlns:p14="http://schemas.microsoft.com/office/powerpoint/2010/main" val="3143592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483E8-3C76-3639-130F-D45EF28829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8328C-A226-D8B9-22B0-8079D70CBE56}"/>
              </a:ext>
            </a:extLst>
          </p:cNvPr>
          <p:cNvSpPr>
            <a:spLocks noGrp="1"/>
          </p:cNvSpPr>
          <p:nvPr>
            <p:ph type="title"/>
          </p:nvPr>
        </p:nvSpPr>
        <p:spPr/>
        <p:txBody>
          <a:bodyPr/>
          <a:lstStyle/>
          <a:p>
            <a:r>
              <a:rPr lang="en-US" b="1" dirty="0"/>
              <a:t>Problem Definition/Customer Needs (4%)</a:t>
            </a:r>
            <a:endParaRPr lang="en-US" dirty="0"/>
          </a:p>
        </p:txBody>
      </p:sp>
      <p:sp>
        <p:nvSpPr>
          <p:cNvPr id="4" name="Content Placeholder 2">
            <a:extLst>
              <a:ext uri="{FF2B5EF4-FFF2-40B4-BE49-F238E27FC236}">
                <a16:creationId xmlns:a16="http://schemas.microsoft.com/office/drawing/2014/main" id="{2B6C2A5B-518B-ED06-341C-125E6712AAA8}"/>
              </a:ext>
            </a:extLst>
          </p:cNvPr>
          <p:cNvSpPr txBox="1">
            <a:spLocks/>
          </p:cNvSpPr>
          <p:nvPr/>
        </p:nvSpPr>
        <p:spPr>
          <a:xfrm>
            <a:off x="838200" y="1553378"/>
            <a:ext cx="10515600" cy="45306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b="1" u="sng" dirty="0"/>
              <a:t>Summary</a:t>
            </a:r>
          </a:p>
          <a:p>
            <a:pPr marL="0" indent="0">
              <a:buFont typeface="Arial" panose="020B0604020202020204" pitchFamily="34" charset="0"/>
              <a:buNone/>
            </a:pPr>
            <a:r>
              <a:rPr lang="en-US" sz="2400" dirty="0"/>
              <a:t>Students don’t have a medium to connect, to realize their weakness and work on that with their peers those who excel in the module, </a:t>
            </a:r>
            <a:r>
              <a:rPr lang="en-US" sz="2400" b="1" dirty="0" err="1"/>
              <a:t>StudyMate</a:t>
            </a:r>
            <a:r>
              <a:rPr lang="en-US" sz="2400" dirty="0"/>
              <a:t> fills this gaps by giving a way to showcase their excellence and find help on their weakness by helping join study group, find tutor etc.</a:t>
            </a:r>
          </a:p>
          <a:p>
            <a:pPr marL="0" indent="0" algn="just">
              <a:buFont typeface="Arial" panose="020B0604020202020204" pitchFamily="34" charset="0"/>
              <a:buNone/>
            </a:pPr>
            <a:endParaRPr lang="en-US" dirty="0"/>
          </a:p>
          <a:p>
            <a:pPr marL="0" indent="0" algn="just">
              <a:buFont typeface="Arial" panose="020B0604020202020204" pitchFamily="34" charset="0"/>
              <a:buNone/>
            </a:pPr>
            <a:endParaRPr lang="en-US" dirty="0"/>
          </a:p>
        </p:txBody>
      </p:sp>
    </p:spTree>
    <p:extLst>
      <p:ext uri="{BB962C8B-B14F-4D97-AF65-F5344CB8AC3E}">
        <p14:creationId xmlns:p14="http://schemas.microsoft.com/office/powerpoint/2010/main" val="3690640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2063B-C7BA-4B1D-B58C-6CC93786C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3B867-408B-E7C3-1F8F-DF09D77C1BAA}"/>
              </a:ext>
            </a:extLst>
          </p:cNvPr>
          <p:cNvSpPr>
            <a:spLocks noGrp="1"/>
          </p:cNvSpPr>
          <p:nvPr>
            <p:ph type="title"/>
          </p:nvPr>
        </p:nvSpPr>
        <p:spPr/>
        <p:txBody>
          <a:bodyPr/>
          <a:lstStyle/>
          <a:p>
            <a:r>
              <a:rPr lang="en-US" b="1" dirty="0"/>
              <a:t>Project Objectives (3%)</a:t>
            </a:r>
            <a:endParaRPr lang="en-US" dirty="0"/>
          </a:p>
        </p:txBody>
      </p:sp>
      <p:pic>
        <p:nvPicPr>
          <p:cNvPr id="8" name="Picture 7">
            <a:extLst>
              <a:ext uri="{FF2B5EF4-FFF2-40B4-BE49-F238E27FC236}">
                <a16:creationId xmlns:a16="http://schemas.microsoft.com/office/drawing/2014/main" id="{4AD2BA13-A0E4-AF1F-3ACD-4D847AEF91DE}"/>
              </a:ext>
            </a:extLst>
          </p:cNvPr>
          <p:cNvPicPr>
            <a:picLocks noChangeAspect="1"/>
          </p:cNvPicPr>
          <p:nvPr/>
        </p:nvPicPr>
        <p:blipFill>
          <a:blip r:embed="rId2"/>
          <a:stretch>
            <a:fillRect/>
          </a:stretch>
        </p:blipFill>
        <p:spPr>
          <a:xfrm>
            <a:off x="677237" y="1542161"/>
            <a:ext cx="9060114" cy="3773678"/>
          </a:xfrm>
          <a:prstGeom prst="rect">
            <a:avLst/>
          </a:prstGeom>
        </p:spPr>
      </p:pic>
    </p:spTree>
    <p:extLst>
      <p:ext uri="{BB962C8B-B14F-4D97-AF65-F5344CB8AC3E}">
        <p14:creationId xmlns:p14="http://schemas.microsoft.com/office/powerpoint/2010/main" val="2017591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6E245-88B4-B4D1-48E2-817FBBDF3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D76BB-441F-5A86-9F12-CB8B40F3CE62}"/>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4C70A787-970F-3BB7-78FD-A04117B6FB38}"/>
              </a:ext>
            </a:extLst>
          </p:cNvPr>
          <p:cNvSpPr>
            <a:spLocks noGrp="1"/>
          </p:cNvSpPr>
          <p:nvPr>
            <p:ph idx="1"/>
          </p:nvPr>
        </p:nvSpPr>
        <p:spPr>
          <a:xfrm>
            <a:off x="998621" y="1690688"/>
            <a:ext cx="10515600" cy="4351338"/>
          </a:xfrm>
        </p:spPr>
        <p:txBody>
          <a:bodyPr>
            <a:normAutofit/>
          </a:bodyPr>
          <a:lstStyle/>
          <a:p>
            <a:pPr algn="just"/>
            <a:r>
              <a:rPr lang="en-US" sz="2400" dirty="0"/>
              <a:t>The main objective of </a:t>
            </a:r>
            <a:r>
              <a:rPr lang="en-US" sz="2400" b="1" dirty="0" err="1"/>
              <a:t>StudyMate</a:t>
            </a:r>
            <a:r>
              <a:rPr lang="en-US" sz="2400" dirty="0"/>
              <a:t> is to serve a medium of connection for peer-to-peer learning.</a:t>
            </a:r>
          </a:p>
          <a:p>
            <a:pPr algn="just"/>
            <a:r>
              <a:rPr lang="en-US" sz="2400" dirty="0"/>
              <a:t>This helps students to find study groups and tutors based on the subject.</a:t>
            </a:r>
          </a:p>
          <a:p>
            <a:pPr algn="just"/>
            <a:r>
              <a:rPr lang="en-US" sz="2400" dirty="0" err="1"/>
              <a:t>StudyMate</a:t>
            </a:r>
            <a:r>
              <a:rPr lang="en-US" sz="2400" dirty="0"/>
              <a:t> fills this gaps by giving a way to showcase students excellence and find help on their weakness by helping join study group, and find tutors giving them an academical support.</a:t>
            </a:r>
          </a:p>
        </p:txBody>
      </p:sp>
    </p:spTree>
    <p:extLst>
      <p:ext uri="{BB962C8B-B14F-4D97-AF65-F5344CB8AC3E}">
        <p14:creationId xmlns:p14="http://schemas.microsoft.com/office/powerpoint/2010/main" val="547355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26A25-A399-A50F-5BC6-4B8AC394A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1495B8-82CF-DC7C-D88D-B3BF66CDAA2F}"/>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8D83DB59-6C46-528E-61D5-3F8302F6F9D5}"/>
              </a:ext>
            </a:extLst>
          </p:cNvPr>
          <p:cNvSpPr>
            <a:spLocks noGrp="1"/>
          </p:cNvSpPr>
          <p:nvPr>
            <p:ph idx="1"/>
          </p:nvPr>
        </p:nvSpPr>
        <p:spPr/>
        <p:txBody>
          <a:bodyPr>
            <a:normAutofit/>
          </a:bodyPr>
          <a:lstStyle/>
          <a:p>
            <a:pPr algn="just"/>
            <a:r>
              <a:rPr lang="en-US" sz="2400" b="1" dirty="0"/>
              <a:t>Main users</a:t>
            </a:r>
            <a:r>
              <a:rPr lang="en-US" sz="2400" dirty="0"/>
              <a:t>: students who are weak in specific modules and student who excel in specific module and are willing to help others.</a:t>
            </a:r>
          </a:p>
          <a:p>
            <a:pPr algn="just"/>
            <a:r>
              <a:rPr lang="en-US" sz="2400" b="1" dirty="0"/>
              <a:t>User goals</a:t>
            </a:r>
            <a:r>
              <a:rPr lang="en-US" sz="2400" dirty="0"/>
              <a:t>: to get quick help on academics, relevant and syllabus- based help, to help others voluntarily there by increasing their soft skills and also the knowledge on that module.</a:t>
            </a:r>
          </a:p>
          <a:p>
            <a:pPr algn="just"/>
            <a:r>
              <a:rPr lang="en-US" sz="2400" dirty="0"/>
              <a:t>Easier to find help on based on the module and will be syllabus based, helps build study groups and communities over school.</a:t>
            </a:r>
          </a:p>
        </p:txBody>
      </p:sp>
    </p:spTree>
    <p:extLst>
      <p:ext uri="{BB962C8B-B14F-4D97-AF65-F5344CB8AC3E}">
        <p14:creationId xmlns:p14="http://schemas.microsoft.com/office/powerpoint/2010/main" val="1675934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5692C-CC33-4EAD-2512-93322FCC2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1820F-9B59-C699-AD19-14F75A5097BF}"/>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65C389AB-7EA3-E5BC-A2E6-0DB6E16D69C3}"/>
              </a:ext>
            </a:extLst>
          </p:cNvPr>
          <p:cNvSpPr>
            <a:spLocks noGrp="1"/>
          </p:cNvSpPr>
          <p:nvPr>
            <p:ph idx="1"/>
          </p:nvPr>
        </p:nvSpPr>
        <p:spPr>
          <a:xfrm>
            <a:off x="838200" y="1594271"/>
            <a:ext cx="10515600" cy="4351338"/>
          </a:xfrm>
        </p:spPr>
        <p:txBody>
          <a:bodyPr>
            <a:normAutofit lnSpcReduction="10000"/>
          </a:bodyPr>
          <a:lstStyle/>
          <a:p>
            <a:pPr marL="0" indent="0" algn="just">
              <a:buNone/>
            </a:pPr>
            <a:r>
              <a:rPr lang="en-US" b="1" u="sng" dirty="0"/>
              <a:t>Unique value proposition</a:t>
            </a:r>
          </a:p>
          <a:p>
            <a:pPr marL="0" indent="0" algn="just">
              <a:buNone/>
            </a:pPr>
            <a:r>
              <a:rPr lang="en-US" sz="2400" dirty="0"/>
              <a:t>Unlike other platforms </a:t>
            </a:r>
            <a:r>
              <a:rPr lang="en-US" sz="2400" b="1" dirty="0" err="1"/>
              <a:t>StudyMate</a:t>
            </a:r>
            <a:r>
              <a:rPr lang="en-US" sz="2400" dirty="0"/>
              <a:t> concentrate on peer-to-peer learning. It is student centered platform where only the Temasek poly student have access to this website. Here the students are the learners and tutors, hence providing a friendly safe academic environment where everyone can study and grow together.</a:t>
            </a:r>
          </a:p>
          <a:p>
            <a:pPr marL="0" indent="0" algn="just">
              <a:buNone/>
            </a:pPr>
            <a:r>
              <a:rPr lang="en-US" sz="2400" dirty="0"/>
              <a:t>The features like search tutors, study group based on subject make it easy for students to find what they are searching for. Additionally, any student can create their own study group, and this develop leadership, organization and decision-making skill of that student.</a:t>
            </a:r>
          </a:p>
          <a:p>
            <a:pPr marL="0" indent="0" algn="just">
              <a:buNone/>
            </a:pPr>
            <a:r>
              <a:rPr lang="en-US" sz="2400" dirty="0"/>
              <a:t>And the point and badge system motivate students to actively participate and make the website experience more engaging, thus creating a little competitive feeling inside students to earn more points.</a:t>
            </a:r>
          </a:p>
          <a:p>
            <a:pPr marL="0" indent="0" algn="just">
              <a:buNone/>
            </a:pPr>
            <a:endParaRPr lang="en-US" sz="2400" dirty="0"/>
          </a:p>
        </p:txBody>
      </p:sp>
    </p:spTree>
    <p:extLst>
      <p:ext uri="{BB962C8B-B14F-4D97-AF65-F5344CB8AC3E}">
        <p14:creationId xmlns:p14="http://schemas.microsoft.com/office/powerpoint/2010/main" val="21940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1642E-F147-5AE9-8A21-AB75385B4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A9152-0E70-ECD6-526A-1AB046D8C6D9}"/>
              </a:ext>
            </a:extLst>
          </p:cNvPr>
          <p:cNvSpPr>
            <a:spLocks noGrp="1"/>
          </p:cNvSpPr>
          <p:nvPr>
            <p:ph type="title"/>
          </p:nvPr>
        </p:nvSpPr>
        <p:spPr>
          <a:xfrm>
            <a:off x="750065" y="-231773"/>
            <a:ext cx="10515600" cy="1325563"/>
          </a:xfrm>
        </p:spPr>
        <p:txBody>
          <a:bodyPr/>
          <a:lstStyle/>
          <a:p>
            <a:pPr lvl="0"/>
            <a:r>
              <a:rPr lang="en-US" b="1" dirty="0"/>
              <a:t>Proposed Features (3%)</a:t>
            </a:r>
            <a:endParaRPr lang="en-US" dirty="0"/>
          </a:p>
        </p:txBody>
      </p:sp>
      <p:sp>
        <p:nvSpPr>
          <p:cNvPr id="3" name="Content Placeholder 2">
            <a:extLst>
              <a:ext uri="{FF2B5EF4-FFF2-40B4-BE49-F238E27FC236}">
                <a16:creationId xmlns:a16="http://schemas.microsoft.com/office/drawing/2014/main" id="{E94E226F-87EA-B2E1-1DAB-46E9004CBADB}"/>
              </a:ext>
            </a:extLst>
          </p:cNvPr>
          <p:cNvSpPr>
            <a:spLocks noGrp="1"/>
          </p:cNvSpPr>
          <p:nvPr>
            <p:ph idx="1"/>
          </p:nvPr>
        </p:nvSpPr>
        <p:spPr>
          <a:xfrm>
            <a:off x="838200" y="851479"/>
            <a:ext cx="10515600" cy="484621"/>
          </a:xfrm>
        </p:spPr>
        <p:txBody>
          <a:bodyPr/>
          <a:lstStyle/>
          <a:p>
            <a:pPr algn="just"/>
            <a:r>
              <a:rPr lang="en-US" dirty="0"/>
              <a:t>Outline the planned functionalities in detail.</a:t>
            </a:r>
          </a:p>
        </p:txBody>
      </p:sp>
      <p:graphicFrame>
        <p:nvGraphicFramePr>
          <p:cNvPr id="5" name="Table 4">
            <a:extLst>
              <a:ext uri="{FF2B5EF4-FFF2-40B4-BE49-F238E27FC236}">
                <a16:creationId xmlns:a16="http://schemas.microsoft.com/office/drawing/2014/main" id="{BAEED393-1070-2643-5289-FD54DA219C09}"/>
              </a:ext>
            </a:extLst>
          </p:cNvPr>
          <p:cNvGraphicFramePr>
            <a:graphicFrameLocks noGrp="1"/>
          </p:cNvGraphicFramePr>
          <p:nvPr>
            <p:extLst>
              <p:ext uri="{D42A27DB-BD31-4B8C-83A1-F6EECF244321}">
                <p14:modId xmlns:p14="http://schemas.microsoft.com/office/powerpoint/2010/main" val="3781595043"/>
              </p:ext>
            </p:extLst>
          </p:nvPr>
        </p:nvGraphicFramePr>
        <p:xfrm>
          <a:off x="537410" y="1466135"/>
          <a:ext cx="11117180" cy="5277573"/>
        </p:xfrm>
        <a:graphic>
          <a:graphicData uri="http://schemas.openxmlformats.org/drawingml/2006/table">
            <a:tbl>
              <a:tblPr firstRow="1" bandRow="1">
                <a:tableStyleId>{5C22544A-7EE6-4342-B048-85BDC9FD1C3A}</a:tableStyleId>
              </a:tblPr>
              <a:tblGrid>
                <a:gridCol w="2223436">
                  <a:extLst>
                    <a:ext uri="{9D8B030D-6E8A-4147-A177-3AD203B41FA5}">
                      <a16:colId xmlns:a16="http://schemas.microsoft.com/office/drawing/2014/main" val="1895186589"/>
                    </a:ext>
                  </a:extLst>
                </a:gridCol>
                <a:gridCol w="2223436">
                  <a:extLst>
                    <a:ext uri="{9D8B030D-6E8A-4147-A177-3AD203B41FA5}">
                      <a16:colId xmlns:a16="http://schemas.microsoft.com/office/drawing/2014/main" val="3709950371"/>
                    </a:ext>
                  </a:extLst>
                </a:gridCol>
                <a:gridCol w="2223436">
                  <a:extLst>
                    <a:ext uri="{9D8B030D-6E8A-4147-A177-3AD203B41FA5}">
                      <a16:colId xmlns:a16="http://schemas.microsoft.com/office/drawing/2014/main" val="1564183303"/>
                    </a:ext>
                  </a:extLst>
                </a:gridCol>
                <a:gridCol w="2223436">
                  <a:extLst>
                    <a:ext uri="{9D8B030D-6E8A-4147-A177-3AD203B41FA5}">
                      <a16:colId xmlns:a16="http://schemas.microsoft.com/office/drawing/2014/main" val="933354680"/>
                    </a:ext>
                  </a:extLst>
                </a:gridCol>
                <a:gridCol w="2223436">
                  <a:extLst>
                    <a:ext uri="{9D8B030D-6E8A-4147-A177-3AD203B41FA5}">
                      <a16:colId xmlns:a16="http://schemas.microsoft.com/office/drawing/2014/main" val="2149251216"/>
                    </a:ext>
                  </a:extLst>
                </a:gridCol>
              </a:tblGrid>
              <a:tr h="412749">
                <a:tc>
                  <a:txBody>
                    <a:bodyPr/>
                    <a:lstStyle/>
                    <a:p>
                      <a:pPr>
                        <a:buNone/>
                      </a:pPr>
                      <a:r>
                        <a:rPr lang="en-US" sz="1400" b="1" dirty="0"/>
                        <a:t>Feature Name</a:t>
                      </a:r>
                      <a:endParaRPr lang="en-US" sz="1400" dirty="0"/>
                    </a:p>
                  </a:txBody>
                  <a:tcPr anchor="ctr"/>
                </a:tc>
                <a:tc>
                  <a:txBody>
                    <a:bodyPr/>
                    <a:lstStyle/>
                    <a:p>
                      <a:pPr>
                        <a:buNone/>
                      </a:pPr>
                      <a:r>
                        <a:rPr lang="en-US" sz="1400" b="1"/>
                        <a:t>Description / Purpose</a:t>
                      </a:r>
                      <a:endParaRPr lang="en-US" sz="1400"/>
                    </a:p>
                  </a:txBody>
                  <a:tcPr anchor="ctr"/>
                </a:tc>
                <a:tc>
                  <a:txBody>
                    <a:bodyPr/>
                    <a:lstStyle/>
                    <a:p>
                      <a:pPr>
                        <a:buNone/>
                      </a:pPr>
                      <a:r>
                        <a:rPr lang="en-US" sz="1400" b="1"/>
                        <a:t>User Actions / What It Does</a:t>
                      </a:r>
                      <a:endParaRPr lang="en-US" sz="1400"/>
                    </a:p>
                  </a:txBody>
                  <a:tcPr anchor="ctr"/>
                </a:tc>
                <a:tc>
                  <a:txBody>
                    <a:bodyPr/>
                    <a:lstStyle/>
                    <a:p>
                      <a:pPr>
                        <a:buNone/>
                      </a:pPr>
                      <a:r>
                        <a:rPr lang="en-US" sz="1400" b="1"/>
                        <a:t>Expected Outcome / Display</a:t>
                      </a:r>
                      <a:endParaRPr lang="en-US" sz="1400"/>
                    </a:p>
                  </a:txBody>
                  <a:tcPr anchor="ctr"/>
                </a:tc>
                <a:tc>
                  <a:txBody>
                    <a:bodyPr/>
                    <a:lstStyle/>
                    <a:p>
                      <a:pPr>
                        <a:buNone/>
                      </a:pPr>
                      <a:r>
                        <a:rPr lang="en-US" sz="1400" b="1" dirty="0"/>
                        <a:t>Notes / Future Plans</a:t>
                      </a:r>
                      <a:endParaRPr lang="en-US" sz="1400" dirty="0"/>
                    </a:p>
                  </a:txBody>
                  <a:tcPr anchor="ctr"/>
                </a:tc>
                <a:extLst>
                  <a:ext uri="{0D108BD9-81ED-4DB2-BD59-A6C34878D82A}">
                    <a16:rowId xmlns:a16="http://schemas.microsoft.com/office/drawing/2014/main" val="3238503483"/>
                  </a:ext>
                </a:extLst>
              </a:tr>
              <a:tr h="766533">
                <a:tc>
                  <a:txBody>
                    <a:bodyPr/>
                    <a:lstStyle/>
                    <a:p>
                      <a:pPr>
                        <a:buNone/>
                      </a:pPr>
                      <a:r>
                        <a:rPr lang="en-US" sz="1400" dirty="0"/>
                        <a:t>User Login &amp; Signup</a:t>
                      </a:r>
                    </a:p>
                  </a:txBody>
                  <a:tcPr anchor="ctr"/>
                </a:tc>
                <a:tc>
                  <a:txBody>
                    <a:bodyPr/>
                    <a:lstStyle/>
                    <a:p>
                      <a:pPr>
                        <a:buNone/>
                      </a:pPr>
                      <a:r>
                        <a:rPr lang="en-US" sz="1400" dirty="0"/>
                        <a:t>Allow users to create accounts and log in.</a:t>
                      </a:r>
                    </a:p>
                  </a:txBody>
                  <a:tcPr anchor="ctr"/>
                </a:tc>
                <a:tc>
                  <a:txBody>
                    <a:bodyPr/>
                    <a:lstStyle/>
                    <a:p>
                      <a:pPr>
                        <a:buNone/>
                      </a:pPr>
                      <a:r>
                        <a:rPr lang="en-US" sz="1400" dirty="0"/>
                        <a:t>Users can sign up with their school email and password.</a:t>
                      </a:r>
                    </a:p>
                  </a:txBody>
                  <a:tcPr anchor="ctr"/>
                </a:tc>
                <a:tc>
                  <a:txBody>
                    <a:bodyPr/>
                    <a:lstStyle/>
                    <a:p>
                      <a:pPr>
                        <a:buNone/>
                      </a:pPr>
                      <a:r>
                        <a:rPr lang="en-US" sz="1400" dirty="0"/>
                        <a:t>Users see a home page</a:t>
                      </a:r>
                    </a:p>
                  </a:txBody>
                  <a:tcPr anchor="ctr"/>
                </a:tc>
                <a:tc>
                  <a:txBody>
                    <a:bodyPr/>
                    <a:lstStyle/>
                    <a:p>
                      <a:pPr>
                        <a:buNone/>
                      </a:pPr>
                      <a:r>
                        <a:rPr lang="en-US" sz="1400" dirty="0"/>
                        <a:t>Will later connect to a database for real login.</a:t>
                      </a:r>
                    </a:p>
                  </a:txBody>
                  <a:tcPr anchor="ctr"/>
                </a:tc>
                <a:extLst>
                  <a:ext uri="{0D108BD9-81ED-4DB2-BD59-A6C34878D82A}">
                    <a16:rowId xmlns:a16="http://schemas.microsoft.com/office/drawing/2014/main" val="195928634"/>
                  </a:ext>
                </a:extLst>
              </a:tr>
              <a:tr h="589641">
                <a:tc>
                  <a:txBody>
                    <a:bodyPr/>
                    <a:lstStyle/>
                    <a:p>
                      <a:pPr>
                        <a:buNone/>
                      </a:pPr>
                      <a:r>
                        <a:rPr lang="en-US" sz="1400" dirty="0"/>
                        <a:t>Search By Subject</a:t>
                      </a:r>
                    </a:p>
                  </a:txBody>
                  <a:tcPr anchor="ctr"/>
                </a:tc>
                <a:tc>
                  <a:txBody>
                    <a:bodyPr/>
                    <a:lstStyle/>
                    <a:p>
                      <a:pPr>
                        <a:buNone/>
                      </a:pPr>
                      <a:r>
                        <a:rPr lang="en-US" sz="1400" dirty="0"/>
                        <a:t>Allow  user find tutor or study group by subject.</a:t>
                      </a:r>
                    </a:p>
                  </a:txBody>
                  <a:tcPr anchor="ctr"/>
                </a:tc>
                <a:tc>
                  <a:txBody>
                    <a:bodyPr/>
                    <a:lstStyle/>
                    <a:p>
                      <a:pPr>
                        <a:buNone/>
                      </a:pPr>
                      <a:r>
                        <a:rPr lang="en-US" sz="1400" dirty="0"/>
                        <a:t>Users can type the subject or select it from “popular subject” section of the homepage</a:t>
                      </a:r>
                    </a:p>
                  </a:txBody>
                  <a:tcPr anchor="ctr"/>
                </a:tc>
                <a:tc>
                  <a:txBody>
                    <a:bodyPr/>
                    <a:lstStyle/>
                    <a:p>
                      <a:pPr>
                        <a:buNone/>
                      </a:pPr>
                      <a:r>
                        <a:rPr lang="en-US" sz="1400" dirty="0"/>
                        <a:t>Display the result page with two tabs, one for finding tutors and the other of finding the study group.</a:t>
                      </a:r>
                    </a:p>
                  </a:txBody>
                  <a:tcPr anchor="ctr"/>
                </a:tc>
                <a:tc>
                  <a:txBody>
                    <a:bodyPr/>
                    <a:lstStyle/>
                    <a:p>
                      <a:pPr>
                        <a:buNone/>
                      </a:pPr>
                      <a:r>
                        <a:rPr lang="en-US" sz="1400" dirty="0"/>
                        <a:t>Add filters in future.</a:t>
                      </a:r>
                    </a:p>
                  </a:txBody>
                  <a:tcPr anchor="ctr"/>
                </a:tc>
                <a:extLst>
                  <a:ext uri="{0D108BD9-81ED-4DB2-BD59-A6C34878D82A}">
                    <a16:rowId xmlns:a16="http://schemas.microsoft.com/office/drawing/2014/main" val="2822858972"/>
                  </a:ext>
                </a:extLst>
              </a:tr>
              <a:tr h="589641">
                <a:tc>
                  <a:txBody>
                    <a:bodyPr/>
                    <a:lstStyle/>
                    <a:p>
                      <a:pPr>
                        <a:buNone/>
                      </a:pPr>
                      <a:r>
                        <a:rPr lang="en-US" sz="1400" dirty="0"/>
                        <a:t>Popular subject section </a:t>
                      </a:r>
                    </a:p>
                  </a:txBody>
                  <a:tcPr anchor="ctr"/>
                </a:tc>
                <a:tc>
                  <a:txBody>
                    <a:bodyPr/>
                    <a:lstStyle/>
                    <a:p>
                      <a:pPr>
                        <a:buNone/>
                      </a:pPr>
                      <a:r>
                        <a:rPr lang="en-US" sz="1400" dirty="0"/>
                        <a:t>Show the popular subject based on the number of users liked to them.</a:t>
                      </a:r>
                    </a:p>
                  </a:txBody>
                  <a:tcPr anchor="ctr"/>
                </a:tc>
                <a:tc>
                  <a:txBody>
                    <a:bodyPr/>
                    <a:lstStyle/>
                    <a:p>
                      <a:pPr>
                        <a:buNone/>
                      </a:pPr>
                      <a:r>
                        <a:rPr lang="en-US" sz="1400" dirty="0"/>
                        <a:t>Users can view this section in the homepage</a:t>
                      </a:r>
                    </a:p>
                  </a:txBody>
                  <a:tcPr anchor="ctr"/>
                </a:tc>
                <a:tc>
                  <a:txBody>
                    <a:bodyPr/>
                    <a:lstStyle/>
                    <a:p>
                      <a:pPr>
                        <a:buNone/>
                      </a:pPr>
                      <a:r>
                        <a:rPr lang="en-US" sz="1400" dirty="0"/>
                        <a:t>Clicking on to any of these subject will show same result as a search,; it will help you to filter tutor and group by subject.</a:t>
                      </a:r>
                    </a:p>
                  </a:txBody>
                  <a:tcPr anchor="ctr"/>
                </a:tc>
                <a:tc>
                  <a:txBody>
                    <a:bodyPr/>
                    <a:lstStyle/>
                    <a:p>
                      <a:pPr>
                        <a:buNone/>
                      </a:pPr>
                      <a:r>
                        <a:rPr lang="en-US" sz="1400" dirty="0"/>
                        <a:t>Auto update the popularity count</a:t>
                      </a:r>
                    </a:p>
                  </a:txBody>
                  <a:tcPr anchor="ctr"/>
                </a:tc>
                <a:extLst>
                  <a:ext uri="{0D108BD9-81ED-4DB2-BD59-A6C34878D82A}">
                    <a16:rowId xmlns:a16="http://schemas.microsoft.com/office/drawing/2014/main" val="3488274501"/>
                  </a:ext>
                </a:extLst>
              </a:tr>
              <a:tr h="589641">
                <a:tc>
                  <a:txBody>
                    <a:bodyPr/>
                    <a:lstStyle/>
                    <a:p>
                      <a:pPr>
                        <a:buNone/>
                      </a:pPr>
                      <a:r>
                        <a:rPr lang="en-US" sz="1400" dirty="0"/>
                        <a:t>Study group functionalities</a:t>
                      </a:r>
                    </a:p>
                  </a:txBody>
                  <a:tcPr anchor="ctr"/>
                </a:tc>
                <a:tc>
                  <a:txBody>
                    <a:bodyPr/>
                    <a:lstStyle/>
                    <a:p>
                      <a:pPr>
                        <a:buNone/>
                      </a:pPr>
                      <a:r>
                        <a:rPr lang="en-US" sz="1400" dirty="0"/>
                        <a:t>Allow user to create and join study groups.</a:t>
                      </a:r>
                    </a:p>
                  </a:txBody>
                  <a:tcPr anchor="ctr"/>
                </a:tc>
                <a:tc>
                  <a:txBody>
                    <a:bodyPr/>
                    <a:lstStyle/>
                    <a:p>
                      <a:pPr>
                        <a:buNone/>
                      </a:pPr>
                      <a:r>
                        <a:rPr lang="en-US" sz="1400" dirty="0"/>
                        <a:t>User can either create their own study group or request to join an existing r study group</a:t>
                      </a:r>
                    </a:p>
                  </a:txBody>
                  <a:tcPr anchor="ctr"/>
                </a:tc>
                <a:tc>
                  <a:txBody>
                    <a:bodyPr/>
                    <a:lstStyle/>
                    <a:p>
                      <a:pPr>
                        <a:buNone/>
                      </a:pPr>
                      <a:r>
                        <a:rPr lang="en-US" sz="1400" dirty="0"/>
                        <a:t>User can click on the join button to send request to the admin. </a:t>
                      </a:r>
                    </a:p>
                  </a:txBody>
                  <a:tcPr anchor="ctr"/>
                </a:tc>
                <a:tc>
                  <a:txBody>
                    <a:bodyPr/>
                    <a:lstStyle/>
                    <a:p>
                      <a:pPr>
                        <a:buNone/>
                      </a:pPr>
                      <a:r>
                        <a:rPr lang="en-US" sz="1400" dirty="0"/>
                        <a:t>In future, create a limited time group chats. </a:t>
                      </a:r>
                    </a:p>
                  </a:txBody>
                  <a:tcPr anchor="ctr"/>
                </a:tc>
                <a:extLst>
                  <a:ext uri="{0D108BD9-81ED-4DB2-BD59-A6C34878D82A}">
                    <a16:rowId xmlns:a16="http://schemas.microsoft.com/office/drawing/2014/main" val="4124828537"/>
                  </a:ext>
                </a:extLst>
              </a:tr>
              <a:tr h="589641">
                <a:tc>
                  <a:txBody>
                    <a:bodyPr/>
                    <a:lstStyle/>
                    <a:p>
                      <a:pPr>
                        <a:buNone/>
                      </a:pPr>
                      <a:r>
                        <a:rPr lang="en-US" sz="1400" dirty="0"/>
                        <a:t>Notification system</a:t>
                      </a:r>
                    </a:p>
                  </a:txBody>
                  <a:tcPr anchor="ctr"/>
                </a:tc>
                <a:tc>
                  <a:txBody>
                    <a:bodyPr/>
                    <a:lstStyle/>
                    <a:p>
                      <a:pPr>
                        <a:buNone/>
                      </a:pPr>
                      <a:r>
                        <a:rPr lang="en-US" sz="1400" dirty="0"/>
                        <a:t>Allow user to see the status of their requests like request to join group or tutor help request </a:t>
                      </a:r>
                      <a:r>
                        <a:rPr lang="en-US" sz="1400" dirty="0" err="1"/>
                        <a:t>etc</a:t>
                      </a:r>
                      <a:endParaRPr lang="en-US" sz="1400" dirty="0"/>
                    </a:p>
                  </a:txBody>
                  <a:tcPr anchor="ctr"/>
                </a:tc>
                <a:tc>
                  <a:txBody>
                    <a:bodyPr/>
                    <a:lstStyle/>
                    <a:p>
                      <a:pPr>
                        <a:buNone/>
                      </a:pPr>
                      <a:r>
                        <a:rPr lang="en-US" sz="1400" dirty="0"/>
                        <a:t>User can click on the bell icon on the home page to see all the notification</a:t>
                      </a:r>
                    </a:p>
                  </a:txBody>
                  <a:tcPr anchor="ctr"/>
                </a:tc>
                <a:tc>
                  <a:txBody>
                    <a:bodyPr/>
                    <a:lstStyle/>
                    <a:p>
                      <a:pPr>
                        <a:buNone/>
                      </a:pPr>
                      <a:r>
                        <a:rPr lang="en-US" sz="1400" dirty="0"/>
                        <a:t>It will display all the notification about the status of the requests</a:t>
                      </a:r>
                    </a:p>
                  </a:txBody>
                  <a:tcPr anchor="ctr"/>
                </a:tc>
                <a:tc>
                  <a:txBody>
                    <a:bodyPr/>
                    <a:lstStyle/>
                    <a:p>
                      <a:pPr>
                        <a:buNone/>
                      </a:pPr>
                      <a:r>
                        <a:rPr lang="en-US" sz="1400" dirty="0"/>
                        <a:t>Future,  implement push notification</a:t>
                      </a:r>
                    </a:p>
                  </a:txBody>
                  <a:tcPr anchor="ctr"/>
                </a:tc>
                <a:extLst>
                  <a:ext uri="{0D108BD9-81ED-4DB2-BD59-A6C34878D82A}">
                    <a16:rowId xmlns:a16="http://schemas.microsoft.com/office/drawing/2014/main" val="2204227571"/>
                  </a:ext>
                </a:extLst>
              </a:tr>
            </a:tbl>
          </a:graphicData>
        </a:graphic>
      </p:graphicFrame>
    </p:spTree>
    <p:extLst>
      <p:ext uri="{BB962C8B-B14F-4D97-AF65-F5344CB8AC3E}">
        <p14:creationId xmlns:p14="http://schemas.microsoft.com/office/powerpoint/2010/main" val="1190842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C5A1C-1FC6-4718-71F8-1806F4117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F6B13-6196-7686-E22E-73FF9EAA0D39}"/>
              </a:ext>
            </a:extLst>
          </p:cNvPr>
          <p:cNvSpPr>
            <a:spLocks noGrp="1"/>
          </p:cNvSpPr>
          <p:nvPr>
            <p:ph type="title"/>
          </p:nvPr>
        </p:nvSpPr>
        <p:spPr/>
        <p:txBody>
          <a:bodyPr/>
          <a:lstStyle/>
          <a:p>
            <a:pPr lvl="0"/>
            <a:r>
              <a:rPr lang="en-US" b="1" dirty="0"/>
              <a:t>Proposed Features (3%)</a:t>
            </a:r>
            <a:endParaRPr lang="en-US" dirty="0"/>
          </a:p>
        </p:txBody>
      </p:sp>
      <p:sp>
        <p:nvSpPr>
          <p:cNvPr id="3" name="Content Placeholder 2">
            <a:extLst>
              <a:ext uri="{FF2B5EF4-FFF2-40B4-BE49-F238E27FC236}">
                <a16:creationId xmlns:a16="http://schemas.microsoft.com/office/drawing/2014/main" id="{5F474DA9-5D42-8098-8797-823604D9067D}"/>
              </a:ext>
            </a:extLst>
          </p:cNvPr>
          <p:cNvSpPr>
            <a:spLocks noGrp="1"/>
          </p:cNvSpPr>
          <p:nvPr>
            <p:ph idx="1"/>
          </p:nvPr>
        </p:nvSpPr>
        <p:spPr>
          <a:xfrm>
            <a:off x="739048" y="1279740"/>
            <a:ext cx="10515600" cy="484621"/>
          </a:xfrm>
        </p:spPr>
        <p:txBody>
          <a:bodyPr/>
          <a:lstStyle/>
          <a:p>
            <a:pPr algn="just"/>
            <a:r>
              <a:rPr lang="en-US" dirty="0"/>
              <a:t>Outline the planned functionalities in detail.</a:t>
            </a:r>
          </a:p>
        </p:txBody>
      </p:sp>
      <p:graphicFrame>
        <p:nvGraphicFramePr>
          <p:cNvPr id="5" name="Table 4">
            <a:extLst>
              <a:ext uri="{FF2B5EF4-FFF2-40B4-BE49-F238E27FC236}">
                <a16:creationId xmlns:a16="http://schemas.microsoft.com/office/drawing/2014/main" id="{5D6184E4-70AC-78AA-4E0D-CC5AA77A9290}"/>
              </a:ext>
            </a:extLst>
          </p:cNvPr>
          <p:cNvGraphicFramePr>
            <a:graphicFrameLocks noGrp="1"/>
          </p:cNvGraphicFramePr>
          <p:nvPr>
            <p:extLst>
              <p:ext uri="{D42A27DB-BD31-4B8C-83A1-F6EECF244321}">
                <p14:modId xmlns:p14="http://schemas.microsoft.com/office/powerpoint/2010/main" val="3775300808"/>
              </p:ext>
            </p:extLst>
          </p:nvPr>
        </p:nvGraphicFramePr>
        <p:xfrm>
          <a:off x="537410" y="1764361"/>
          <a:ext cx="11117180" cy="4419600"/>
        </p:xfrm>
        <a:graphic>
          <a:graphicData uri="http://schemas.openxmlformats.org/drawingml/2006/table">
            <a:tbl>
              <a:tblPr firstRow="1" bandRow="1">
                <a:tableStyleId>{5C22544A-7EE6-4342-B048-85BDC9FD1C3A}</a:tableStyleId>
              </a:tblPr>
              <a:tblGrid>
                <a:gridCol w="2223436">
                  <a:extLst>
                    <a:ext uri="{9D8B030D-6E8A-4147-A177-3AD203B41FA5}">
                      <a16:colId xmlns:a16="http://schemas.microsoft.com/office/drawing/2014/main" val="1895186589"/>
                    </a:ext>
                  </a:extLst>
                </a:gridCol>
                <a:gridCol w="2223436">
                  <a:extLst>
                    <a:ext uri="{9D8B030D-6E8A-4147-A177-3AD203B41FA5}">
                      <a16:colId xmlns:a16="http://schemas.microsoft.com/office/drawing/2014/main" val="3709950371"/>
                    </a:ext>
                  </a:extLst>
                </a:gridCol>
                <a:gridCol w="2223436">
                  <a:extLst>
                    <a:ext uri="{9D8B030D-6E8A-4147-A177-3AD203B41FA5}">
                      <a16:colId xmlns:a16="http://schemas.microsoft.com/office/drawing/2014/main" val="1564183303"/>
                    </a:ext>
                  </a:extLst>
                </a:gridCol>
                <a:gridCol w="2223436">
                  <a:extLst>
                    <a:ext uri="{9D8B030D-6E8A-4147-A177-3AD203B41FA5}">
                      <a16:colId xmlns:a16="http://schemas.microsoft.com/office/drawing/2014/main" val="933354680"/>
                    </a:ext>
                  </a:extLst>
                </a:gridCol>
                <a:gridCol w="2223436">
                  <a:extLst>
                    <a:ext uri="{9D8B030D-6E8A-4147-A177-3AD203B41FA5}">
                      <a16:colId xmlns:a16="http://schemas.microsoft.com/office/drawing/2014/main" val="2149251216"/>
                    </a:ext>
                  </a:extLst>
                </a:gridCol>
              </a:tblGrid>
              <a:tr h="412749">
                <a:tc>
                  <a:txBody>
                    <a:bodyPr/>
                    <a:lstStyle/>
                    <a:p>
                      <a:pPr>
                        <a:buNone/>
                      </a:pPr>
                      <a:r>
                        <a:rPr lang="en-US" sz="1400" b="1" dirty="0"/>
                        <a:t>Feature Name</a:t>
                      </a:r>
                      <a:endParaRPr lang="en-US" sz="1400" dirty="0"/>
                    </a:p>
                  </a:txBody>
                  <a:tcPr anchor="ctr"/>
                </a:tc>
                <a:tc>
                  <a:txBody>
                    <a:bodyPr/>
                    <a:lstStyle/>
                    <a:p>
                      <a:pPr>
                        <a:buNone/>
                      </a:pPr>
                      <a:r>
                        <a:rPr lang="en-US" sz="1400" b="1" dirty="0"/>
                        <a:t>Description / Purpose</a:t>
                      </a:r>
                      <a:endParaRPr lang="en-US" sz="1400" dirty="0"/>
                    </a:p>
                  </a:txBody>
                  <a:tcPr anchor="ctr"/>
                </a:tc>
                <a:tc>
                  <a:txBody>
                    <a:bodyPr/>
                    <a:lstStyle/>
                    <a:p>
                      <a:pPr>
                        <a:buNone/>
                      </a:pPr>
                      <a:r>
                        <a:rPr lang="en-US" sz="1400" b="1" dirty="0"/>
                        <a:t>User Actions / What It Does</a:t>
                      </a:r>
                      <a:endParaRPr lang="en-US" sz="1400" dirty="0"/>
                    </a:p>
                  </a:txBody>
                  <a:tcPr anchor="ctr"/>
                </a:tc>
                <a:tc>
                  <a:txBody>
                    <a:bodyPr/>
                    <a:lstStyle/>
                    <a:p>
                      <a:pPr>
                        <a:buNone/>
                      </a:pPr>
                      <a:r>
                        <a:rPr lang="en-US" sz="1400" b="1" dirty="0"/>
                        <a:t>Expected Outcome / Display</a:t>
                      </a:r>
                      <a:endParaRPr lang="en-US" sz="1400" dirty="0"/>
                    </a:p>
                  </a:txBody>
                  <a:tcPr anchor="ctr"/>
                </a:tc>
                <a:tc>
                  <a:txBody>
                    <a:bodyPr/>
                    <a:lstStyle/>
                    <a:p>
                      <a:pPr>
                        <a:buNone/>
                      </a:pPr>
                      <a:r>
                        <a:rPr lang="en-US" sz="1400" b="1" dirty="0"/>
                        <a:t>Notes / Future Plans</a:t>
                      </a:r>
                      <a:endParaRPr lang="en-US" sz="1400" dirty="0"/>
                    </a:p>
                  </a:txBody>
                  <a:tcPr anchor="ctr"/>
                </a:tc>
                <a:extLst>
                  <a:ext uri="{0D108BD9-81ED-4DB2-BD59-A6C34878D82A}">
                    <a16:rowId xmlns:a16="http://schemas.microsoft.com/office/drawing/2014/main" val="3238503483"/>
                  </a:ext>
                </a:extLst>
              </a:tr>
              <a:tr h="766533">
                <a:tc>
                  <a:txBody>
                    <a:bodyPr/>
                    <a:lstStyle/>
                    <a:p>
                      <a:pPr>
                        <a:buNone/>
                      </a:pPr>
                      <a:r>
                        <a:rPr lang="en-US" sz="1400" dirty="0"/>
                        <a:t>Tutor Requesting </a:t>
                      </a:r>
                    </a:p>
                  </a:txBody>
                  <a:tcPr anchor="ctr"/>
                </a:tc>
                <a:tc>
                  <a:txBody>
                    <a:bodyPr/>
                    <a:lstStyle/>
                    <a:p>
                      <a:pPr>
                        <a:buNone/>
                      </a:pPr>
                      <a:r>
                        <a:rPr lang="en-US" sz="1400" dirty="0"/>
                        <a:t>Allow users to request for a tutor</a:t>
                      </a:r>
                    </a:p>
                  </a:txBody>
                  <a:tcPr anchor="ctr"/>
                </a:tc>
                <a:tc>
                  <a:txBody>
                    <a:bodyPr/>
                    <a:lstStyle/>
                    <a:p>
                      <a:pPr>
                        <a:buNone/>
                      </a:pPr>
                      <a:r>
                        <a:rPr lang="en-US" sz="1400" dirty="0"/>
                        <a:t>Users can send a request including the details of subject, specific topic, and time.</a:t>
                      </a:r>
                    </a:p>
                    <a:p>
                      <a:pPr>
                        <a:buNone/>
                      </a:pPr>
                      <a:r>
                        <a:rPr lang="en-US" sz="1400" dirty="0"/>
                        <a:t>Tutor can either accept or reject.</a:t>
                      </a:r>
                    </a:p>
                  </a:txBody>
                  <a:tcPr anchor="ctr"/>
                </a:tc>
                <a:tc>
                  <a:txBody>
                    <a:bodyPr/>
                    <a:lstStyle/>
                    <a:p>
                      <a:pPr>
                        <a:buNone/>
                      </a:pPr>
                      <a:r>
                        <a:rPr lang="en-US" sz="1400" dirty="0"/>
                        <a:t>A status notification</a:t>
                      </a:r>
                    </a:p>
                  </a:txBody>
                  <a:tcPr anchor="ctr"/>
                </a:tc>
                <a:tc>
                  <a:txBody>
                    <a:bodyPr/>
                    <a:lstStyle/>
                    <a:p>
                      <a:pPr>
                        <a:buNone/>
                      </a:pPr>
                      <a:r>
                        <a:rPr lang="en-US" sz="1400" dirty="0"/>
                        <a:t>In future, add a chat feature.</a:t>
                      </a:r>
                    </a:p>
                  </a:txBody>
                  <a:tcPr anchor="ctr"/>
                </a:tc>
                <a:extLst>
                  <a:ext uri="{0D108BD9-81ED-4DB2-BD59-A6C34878D82A}">
                    <a16:rowId xmlns:a16="http://schemas.microsoft.com/office/drawing/2014/main" val="195928634"/>
                  </a:ext>
                </a:extLst>
              </a:tr>
              <a:tr h="589641">
                <a:tc>
                  <a:txBody>
                    <a:bodyPr/>
                    <a:lstStyle/>
                    <a:p>
                      <a:pPr>
                        <a:buNone/>
                      </a:pPr>
                      <a:r>
                        <a:rPr lang="en-US" sz="1400" dirty="0"/>
                        <a:t>Tutor profile setup</a:t>
                      </a:r>
                    </a:p>
                  </a:txBody>
                  <a:tcPr anchor="ctr"/>
                </a:tc>
                <a:tc>
                  <a:txBody>
                    <a:bodyPr/>
                    <a:lstStyle/>
                    <a:p>
                      <a:pPr>
                        <a:buNone/>
                      </a:pPr>
                      <a:r>
                        <a:rPr lang="en-US" sz="1400" dirty="0"/>
                        <a:t>Tutor can specify the subject they can help other with, and their available time.</a:t>
                      </a:r>
                    </a:p>
                  </a:txBody>
                  <a:tcPr anchor="ctr"/>
                </a:tc>
                <a:tc>
                  <a:txBody>
                    <a:bodyPr/>
                    <a:lstStyle/>
                    <a:p>
                      <a:pPr>
                        <a:buNone/>
                      </a:pPr>
                      <a:r>
                        <a:rPr lang="en-US" sz="1400" dirty="0"/>
                        <a:t>During sign in users can select the subject and time slots</a:t>
                      </a:r>
                    </a:p>
                  </a:txBody>
                  <a:tcPr anchor="ctr"/>
                </a:tc>
                <a:tc>
                  <a:txBody>
                    <a:bodyPr/>
                    <a:lstStyle/>
                    <a:p>
                      <a:pPr>
                        <a:buNone/>
                      </a:pPr>
                      <a:r>
                        <a:rPr lang="en-US" sz="1400" dirty="0"/>
                        <a:t>User profile will have some kind od badge or tag, indicating they are tutors.</a:t>
                      </a:r>
                    </a:p>
                  </a:txBody>
                  <a:tcPr anchor="ctr"/>
                </a:tc>
                <a:tc>
                  <a:txBody>
                    <a:bodyPr/>
                    <a:lstStyle/>
                    <a:p>
                      <a:pPr>
                        <a:buNone/>
                      </a:pPr>
                      <a:r>
                        <a:rPr lang="en-US" sz="1400" dirty="0"/>
                        <a:t>In future, have a reward system or point system for tutors, who are volunteering to help.</a:t>
                      </a:r>
                    </a:p>
                  </a:txBody>
                  <a:tcPr anchor="ctr"/>
                </a:tc>
                <a:extLst>
                  <a:ext uri="{0D108BD9-81ED-4DB2-BD59-A6C34878D82A}">
                    <a16:rowId xmlns:a16="http://schemas.microsoft.com/office/drawing/2014/main" val="2822858972"/>
                  </a:ext>
                </a:extLst>
              </a:tr>
              <a:tr h="589641">
                <a:tc>
                  <a:txBody>
                    <a:bodyPr/>
                    <a:lstStyle/>
                    <a:p>
                      <a:pPr>
                        <a:buNone/>
                      </a:pPr>
                      <a:r>
                        <a:rPr lang="en-US" sz="1400" dirty="0"/>
                        <a:t>Points and badges (Additional feature)</a:t>
                      </a:r>
                    </a:p>
                  </a:txBody>
                  <a:tcPr anchor="ctr"/>
                </a:tc>
                <a:tc>
                  <a:txBody>
                    <a:bodyPr/>
                    <a:lstStyle/>
                    <a:p>
                      <a:pPr>
                        <a:buNone/>
                      </a:pPr>
                      <a:r>
                        <a:rPr lang="en-US" sz="1400" dirty="0"/>
                        <a:t>Introduce a point and badge system to encourage more students to actively participate.</a:t>
                      </a:r>
                    </a:p>
                  </a:txBody>
                  <a:tcPr anchor="ctr"/>
                </a:tc>
                <a:tc>
                  <a:txBody>
                    <a:bodyPr/>
                    <a:lstStyle/>
                    <a:p>
                      <a:pPr>
                        <a:buNone/>
                      </a:pPr>
                      <a:r>
                        <a:rPr lang="en-US" sz="1400" dirty="0"/>
                        <a:t>Users earn points when they offers to tutor others or join in a study group.</a:t>
                      </a:r>
                    </a:p>
                    <a:p>
                      <a:pPr>
                        <a:buNone/>
                      </a:pPr>
                      <a:r>
                        <a:rPr lang="en-US" sz="1400" dirty="0"/>
                        <a:t>Badges are automatically rewarded by the system when certain conditions are met.</a:t>
                      </a:r>
                    </a:p>
                  </a:txBody>
                  <a:tcPr anchor="ctr"/>
                </a:tc>
                <a:tc>
                  <a:txBody>
                    <a:bodyPr/>
                    <a:lstStyle/>
                    <a:p>
                      <a:pPr>
                        <a:buNone/>
                      </a:pPr>
                      <a:r>
                        <a:rPr lang="en-US" sz="1400" dirty="0"/>
                        <a:t>Users can see their points and badges on their profile.</a:t>
                      </a:r>
                    </a:p>
                    <a:p>
                      <a:pPr>
                        <a:buNone/>
                      </a:pPr>
                      <a:endParaRPr lang="en-US" sz="1400" dirty="0"/>
                    </a:p>
                  </a:txBody>
                  <a:tcPr anchor="ctr"/>
                </a:tc>
                <a:tc>
                  <a:txBody>
                    <a:bodyPr/>
                    <a:lstStyle/>
                    <a:p>
                      <a:pPr>
                        <a:buNone/>
                      </a:pPr>
                      <a:r>
                        <a:rPr lang="en-US" sz="1400" dirty="0"/>
                        <a:t>In future, plan to expand into a full rewarding system with academic recognition.</a:t>
                      </a:r>
                    </a:p>
                  </a:txBody>
                  <a:tcPr anchor="ctr"/>
                </a:tc>
                <a:extLst>
                  <a:ext uri="{0D108BD9-81ED-4DB2-BD59-A6C34878D82A}">
                    <a16:rowId xmlns:a16="http://schemas.microsoft.com/office/drawing/2014/main" val="3488274501"/>
                  </a:ext>
                </a:extLst>
              </a:tr>
            </a:tbl>
          </a:graphicData>
        </a:graphic>
      </p:graphicFrame>
    </p:spTree>
    <p:extLst>
      <p:ext uri="{BB962C8B-B14F-4D97-AF65-F5344CB8AC3E}">
        <p14:creationId xmlns:p14="http://schemas.microsoft.com/office/powerpoint/2010/main" val="151355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3AE4F-9C69-5CA8-1960-C0B0060EE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DA9D7-0DA0-475B-60AB-8F6F0DAA3946}"/>
              </a:ext>
            </a:extLst>
          </p:cNvPr>
          <p:cNvSpPr>
            <a:spLocks noGrp="1"/>
          </p:cNvSpPr>
          <p:nvPr>
            <p:ph type="title"/>
          </p:nvPr>
        </p:nvSpPr>
        <p:spPr/>
        <p:txBody>
          <a:bodyPr/>
          <a:lstStyle/>
          <a:p>
            <a:pPr lvl="0"/>
            <a:r>
              <a:rPr lang="en-US" b="1" dirty="0"/>
              <a:t>Wireframe (5%)</a:t>
            </a:r>
            <a:endParaRPr lang="en-US" dirty="0"/>
          </a:p>
        </p:txBody>
      </p:sp>
      <p:pic>
        <p:nvPicPr>
          <p:cNvPr id="7" name="Picture 6">
            <a:extLst>
              <a:ext uri="{FF2B5EF4-FFF2-40B4-BE49-F238E27FC236}">
                <a16:creationId xmlns:a16="http://schemas.microsoft.com/office/drawing/2014/main" id="{FC14D8E4-299B-5DA1-A0F7-A9B19FD77C39}"/>
              </a:ext>
            </a:extLst>
          </p:cNvPr>
          <p:cNvPicPr>
            <a:picLocks noChangeAspect="1"/>
          </p:cNvPicPr>
          <p:nvPr/>
        </p:nvPicPr>
        <p:blipFill>
          <a:blip r:embed="rId2"/>
          <a:stretch>
            <a:fillRect/>
          </a:stretch>
        </p:blipFill>
        <p:spPr>
          <a:xfrm>
            <a:off x="532668" y="1559670"/>
            <a:ext cx="11094056" cy="3252360"/>
          </a:xfrm>
          <a:prstGeom prst="rect">
            <a:avLst/>
          </a:prstGeom>
        </p:spPr>
      </p:pic>
      <p:graphicFrame>
        <p:nvGraphicFramePr>
          <p:cNvPr id="4" name="Table 3">
            <a:extLst>
              <a:ext uri="{FF2B5EF4-FFF2-40B4-BE49-F238E27FC236}">
                <a16:creationId xmlns:a16="http://schemas.microsoft.com/office/drawing/2014/main" id="{388A4ACD-AEC4-8D45-007F-CF2E63A37D8B}"/>
              </a:ext>
            </a:extLst>
          </p:cNvPr>
          <p:cNvGraphicFramePr>
            <a:graphicFrameLocks noGrp="1"/>
          </p:cNvGraphicFramePr>
          <p:nvPr>
            <p:extLst>
              <p:ext uri="{D42A27DB-BD31-4B8C-83A1-F6EECF244321}">
                <p14:modId xmlns:p14="http://schemas.microsoft.com/office/powerpoint/2010/main" val="1565734780"/>
              </p:ext>
            </p:extLst>
          </p:nvPr>
        </p:nvGraphicFramePr>
        <p:xfrm>
          <a:off x="941329" y="4718789"/>
          <a:ext cx="10317910" cy="640080"/>
        </p:xfrm>
        <a:graphic>
          <a:graphicData uri="http://schemas.openxmlformats.org/drawingml/2006/table">
            <a:tbl>
              <a:tblPr firstRow="1" bandRow="1">
                <a:tableStyleId>{5940675A-B579-460E-94D1-54222C63F5DA}</a:tableStyleId>
              </a:tblPr>
              <a:tblGrid>
                <a:gridCol w="1196505">
                  <a:extLst>
                    <a:ext uri="{9D8B030D-6E8A-4147-A177-3AD203B41FA5}">
                      <a16:colId xmlns:a16="http://schemas.microsoft.com/office/drawing/2014/main" val="3704900531"/>
                    </a:ext>
                  </a:extLst>
                </a:gridCol>
                <a:gridCol w="9121405">
                  <a:extLst>
                    <a:ext uri="{9D8B030D-6E8A-4147-A177-3AD203B41FA5}">
                      <a16:colId xmlns:a16="http://schemas.microsoft.com/office/drawing/2014/main" val="3721823630"/>
                    </a:ext>
                  </a:extLst>
                </a:gridCol>
              </a:tblGrid>
              <a:tr h="370840">
                <a:tc>
                  <a:txBody>
                    <a:bodyPr/>
                    <a:lstStyle/>
                    <a:p>
                      <a:r>
                        <a:rPr lang="en-SG" dirty="0"/>
                        <a:t>Design Mode</a:t>
                      </a:r>
                    </a:p>
                  </a:txBody>
                  <a:tcPr/>
                </a:tc>
                <a:tc>
                  <a:txBody>
                    <a:bodyPr/>
                    <a:lstStyle/>
                    <a:p>
                      <a:r>
                        <a:rPr lang="en-SG" dirty="0">
                          <a:hlinkClick r:id="rId3"/>
                        </a:rPr>
                        <a:t>https://www.figma.com/design/mVan8uqDlCnjZ5mHBP6iBM/FWEB-LOWIFI?node-id=0-1&amp;t=A89BDTVBqosqpbeT-1</a:t>
                      </a:r>
                      <a:endParaRPr lang="en-SG" dirty="0"/>
                    </a:p>
                  </a:txBody>
                  <a:tcPr/>
                </a:tc>
                <a:extLst>
                  <a:ext uri="{0D108BD9-81ED-4DB2-BD59-A6C34878D82A}">
                    <a16:rowId xmlns:a16="http://schemas.microsoft.com/office/drawing/2014/main" val="892120469"/>
                  </a:ext>
                </a:extLst>
              </a:tr>
            </a:tbl>
          </a:graphicData>
        </a:graphic>
      </p:graphicFrame>
    </p:spTree>
    <p:extLst>
      <p:ext uri="{BB962C8B-B14F-4D97-AF65-F5344CB8AC3E}">
        <p14:creationId xmlns:p14="http://schemas.microsoft.com/office/powerpoint/2010/main" val="3659370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CD14D-4CF5-18B8-F837-17A4AFA7E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4748A-D343-3DEC-3D11-FB826E9C59E5}"/>
              </a:ext>
            </a:extLst>
          </p:cNvPr>
          <p:cNvSpPr>
            <a:spLocks noGrp="1"/>
          </p:cNvSpPr>
          <p:nvPr>
            <p:ph type="title"/>
          </p:nvPr>
        </p:nvSpPr>
        <p:spPr>
          <a:xfrm>
            <a:off x="540744" y="0"/>
            <a:ext cx="10515600" cy="1325563"/>
          </a:xfrm>
        </p:spPr>
        <p:txBody>
          <a:bodyPr/>
          <a:lstStyle/>
          <a:p>
            <a:pPr lvl="0"/>
            <a:r>
              <a:rPr lang="en-US" b="1" dirty="0"/>
              <a:t>Wireframe (5%)</a:t>
            </a:r>
            <a:endParaRPr lang="en-US" dirty="0"/>
          </a:p>
        </p:txBody>
      </p:sp>
      <p:sp>
        <p:nvSpPr>
          <p:cNvPr id="3" name="Content Placeholder 2">
            <a:extLst>
              <a:ext uri="{FF2B5EF4-FFF2-40B4-BE49-F238E27FC236}">
                <a16:creationId xmlns:a16="http://schemas.microsoft.com/office/drawing/2014/main" id="{1E15E18E-A57F-34F4-77D7-C30D85543D6B}"/>
              </a:ext>
            </a:extLst>
          </p:cNvPr>
          <p:cNvSpPr>
            <a:spLocks noGrp="1"/>
          </p:cNvSpPr>
          <p:nvPr>
            <p:ph idx="1"/>
          </p:nvPr>
        </p:nvSpPr>
        <p:spPr>
          <a:xfrm>
            <a:off x="6819441" y="1253331"/>
            <a:ext cx="5034707" cy="4351338"/>
          </a:xfrm>
        </p:spPr>
        <p:txBody>
          <a:bodyPr/>
          <a:lstStyle/>
          <a:p>
            <a:pPr marL="0" indent="0" algn="just">
              <a:buNone/>
            </a:pPr>
            <a:r>
              <a:rPr lang="en-US" sz="2400" dirty="0"/>
              <a:t>This is the homepage of my  website, here the user can search tutors and study group by subject. And the popular subjects and popular study groups are also displayed. </a:t>
            </a:r>
          </a:p>
          <a:p>
            <a:pPr marL="0" indent="0" algn="just">
              <a:buNone/>
            </a:pPr>
            <a:r>
              <a:rPr lang="en-US" sz="2400" dirty="0"/>
              <a:t>User can access user profile, notification and can also create study group</a:t>
            </a:r>
          </a:p>
          <a:p>
            <a:pPr marL="0" indent="0" algn="just">
              <a:buNone/>
            </a:pPr>
            <a:r>
              <a:rPr lang="en-US" sz="2400" dirty="0"/>
              <a:t>Notification contain information like whether the join request to the group is accepted or not, status of tutor help request </a:t>
            </a:r>
            <a:r>
              <a:rPr lang="en-US" sz="2400" dirty="0" err="1"/>
              <a:t>etc</a:t>
            </a:r>
            <a:endParaRPr lang="en-US" sz="2000" dirty="0"/>
          </a:p>
          <a:p>
            <a:pPr marL="0" indent="0" algn="just">
              <a:buNone/>
            </a:pPr>
            <a:endParaRPr lang="en-US" sz="2000" dirty="0"/>
          </a:p>
        </p:txBody>
      </p:sp>
      <p:pic>
        <p:nvPicPr>
          <p:cNvPr id="12" name="Picture 11">
            <a:extLst>
              <a:ext uri="{FF2B5EF4-FFF2-40B4-BE49-F238E27FC236}">
                <a16:creationId xmlns:a16="http://schemas.microsoft.com/office/drawing/2014/main" id="{BA8116E8-4DB5-D345-C490-AA39E55BF636}"/>
              </a:ext>
            </a:extLst>
          </p:cNvPr>
          <p:cNvPicPr>
            <a:picLocks noChangeAspect="1"/>
          </p:cNvPicPr>
          <p:nvPr/>
        </p:nvPicPr>
        <p:blipFill>
          <a:blip r:embed="rId2"/>
          <a:stretch>
            <a:fillRect/>
          </a:stretch>
        </p:blipFill>
        <p:spPr>
          <a:xfrm>
            <a:off x="540744" y="995057"/>
            <a:ext cx="5836563" cy="5213783"/>
          </a:xfrm>
          <a:prstGeom prst="rect">
            <a:avLst/>
          </a:prstGeom>
        </p:spPr>
      </p:pic>
    </p:spTree>
    <p:extLst>
      <p:ext uri="{BB962C8B-B14F-4D97-AF65-F5344CB8AC3E}">
        <p14:creationId xmlns:p14="http://schemas.microsoft.com/office/powerpoint/2010/main" val="3059070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9B4C5-1DC5-C9D4-AEB4-F86FCDF3A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6B3B1-7308-54B1-044B-612D2D3A93D8}"/>
              </a:ext>
            </a:extLst>
          </p:cNvPr>
          <p:cNvSpPr>
            <a:spLocks noGrp="1"/>
          </p:cNvSpPr>
          <p:nvPr>
            <p:ph type="title"/>
          </p:nvPr>
        </p:nvSpPr>
        <p:spPr/>
        <p:txBody>
          <a:bodyPr/>
          <a:lstStyle/>
          <a:p>
            <a:pPr lvl="0"/>
            <a:r>
              <a:rPr lang="en-US" b="1" dirty="0"/>
              <a:t>Wireframe (5%)</a:t>
            </a:r>
            <a:endParaRPr lang="en-US" dirty="0"/>
          </a:p>
        </p:txBody>
      </p:sp>
      <p:sp>
        <p:nvSpPr>
          <p:cNvPr id="3" name="Content Placeholder 2">
            <a:extLst>
              <a:ext uri="{FF2B5EF4-FFF2-40B4-BE49-F238E27FC236}">
                <a16:creationId xmlns:a16="http://schemas.microsoft.com/office/drawing/2014/main" id="{FCE8A27D-2A08-8EF7-AABD-85EB6B4E38AE}"/>
              </a:ext>
            </a:extLst>
          </p:cNvPr>
          <p:cNvSpPr>
            <a:spLocks noGrp="1"/>
          </p:cNvSpPr>
          <p:nvPr>
            <p:ph idx="1"/>
          </p:nvPr>
        </p:nvSpPr>
        <p:spPr>
          <a:xfrm>
            <a:off x="838200" y="1825625"/>
            <a:ext cx="4284643" cy="4351338"/>
          </a:xfrm>
        </p:spPr>
        <p:txBody>
          <a:bodyPr>
            <a:normAutofit/>
          </a:bodyPr>
          <a:lstStyle/>
          <a:p>
            <a:pPr marL="0" indent="0" algn="just">
              <a:buNone/>
            </a:pPr>
            <a:r>
              <a:rPr lang="en-US" sz="2000" dirty="0"/>
              <a:t>This page is the search result page, here the user can see two tabs called tutor and study group. This improve the user experience while browsing.</a:t>
            </a:r>
          </a:p>
          <a:p>
            <a:pPr marL="0" indent="0" algn="just">
              <a:buNone/>
            </a:pPr>
            <a:r>
              <a:rPr lang="en-US" sz="2000" dirty="0"/>
              <a:t>When clicked on the tutor tab user can view all available tutors in that subjects, user can send request for their help.</a:t>
            </a:r>
          </a:p>
          <a:p>
            <a:pPr marL="0" indent="0" algn="just">
              <a:buNone/>
            </a:pPr>
            <a:endParaRPr lang="en-US" b="1" dirty="0">
              <a:solidFill>
                <a:srgbClr val="FF0000"/>
              </a:solidFill>
            </a:endParaRPr>
          </a:p>
        </p:txBody>
      </p:sp>
      <p:pic>
        <p:nvPicPr>
          <p:cNvPr id="6" name="Picture 5">
            <a:extLst>
              <a:ext uri="{FF2B5EF4-FFF2-40B4-BE49-F238E27FC236}">
                <a16:creationId xmlns:a16="http://schemas.microsoft.com/office/drawing/2014/main" id="{E09E272C-0624-72E5-AA8A-31330423CA55}"/>
              </a:ext>
            </a:extLst>
          </p:cNvPr>
          <p:cNvPicPr>
            <a:picLocks noChangeAspect="1"/>
          </p:cNvPicPr>
          <p:nvPr/>
        </p:nvPicPr>
        <p:blipFill>
          <a:blip r:embed="rId2"/>
          <a:stretch>
            <a:fillRect/>
          </a:stretch>
        </p:blipFill>
        <p:spPr>
          <a:xfrm>
            <a:off x="5425144" y="899759"/>
            <a:ext cx="6211167" cy="5058481"/>
          </a:xfrm>
          <a:prstGeom prst="rect">
            <a:avLst/>
          </a:prstGeom>
        </p:spPr>
      </p:pic>
    </p:spTree>
    <p:extLst>
      <p:ext uri="{BB962C8B-B14F-4D97-AF65-F5344CB8AC3E}">
        <p14:creationId xmlns:p14="http://schemas.microsoft.com/office/powerpoint/2010/main" val="1889100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95507-F777-C277-36B7-D557F3275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0C938-5FAF-5248-1184-30131A094DC9}"/>
              </a:ext>
            </a:extLst>
          </p:cNvPr>
          <p:cNvSpPr>
            <a:spLocks noGrp="1"/>
          </p:cNvSpPr>
          <p:nvPr>
            <p:ph type="title"/>
          </p:nvPr>
        </p:nvSpPr>
        <p:spPr>
          <a:xfrm>
            <a:off x="606845" y="155594"/>
            <a:ext cx="10515600" cy="1325563"/>
          </a:xfrm>
        </p:spPr>
        <p:txBody>
          <a:bodyPr/>
          <a:lstStyle/>
          <a:p>
            <a:pPr lvl="0"/>
            <a:r>
              <a:rPr lang="en-US" b="1" dirty="0"/>
              <a:t>Wireframe (5%)</a:t>
            </a:r>
            <a:endParaRPr lang="en-US" dirty="0"/>
          </a:p>
        </p:txBody>
      </p:sp>
      <p:sp>
        <p:nvSpPr>
          <p:cNvPr id="3" name="Content Placeholder 2">
            <a:extLst>
              <a:ext uri="{FF2B5EF4-FFF2-40B4-BE49-F238E27FC236}">
                <a16:creationId xmlns:a16="http://schemas.microsoft.com/office/drawing/2014/main" id="{7B7E6D81-507A-0AD8-C13E-39A931754365}"/>
              </a:ext>
            </a:extLst>
          </p:cNvPr>
          <p:cNvSpPr>
            <a:spLocks noGrp="1"/>
          </p:cNvSpPr>
          <p:nvPr>
            <p:ph idx="1"/>
          </p:nvPr>
        </p:nvSpPr>
        <p:spPr>
          <a:xfrm>
            <a:off x="6940627" y="1825625"/>
            <a:ext cx="4527931" cy="4351338"/>
          </a:xfrm>
        </p:spPr>
        <p:txBody>
          <a:bodyPr>
            <a:normAutofit/>
          </a:bodyPr>
          <a:lstStyle/>
          <a:p>
            <a:pPr marL="0" indent="0">
              <a:buNone/>
            </a:pPr>
            <a:r>
              <a:rPr lang="en-US" sz="2000" dirty="0"/>
              <a:t>When clicked the study group tab user can view all currently available groups and its details and a button to join the group.</a:t>
            </a:r>
          </a:p>
          <a:p>
            <a:pPr marL="0" indent="0">
              <a:buNone/>
            </a:pPr>
            <a:r>
              <a:rPr lang="en-US" sz="2000" dirty="0"/>
              <a:t>Additionally, there is a add study group button which help user to create a new study group. </a:t>
            </a:r>
          </a:p>
        </p:txBody>
      </p:sp>
      <p:pic>
        <p:nvPicPr>
          <p:cNvPr id="6" name="Picture 5">
            <a:extLst>
              <a:ext uri="{FF2B5EF4-FFF2-40B4-BE49-F238E27FC236}">
                <a16:creationId xmlns:a16="http://schemas.microsoft.com/office/drawing/2014/main" id="{E4C9C35B-7846-7F2A-3278-4D11A382D97E}"/>
              </a:ext>
            </a:extLst>
          </p:cNvPr>
          <p:cNvPicPr>
            <a:picLocks noChangeAspect="1"/>
          </p:cNvPicPr>
          <p:nvPr/>
        </p:nvPicPr>
        <p:blipFill>
          <a:blip r:embed="rId2"/>
          <a:stretch>
            <a:fillRect/>
          </a:stretch>
        </p:blipFill>
        <p:spPr>
          <a:xfrm>
            <a:off x="521937" y="1200613"/>
            <a:ext cx="6094611" cy="5350923"/>
          </a:xfrm>
          <a:prstGeom prst="rect">
            <a:avLst/>
          </a:prstGeom>
        </p:spPr>
      </p:pic>
    </p:spTree>
    <p:extLst>
      <p:ext uri="{BB962C8B-B14F-4D97-AF65-F5344CB8AC3E}">
        <p14:creationId xmlns:p14="http://schemas.microsoft.com/office/powerpoint/2010/main" val="802108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9AC3D-A849-7AF2-D6EA-A658283EDA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85F35-6D42-FD9D-BF99-9AEC2CE97190}"/>
              </a:ext>
            </a:extLst>
          </p:cNvPr>
          <p:cNvSpPr>
            <a:spLocks noGrp="1"/>
          </p:cNvSpPr>
          <p:nvPr>
            <p:ph type="title"/>
          </p:nvPr>
        </p:nvSpPr>
        <p:spPr>
          <a:xfrm>
            <a:off x="838200" y="365125"/>
            <a:ext cx="10515600" cy="1325563"/>
          </a:xfrm>
        </p:spPr>
        <p:txBody>
          <a:bodyPr anchor="ctr">
            <a:normAutofit/>
          </a:bodyPr>
          <a:lstStyle/>
          <a:p>
            <a:pPr lvl="0"/>
            <a:r>
              <a:rPr lang="en-US" b="1" dirty="0"/>
              <a:t>Wireframe (5%)</a:t>
            </a:r>
            <a:endParaRPr lang="en-US" dirty="0"/>
          </a:p>
        </p:txBody>
      </p:sp>
      <p:pic>
        <p:nvPicPr>
          <p:cNvPr id="5" name="Picture 4">
            <a:extLst>
              <a:ext uri="{FF2B5EF4-FFF2-40B4-BE49-F238E27FC236}">
                <a16:creationId xmlns:a16="http://schemas.microsoft.com/office/drawing/2014/main" id="{AE6B0C5A-620F-B20A-F53A-253387A300FE}"/>
              </a:ext>
            </a:extLst>
          </p:cNvPr>
          <p:cNvPicPr>
            <a:picLocks noChangeAspect="1"/>
          </p:cNvPicPr>
          <p:nvPr/>
        </p:nvPicPr>
        <p:blipFill>
          <a:blip r:embed="rId2"/>
          <a:stretch>
            <a:fillRect/>
          </a:stretch>
        </p:blipFill>
        <p:spPr>
          <a:xfrm>
            <a:off x="1586429" y="1366092"/>
            <a:ext cx="9298891" cy="5126783"/>
          </a:xfrm>
          <a:prstGeom prst="rect">
            <a:avLst/>
          </a:prstGeom>
          <a:noFill/>
        </p:spPr>
      </p:pic>
    </p:spTree>
    <p:extLst>
      <p:ext uri="{BB962C8B-B14F-4D97-AF65-F5344CB8AC3E}">
        <p14:creationId xmlns:p14="http://schemas.microsoft.com/office/powerpoint/2010/main" val="2379041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FDA4-8B25-E74F-AD93-1CCDFD130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B39DC-B97E-3BEB-7EA1-E8049DA09B4C}"/>
              </a:ext>
            </a:extLst>
          </p:cNvPr>
          <p:cNvSpPr>
            <a:spLocks noGrp="1"/>
          </p:cNvSpPr>
          <p:nvPr>
            <p:ph type="title"/>
          </p:nvPr>
        </p:nvSpPr>
        <p:spPr/>
        <p:txBody>
          <a:bodyPr/>
          <a:lstStyle/>
          <a:p>
            <a:pPr lvl="0"/>
            <a:r>
              <a:rPr lang="en-US" b="1" dirty="0"/>
              <a:t>Data Modeling (5%)</a:t>
            </a:r>
            <a:endParaRPr lang="en-US" dirty="0"/>
          </a:p>
        </p:txBody>
      </p:sp>
      <p:sp>
        <p:nvSpPr>
          <p:cNvPr id="3" name="Content Placeholder 2">
            <a:extLst>
              <a:ext uri="{FF2B5EF4-FFF2-40B4-BE49-F238E27FC236}">
                <a16:creationId xmlns:a16="http://schemas.microsoft.com/office/drawing/2014/main" id="{BC23B266-F5B8-7E31-BAF0-075A9F1D09C8}"/>
              </a:ext>
            </a:extLst>
          </p:cNvPr>
          <p:cNvSpPr>
            <a:spLocks noGrp="1"/>
          </p:cNvSpPr>
          <p:nvPr>
            <p:ph idx="1"/>
          </p:nvPr>
        </p:nvSpPr>
        <p:spPr/>
        <p:txBody>
          <a:bodyPr/>
          <a:lstStyle/>
          <a:p>
            <a:pPr algn="just"/>
            <a:r>
              <a:rPr lang="en-US" dirty="0"/>
              <a:t>Initial identification of entities in your application.</a:t>
            </a:r>
          </a:p>
          <a:p>
            <a:pPr algn="just"/>
            <a:r>
              <a:rPr lang="en-US" dirty="0"/>
              <a:t>Include </a:t>
            </a:r>
            <a:r>
              <a:rPr lang="en-US" b="1" dirty="0"/>
              <a:t>at least four</a:t>
            </a:r>
            <a:r>
              <a:rPr lang="en-US" dirty="0"/>
              <a:t> key data models and provide sample attributes for each model.</a:t>
            </a:r>
          </a:p>
        </p:txBody>
      </p:sp>
    </p:spTree>
    <p:extLst>
      <p:ext uri="{BB962C8B-B14F-4D97-AF65-F5344CB8AC3E}">
        <p14:creationId xmlns:p14="http://schemas.microsoft.com/office/powerpoint/2010/main" val="3696013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33A08-1E26-407C-8F8F-841CF7347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6EFCF-52C1-702E-7175-339755751A7A}"/>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0C7B9858-1A57-1987-7A1E-7D841EC00372}"/>
              </a:ext>
            </a:extLst>
          </p:cNvPr>
          <p:cNvGraphicFramePr>
            <a:graphicFrameLocks noGrp="1"/>
          </p:cNvGraphicFramePr>
          <p:nvPr>
            <p:extLst>
              <p:ext uri="{D42A27DB-BD31-4B8C-83A1-F6EECF244321}">
                <p14:modId xmlns:p14="http://schemas.microsoft.com/office/powerpoint/2010/main" val="1366035055"/>
              </p:ext>
            </p:extLst>
          </p:nvPr>
        </p:nvGraphicFramePr>
        <p:xfrm>
          <a:off x="613810" y="1080628"/>
          <a:ext cx="11398518" cy="505968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a:t>
                      </a:r>
                      <a:r>
                        <a:rPr lang="en-US" sz="1600" b="0" dirty="0"/>
                        <a:t>User</a:t>
                      </a:r>
                    </a:p>
                  </a:txBody>
                  <a:tcPr anchor="ctr">
                    <a:solidFill>
                      <a:schemeClr val="bg1"/>
                    </a:solidFill>
                  </a:tcPr>
                </a:tc>
                <a:tc gridSpan="3">
                  <a:txBody>
                    <a:bodyPr/>
                    <a:lstStyle/>
                    <a:p>
                      <a:pPr>
                        <a:buNone/>
                      </a:pPr>
                      <a:r>
                        <a:rPr lang="en-US" sz="1600" b="1" dirty="0"/>
                        <a:t>Description: </a:t>
                      </a:r>
                    </a:p>
                    <a:p>
                      <a:pPr>
                        <a:buNone/>
                      </a:pPr>
                      <a:r>
                        <a:rPr lang="en-US" sz="1600" dirty="0"/>
                        <a:t>Store learner/ tutor profile details</a:t>
                      </a:r>
                      <a:endParaRPr lang="en-US" sz="1600" b="1" dirty="0"/>
                    </a:p>
                    <a:p>
                      <a:pPr>
                        <a:buNone/>
                      </a:pPr>
                      <a:r>
                        <a:rPr lang="en-US" sz="1600" b="1" dirty="0"/>
                        <a:t>Usage in App:</a:t>
                      </a:r>
                      <a:r>
                        <a:rPr lang="en-US" sz="1600" dirty="0"/>
                        <a:t> </a:t>
                      </a:r>
                    </a:p>
                    <a:p>
                      <a:pPr>
                        <a:buNone/>
                      </a:pPr>
                      <a:r>
                        <a:rPr lang="en-US" sz="1600" dirty="0"/>
                        <a:t>Used for authentication and  displaying details</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dirty="0" err="1"/>
                        <a:t>admiNum</a:t>
                      </a:r>
                      <a:endParaRPr lang="en-US"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2403222i</a:t>
                      </a:r>
                    </a:p>
                  </a:txBody>
                  <a:tcPr anchor="ctr">
                    <a:solidFill>
                      <a:schemeClr val="bg1"/>
                    </a:solidFill>
                  </a:tcPr>
                </a:tc>
                <a:tc>
                  <a:txBody>
                    <a:bodyPr/>
                    <a:lstStyle/>
                    <a:p>
                      <a:pPr>
                        <a:buNone/>
                      </a:pPr>
                      <a:r>
                        <a:rPr lang="en-US" sz="1600" dirty="0"/>
                        <a:t>Admission number of the user. This is used as the unique identifier. This is the primary key</a:t>
                      </a:r>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US" sz="1600" dirty="0"/>
                        <a:t>name</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err="1"/>
                        <a:t>dansih</a:t>
                      </a:r>
                      <a:endParaRPr lang="en-US" sz="1600" dirty="0"/>
                    </a:p>
                  </a:txBody>
                  <a:tcPr anchor="ctr">
                    <a:solidFill>
                      <a:schemeClr val="bg1"/>
                    </a:solidFill>
                  </a:tcPr>
                </a:tc>
                <a:tc>
                  <a:txBody>
                    <a:bodyPr/>
                    <a:lstStyle/>
                    <a:p>
                      <a:pPr>
                        <a:buNone/>
                      </a:pPr>
                      <a:r>
                        <a:rPr lang="en-US" sz="1600" dirty="0"/>
                        <a:t>Full name of the user</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US" sz="1600" dirty="0"/>
                        <a:t>email</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2403222I@student.tp.edu.sg</a:t>
                      </a:r>
                    </a:p>
                  </a:txBody>
                  <a:tcPr anchor="ctr">
                    <a:solidFill>
                      <a:schemeClr val="bg1"/>
                    </a:solidFill>
                  </a:tcPr>
                </a:tc>
                <a:tc>
                  <a:txBody>
                    <a:bodyPr/>
                    <a:lstStyle/>
                    <a:p>
                      <a:pPr>
                        <a:buNone/>
                      </a:pPr>
                      <a:r>
                        <a:rPr lang="en-US" sz="1600" dirty="0"/>
                        <a:t>Campus email address of the user for authentication</a:t>
                      </a:r>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dirty="0"/>
                        <a:t>course</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Diploma in IT</a:t>
                      </a:r>
                    </a:p>
                  </a:txBody>
                  <a:tcPr anchor="ctr">
                    <a:solidFill>
                      <a:schemeClr val="bg1"/>
                    </a:solidFill>
                  </a:tcPr>
                </a:tc>
                <a:tc>
                  <a:txBody>
                    <a:bodyPr/>
                    <a:lstStyle/>
                    <a:p>
                      <a:pPr>
                        <a:buNone/>
                      </a:pPr>
                      <a:r>
                        <a:rPr lang="en-US" sz="1600" dirty="0"/>
                        <a:t>Course details of the user</a:t>
                      </a:r>
                    </a:p>
                  </a:txBody>
                  <a:tcPr anchor="ctr">
                    <a:solidFill>
                      <a:schemeClr val="bg1"/>
                    </a:solidFill>
                  </a:tcPr>
                </a:tc>
                <a:extLst>
                  <a:ext uri="{0D108BD9-81ED-4DB2-BD59-A6C34878D82A}">
                    <a16:rowId xmlns:a16="http://schemas.microsoft.com/office/drawing/2014/main" val="2445594671"/>
                  </a:ext>
                </a:extLst>
              </a:tr>
              <a:tr h="0">
                <a:tc>
                  <a:txBody>
                    <a:bodyPr/>
                    <a:lstStyle/>
                    <a:p>
                      <a:pPr>
                        <a:buNone/>
                      </a:pPr>
                      <a:r>
                        <a:rPr lang="en-US" sz="1600" dirty="0"/>
                        <a:t>Year </a:t>
                      </a:r>
                    </a:p>
                  </a:txBody>
                  <a:tcPr anchor="ctr">
                    <a:solidFill>
                      <a:schemeClr val="bg1"/>
                    </a:solidFill>
                  </a:tcPr>
                </a:tc>
                <a:tc>
                  <a:txBody>
                    <a:bodyPr/>
                    <a:lstStyle/>
                    <a:p>
                      <a:pPr>
                        <a:buNone/>
                      </a:pPr>
                      <a:r>
                        <a:rPr lang="en-US" sz="1600" dirty="0"/>
                        <a:t>int</a:t>
                      </a:r>
                    </a:p>
                  </a:txBody>
                  <a:tcPr anchor="ctr">
                    <a:solidFill>
                      <a:schemeClr val="bg1"/>
                    </a:solidFill>
                  </a:tcPr>
                </a:tc>
                <a:tc>
                  <a:txBody>
                    <a:bodyPr/>
                    <a:lstStyle/>
                    <a:p>
                      <a:pPr>
                        <a:buNone/>
                      </a:pPr>
                      <a:r>
                        <a:rPr lang="en-US" sz="1600" dirty="0"/>
                        <a:t>2</a:t>
                      </a:r>
                    </a:p>
                  </a:txBody>
                  <a:tcPr anchor="ctr">
                    <a:solidFill>
                      <a:schemeClr val="bg1"/>
                    </a:solidFill>
                  </a:tcPr>
                </a:tc>
                <a:tc>
                  <a:txBody>
                    <a:bodyPr/>
                    <a:lstStyle/>
                    <a:p>
                      <a:pPr>
                        <a:buNone/>
                      </a:pPr>
                      <a:r>
                        <a:rPr lang="en-US" sz="1600" dirty="0"/>
                        <a:t>More details about the user</a:t>
                      </a:r>
                    </a:p>
                  </a:txBody>
                  <a:tcPr anchor="ctr">
                    <a:solidFill>
                      <a:schemeClr val="bg1"/>
                    </a:solidFill>
                  </a:tcPr>
                </a:tc>
                <a:extLst>
                  <a:ext uri="{0D108BD9-81ED-4DB2-BD59-A6C34878D82A}">
                    <a16:rowId xmlns:a16="http://schemas.microsoft.com/office/drawing/2014/main" val="2453785407"/>
                  </a:ext>
                </a:extLst>
              </a:tr>
              <a:tr h="0">
                <a:tc>
                  <a:txBody>
                    <a:bodyPr/>
                    <a:lstStyle/>
                    <a:p>
                      <a:pPr>
                        <a:buNone/>
                      </a:pPr>
                      <a:r>
                        <a:rPr lang="en-US" sz="1600" dirty="0"/>
                        <a:t>subject</a:t>
                      </a:r>
                    </a:p>
                  </a:txBody>
                  <a:tcPr anchor="ctr">
                    <a:solidFill>
                      <a:schemeClr val="bg1"/>
                    </a:solidFill>
                  </a:tcPr>
                </a:tc>
                <a:tc>
                  <a:txBody>
                    <a:bodyPr/>
                    <a:lstStyle/>
                    <a:p>
                      <a:pPr>
                        <a:buNone/>
                      </a:pPr>
                      <a:r>
                        <a:rPr lang="en-US" sz="1600" dirty="0"/>
                        <a:t>Array </a:t>
                      </a:r>
                    </a:p>
                  </a:txBody>
                  <a:tcPr anchor="ctr">
                    <a:solidFill>
                      <a:schemeClr val="bg1"/>
                    </a:solidFill>
                  </a:tcPr>
                </a:tc>
                <a:tc>
                  <a:txBody>
                    <a:bodyPr/>
                    <a:lstStyle/>
                    <a:p>
                      <a:pPr>
                        <a:buNone/>
                      </a:pPr>
                      <a:r>
                        <a:rPr lang="en-US" sz="1600" dirty="0"/>
                        <a:t>[“loma”, ”</a:t>
                      </a:r>
                      <a:r>
                        <a:rPr lang="en-US" sz="1600" dirty="0" err="1"/>
                        <a:t>adav</a:t>
                      </a:r>
                      <a:r>
                        <a:rPr lang="en-US" sz="1600" dirty="0"/>
                        <a:t>”, ”</a:t>
                      </a:r>
                      <a:r>
                        <a:rPr lang="en-US" sz="1600" dirty="0" err="1"/>
                        <a:t>nect</a:t>
                      </a:r>
                      <a:r>
                        <a:rPr lang="en-US" sz="1600" dirty="0"/>
                        <a:t>”, ”</a:t>
                      </a:r>
                      <a:r>
                        <a:rPr lang="en-US" sz="1600" dirty="0" err="1"/>
                        <a:t>dava</a:t>
                      </a:r>
                      <a:r>
                        <a:rPr lang="en-US" sz="1600" dirty="0"/>
                        <a:t>”]</a:t>
                      </a:r>
                    </a:p>
                  </a:txBody>
                  <a:tcPr anchor="ctr">
                    <a:solidFill>
                      <a:schemeClr val="bg1"/>
                    </a:solidFill>
                  </a:tcPr>
                </a:tc>
                <a:tc>
                  <a:txBody>
                    <a:bodyPr/>
                    <a:lstStyle/>
                    <a:p>
                      <a:pPr>
                        <a:buNone/>
                      </a:pPr>
                      <a:r>
                        <a:rPr lang="en-US" sz="1600" dirty="0"/>
                        <a:t>List of subject the user wants to learn or tutor</a:t>
                      </a:r>
                    </a:p>
                  </a:txBody>
                  <a:tcPr anchor="ctr">
                    <a:solidFill>
                      <a:schemeClr val="bg1"/>
                    </a:solidFill>
                  </a:tcPr>
                </a:tc>
                <a:extLst>
                  <a:ext uri="{0D108BD9-81ED-4DB2-BD59-A6C34878D82A}">
                    <a16:rowId xmlns:a16="http://schemas.microsoft.com/office/drawing/2014/main" val="4180691073"/>
                  </a:ext>
                </a:extLst>
              </a:tr>
              <a:tr h="0">
                <a:tc>
                  <a:txBody>
                    <a:bodyPr/>
                    <a:lstStyle/>
                    <a:p>
                      <a:pPr>
                        <a:buNone/>
                      </a:pPr>
                      <a:r>
                        <a:rPr lang="en-US" sz="1600" dirty="0" err="1"/>
                        <a:t>availabilty</a:t>
                      </a:r>
                      <a:endParaRPr lang="en-US"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Mon-</a:t>
                      </a:r>
                      <a:r>
                        <a:rPr lang="en-US" sz="1600" dirty="0" err="1"/>
                        <a:t>thurs</a:t>
                      </a:r>
                      <a:r>
                        <a:rPr lang="en-US" sz="1600" dirty="0"/>
                        <a:t>, 5 pm to 7 pm</a:t>
                      </a:r>
                    </a:p>
                  </a:txBody>
                  <a:tcPr anchor="ctr">
                    <a:solidFill>
                      <a:schemeClr val="bg1"/>
                    </a:solidFill>
                  </a:tcPr>
                </a:tc>
                <a:tc>
                  <a:txBody>
                    <a:bodyPr/>
                    <a:lstStyle/>
                    <a:p>
                      <a:pPr>
                        <a:buNone/>
                      </a:pPr>
                      <a:r>
                        <a:rPr lang="en-US" sz="1600" dirty="0"/>
                        <a:t>Users available time for tutoring</a:t>
                      </a:r>
                    </a:p>
                  </a:txBody>
                  <a:tcPr anchor="ctr">
                    <a:solidFill>
                      <a:schemeClr val="bg1"/>
                    </a:solidFill>
                  </a:tcPr>
                </a:tc>
                <a:extLst>
                  <a:ext uri="{0D108BD9-81ED-4DB2-BD59-A6C34878D82A}">
                    <a16:rowId xmlns:a16="http://schemas.microsoft.com/office/drawing/2014/main" val="1672381483"/>
                  </a:ext>
                </a:extLst>
              </a:tr>
              <a:tr h="0">
                <a:tc>
                  <a:txBody>
                    <a:bodyPr/>
                    <a:lstStyle/>
                    <a:p>
                      <a:pPr>
                        <a:buNone/>
                      </a:pPr>
                      <a:r>
                        <a:rPr lang="en-US" sz="1600"/>
                        <a:t>createdAt</a:t>
                      </a:r>
                      <a:endParaRPr lang="en-US" sz="1600" dirty="0"/>
                    </a:p>
                  </a:txBody>
                  <a:tcPr anchor="ctr">
                    <a:solidFill>
                      <a:schemeClr val="bg1"/>
                    </a:solidFill>
                  </a:tcPr>
                </a:tc>
                <a:tc>
                  <a:txBody>
                    <a:bodyPr/>
                    <a:lstStyle/>
                    <a:p>
                      <a:pPr>
                        <a:buNone/>
                      </a:pPr>
                      <a:r>
                        <a:rPr lang="en-US" sz="1600" dirty="0"/>
                        <a:t>Date</a:t>
                      </a:r>
                    </a:p>
                  </a:txBody>
                  <a:tcPr anchor="ctr">
                    <a:solidFill>
                      <a:schemeClr val="bg1"/>
                    </a:solidFill>
                  </a:tcPr>
                </a:tc>
                <a:tc>
                  <a:txBody>
                    <a:bodyPr/>
                    <a:lstStyle/>
                    <a:p>
                      <a:pPr>
                        <a:buNone/>
                      </a:pPr>
                      <a:r>
                        <a:rPr lang="en-US" sz="1600" dirty="0"/>
                        <a:t>2025-09-1 00:00:00</a:t>
                      </a:r>
                    </a:p>
                  </a:txBody>
                  <a:tcPr anchor="ctr">
                    <a:solidFill>
                      <a:schemeClr val="bg1"/>
                    </a:solidFill>
                  </a:tcPr>
                </a:tc>
                <a:tc>
                  <a:txBody>
                    <a:bodyPr/>
                    <a:lstStyle/>
                    <a:p>
                      <a:pPr>
                        <a:buNone/>
                      </a:pPr>
                      <a:r>
                        <a:rPr lang="en-US" sz="1600" dirty="0"/>
                        <a:t>Timestamp when the user profile was created</a:t>
                      </a:r>
                    </a:p>
                  </a:txBody>
                  <a:tcPr anchor="ctr">
                    <a:solidFill>
                      <a:schemeClr val="bg1"/>
                    </a:solidFill>
                  </a:tcPr>
                </a:tc>
                <a:extLst>
                  <a:ext uri="{0D108BD9-81ED-4DB2-BD59-A6C34878D82A}">
                    <a16:rowId xmlns:a16="http://schemas.microsoft.com/office/drawing/2014/main" val="2299822991"/>
                  </a:ext>
                </a:extLst>
              </a:tr>
            </a:tbl>
          </a:graphicData>
        </a:graphic>
      </p:graphicFrame>
    </p:spTree>
    <p:extLst>
      <p:ext uri="{BB962C8B-B14F-4D97-AF65-F5344CB8AC3E}">
        <p14:creationId xmlns:p14="http://schemas.microsoft.com/office/powerpoint/2010/main" val="2738812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0D60B-2862-6190-6361-CBAEAC1C1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98B45-D35D-ACAD-C5DD-4ED13D0F00FF}"/>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F72A60D6-A903-DF83-82E3-21A23D471DCF}"/>
              </a:ext>
            </a:extLst>
          </p:cNvPr>
          <p:cNvGraphicFramePr>
            <a:graphicFrameLocks noGrp="1"/>
          </p:cNvGraphicFramePr>
          <p:nvPr>
            <p:extLst>
              <p:ext uri="{D42A27DB-BD31-4B8C-83A1-F6EECF244321}">
                <p14:modId xmlns:p14="http://schemas.microsoft.com/office/powerpoint/2010/main" val="4171204719"/>
              </p:ext>
            </p:extLst>
          </p:nvPr>
        </p:nvGraphicFramePr>
        <p:xfrm>
          <a:off x="498308" y="1469942"/>
          <a:ext cx="11398518" cy="432816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a:t>
                      </a:r>
                      <a:r>
                        <a:rPr lang="en-US" sz="1600" b="0" dirty="0"/>
                        <a:t>Subject</a:t>
                      </a:r>
                    </a:p>
                  </a:txBody>
                  <a:tcPr anchor="ctr">
                    <a:solidFill>
                      <a:schemeClr val="bg1"/>
                    </a:solidFill>
                  </a:tcPr>
                </a:tc>
                <a:tc gridSpan="3">
                  <a:txBody>
                    <a:bodyPr/>
                    <a:lstStyle/>
                    <a:p>
                      <a:pPr>
                        <a:buNone/>
                      </a:pPr>
                      <a:r>
                        <a:rPr lang="en-US" sz="1600" b="1" dirty="0"/>
                        <a:t>Description: </a:t>
                      </a:r>
                      <a:r>
                        <a:rPr lang="en-US" sz="1600" dirty="0"/>
                        <a:t>Stores available subjects for peer learning and categorizes them for searching.</a:t>
                      </a:r>
                      <a:endParaRPr lang="en-US" sz="1600" b="1" dirty="0"/>
                    </a:p>
                    <a:p>
                      <a:pPr>
                        <a:buNone/>
                      </a:pPr>
                      <a:endParaRPr lang="en-US" sz="1600" b="1" dirty="0"/>
                    </a:p>
                    <a:p>
                      <a:pPr>
                        <a:buNone/>
                      </a:pPr>
                      <a:r>
                        <a:rPr lang="en-US" sz="1600" b="1" dirty="0"/>
                        <a:t>Usage in App:</a:t>
                      </a:r>
                      <a:r>
                        <a:rPr lang="en-US" sz="1600" dirty="0"/>
                        <a:t> Displayed on the homepage as </a:t>
                      </a:r>
                      <a:r>
                        <a:rPr lang="en-US" sz="1600" i="1" dirty="0"/>
                        <a:t>Popular Subjects</a:t>
                      </a:r>
                      <a:r>
                        <a:rPr lang="en-US" sz="1600" dirty="0"/>
                        <a:t> and used as a filter</a:t>
                      </a:r>
                    </a:p>
                    <a:p>
                      <a:pPr>
                        <a:buNone/>
                      </a:pPr>
                      <a:endParaRPr lang="en-US" sz="1600" dirty="0"/>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152843">
                <a:tc>
                  <a:txBody>
                    <a:bodyPr/>
                    <a:lstStyle/>
                    <a:p>
                      <a:pPr>
                        <a:buNone/>
                      </a:pPr>
                      <a:r>
                        <a:rPr lang="en-US" sz="1600" b="0" dirty="0" err="1"/>
                        <a:t>subjectId</a:t>
                      </a:r>
                      <a:endParaRPr lang="en-SG"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S101</a:t>
                      </a:r>
                    </a:p>
                  </a:txBody>
                  <a:tcPr anchor="ctr">
                    <a:solidFill>
                      <a:schemeClr val="bg1"/>
                    </a:solidFill>
                  </a:tcPr>
                </a:tc>
                <a:tc>
                  <a:txBody>
                    <a:bodyPr/>
                    <a:lstStyle/>
                    <a:p>
                      <a:pPr>
                        <a:buNone/>
                      </a:pPr>
                      <a:r>
                        <a:rPr lang="en-US" sz="1600" dirty="0"/>
                        <a:t>Unique identifier for each subject</a:t>
                      </a:r>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US" sz="1600" dirty="0"/>
                        <a:t>name</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Loma</a:t>
                      </a:r>
                    </a:p>
                  </a:txBody>
                  <a:tcPr anchor="ctr">
                    <a:solidFill>
                      <a:schemeClr val="bg1"/>
                    </a:solidFill>
                  </a:tcPr>
                </a:tc>
                <a:tc>
                  <a:txBody>
                    <a:bodyPr/>
                    <a:lstStyle/>
                    <a:p>
                      <a:pPr>
                        <a:buNone/>
                      </a:pPr>
                      <a:r>
                        <a:rPr lang="en-US" sz="1600" dirty="0"/>
                        <a:t>Name of the subject, it is used for displaying, and searching</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US" sz="1600" dirty="0"/>
                        <a:t>interested</a:t>
                      </a:r>
                    </a:p>
                  </a:txBody>
                  <a:tcPr anchor="ctr">
                    <a:solidFill>
                      <a:schemeClr val="bg1"/>
                    </a:solidFill>
                  </a:tcPr>
                </a:tc>
                <a:tc>
                  <a:txBody>
                    <a:bodyPr/>
                    <a:lstStyle/>
                    <a:p>
                      <a:pPr>
                        <a:buNone/>
                      </a:pPr>
                      <a:r>
                        <a:rPr lang="en-US" sz="1600" dirty="0"/>
                        <a:t>Integer</a:t>
                      </a:r>
                    </a:p>
                  </a:txBody>
                  <a:tcPr anchor="ctr">
                    <a:solidFill>
                      <a:schemeClr val="bg1"/>
                    </a:solidFill>
                  </a:tcPr>
                </a:tc>
                <a:tc>
                  <a:txBody>
                    <a:bodyPr/>
                    <a:lstStyle/>
                    <a:p>
                      <a:pPr>
                        <a:buNone/>
                      </a:pPr>
                      <a:r>
                        <a:rPr lang="en-US" sz="1600" dirty="0"/>
                        <a:t>12</a:t>
                      </a:r>
                    </a:p>
                  </a:txBody>
                  <a:tcPr anchor="ctr">
                    <a:solidFill>
                      <a:schemeClr val="bg1"/>
                    </a:solidFill>
                  </a:tcPr>
                </a:tc>
                <a:tc>
                  <a:txBody>
                    <a:bodyPr/>
                    <a:lstStyle/>
                    <a:p>
                      <a:pPr>
                        <a:buNone/>
                      </a:pPr>
                      <a:r>
                        <a:rPr lang="en-US" sz="1600" dirty="0"/>
                        <a:t>Number of users who are linked to this subject.</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extLst>
                  <a:ext uri="{0D108BD9-81ED-4DB2-BD59-A6C34878D82A}">
                    <a16:rowId xmlns:a16="http://schemas.microsoft.com/office/drawing/2014/main" val="3913391811"/>
                  </a:ext>
                </a:extLst>
              </a:tr>
              <a:tr h="0">
                <a:tc>
                  <a:txBody>
                    <a:bodyPr/>
                    <a:lstStyle/>
                    <a:p>
                      <a:pPr>
                        <a:buNone/>
                      </a:pPr>
                      <a:endParaRPr lang="en-US" sz="160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extLst>
                  <a:ext uri="{0D108BD9-81ED-4DB2-BD59-A6C34878D82A}">
                    <a16:rowId xmlns:a16="http://schemas.microsoft.com/office/drawing/2014/main" val="2445594671"/>
                  </a:ext>
                </a:extLst>
              </a:tr>
              <a:tr h="0">
                <a:tc>
                  <a:txBody>
                    <a:bodyPr/>
                    <a:lstStyle/>
                    <a:p>
                      <a:pPr>
                        <a:buNone/>
                      </a:pPr>
                      <a:endParaRPr lang="en-US" sz="160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extLst>
                  <a:ext uri="{0D108BD9-81ED-4DB2-BD59-A6C34878D82A}">
                    <a16:rowId xmlns:a16="http://schemas.microsoft.com/office/drawing/2014/main" val="2299822991"/>
                  </a:ext>
                </a:extLst>
              </a:tr>
              <a:tr h="0">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extLst>
                  <a:ext uri="{0D108BD9-81ED-4DB2-BD59-A6C34878D82A}">
                    <a16:rowId xmlns:a16="http://schemas.microsoft.com/office/drawing/2014/main" val="58047437"/>
                  </a:ext>
                </a:extLst>
              </a:tr>
              <a:tr h="0">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extLst>
                  <a:ext uri="{0D108BD9-81ED-4DB2-BD59-A6C34878D82A}">
                    <a16:rowId xmlns:a16="http://schemas.microsoft.com/office/drawing/2014/main" val="3892878512"/>
                  </a:ext>
                </a:extLst>
              </a:tr>
            </a:tbl>
          </a:graphicData>
        </a:graphic>
      </p:graphicFrame>
    </p:spTree>
    <p:extLst>
      <p:ext uri="{BB962C8B-B14F-4D97-AF65-F5344CB8AC3E}">
        <p14:creationId xmlns:p14="http://schemas.microsoft.com/office/powerpoint/2010/main" val="861937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B4D4-1B52-AD31-65F7-CFD3ACF80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C7C21-5EB6-A4EE-713A-716B9E273676}"/>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B1D23553-067A-4514-E11B-458EE92CEC93}"/>
              </a:ext>
            </a:extLst>
          </p:cNvPr>
          <p:cNvGraphicFramePr>
            <a:graphicFrameLocks noGrp="1"/>
          </p:cNvGraphicFramePr>
          <p:nvPr>
            <p:extLst>
              <p:ext uri="{D42A27DB-BD31-4B8C-83A1-F6EECF244321}">
                <p14:modId xmlns:p14="http://schemas.microsoft.com/office/powerpoint/2010/main" val="167547324"/>
              </p:ext>
            </p:extLst>
          </p:nvPr>
        </p:nvGraphicFramePr>
        <p:xfrm>
          <a:off x="498308" y="1469942"/>
          <a:ext cx="11398518" cy="457200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a:t>
                      </a:r>
                      <a:r>
                        <a:rPr lang="en-US" sz="1600" b="0" dirty="0" err="1"/>
                        <a:t>StudyGroup</a:t>
                      </a:r>
                      <a:r>
                        <a:rPr lang="en-US" sz="1600" b="0" dirty="0"/>
                        <a:t> </a:t>
                      </a:r>
                    </a:p>
                  </a:txBody>
                  <a:tcPr anchor="ctr">
                    <a:solidFill>
                      <a:schemeClr val="bg1"/>
                    </a:solidFill>
                  </a:tcPr>
                </a:tc>
                <a:tc gridSpan="3">
                  <a:txBody>
                    <a:bodyPr/>
                    <a:lstStyle/>
                    <a:p>
                      <a:pPr>
                        <a:buNone/>
                      </a:pPr>
                      <a:r>
                        <a:rPr lang="en-US" sz="1600" b="1" dirty="0"/>
                        <a:t>Description: </a:t>
                      </a:r>
                      <a:r>
                        <a:rPr lang="en-US" sz="1600" dirty="0"/>
                        <a:t>Stores study group information, including meeting details and participants.</a:t>
                      </a:r>
                      <a:endParaRPr lang="en-US" sz="1600" b="1" dirty="0"/>
                    </a:p>
                    <a:p>
                      <a:pPr>
                        <a:buNone/>
                      </a:pPr>
                      <a:endParaRPr lang="en-US" sz="1600" b="1" dirty="0"/>
                    </a:p>
                    <a:p>
                      <a:pPr>
                        <a:buNone/>
                      </a:pPr>
                      <a:r>
                        <a:rPr lang="en-US" sz="1600" b="1" dirty="0"/>
                        <a:t>Usage in App:</a:t>
                      </a:r>
                      <a:r>
                        <a:rPr lang="en-US" sz="1600" dirty="0"/>
                        <a:t> </a:t>
                      </a:r>
                    </a:p>
                    <a:p>
                      <a:pPr>
                        <a:buNone/>
                      </a:pPr>
                      <a:r>
                        <a:rPr lang="en-US" sz="1600" dirty="0"/>
                        <a:t>Display group details</a:t>
                      </a:r>
                    </a:p>
                    <a:p>
                      <a:pPr>
                        <a:buNone/>
                      </a:pPr>
                      <a:endParaRPr lang="en-US" sz="1600" dirty="0"/>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dirty="0" err="1"/>
                        <a:t>groupId</a:t>
                      </a:r>
                      <a:endParaRPr lang="en-US"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G101</a:t>
                      </a:r>
                    </a:p>
                  </a:txBody>
                  <a:tcPr anchor="ctr">
                    <a:solidFill>
                      <a:schemeClr val="bg1"/>
                    </a:solidFill>
                  </a:tcPr>
                </a:tc>
                <a:tc>
                  <a:txBody>
                    <a:bodyPr/>
                    <a:lstStyle/>
                    <a:p>
                      <a:pPr>
                        <a:buNone/>
                      </a:pPr>
                      <a:r>
                        <a:rPr lang="en-US" sz="1600" dirty="0"/>
                        <a:t>Unique identifier for each study group</a:t>
                      </a:r>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US" sz="1600" dirty="0"/>
                        <a:t>name</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Loma basics</a:t>
                      </a:r>
                    </a:p>
                  </a:txBody>
                  <a:tcPr anchor="ctr">
                    <a:solidFill>
                      <a:schemeClr val="bg1"/>
                    </a:solidFill>
                  </a:tcPr>
                </a:tc>
                <a:tc>
                  <a:txBody>
                    <a:bodyPr/>
                    <a:lstStyle/>
                    <a:p>
                      <a:pPr>
                        <a:buNone/>
                      </a:pPr>
                      <a:r>
                        <a:rPr lang="en-US" sz="1600" dirty="0"/>
                        <a:t>Name of the study group to display</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US" sz="1600" dirty="0"/>
                        <a:t>subject</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loma</a:t>
                      </a:r>
                    </a:p>
                  </a:txBody>
                  <a:tcPr anchor="ctr">
                    <a:solidFill>
                      <a:schemeClr val="bg1"/>
                    </a:solidFill>
                  </a:tcPr>
                </a:tc>
                <a:tc>
                  <a:txBody>
                    <a:bodyPr/>
                    <a:lstStyle/>
                    <a:p>
                      <a:pPr>
                        <a:buNone/>
                      </a:pPr>
                      <a:r>
                        <a:rPr lang="en-US" sz="1600" dirty="0"/>
                        <a:t>The subject associated with this group</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r>
                        <a:rPr lang="en-US" sz="1600" dirty="0"/>
                        <a:t>admin</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2403222i</a:t>
                      </a:r>
                    </a:p>
                  </a:txBody>
                  <a:tcPr anchor="ctr">
                    <a:solidFill>
                      <a:schemeClr val="bg1"/>
                    </a:solidFill>
                  </a:tcPr>
                </a:tc>
                <a:tc>
                  <a:txBody>
                    <a:bodyPr/>
                    <a:lstStyle/>
                    <a:p>
                      <a:pPr>
                        <a:buNone/>
                      </a:pPr>
                      <a:r>
                        <a:rPr lang="en-US" sz="1600" dirty="0"/>
                        <a:t>Id(admin num) of the user who created this group</a:t>
                      </a:r>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dirty="0"/>
                        <a:t>location</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Lt4, blk 5 </a:t>
                      </a:r>
                      <a:r>
                        <a:rPr lang="en-US" sz="1600" dirty="0" err="1"/>
                        <a:t>hss</a:t>
                      </a:r>
                      <a:endParaRPr lang="en-US" sz="1600" dirty="0"/>
                    </a:p>
                  </a:txBody>
                  <a:tcPr anchor="ctr">
                    <a:solidFill>
                      <a:schemeClr val="bg1"/>
                    </a:solidFill>
                  </a:tcPr>
                </a:tc>
                <a:tc>
                  <a:txBody>
                    <a:bodyPr/>
                    <a:lstStyle/>
                    <a:p>
                      <a:pPr>
                        <a:buNone/>
                      </a:pPr>
                      <a:r>
                        <a:rPr lang="en-US" sz="1600" dirty="0"/>
                        <a:t>Location where the group will meet</a:t>
                      </a:r>
                    </a:p>
                  </a:txBody>
                  <a:tcPr anchor="ctr">
                    <a:solidFill>
                      <a:schemeClr val="bg1"/>
                    </a:solidFill>
                  </a:tcPr>
                </a:tc>
                <a:extLst>
                  <a:ext uri="{0D108BD9-81ED-4DB2-BD59-A6C34878D82A}">
                    <a16:rowId xmlns:a16="http://schemas.microsoft.com/office/drawing/2014/main" val="2445594671"/>
                  </a:ext>
                </a:extLst>
              </a:tr>
              <a:tr h="0">
                <a:tc>
                  <a:txBody>
                    <a:bodyPr/>
                    <a:lstStyle/>
                    <a:p>
                      <a:pPr>
                        <a:buNone/>
                      </a:pPr>
                      <a:r>
                        <a:rPr lang="en-US" sz="1600" dirty="0" err="1"/>
                        <a:t>dateTime</a:t>
                      </a:r>
                      <a:endParaRPr lang="en-US"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2025-10-5 5 pm to 7pm</a:t>
                      </a:r>
                    </a:p>
                  </a:txBody>
                  <a:tcPr anchor="ctr">
                    <a:solidFill>
                      <a:schemeClr val="bg1"/>
                    </a:solidFill>
                  </a:tcPr>
                </a:tc>
                <a:tc>
                  <a:txBody>
                    <a:bodyPr/>
                    <a:lstStyle/>
                    <a:p>
                      <a:pPr>
                        <a:buNone/>
                      </a:pPr>
                      <a:r>
                        <a:rPr lang="en-US" sz="1600" dirty="0"/>
                        <a:t>Meeting date and time</a:t>
                      </a:r>
                    </a:p>
                  </a:txBody>
                  <a:tcPr anchor="ctr">
                    <a:solidFill>
                      <a:schemeClr val="bg1"/>
                    </a:solidFill>
                  </a:tcPr>
                </a:tc>
                <a:extLst>
                  <a:ext uri="{0D108BD9-81ED-4DB2-BD59-A6C34878D82A}">
                    <a16:rowId xmlns:a16="http://schemas.microsoft.com/office/drawing/2014/main" val="2299822991"/>
                  </a:ext>
                </a:extLst>
              </a:tr>
              <a:tr h="0">
                <a:tc>
                  <a:txBody>
                    <a:bodyPr/>
                    <a:lstStyle/>
                    <a:p>
                      <a:pPr>
                        <a:buNone/>
                      </a:pPr>
                      <a:r>
                        <a:rPr lang="en-US" sz="1600" dirty="0" err="1"/>
                        <a:t>totalpax</a:t>
                      </a:r>
                      <a:endParaRPr lang="en-US" sz="1600" dirty="0"/>
                    </a:p>
                  </a:txBody>
                  <a:tcPr anchor="ctr">
                    <a:solidFill>
                      <a:schemeClr val="bg1"/>
                    </a:solidFill>
                  </a:tcPr>
                </a:tc>
                <a:tc>
                  <a:txBody>
                    <a:bodyPr/>
                    <a:lstStyle/>
                    <a:p>
                      <a:pPr>
                        <a:buNone/>
                      </a:pPr>
                      <a:r>
                        <a:rPr lang="en-US" sz="1600" dirty="0"/>
                        <a:t>Int</a:t>
                      </a:r>
                    </a:p>
                  </a:txBody>
                  <a:tcPr anchor="ctr">
                    <a:solidFill>
                      <a:schemeClr val="bg1"/>
                    </a:solidFill>
                  </a:tcPr>
                </a:tc>
                <a:tc>
                  <a:txBody>
                    <a:bodyPr/>
                    <a:lstStyle/>
                    <a:p>
                      <a:pPr>
                        <a:buNone/>
                      </a:pPr>
                      <a:r>
                        <a:rPr lang="en-US" sz="1600" dirty="0"/>
                        <a:t>10</a:t>
                      </a:r>
                    </a:p>
                  </a:txBody>
                  <a:tcPr anchor="ctr">
                    <a:solidFill>
                      <a:schemeClr val="bg1"/>
                    </a:solidFill>
                  </a:tcPr>
                </a:tc>
                <a:tc>
                  <a:txBody>
                    <a:bodyPr/>
                    <a:lstStyle/>
                    <a:p>
                      <a:pPr>
                        <a:buNone/>
                      </a:pPr>
                      <a:r>
                        <a:rPr lang="en-US" sz="1600" dirty="0"/>
                        <a:t>Total number of users in this group</a:t>
                      </a:r>
                    </a:p>
                  </a:txBody>
                  <a:tcPr anchor="ctr">
                    <a:solidFill>
                      <a:schemeClr val="bg1"/>
                    </a:solidFill>
                  </a:tcPr>
                </a:tc>
                <a:extLst>
                  <a:ext uri="{0D108BD9-81ED-4DB2-BD59-A6C34878D82A}">
                    <a16:rowId xmlns:a16="http://schemas.microsoft.com/office/drawing/2014/main" val="58047437"/>
                  </a:ext>
                </a:extLst>
              </a:tr>
              <a:tr h="0">
                <a:tc>
                  <a:txBody>
                    <a:bodyPr/>
                    <a:lstStyle/>
                    <a:p>
                      <a:pPr>
                        <a:buNone/>
                      </a:pPr>
                      <a:r>
                        <a:rPr lang="en-US" sz="1600" dirty="0" err="1"/>
                        <a:t>createdAt</a:t>
                      </a:r>
                      <a:endParaRPr lang="en-US" sz="1600" dirty="0"/>
                    </a:p>
                  </a:txBody>
                  <a:tcPr anchor="ctr">
                    <a:solidFill>
                      <a:schemeClr val="bg1"/>
                    </a:solidFill>
                  </a:tcPr>
                </a:tc>
                <a:tc>
                  <a:txBody>
                    <a:bodyPr/>
                    <a:lstStyle/>
                    <a:p>
                      <a:pPr>
                        <a:buNone/>
                      </a:pPr>
                      <a:r>
                        <a:rPr lang="en-US" sz="1600" dirty="0"/>
                        <a:t>Date</a:t>
                      </a:r>
                    </a:p>
                  </a:txBody>
                  <a:tcPr anchor="ctr">
                    <a:solidFill>
                      <a:schemeClr val="bg1"/>
                    </a:solidFill>
                  </a:tcPr>
                </a:tc>
                <a:tc>
                  <a:txBody>
                    <a:bodyPr/>
                    <a:lstStyle/>
                    <a:p>
                      <a:pPr>
                        <a:buNone/>
                      </a:pPr>
                      <a:r>
                        <a:rPr lang="en-US" sz="1600" dirty="0"/>
                        <a:t>2025-09-7 08:09:00</a:t>
                      </a:r>
                    </a:p>
                  </a:txBody>
                  <a:tcPr anchor="ctr">
                    <a:solidFill>
                      <a:schemeClr val="bg1"/>
                    </a:solidFill>
                  </a:tcPr>
                </a:tc>
                <a:tc>
                  <a:txBody>
                    <a:bodyPr/>
                    <a:lstStyle/>
                    <a:p>
                      <a:pPr>
                        <a:buNone/>
                      </a:pPr>
                      <a:r>
                        <a:rPr lang="en-US" sz="1600" dirty="0"/>
                        <a:t>Timestamp when the group was created</a:t>
                      </a:r>
                    </a:p>
                  </a:txBody>
                  <a:tcPr anchor="ctr">
                    <a:solidFill>
                      <a:schemeClr val="bg1"/>
                    </a:solidFill>
                  </a:tcPr>
                </a:tc>
                <a:extLst>
                  <a:ext uri="{0D108BD9-81ED-4DB2-BD59-A6C34878D82A}">
                    <a16:rowId xmlns:a16="http://schemas.microsoft.com/office/drawing/2014/main" val="3892878512"/>
                  </a:ext>
                </a:extLst>
              </a:tr>
            </a:tbl>
          </a:graphicData>
        </a:graphic>
      </p:graphicFrame>
    </p:spTree>
    <p:extLst>
      <p:ext uri="{BB962C8B-B14F-4D97-AF65-F5344CB8AC3E}">
        <p14:creationId xmlns:p14="http://schemas.microsoft.com/office/powerpoint/2010/main" val="2627074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48155-F406-4BC4-F00E-ECC5B4F47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21CB5-1E42-F362-1089-EE5EE322B5EC}"/>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24AE90AC-7266-AE7C-4F6D-A6EDFD88FF6D}"/>
              </a:ext>
            </a:extLst>
          </p:cNvPr>
          <p:cNvGraphicFramePr>
            <a:graphicFrameLocks noGrp="1"/>
          </p:cNvGraphicFramePr>
          <p:nvPr>
            <p:extLst>
              <p:ext uri="{D42A27DB-BD31-4B8C-83A1-F6EECF244321}">
                <p14:modId xmlns:p14="http://schemas.microsoft.com/office/powerpoint/2010/main" val="2810598504"/>
              </p:ext>
            </p:extLst>
          </p:nvPr>
        </p:nvGraphicFramePr>
        <p:xfrm>
          <a:off x="498308" y="1469942"/>
          <a:ext cx="11398518" cy="408432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a:t>
                      </a:r>
                      <a:r>
                        <a:rPr lang="en-US" sz="1600" b="1" dirty="0" err="1"/>
                        <a:t>GroupJoinRequest</a:t>
                      </a:r>
                      <a:endParaRPr lang="en-US" sz="1600" b="0" dirty="0"/>
                    </a:p>
                  </a:txBody>
                  <a:tcPr anchor="ctr">
                    <a:solidFill>
                      <a:schemeClr val="bg1"/>
                    </a:solidFill>
                  </a:tcPr>
                </a:tc>
                <a:tc gridSpan="3">
                  <a:txBody>
                    <a:bodyPr/>
                    <a:lstStyle/>
                    <a:p>
                      <a:pPr>
                        <a:buNone/>
                      </a:pPr>
                      <a:r>
                        <a:rPr lang="en-US" sz="1600" b="1" dirty="0"/>
                        <a:t>Description: </a:t>
                      </a:r>
                      <a:r>
                        <a:rPr lang="en-US" sz="1600" dirty="0"/>
                        <a:t>Tracks user requests to join study groups and their approval status. </a:t>
                      </a:r>
                      <a:endParaRPr lang="en-US" sz="16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Usage in App:</a:t>
                      </a:r>
                      <a:r>
                        <a:rPr lang="en-US" sz="1600" dirty="0"/>
                        <a:t> Used to manage membership workflows and prevent duplicate requests.</a:t>
                      </a:r>
                    </a:p>
                    <a:p>
                      <a:pPr>
                        <a:buNone/>
                      </a:pPr>
                      <a:endParaRPr lang="en-US" sz="1600" dirty="0"/>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dirty="0" err="1"/>
                        <a:t>requestId</a:t>
                      </a:r>
                      <a:endParaRPr lang="en-US"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R101</a:t>
                      </a:r>
                    </a:p>
                  </a:txBody>
                  <a:tcPr anchor="ctr">
                    <a:solidFill>
                      <a:schemeClr val="bg1"/>
                    </a:solidFill>
                  </a:tcPr>
                </a:tc>
                <a:tc>
                  <a:txBody>
                    <a:bodyPr/>
                    <a:lstStyle/>
                    <a:p>
                      <a:pPr>
                        <a:buNone/>
                      </a:pPr>
                      <a:r>
                        <a:rPr lang="en-SG" sz="1600" dirty="0"/>
                        <a:t>Unique identifier for each join request.</a:t>
                      </a:r>
                      <a:endParaRPr lang="en-US" sz="1600" dirty="0"/>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SG" sz="1600" dirty="0" err="1"/>
                        <a:t>groupId</a:t>
                      </a:r>
                      <a:endParaRPr lang="en-US" sz="1600" dirty="0"/>
                    </a:p>
                  </a:txBody>
                  <a:tcPr anchor="ctr">
                    <a:solidFill>
                      <a:schemeClr val="bg1"/>
                    </a:solidFill>
                  </a:tcPr>
                </a:tc>
                <a:tc>
                  <a:txBody>
                    <a:bodyPr/>
                    <a:lstStyle/>
                    <a:p>
                      <a:pPr>
                        <a:buNone/>
                      </a:pPr>
                      <a:r>
                        <a:rPr lang="en-SG" sz="1600" dirty="0"/>
                        <a:t>String</a:t>
                      </a:r>
                      <a:endParaRPr lang="en-US" sz="1600" dirty="0"/>
                    </a:p>
                  </a:txBody>
                  <a:tcPr anchor="ctr">
                    <a:solidFill>
                      <a:schemeClr val="bg1"/>
                    </a:solidFill>
                  </a:tcPr>
                </a:tc>
                <a:tc>
                  <a:txBody>
                    <a:bodyPr/>
                    <a:lstStyle/>
                    <a:p>
                      <a:pPr>
                        <a:buNone/>
                      </a:pPr>
                      <a:r>
                        <a:rPr lang="en-SG" sz="1600" dirty="0"/>
                        <a:t>G101</a:t>
                      </a:r>
                      <a:endParaRPr lang="en-US" sz="1600" dirty="0"/>
                    </a:p>
                  </a:txBody>
                  <a:tcPr anchor="ctr">
                    <a:solidFill>
                      <a:schemeClr val="bg1"/>
                    </a:solidFill>
                  </a:tcPr>
                </a:tc>
                <a:tc>
                  <a:txBody>
                    <a:bodyPr/>
                    <a:lstStyle/>
                    <a:p>
                      <a:pPr>
                        <a:buNone/>
                      </a:pPr>
                      <a:r>
                        <a:rPr lang="en-SG" sz="1600" dirty="0"/>
                        <a:t>I</a:t>
                      </a:r>
                      <a:r>
                        <a:rPr lang="en-US" sz="1600" dirty="0"/>
                        <a:t>D of the study group the user wants to join.</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SG" sz="1600" dirty="0" err="1"/>
                        <a:t>userId</a:t>
                      </a:r>
                      <a:endParaRPr lang="en-US" sz="1600" dirty="0"/>
                    </a:p>
                  </a:txBody>
                  <a:tcPr anchor="ctr">
                    <a:solidFill>
                      <a:schemeClr val="bg1"/>
                    </a:solidFill>
                  </a:tcPr>
                </a:tc>
                <a:tc>
                  <a:txBody>
                    <a:bodyPr/>
                    <a:lstStyle/>
                    <a:p>
                      <a:pPr>
                        <a:buNone/>
                      </a:pPr>
                      <a:r>
                        <a:rPr lang="en-SG" sz="1600" dirty="0"/>
                        <a:t>String</a:t>
                      </a:r>
                      <a:endParaRPr lang="en-US" sz="1600" dirty="0"/>
                    </a:p>
                  </a:txBody>
                  <a:tcPr anchor="ctr">
                    <a:solidFill>
                      <a:schemeClr val="bg1"/>
                    </a:solidFill>
                  </a:tcPr>
                </a:tc>
                <a:tc>
                  <a:txBody>
                    <a:bodyPr/>
                    <a:lstStyle/>
                    <a:p>
                      <a:pPr>
                        <a:buNone/>
                      </a:pPr>
                      <a:r>
                        <a:rPr lang="en-US" sz="1600" dirty="0"/>
                        <a:t>2403222i</a:t>
                      </a:r>
                    </a:p>
                  </a:txBody>
                  <a:tcPr anchor="ctr">
                    <a:solidFill>
                      <a:schemeClr val="bg1"/>
                    </a:solidFill>
                  </a:tcPr>
                </a:tc>
                <a:tc>
                  <a:txBody>
                    <a:bodyPr/>
                    <a:lstStyle/>
                    <a:p>
                      <a:pPr>
                        <a:buNone/>
                      </a:pPr>
                      <a:r>
                        <a:rPr lang="en-US" sz="1600" dirty="0"/>
                        <a:t>ID(admin num) of the user making the request.</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r>
                        <a:rPr lang="en-SG" sz="1600" dirty="0"/>
                        <a:t>status</a:t>
                      </a:r>
                      <a:endParaRPr lang="en-US" sz="1600" dirty="0"/>
                    </a:p>
                  </a:txBody>
                  <a:tcPr anchor="ctr">
                    <a:solidFill>
                      <a:schemeClr val="bg1"/>
                    </a:solidFill>
                  </a:tcPr>
                </a:tc>
                <a:tc>
                  <a:txBody>
                    <a:bodyPr/>
                    <a:lstStyle/>
                    <a:p>
                      <a:pPr>
                        <a:buNone/>
                      </a:pPr>
                      <a:r>
                        <a:rPr lang="en-SG" sz="1600" dirty="0"/>
                        <a:t>String</a:t>
                      </a:r>
                      <a:endParaRPr lang="en-US" sz="1600" dirty="0"/>
                    </a:p>
                  </a:txBody>
                  <a:tcPr anchor="ctr">
                    <a:solidFill>
                      <a:schemeClr val="bg1"/>
                    </a:solidFill>
                  </a:tcPr>
                </a:tc>
                <a:tc>
                  <a:txBody>
                    <a:bodyPr/>
                    <a:lstStyle/>
                    <a:p>
                      <a:pPr>
                        <a:buNone/>
                      </a:pPr>
                      <a:r>
                        <a:rPr lang="en-US" sz="1600" dirty="0"/>
                        <a:t>pending</a:t>
                      </a:r>
                    </a:p>
                  </a:txBody>
                  <a:tcPr anchor="ctr">
                    <a:solidFill>
                      <a:schemeClr val="bg1"/>
                    </a:solidFill>
                  </a:tcPr>
                </a:tc>
                <a:tc>
                  <a:txBody>
                    <a:bodyPr/>
                    <a:lstStyle/>
                    <a:p>
                      <a:pPr>
                        <a:buNone/>
                      </a:pPr>
                      <a:r>
                        <a:rPr lang="en-US" sz="1600" dirty="0"/>
                        <a:t>Status of the request (pending / approved / rejected).</a:t>
                      </a:r>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dirty="0" err="1"/>
                        <a:t>createdAt</a:t>
                      </a:r>
                      <a:endParaRPr lang="en-US" sz="1600" dirty="0"/>
                    </a:p>
                  </a:txBody>
                  <a:tcPr anchor="ctr">
                    <a:solidFill>
                      <a:schemeClr val="bg1"/>
                    </a:solidFill>
                  </a:tcPr>
                </a:tc>
                <a:tc>
                  <a:txBody>
                    <a:bodyPr/>
                    <a:lstStyle/>
                    <a:p>
                      <a:pPr>
                        <a:buNone/>
                      </a:pPr>
                      <a:r>
                        <a:rPr lang="en-US" sz="1600" dirty="0"/>
                        <a:t>Date</a:t>
                      </a:r>
                    </a:p>
                  </a:txBody>
                  <a:tcPr anchor="ctr">
                    <a:solidFill>
                      <a:schemeClr val="bg1"/>
                    </a:solidFill>
                  </a:tcPr>
                </a:tc>
                <a:tc>
                  <a:txBody>
                    <a:bodyPr/>
                    <a:lstStyle/>
                    <a:p>
                      <a:pPr>
                        <a:buNone/>
                      </a:pPr>
                      <a:r>
                        <a:rPr lang="en-US" sz="1600" dirty="0"/>
                        <a:t>2025-09-7 08:09:00</a:t>
                      </a:r>
                    </a:p>
                  </a:txBody>
                  <a:tcPr anchor="ctr">
                    <a:solidFill>
                      <a:schemeClr val="bg1"/>
                    </a:solidFill>
                  </a:tcPr>
                </a:tc>
                <a:tc>
                  <a:txBody>
                    <a:bodyPr/>
                    <a:lstStyle/>
                    <a:p>
                      <a:pPr>
                        <a:buNone/>
                      </a:pPr>
                      <a:r>
                        <a:rPr lang="en-US" sz="1600" dirty="0"/>
                        <a:t>Timestamp when the request was created</a:t>
                      </a:r>
                    </a:p>
                  </a:txBody>
                  <a:tcPr anchor="ctr">
                    <a:solidFill>
                      <a:schemeClr val="bg1"/>
                    </a:solidFill>
                  </a:tcPr>
                </a:tc>
                <a:extLst>
                  <a:ext uri="{0D108BD9-81ED-4DB2-BD59-A6C34878D82A}">
                    <a16:rowId xmlns:a16="http://schemas.microsoft.com/office/drawing/2014/main" val="2445594671"/>
                  </a:ext>
                </a:extLst>
              </a:tr>
              <a:tr h="0">
                <a:tc>
                  <a:txBody>
                    <a:bodyPr/>
                    <a:lstStyle/>
                    <a:p>
                      <a:pPr>
                        <a:buNone/>
                      </a:pPr>
                      <a:r>
                        <a:rPr lang="en-US" sz="1600" dirty="0" err="1"/>
                        <a:t>processedAt</a:t>
                      </a:r>
                      <a:endParaRPr lang="en-US" sz="1600" dirty="0"/>
                    </a:p>
                  </a:txBody>
                  <a:tcPr anchor="ctr">
                    <a:solidFill>
                      <a:schemeClr val="bg1"/>
                    </a:solidFill>
                  </a:tcPr>
                </a:tc>
                <a:tc>
                  <a:txBody>
                    <a:bodyPr/>
                    <a:lstStyle/>
                    <a:p>
                      <a:pPr>
                        <a:buNone/>
                      </a:pPr>
                      <a:r>
                        <a:rPr lang="en-US" sz="1600" dirty="0"/>
                        <a:t>Date</a:t>
                      </a:r>
                    </a:p>
                  </a:txBody>
                  <a:tcPr anchor="ctr">
                    <a:solidFill>
                      <a:schemeClr val="bg1"/>
                    </a:solidFill>
                  </a:tcPr>
                </a:tc>
                <a:tc>
                  <a:txBody>
                    <a:bodyPr/>
                    <a:lstStyle/>
                    <a:p>
                      <a:pPr>
                        <a:buNone/>
                      </a:pPr>
                      <a:r>
                        <a:rPr lang="en-US" sz="1600" dirty="0"/>
                        <a:t>2025-09-7 15:09:00</a:t>
                      </a:r>
                    </a:p>
                  </a:txBody>
                  <a:tcPr anchor="ctr">
                    <a:solidFill>
                      <a:schemeClr val="bg1"/>
                    </a:solidFill>
                  </a:tcPr>
                </a:tc>
                <a:tc>
                  <a:txBody>
                    <a:bodyPr/>
                    <a:lstStyle/>
                    <a:p>
                      <a:pPr>
                        <a:buNone/>
                      </a:pPr>
                      <a:r>
                        <a:rPr lang="en-US" sz="1600" dirty="0"/>
                        <a:t>Timestamp when the request was either approved or rejected</a:t>
                      </a:r>
                    </a:p>
                  </a:txBody>
                  <a:tcPr anchor="ctr">
                    <a:solidFill>
                      <a:schemeClr val="bg1"/>
                    </a:solidFill>
                  </a:tcPr>
                </a:tc>
                <a:extLst>
                  <a:ext uri="{0D108BD9-81ED-4DB2-BD59-A6C34878D82A}">
                    <a16:rowId xmlns:a16="http://schemas.microsoft.com/office/drawing/2014/main" val="2299822991"/>
                  </a:ext>
                </a:extLst>
              </a:tr>
              <a:tr h="0">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extLst>
                  <a:ext uri="{0D108BD9-81ED-4DB2-BD59-A6C34878D82A}">
                    <a16:rowId xmlns:a16="http://schemas.microsoft.com/office/drawing/2014/main" val="58047437"/>
                  </a:ext>
                </a:extLst>
              </a:tr>
              <a:tr h="0">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tc>
                  <a:txBody>
                    <a:bodyPr/>
                    <a:lstStyle/>
                    <a:p>
                      <a:pPr>
                        <a:buNone/>
                      </a:pPr>
                      <a:endParaRPr lang="en-US" sz="1600" dirty="0"/>
                    </a:p>
                  </a:txBody>
                  <a:tcPr anchor="ctr">
                    <a:solidFill>
                      <a:schemeClr val="bg1"/>
                    </a:solidFill>
                  </a:tcPr>
                </a:tc>
                <a:extLst>
                  <a:ext uri="{0D108BD9-81ED-4DB2-BD59-A6C34878D82A}">
                    <a16:rowId xmlns:a16="http://schemas.microsoft.com/office/drawing/2014/main" val="3892878512"/>
                  </a:ext>
                </a:extLst>
              </a:tr>
            </a:tbl>
          </a:graphicData>
        </a:graphic>
      </p:graphicFrame>
    </p:spTree>
    <p:extLst>
      <p:ext uri="{BB962C8B-B14F-4D97-AF65-F5344CB8AC3E}">
        <p14:creationId xmlns:p14="http://schemas.microsoft.com/office/powerpoint/2010/main" val="2111214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F6365-3EEC-3D7F-F648-B6547FE6D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DDFB2-18FE-73DB-BBF2-7F89270A572A}"/>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8FB98BB9-48C7-C6FE-B4AA-8F2779EC9F04}"/>
              </a:ext>
            </a:extLst>
          </p:cNvPr>
          <p:cNvGraphicFramePr>
            <a:graphicFrameLocks noGrp="1"/>
          </p:cNvGraphicFramePr>
          <p:nvPr>
            <p:extLst>
              <p:ext uri="{D42A27DB-BD31-4B8C-83A1-F6EECF244321}">
                <p14:modId xmlns:p14="http://schemas.microsoft.com/office/powerpoint/2010/main" val="2709498520"/>
              </p:ext>
            </p:extLst>
          </p:nvPr>
        </p:nvGraphicFramePr>
        <p:xfrm>
          <a:off x="498308" y="1469942"/>
          <a:ext cx="11398518" cy="356616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a:t>
                      </a:r>
                      <a:r>
                        <a:rPr lang="en-US" sz="1600" b="1" dirty="0" err="1"/>
                        <a:t>PointsAndBadge</a:t>
                      </a:r>
                      <a:endParaRPr lang="en-US" sz="1600" b="0" dirty="0"/>
                    </a:p>
                  </a:txBody>
                  <a:tcPr anchor="ctr">
                    <a:solidFill>
                      <a:schemeClr val="bg1"/>
                    </a:solidFill>
                  </a:tcPr>
                </a:tc>
                <a:tc gridSpan="3">
                  <a:txBody>
                    <a:bodyPr/>
                    <a:lstStyle/>
                    <a:p>
                      <a:pPr>
                        <a:buNone/>
                      </a:pPr>
                      <a:r>
                        <a:rPr lang="en-US" sz="1600" b="1" dirty="0"/>
                        <a:t>Description: Stores points, badges of each user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Usage in App: Used to display badges and points on user profiles and motivate students to engage on the website.</a:t>
                      </a:r>
                      <a:endParaRPr lang="en-US" sz="1600" dirty="0"/>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dirty="0" err="1"/>
                        <a:t>pointId</a:t>
                      </a:r>
                      <a:endParaRPr lang="en-US"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P101</a:t>
                      </a:r>
                    </a:p>
                  </a:txBody>
                  <a:tcPr anchor="ctr">
                    <a:solidFill>
                      <a:schemeClr val="bg1"/>
                    </a:solidFill>
                  </a:tcPr>
                </a:tc>
                <a:tc>
                  <a:txBody>
                    <a:bodyPr/>
                    <a:lstStyle/>
                    <a:p>
                      <a:pPr>
                        <a:buNone/>
                      </a:pPr>
                      <a:r>
                        <a:rPr lang="en-SG" sz="1600" dirty="0"/>
                        <a:t>Unique identifier for each record of points earned by user.</a:t>
                      </a:r>
                      <a:endParaRPr lang="en-US" sz="1600" dirty="0"/>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SG" sz="1600" dirty="0" err="1"/>
                        <a:t>userId</a:t>
                      </a:r>
                      <a:endParaRPr lang="en-US" sz="1600" dirty="0"/>
                    </a:p>
                  </a:txBody>
                  <a:tcPr anchor="ctr">
                    <a:solidFill>
                      <a:schemeClr val="bg1"/>
                    </a:solidFill>
                  </a:tcPr>
                </a:tc>
                <a:tc>
                  <a:txBody>
                    <a:bodyPr/>
                    <a:lstStyle/>
                    <a:p>
                      <a:pPr>
                        <a:buNone/>
                      </a:pPr>
                      <a:r>
                        <a:rPr lang="en-SG" sz="1600" dirty="0"/>
                        <a:t>String</a:t>
                      </a:r>
                      <a:endParaRPr lang="en-US" sz="1600" dirty="0"/>
                    </a:p>
                  </a:txBody>
                  <a:tcPr anchor="ctr">
                    <a:solidFill>
                      <a:schemeClr val="bg1"/>
                    </a:solidFill>
                  </a:tcPr>
                </a:tc>
                <a:tc>
                  <a:txBody>
                    <a:bodyPr/>
                    <a:lstStyle/>
                    <a:p>
                      <a:pPr>
                        <a:buNone/>
                      </a:pPr>
                      <a:r>
                        <a:rPr lang="en-US" sz="1600" dirty="0"/>
                        <a:t>2403222i</a:t>
                      </a:r>
                    </a:p>
                  </a:txBody>
                  <a:tcPr anchor="ctr">
                    <a:solidFill>
                      <a:schemeClr val="bg1"/>
                    </a:solidFill>
                  </a:tcPr>
                </a:tc>
                <a:tc>
                  <a:txBody>
                    <a:bodyPr/>
                    <a:lstStyle/>
                    <a:p>
                      <a:pPr>
                        <a:buNone/>
                      </a:pPr>
                      <a:r>
                        <a:rPr lang="en-US" sz="1600" dirty="0"/>
                        <a:t>ID(admin num) of the user, to display on the user profile</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r>
                        <a:rPr lang="en-US" sz="1600" dirty="0"/>
                        <a:t>points</a:t>
                      </a:r>
                    </a:p>
                  </a:txBody>
                  <a:tcPr anchor="ctr">
                    <a:solidFill>
                      <a:schemeClr val="bg1"/>
                    </a:solidFill>
                  </a:tcPr>
                </a:tc>
                <a:tc>
                  <a:txBody>
                    <a:bodyPr/>
                    <a:lstStyle/>
                    <a:p>
                      <a:pPr>
                        <a:buNone/>
                      </a:pPr>
                      <a:r>
                        <a:rPr lang="en-US" sz="1600" dirty="0"/>
                        <a:t>int</a:t>
                      </a:r>
                    </a:p>
                  </a:txBody>
                  <a:tcPr anchor="ctr">
                    <a:solidFill>
                      <a:schemeClr val="bg1"/>
                    </a:solidFill>
                  </a:tcPr>
                </a:tc>
                <a:tc>
                  <a:txBody>
                    <a:bodyPr/>
                    <a:lstStyle/>
                    <a:p>
                      <a:pPr>
                        <a:buNone/>
                      </a:pPr>
                      <a:r>
                        <a:rPr lang="en-US" sz="1600" dirty="0"/>
                        <a:t>45</a:t>
                      </a:r>
                    </a:p>
                  </a:txBody>
                  <a:tcPr anchor="ctr">
                    <a:solidFill>
                      <a:schemeClr val="bg1"/>
                    </a:solidFill>
                  </a:tcPr>
                </a:tc>
                <a:tc>
                  <a:txBody>
                    <a:bodyPr/>
                    <a:lstStyle/>
                    <a:p>
                      <a:pPr>
                        <a:buNone/>
                      </a:pPr>
                      <a:r>
                        <a:rPr lang="en-US" sz="1600" dirty="0"/>
                        <a:t>Total points earned by the user</a:t>
                      </a:r>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dirty="0"/>
                        <a:t>badges</a:t>
                      </a:r>
                    </a:p>
                  </a:txBody>
                  <a:tcPr anchor="ctr">
                    <a:solidFill>
                      <a:schemeClr val="bg1"/>
                    </a:solidFill>
                  </a:tcPr>
                </a:tc>
                <a:tc>
                  <a:txBody>
                    <a:bodyPr/>
                    <a:lstStyle/>
                    <a:p>
                      <a:pPr>
                        <a:buNone/>
                      </a:pPr>
                      <a:r>
                        <a:rPr lang="en-US" sz="1600" dirty="0"/>
                        <a:t>Array[Strings]</a:t>
                      </a:r>
                    </a:p>
                  </a:txBody>
                  <a:tcPr anchor="ctr">
                    <a:solidFill>
                      <a:schemeClr val="bg1"/>
                    </a:solidFill>
                  </a:tcPr>
                </a:tc>
                <a:tc>
                  <a:txBody>
                    <a:bodyPr/>
                    <a:lstStyle/>
                    <a:p>
                      <a:pPr>
                        <a:buNone/>
                      </a:pPr>
                      <a:r>
                        <a:rPr lang="en-US" sz="1600" dirty="0"/>
                        <a:t>[“Top helper”, “group leader”]</a:t>
                      </a:r>
                    </a:p>
                  </a:txBody>
                  <a:tcPr anchor="ctr">
                    <a:solidFill>
                      <a:schemeClr val="bg1"/>
                    </a:solidFill>
                  </a:tcPr>
                </a:tc>
                <a:tc>
                  <a:txBody>
                    <a:bodyPr/>
                    <a:lstStyle/>
                    <a:p>
                      <a:pPr>
                        <a:buNone/>
                      </a:pPr>
                      <a:r>
                        <a:rPr lang="en-US" sz="1600" dirty="0"/>
                        <a:t>List of badges earned by user</a:t>
                      </a:r>
                    </a:p>
                  </a:txBody>
                  <a:tcPr anchor="ctr">
                    <a:solidFill>
                      <a:schemeClr val="bg1"/>
                    </a:solidFill>
                  </a:tcPr>
                </a:tc>
                <a:extLst>
                  <a:ext uri="{0D108BD9-81ED-4DB2-BD59-A6C34878D82A}">
                    <a16:rowId xmlns:a16="http://schemas.microsoft.com/office/drawing/2014/main" val="58047437"/>
                  </a:ext>
                </a:extLst>
              </a:tr>
              <a:tr h="0">
                <a:tc>
                  <a:txBody>
                    <a:bodyPr/>
                    <a:lstStyle/>
                    <a:p>
                      <a:pPr>
                        <a:buNone/>
                      </a:pPr>
                      <a:r>
                        <a:rPr lang="en-US" sz="1600" dirty="0" err="1"/>
                        <a:t>lastUpdated</a:t>
                      </a:r>
                      <a:endParaRPr lang="en-US" sz="1600" dirty="0"/>
                    </a:p>
                  </a:txBody>
                  <a:tcPr anchor="ctr">
                    <a:solidFill>
                      <a:schemeClr val="bg1"/>
                    </a:solidFill>
                  </a:tcPr>
                </a:tc>
                <a:tc>
                  <a:txBody>
                    <a:bodyPr/>
                    <a:lstStyle/>
                    <a:p>
                      <a:pPr>
                        <a:buNone/>
                      </a:pPr>
                      <a:r>
                        <a:rPr lang="en-US" sz="1600" dirty="0"/>
                        <a:t>Date</a:t>
                      </a:r>
                    </a:p>
                  </a:txBody>
                  <a:tcPr anchor="ctr">
                    <a:solidFill>
                      <a:schemeClr val="bg1"/>
                    </a:solidFill>
                  </a:tcPr>
                </a:tc>
                <a:tc>
                  <a:txBody>
                    <a:bodyPr/>
                    <a:lstStyle/>
                    <a:p>
                      <a:pPr>
                        <a:buNone/>
                      </a:pPr>
                      <a:r>
                        <a:rPr lang="en-US" sz="1600" dirty="0"/>
                        <a:t>2025-09-7 08:09:00</a:t>
                      </a:r>
                    </a:p>
                  </a:txBody>
                  <a:tcPr anchor="ctr">
                    <a:solidFill>
                      <a:schemeClr val="bg1"/>
                    </a:solidFill>
                  </a:tcPr>
                </a:tc>
                <a:tc>
                  <a:txBody>
                    <a:bodyPr/>
                    <a:lstStyle/>
                    <a:p>
                      <a:pPr>
                        <a:buNone/>
                      </a:pPr>
                      <a:r>
                        <a:rPr lang="en-US" sz="1600" dirty="0"/>
                        <a:t>Timestamp of the last update</a:t>
                      </a:r>
                    </a:p>
                  </a:txBody>
                  <a:tcPr anchor="ctr">
                    <a:solidFill>
                      <a:schemeClr val="bg1"/>
                    </a:solidFill>
                  </a:tcPr>
                </a:tc>
                <a:extLst>
                  <a:ext uri="{0D108BD9-81ED-4DB2-BD59-A6C34878D82A}">
                    <a16:rowId xmlns:a16="http://schemas.microsoft.com/office/drawing/2014/main" val="3892878512"/>
                  </a:ext>
                </a:extLst>
              </a:tr>
            </a:tbl>
          </a:graphicData>
        </a:graphic>
      </p:graphicFrame>
    </p:spTree>
    <p:extLst>
      <p:ext uri="{BB962C8B-B14F-4D97-AF65-F5344CB8AC3E}">
        <p14:creationId xmlns:p14="http://schemas.microsoft.com/office/powerpoint/2010/main" val="3601849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63F1-7100-3F4A-01D5-121E91BBA867}"/>
              </a:ext>
            </a:extLst>
          </p:cNvPr>
          <p:cNvSpPr>
            <a:spLocks noGrp="1"/>
          </p:cNvSpPr>
          <p:nvPr>
            <p:ph type="title"/>
          </p:nvPr>
        </p:nvSpPr>
        <p:spPr>
          <a:xfrm>
            <a:off x="645694" y="2578935"/>
            <a:ext cx="10515600" cy="1325563"/>
          </a:xfrm>
        </p:spPr>
        <p:txBody>
          <a:bodyPr/>
          <a:lstStyle/>
          <a:p>
            <a:pPr algn="ctr"/>
            <a:r>
              <a:rPr lang="en-US" b="1" dirty="0"/>
              <a:t>The End</a:t>
            </a:r>
          </a:p>
        </p:txBody>
      </p:sp>
    </p:spTree>
    <p:extLst>
      <p:ext uri="{BB962C8B-B14F-4D97-AF65-F5344CB8AC3E}">
        <p14:creationId xmlns:p14="http://schemas.microsoft.com/office/powerpoint/2010/main" val="31271306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0.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Usability Testing&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475&quot;&gt;&lt;property id=&quot;20148&quot; value=&quot;5&quot;/&gt;&lt;property id=&quot;20300&quot; value=&quot;Slide 6 - &amp;quot;Quick Recap | Tenets of Usability&amp;quot;&quot;/&gt;&lt;property id=&quot;20307&quot; value=&quot;268&quot;/&gt;&lt;/object&gt;&lt;object type=&quot;3&quot; unique_id=&quot;10477&quot;&gt;&lt;property id=&quot;20148&quot; value=&quot;5&quot;/&gt;&lt;property id=&quot;20300&quot; value=&quot;Slide 16&quot;/&gt;&lt;property id=&quot;20307&quot; value=&quot;260&quot;/&gt;&lt;/object&gt;&lt;object type=&quot;3&quot; unique_id=&quot;10615&quot;&gt;&lt;property id=&quot;20148&quot; value=&quot;5&quot;/&gt;&lt;property id=&quot;20300&quot; value=&quot;Slide 3&quot;/&gt;&lt;property id=&quot;20307&quot; value=&quot;272&quot;/&gt;&lt;/object&gt;&lt;object type=&quot;3&quot; unique_id=&quot;10616&quot;&gt;&lt;property id=&quot;20148&quot; value=&quot;5&quot;/&gt;&lt;property id=&quot;20300&quot; value=&quot;Slide 4&quot;/&gt;&lt;property id=&quot;20307&quot; value=&quot;273&quot;/&gt;&lt;/object&gt;&lt;object type=&quot;3&quot; unique_id=&quot;11145&quot;&gt;&lt;property id=&quot;20148&quot; value=&quot;5&quot;/&gt;&lt;property id=&quot;20300&quot; value=&quot;Slide 5 - &amp;quot;UXiD Project 2&amp;quot;&quot;/&gt;&lt;property id=&quot;20307&quot; value=&quot;282&quot;/&gt;&lt;/object&gt;&lt;object type=&quot;3&quot; unique_id=&quot;11246&quot;&gt;&lt;property id=&quot;20148&quot; value=&quot;5&quot;/&gt;&lt;property id=&quot;20300&quot; value=&quot;Slide 7&quot;/&gt;&lt;property id=&quot;20307&quot; value=&quot;284&quot;/&gt;&lt;/object&gt;&lt;object type=&quot;3&quot; unique_id=&quot;11247&quot;&gt;&lt;property id=&quot;20148&quot; value=&quot;5&quot;/&gt;&lt;property id=&quot;20300&quot; value=&quot;Slide 8 - &amp;quot;Usability Testing (UT)&amp;quot;&quot;/&gt;&lt;property id=&quot;20307&quot; value=&quot;285&quot;/&gt;&lt;/object&gt;&lt;object type=&quot;3&quot; unique_id=&quot;11369&quot;&gt;&lt;property id=&quot;20148&quot; value=&quot;5&quot;/&gt;&lt;property id=&quot;20300&quot; value=&quot;Slide 9 - &amp;quot;Usability Test Plan&amp;quot;&quot;/&gt;&lt;property id=&quot;20307&quot; value=&quot;286&quot;/&gt;&lt;/object&gt;&lt;object type=&quot;3&quot; unique_id=&quot;11370&quot;&gt;&lt;property id=&quot;20148&quot; value=&quot;5&quot;/&gt;&lt;property id=&quot;20300&quot; value=&quot;Slide 10 - &amp;quot;Content of a Usability Test Plan&amp;quot;&quot;/&gt;&lt;property id=&quot;20307&quot; value=&quot;287&quot;/&gt;&lt;/object&gt;&lt;object type=&quot;3&quot; unique_id=&quot;11474&quot;&gt;&lt;property id=&quot;20148&quot; value=&quot;5&quot;/&gt;&lt;property id=&quot;20300&quot; value=&quot;Slide 11 - &amp;quot;Examples of proceeding of UT&amp;quot;&quot;/&gt;&lt;property id=&quot;20307&quot; value=&quot;288&quot;/&gt;&lt;/object&gt;&lt;object type=&quot;3&quot; unique_id=&quot;11722&quot;&gt;&lt;property id=&quot;20148&quot; value=&quot;5&quot;/&gt;&lt;property id=&quot;20300&quot; value=&quot;Slide 12&quot;/&gt;&lt;property id=&quot;20307&quot; value=&quot;291&quot;/&gt;&lt;/object&gt;&lt;object type=&quot;3&quot; unique_id=&quot;11723&quot;&gt;&lt;property id=&quot;20148&quot; value=&quot;5&quot;/&gt;&lt;property id=&quot;20300&quot; value=&quot;Slide 13 - &amp;quot;Usability Test Plan – Usability Metrics&amp;quot;&quot;/&gt;&lt;property id=&quot;20307&quot; value=&quot;290&quot;/&gt;&lt;/object&gt;&lt;object type=&quot;3&quot; unique_id=&quot;11866&quot;&gt;&lt;property id=&quot;20148&quot; value=&quot;5&quot;/&gt;&lt;property id=&quot;20300&quot; value=&quot;Slide 14 - &amp;quot;An Extreme Example of  a good observation experiment &amp;quot;&quot;/&gt;&lt;property id=&quot;20307&quot; value=&quot;292&quot;/&gt;&lt;/object&gt;&lt;object type=&quot;3&quot; unique_id=&quot;11867&quot;&gt;&lt;property id=&quot;20148&quot; value=&quot;5&quot;/&gt;&lt;property id=&quot;20300&quot; value=&quot;Slide 15&quot;/&gt;&lt;property id=&quot;20307&quot; value=&quot;29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c19ae56-3fd1-4134-ad5d-f1df2bf4580a">
      <Terms xmlns="http://schemas.microsoft.com/office/infopath/2007/PartnerControls"/>
    </lcf76f155ced4ddcb4097134ff3c332f>
    <TaxCatchAll xmlns="8c74f92f-9345-451a-8fcd-82ad1ddda40a" xsi:nil="true"/>
    <Description xmlns="0c19ae56-3fd1-4134-ad5d-f1df2bf4580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AAAFB2A4F81AF499435FEF2B8BF6527" ma:contentTypeVersion="20" ma:contentTypeDescription="Create a new document." ma:contentTypeScope="" ma:versionID="8fc89b9a645bf330636a0f3d23764a75">
  <xsd:schema xmlns:xsd="http://www.w3.org/2001/XMLSchema" xmlns:xs="http://www.w3.org/2001/XMLSchema" xmlns:p="http://schemas.microsoft.com/office/2006/metadata/properties" xmlns:ns2="0c19ae56-3fd1-4134-ad5d-f1df2bf4580a" xmlns:ns3="8c74f92f-9345-451a-8fcd-82ad1ddda40a" targetNamespace="http://schemas.microsoft.com/office/2006/metadata/properties" ma:root="true" ma:fieldsID="0733dce4fb5020861a07591fa8b2954d" ns2:_="" ns3:_="">
    <xsd:import namespace="0c19ae56-3fd1-4134-ad5d-f1df2bf4580a"/>
    <xsd:import namespace="8c74f92f-9345-451a-8fcd-82ad1ddda40a"/>
    <xsd:element name="properties">
      <xsd:complexType>
        <xsd:sequence>
          <xsd:element name="documentManagement">
            <xsd:complexType>
              <xsd:all>
                <xsd:element ref="ns2:Description" minOccurs="0"/>
                <xsd:element ref="ns3:SharedWithUsers" minOccurs="0"/>
                <xsd:element ref="ns3:SharedWithDetails" minOccurs="0"/>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19ae56-3fd1-4134-ad5d-f1df2bf4580a" elementFormDefault="qualified">
    <xsd:import namespace="http://schemas.microsoft.com/office/2006/documentManagement/types"/>
    <xsd:import namespace="http://schemas.microsoft.com/office/infopath/2007/PartnerControls"/>
    <xsd:element name="Description" ma:index="4" nillable="true" ma:displayName="Description" ma:description="" ma:internalName="Description0" ma:readOnly="false">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74f92f-9345-451a-8fcd-82ad1ddda40a" elementFormDefault="qualified">
    <xsd:import namespace="http://schemas.microsoft.com/office/2006/documentManagement/types"/>
    <xsd:import namespace="http://schemas.microsoft.com/office/infopath/2007/PartnerControls"/>
    <xsd:element name="SharedWithUsers" ma:index="5"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926a618a-99ec-4bae-a069-be77b10f9dbe}" ma:internalName="TaxCatchAll" ma:showField="CatchAllData" ma:web="8c74f92f-9345-451a-8fcd-82ad1ddda4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2F1AD2-7AF3-4F26-A99D-AF95852FCC0C}">
  <ds:schemaRefs>
    <ds:schemaRef ds:uri="http://schemas.microsoft.com/sharepoint/v3/contenttype/forms"/>
  </ds:schemaRefs>
</ds:datastoreItem>
</file>

<file path=customXml/itemProps2.xml><?xml version="1.0" encoding="utf-8"?>
<ds:datastoreItem xmlns:ds="http://schemas.openxmlformats.org/officeDocument/2006/customXml" ds:itemID="{0129C597-3B5F-44AD-AF64-5BD520CA0FB5}">
  <ds:schemaRefs>
    <ds:schemaRef ds:uri="http://schemas.microsoft.com/office/2006/metadata/properties"/>
    <ds:schemaRef ds:uri="http://schemas.microsoft.com/office/infopath/2007/PartnerControls"/>
    <ds:schemaRef ds:uri="361ef433-2f93-47b0-b37f-e8f140c5cb4b"/>
    <ds:schemaRef ds:uri="c44b0262-eb8d-4c37-a737-eb0f5af1596e"/>
    <ds:schemaRef ds:uri="0c19ae56-3fd1-4134-ad5d-f1df2bf4580a"/>
    <ds:schemaRef ds:uri="8c74f92f-9345-451a-8fcd-82ad1ddda40a"/>
  </ds:schemaRefs>
</ds:datastoreItem>
</file>

<file path=customXml/itemProps3.xml><?xml version="1.0" encoding="utf-8"?>
<ds:datastoreItem xmlns:ds="http://schemas.openxmlformats.org/officeDocument/2006/customXml" ds:itemID="{F5985DBB-1056-42CF-AFCA-35AA542591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19ae56-3fd1-4134-ad5d-f1df2bf4580a"/>
    <ds:schemaRef ds:uri="8c74f92f-9345-451a-8fcd-82ad1ddda4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17887</TotalTime>
  <Words>2552</Words>
  <Application>Microsoft Office PowerPoint</Application>
  <PresentationFormat>Widescreen</PresentationFormat>
  <Paragraphs>324</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Symbol</vt:lpstr>
      <vt:lpstr>Office Theme</vt:lpstr>
      <vt:lpstr>PowerPoint Presentation</vt:lpstr>
      <vt:lpstr>Declaration of Originality</vt:lpstr>
      <vt:lpstr>Declaration on the use of Generative AI tools for assignments</vt:lpstr>
      <vt:lpstr>PowerPoint Presentation</vt:lpstr>
      <vt:lpstr>Selected Use Case –  Highlight your selected use case below</vt:lpstr>
      <vt:lpstr>Problem Definition/Customer Needs (4%)</vt:lpstr>
      <vt:lpstr>Problem Definition/Customer Needs (4%)</vt:lpstr>
      <vt:lpstr>Problem Definition/Customer Needs (4%)</vt:lpstr>
      <vt:lpstr>Problem Definition/Customer Needs (4%)</vt:lpstr>
      <vt:lpstr>Problem Definition/Customer Needs (4%)</vt:lpstr>
      <vt:lpstr>Project Objectives (3%)</vt:lpstr>
      <vt:lpstr>Project Objectives (3%)</vt:lpstr>
      <vt:lpstr>Project Objectives (3%)</vt:lpstr>
      <vt:lpstr>Project Objectives (3%)</vt:lpstr>
      <vt:lpstr>Proposed Features (3%)</vt:lpstr>
      <vt:lpstr>Proposed Features (3%)</vt:lpstr>
      <vt:lpstr>Wireframe (5%)</vt:lpstr>
      <vt:lpstr>Wireframe (5%)</vt:lpstr>
      <vt:lpstr>Wireframe (5%)</vt:lpstr>
      <vt:lpstr>Wireframe (5%)</vt:lpstr>
      <vt:lpstr>Wireframe (5%)</vt:lpstr>
      <vt:lpstr>Data Modeling (5%)</vt:lpstr>
      <vt:lpstr>Data Modeling</vt:lpstr>
      <vt:lpstr>Data Modeling</vt:lpstr>
      <vt:lpstr>Data Modeling</vt:lpstr>
      <vt:lpstr>Data Modeling</vt:lpstr>
      <vt:lpstr>Data Modeling</vt:lpstr>
      <vt:lpstr>The End</vt:lpstr>
    </vt:vector>
  </TitlesOfParts>
  <Company>Temasek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Sofwtare Cluster Project Part 1</dc:title>
  <dc:creator>Tan Sio Poh</dc:creator>
  <cp:lastModifiedBy>DANISH MOHAMED THODIYIL</cp:lastModifiedBy>
  <cp:revision>313</cp:revision>
  <dcterms:created xsi:type="dcterms:W3CDTF">2016-03-04T00:57:19Z</dcterms:created>
  <dcterms:modified xsi:type="dcterms:W3CDTF">2025-11-12T16:29:36Z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69d7fc4-da81-42e5-b309-526f71322d86_Enabled">
    <vt:lpwstr>true</vt:lpwstr>
  </property>
  <property fmtid="{D5CDD505-2E9C-101B-9397-08002B2CF9AE}" pid="3" name="MSIP_Label_f69d7fc4-da81-42e5-b309-526f71322d86_SiteId">
    <vt:lpwstr>25a99bf0-8e72-472a-ae50-adfbdf0df6f1</vt:lpwstr>
  </property>
  <property fmtid="{D5CDD505-2E9C-101B-9397-08002B2CF9AE}" pid="4" name="MSIP_Label_f69d7fc4-da81-42e5-b309-526f71322d86_Owner">
    <vt:lpwstr>andrewt@TP.EDU.SG</vt:lpwstr>
  </property>
  <property fmtid="{D5CDD505-2E9C-101B-9397-08002B2CF9AE}" pid="5" name="MSIP_Label_f69d7fc4-da81-42e5-b309-526f71322d86_SetDate">
    <vt:lpwstr>2022-10-14T03:08:03Z</vt:lpwstr>
  </property>
  <property fmtid="{D5CDD505-2E9C-101B-9397-08002B2CF9AE}" pid="6" name="MSIP_Label_f69d7fc4-da81-42e5-b309-526f71322d86_Name">
    <vt:lpwstr>Non Sensitive</vt:lpwstr>
  </property>
  <property fmtid="{D5CDD505-2E9C-101B-9397-08002B2CF9AE}" pid="7" name="MSIP_Label_f69d7fc4-da81-42e5-b309-526f71322d86_Application">
    <vt:lpwstr>Microsoft Azure Information Protection</vt:lpwstr>
  </property>
  <property fmtid="{D5CDD505-2E9C-101B-9397-08002B2CF9AE}" pid="8" name="MSIP_Label_f69d7fc4-da81-42e5-b309-526f71322d86_ActionId">
    <vt:lpwstr>96db96d4-fc8e-4957-8f23-6c44ddf72d0d</vt:lpwstr>
  </property>
  <property fmtid="{D5CDD505-2E9C-101B-9397-08002B2CF9AE}" pid="9" name="MSIP_Label_f69d7fc4-da81-42e5-b309-526f71322d86_Parent">
    <vt:lpwstr>4bcb20ed-001a-45f4-b2e7-234c5fc91178</vt:lpwstr>
  </property>
  <property fmtid="{D5CDD505-2E9C-101B-9397-08002B2CF9AE}" pid="10" name="MSIP_Label_f69d7fc4-da81-42e5-b309-526f71322d86_Extended_MSFT_Method">
    <vt:lpwstr>Automatic</vt:lpwstr>
  </property>
  <property fmtid="{D5CDD505-2E9C-101B-9397-08002B2CF9AE}" pid="11" name="MSIP_Label_f69d7fc4-da81-42e5-b309-526f71322d86_Method">
    <vt:lpwstr>Standard</vt:lpwstr>
  </property>
  <property fmtid="{D5CDD505-2E9C-101B-9397-08002B2CF9AE}" pid="12" name="MSIP_Label_f69d7fc4-da81-42e5-b309-526f71322d86_ContentBits">
    <vt:lpwstr>0</vt:lpwstr>
  </property>
  <property fmtid="{D5CDD505-2E9C-101B-9397-08002B2CF9AE}" pid="13" name="ContentTypeId">
    <vt:lpwstr>0x0101006AAAFB2A4F81AF499435FEF2B8BF6527</vt:lpwstr>
  </property>
  <property fmtid="{D5CDD505-2E9C-101B-9397-08002B2CF9AE}" pid="14" name="MediaServiceImageTags">
    <vt:lpwstr/>
  </property>
</Properties>
</file>