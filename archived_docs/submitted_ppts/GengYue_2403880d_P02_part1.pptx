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4"/>
  </p:sldMasterIdLst>
  <p:notesMasterIdLst>
    <p:notesMasterId r:id="rId65"/>
  </p:notesMasterIdLst>
  <p:handoutMasterIdLst>
    <p:handoutMasterId r:id="rId66"/>
  </p:handoutMasterIdLst>
  <p:sldIdLst>
    <p:sldId id="292" r:id="rId5"/>
    <p:sldId id="278" r:id="rId6"/>
    <p:sldId id="314" r:id="rId7"/>
    <p:sldId id="315" r:id="rId8"/>
    <p:sldId id="313" r:id="rId9"/>
    <p:sldId id="307" r:id="rId10"/>
    <p:sldId id="316" r:id="rId11"/>
    <p:sldId id="327" r:id="rId12"/>
    <p:sldId id="330" r:id="rId13"/>
    <p:sldId id="331" r:id="rId14"/>
    <p:sldId id="329" r:id="rId15"/>
    <p:sldId id="332" r:id="rId16"/>
    <p:sldId id="308" r:id="rId17"/>
    <p:sldId id="317" r:id="rId18"/>
    <p:sldId id="333" r:id="rId19"/>
    <p:sldId id="334" r:id="rId20"/>
    <p:sldId id="335" r:id="rId21"/>
    <p:sldId id="336" r:id="rId22"/>
    <p:sldId id="338" r:id="rId23"/>
    <p:sldId id="337" r:id="rId24"/>
    <p:sldId id="339" r:id="rId25"/>
    <p:sldId id="340" r:id="rId26"/>
    <p:sldId id="341" r:id="rId27"/>
    <p:sldId id="342" r:id="rId28"/>
    <p:sldId id="343" r:id="rId29"/>
    <p:sldId id="344" r:id="rId30"/>
    <p:sldId id="345" r:id="rId31"/>
    <p:sldId id="346" r:id="rId32"/>
    <p:sldId id="347" r:id="rId33"/>
    <p:sldId id="309" r:id="rId34"/>
    <p:sldId id="348" r:id="rId35"/>
    <p:sldId id="349" r:id="rId36"/>
    <p:sldId id="311" r:id="rId37"/>
    <p:sldId id="319" r:id="rId38"/>
    <p:sldId id="352" r:id="rId39"/>
    <p:sldId id="353" r:id="rId40"/>
    <p:sldId id="354" r:id="rId41"/>
    <p:sldId id="355" r:id="rId42"/>
    <p:sldId id="356" r:id="rId43"/>
    <p:sldId id="358" r:id="rId44"/>
    <p:sldId id="357" r:id="rId45"/>
    <p:sldId id="359" r:id="rId46"/>
    <p:sldId id="321" r:id="rId47"/>
    <p:sldId id="310" r:id="rId48"/>
    <p:sldId id="360" r:id="rId49"/>
    <p:sldId id="312" r:id="rId50"/>
    <p:sldId id="361" r:id="rId51"/>
    <p:sldId id="362" r:id="rId52"/>
    <p:sldId id="363" r:id="rId53"/>
    <p:sldId id="364" r:id="rId54"/>
    <p:sldId id="365" r:id="rId55"/>
    <p:sldId id="366" r:id="rId56"/>
    <p:sldId id="367" r:id="rId57"/>
    <p:sldId id="368" r:id="rId58"/>
    <p:sldId id="369" r:id="rId59"/>
    <p:sldId id="370" r:id="rId60"/>
    <p:sldId id="372" r:id="rId61"/>
    <p:sldId id="373" r:id="rId62"/>
    <p:sldId id="322" r:id="rId63"/>
    <p:sldId id="323" r:id="rId64"/>
  </p:sldIdLst>
  <p:sldSz cx="12192000" cy="6858000"/>
  <p:notesSz cx="6858000" cy="9144000"/>
  <p:custDataLst>
    <p:tags r:id="rId6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5B4C828-EB6F-0E44-9382-2E86C03354A5}" name="Sankara RAJULU (TP)" initials="SR" userId="S::sankara@TP.EDU.SG::90b67e19-7016-40f5-ab67-6559d5fe8b43" providerId="AD"/>
  <p188:author id="{CC59AE2F-3574-9F4F-2F4C-204E8DFAB2CD}" name="Andrew TAN (TP)" initials="A(" userId="S::andrewt@tp.edu.sg::8d23f446-953f-4d3b-930e-ca720e8db7fb" providerId="AD"/>
  <p188:author id="{EBF51C77-9774-58D8-097E-AD8D40AA4809}" name="Zhao Hong LAU (TP)" initials="Z(" userId="S::zhaohong@tp.edu.sg::f195b425-1f12-426c-964c-75b48c020563" providerId="AD"/>
  <p188:author id="{5CAB91CD-DD79-7E8F-42B4-F84A0E5B22AB}" name="Ying Huey FUA (TP)" initials="Y(" userId="S::yinghuey@tp.edu.sg::9e739b7e-414d-4e3b-ac6d-84564ba345a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alena Saleh" initials="SS" lastIdx="8"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339933"/>
    <a:srgbClr val="FFC000"/>
    <a:srgbClr val="EEEEEE"/>
    <a:srgbClr val="FAD22C"/>
    <a:srgbClr val="1CADE4"/>
    <a:srgbClr val="61C5FF"/>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F35D54-DF49-153E-1C77-532FD60EE751}" v="4" dt="2025-10-17T05:03:33.537"/>
    <p1510:client id="{49D4A3E9-14F6-E241-1CEA-0B983C845CC2}" v="2" dt="2025-10-16T06:22:22.009"/>
    <p1510:client id="{86ECAED1-48B8-CA79-0445-8E12A6B123C0}" v="2" dt="2025-10-17T02:54:25.1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8" autoAdjust="0"/>
    <p:restoredTop sz="93910" autoAdjust="0"/>
  </p:normalViewPr>
  <p:slideViewPr>
    <p:cSldViewPr snapToGrid="0">
      <p:cViewPr>
        <p:scale>
          <a:sx n="100" d="100"/>
          <a:sy n="100" d="100"/>
        </p:scale>
        <p:origin x="260" y="48"/>
      </p:cViewPr>
      <p:guideLst>
        <p:guide orient="horz" pos="2160"/>
        <p:guide pos="3840"/>
      </p:guideLst>
    </p:cSldViewPr>
  </p:slideViewPr>
  <p:notesTextViewPr>
    <p:cViewPr>
      <p:scale>
        <a:sx n="1" d="1"/>
        <a:sy n="1" d="1"/>
      </p:scale>
      <p:origin x="0" y="0"/>
    </p:cViewPr>
  </p:notesTextViewPr>
  <p:notesViewPr>
    <p:cSldViewPr snapToGrid="0">
      <p:cViewPr varScale="1">
        <p:scale>
          <a:sx n="69" d="100"/>
          <a:sy n="69" d="100"/>
        </p:scale>
        <p:origin x="3264" y="7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handoutMaster" Target="handoutMasters/handoutMaster1.xml"/><Relationship Id="rId74" Type="http://schemas.microsoft.com/office/2018/10/relationships/authors" Target="author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ags" Target="tags/tag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notesMaster" Target="notesMasters/notesMaster1.xml"/><Relationship Id="rId73"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CC11234-2D62-4BBD-86D3-88BD3B70B2B6}" type="datetimeFigureOut">
              <a:rPr lang="en-SG" smtClean="0"/>
              <a:t>19/11/2025</a:t>
            </a:fld>
            <a:endParaRPr lang="en-SG"/>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2EECAF8-34D8-484C-A1FD-90CACC324DCB}" type="slidenum">
              <a:rPr lang="en-SG" smtClean="0"/>
              <a:t>‹#›</a:t>
            </a:fld>
            <a:endParaRPr lang="en-SG"/>
          </a:p>
        </p:txBody>
      </p:sp>
    </p:spTree>
    <p:extLst>
      <p:ext uri="{BB962C8B-B14F-4D97-AF65-F5344CB8AC3E}">
        <p14:creationId xmlns:p14="http://schemas.microsoft.com/office/powerpoint/2010/main" val="25566452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97268A-7AE4-432A-9318-AFE0CD5AF515}" type="datetimeFigureOut">
              <a:rPr lang="en-SG" smtClean="0"/>
              <a:t>19/11/2025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5443D8-64E2-477C-8585-147863024541}" type="slidenum">
              <a:rPr lang="en-SG" smtClean="0"/>
              <a:t>‹#›</a:t>
            </a:fld>
            <a:endParaRPr lang="en-SG"/>
          </a:p>
        </p:txBody>
      </p:sp>
    </p:spTree>
    <p:extLst>
      <p:ext uri="{BB962C8B-B14F-4D97-AF65-F5344CB8AC3E}">
        <p14:creationId xmlns:p14="http://schemas.microsoft.com/office/powerpoint/2010/main" val="851762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5048880A-75DD-4838-AFBC-E75FBE476E55}" type="slidenum">
              <a:rPr lang="en-SG" smtClean="0"/>
              <a:t>1</a:t>
            </a:fld>
            <a:endParaRPr lang="en-SG"/>
          </a:p>
        </p:txBody>
      </p:sp>
    </p:spTree>
    <p:extLst>
      <p:ext uri="{BB962C8B-B14F-4D97-AF65-F5344CB8AC3E}">
        <p14:creationId xmlns:p14="http://schemas.microsoft.com/office/powerpoint/2010/main" val="11904669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D8CBB-99C9-0079-ED9C-FF21AD2BE9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97056B35-3E34-E11F-8ABE-A767FB29D8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F26A60A0-3A76-862F-BD49-95CEF91F1B54}"/>
              </a:ext>
            </a:extLst>
          </p:cNvPr>
          <p:cNvSpPr>
            <a:spLocks noGrp="1"/>
          </p:cNvSpPr>
          <p:nvPr>
            <p:ph type="dt" sz="half" idx="10"/>
          </p:nvPr>
        </p:nvSpPr>
        <p:spPr/>
        <p:txBody>
          <a:bodyPr/>
          <a:lstStyle/>
          <a:p>
            <a:fld id="{5586B75A-687E-405C-8A0B-8D00578BA2C3}" type="datetimeFigureOut">
              <a:rPr lang="en-US" smtClean="0"/>
              <a:pPr/>
              <a:t>11/19/2025</a:t>
            </a:fld>
            <a:endParaRPr lang="en-US" dirty="0"/>
          </a:p>
        </p:txBody>
      </p:sp>
      <p:sp>
        <p:nvSpPr>
          <p:cNvPr id="5" name="Footer Placeholder 4">
            <a:extLst>
              <a:ext uri="{FF2B5EF4-FFF2-40B4-BE49-F238E27FC236}">
                <a16:creationId xmlns:a16="http://schemas.microsoft.com/office/drawing/2014/main" id="{61B4C16B-32A2-0C2D-AB68-29C0567462B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9C4051F-C2CC-C614-3D42-F9D33BD75BB6}"/>
              </a:ext>
            </a:extLst>
          </p:cNvPr>
          <p:cNvSpPr>
            <a:spLocks noGrp="1"/>
          </p:cNvSpPr>
          <p:nvPr>
            <p:ph type="sldNum" sz="quarter" idx="12"/>
          </p:nvPr>
        </p:nvSpPr>
        <p:spPr/>
        <p:txBody>
          <a:bodyPr/>
          <a:lstStyle/>
          <a:p>
            <a:fld id="{8E9E4023-6F3A-457B-B0BB-8C1F114B424F}" type="slidenum">
              <a:rPr lang="en-SG" smtClean="0"/>
              <a:pPr/>
              <a:t>‹#›</a:t>
            </a:fld>
            <a:endParaRPr lang="en-SG"/>
          </a:p>
        </p:txBody>
      </p:sp>
    </p:spTree>
    <p:extLst>
      <p:ext uri="{BB962C8B-B14F-4D97-AF65-F5344CB8AC3E}">
        <p14:creationId xmlns:p14="http://schemas.microsoft.com/office/powerpoint/2010/main" val="332438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6EDE9-3DCB-63E8-A03F-02C909C16055}"/>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0A34ECAB-B272-5233-F6BB-A4F6DDFF7B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0F30663-1A54-EA08-68E3-63A6F7AA077C}"/>
              </a:ext>
            </a:extLst>
          </p:cNvPr>
          <p:cNvSpPr>
            <a:spLocks noGrp="1"/>
          </p:cNvSpPr>
          <p:nvPr>
            <p:ph type="dt" sz="half" idx="10"/>
          </p:nvPr>
        </p:nvSpPr>
        <p:spPr/>
        <p:txBody>
          <a:bodyPr/>
          <a:lstStyle/>
          <a:p>
            <a:fld id="{5586B75A-687E-405C-8A0B-8D00578BA2C3}" type="datetimeFigureOut">
              <a:rPr lang="en-US" smtClean="0"/>
              <a:pPr/>
              <a:t>11/19/2025</a:t>
            </a:fld>
            <a:endParaRPr lang="en-US" dirty="0"/>
          </a:p>
        </p:txBody>
      </p:sp>
      <p:sp>
        <p:nvSpPr>
          <p:cNvPr id="5" name="Footer Placeholder 4">
            <a:extLst>
              <a:ext uri="{FF2B5EF4-FFF2-40B4-BE49-F238E27FC236}">
                <a16:creationId xmlns:a16="http://schemas.microsoft.com/office/drawing/2014/main" id="{BA5CC699-2893-3B03-3D97-FD3C23B0610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9BE4E7C-86F9-6D12-49F3-B64424A9493E}"/>
              </a:ext>
            </a:extLst>
          </p:cNvPr>
          <p:cNvSpPr>
            <a:spLocks noGrp="1"/>
          </p:cNvSpPr>
          <p:nvPr>
            <p:ph type="sldNum" sz="quarter" idx="12"/>
          </p:nvPr>
        </p:nvSpPr>
        <p:spPr/>
        <p:txBody>
          <a:bodyPr/>
          <a:lstStyle/>
          <a:p>
            <a:fld id="{8E9E4023-6F3A-457B-B0BB-8C1F114B424F}" type="slidenum">
              <a:rPr lang="en-SG" smtClean="0"/>
              <a:t>‹#›</a:t>
            </a:fld>
            <a:endParaRPr lang="en-SG"/>
          </a:p>
        </p:txBody>
      </p:sp>
    </p:spTree>
    <p:extLst>
      <p:ext uri="{BB962C8B-B14F-4D97-AF65-F5344CB8AC3E}">
        <p14:creationId xmlns:p14="http://schemas.microsoft.com/office/powerpoint/2010/main" val="1666485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7D170-3C24-C353-3216-06A2B12A82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BD469EFA-00EA-18C2-3287-DDFF0E9880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494A4D-1D7E-FB6A-32B8-058E2F231603}"/>
              </a:ext>
            </a:extLst>
          </p:cNvPr>
          <p:cNvSpPr>
            <a:spLocks noGrp="1"/>
          </p:cNvSpPr>
          <p:nvPr>
            <p:ph type="dt" sz="half" idx="10"/>
          </p:nvPr>
        </p:nvSpPr>
        <p:spPr/>
        <p:txBody>
          <a:bodyPr/>
          <a:lstStyle/>
          <a:p>
            <a:fld id="{5586B75A-687E-405C-8A0B-8D00578BA2C3}" type="datetimeFigureOut">
              <a:rPr lang="en-US" smtClean="0"/>
              <a:pPr/>
              <a:t>11/19/2025</a:t>
            </a:fld>
            <a:endParaRPr lang="en-US" dirty="0"/>
          </a:p>
        </p:txBody>
      </p:sp>
      <p:sp>
        <p:nvSpPr>
          <p:cNvPr id="5" name="Footer Placeholder 4">
            <a:extLst>
              <a:ext uri="{FF2B5EF4-FFF2-40B4-BE49-F238E27FC236}">
                <a16:creationId xmlns:a16="http://schemas.microsoft.com/office/drawing/2014/main" id="{4880FA97-D6B4-8EEE-9689-C5971621543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871227D-F124-5B2E-61AA-8D66C31347FA}"/>
              </a:ext>
            </a:extLst>
          </p:cNvPr>
          <p:cNvSpPr>
            <a:spLocks noGrp="1"/>
          </p:cNvSpPr>
          <p:nvPr>
            <p:ph type="sldNum" sz="quarter" idx="12"/>
          </p:nvPr>
        </p:nvSpPr>
        <p:spPr/>
        <p:txBody>
          <a:bodyPr/>
          <a:lstStyle/>
          <a:p>
            <a:fld id="{8E9E4023-6F3A-457B-B0BB-8C1F114B424F}" type="slidenum">
              <a:rPr lang="en-SG" smtClean="0"/>
              <a:pPr/>
              <a:t>‹#›</a:t>
            </a:fld>
            <a:endParaRPr lang="en-SG"/>
          </a:p>
        </p:txBody>
      </p:sp>
    </p:spTree>
    <p:extLst>
      <p:ext uri="{BB962C8B-B14F-4D97-AF65-F5344CB8AC3E}">
        <p14:creationId xmlns:p14="http://schemas.microsoft.com/office/powerpoint/2010/main" val="4016911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FCCE2-A671-CFC5-8869-92B4CBCB3803}"/>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85E87A76-02D4-A39B-269E-D832CF645D9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3DFC8CD5-1192-88B9-1772-AE9CC397A6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1AB33E5E-FEA6-E8E9-D857-418A6B027283}"/>
              </a:ext>
            </a:extLst>
          </p:cNvPr>
          <p:cNvSpPr>
            <a:spLocks noGrp="1"/>
          </p:cNvSpPr>
          <p:nvPr>
            <p:ph type="dt" sz="half" idx="10"/>
          </p:nvPr>
        </p:nvSpPr>
        <p:spPr/>
        <p:txBody>
          <a:bodyPr/>
          <a:lstStyle/>
          <a:p>
            <a:fld id="{5586B75A-687E-405C-8A0B-8D00578BA2C3}" type="datetimeFigureOut">
              <a:rPr lang="en-US" smtClean="0"/>
              <a:pPr/>
              <a:t>11/19/2025</a:t>
            </a:fld>
            <a:endParaRPr lang="en-US" dirty="0"/>
          </a:p>
        </p:txBody>
      </p:sp>
      <p:sp>
        <p:nvSpPr>
          <p:cNvPr id="6" name="Footer Placeholder 5">
            <a:extLst>
              <a:ext uri="{FF2B5EF4-FFF2-40B4-BE49-F238E27FC236}">
                <a16:creationId xmlns:a16="http://schemas.microsoft.com/office/drawing/2014/main" id="{7669E379-0510-B904-110A-B9C868A9502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F1F5887-88DF-0149-4E35-013FEB1F2E26}"/>
              </a:ext>
            </a:extLst>
          </p:cNvPr>
          <p:cNvSpPr>
            <a:spLocks noGrp="1"/>
          </p:cNvSpPr>
          <p:nvPr>
            <p:ph type="sldNum" sz="quarter" idx="12"/>
          </p:nvPr>
        </p:nvSpPr>
        <p:spPr/>
        <p:txBody>
          <a:bodyPr/>
          <a:lstStyle/>
          <a:p>
            <a:fld id="{8E9E4023-6F3A-457B-B0BB-8C1F114B424F}" type="slidenum">
              <a:rPr lang="en-SG" smtClean="0"/>
              <a:pPr/>
              <a:t>‹#›</a:t>
            </a:fld>
            <a:endParaRPr lang="en-SG"/>
          </a:p>
        </p:txBody>
      </p:sp>
    </p:spTree>
    <p:extLst>
      <p:ext uri="{BB962C8B-B14F-4D97-AF65-F5344CB8AC3E}">
        <p14:creationId xmlns:p14="http://schemas.microsoft.com/office/powerpoint/2010/main" val="495503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8C1B1-9150-7531-5BB8-F62AFAC11523}"/>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E35E9F9E-2862-2862-E130-FA02D96037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1CA647-D139-F02C-D9E2-FADE9CACA0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8CC8255F-E4A2-848F-5FA7-B6F5D5B972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B77E57-0076-7663-AC26-6A5F2D5499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88C2E8B1-0BEB-9609-08E0-3E182B08CFAB}"/>
              </a:ext>
            </a:extLst>
          </p:cNvPr>
          <p:cNvSpPr>
            <a:spLocks noGrp="1"/>
          </p:cNvSpPr>
          <p:nvPr>
            <p:ph type="dt" sz="half" idx="10"/>
          </p:nvPr>
        </p:nvSpPr>
        <p:spPr/>
        <p:txBody>
          <a:bodyPr/>
          <a:lstStyle/>
          <a:p>
            <a:fld id="{5586B75A-687E-405C-8A0B-8D00578BA2C3}" type="datetimeFigureOut">
              <a:rPr lang="en-US" smtClean="0"/>
              <a:pPr/>
              <a:t>11/19/2025</a:t>
            </a:fld>
            <a:endParaRPr lang="en-US" dirty="0"/>
          </a:p>
        </p:txBody>
      </p:sp>
      <p:sp>
        <p:nvSpPr>
          <p:cNvPr id="8" name="Footer Placeholder 7">
            <a:extLst>
              <a:ext uri="{FF2B5EF4-FFF2-40B4-BE49-F238E27FC236}">
                <a16:creationId xmlns:a16="http://schemas.microsoft.com/office/drawing/2014/main" id="{7542D176-655D-E3F1-66B0-DD58F03C4074}"/>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18E702C7-C396-1FC7-1371-CB7EDBB1C92C}"/>
              </a:ext>
            </a:extLst>
          </p:cNvPr>
          <p:cNvSpPr>
            <a:spLocks noGrp="1"/>
          </p:cNvSpPr>
          <p:nvPr>
            <p:ph type="sldNum" sz="quarter" idx="12"/>
          </p:nvPr>
        </p:nvSpPr>
        <p:spPr/>
        <p:txBody>
          <a:bodyPr/>
          <a:lstStyle/>
          <a:p>
            <a:fld id="{8E9E4023-6F3A-457B-B0BB-8C1F114B424F}" type="slidenum">
              <a:rPr lang="en-SG" smtClean="0"/>
              <a:pPr/>
              <a:t>‹#›</a:t>
            </a:fld>
            <a:endParaRPr lang="en-SG"/>
          </a:p>
        </p:txBody>
      </p:sp>
    </p:spTree>
    <p:extLst>
      <p:ext uri="{BB962C8B-B14F-4D97-AF65-F5344CB8AC3E}">
        <p14:creationId xmlns:p14="http://schemas.microsoft.com/office/powerpoint/2010/main" val="735288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775C8-16C5-25D8-C276-90E082306898}"/>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CA48244B-5070-7AA7-D20D-BE01BC24E18B}"/>
              </a:ext>
            </a:extLst>
          </p:cNvPr>
          <p:cNvSpPr>
            <a:spLocks noGrp="1"/>
          </p:cNvSpPr>
          <p:nvPr>
            <p:ph type="dt" sz="half" idx="10"/>
          </p:nvPr>
        </p:nvSpPr>
        <p:spPr/>
        <p:txBody>
          <a:bodyPr/>
          <a:lstStyle/>
          <a:p>
            <a:fld id="{5049BF6B-4274-4F8F-BAA2-B27082AD9967}" type="datetimeFigureOut">
              <a:rPr lang="en-SG" smtClean="0"/>
              <a:t>19/11/2025</a:t>
            </a:fld>
            <a:endParaRPr lang="en-SG"/>
          </a:p>
        </p:txBody>
      </p:sp>
      <p:sp>
        <p:nvSpPr>
          <p:cNvPr id="4" name="Footer Placeholder 3">
            <a:extLst>
              <a:ext uri="{FF2B5EF4-FFF2-40B4-BE49-F238E27FC236}">
                <a16:creationId xmlns:a16="http://schemas.microsoft.com/office/drawing/2014/main" id="{500CD1BC-48CB-DA2B-F4E9-6A2F309D0D90}"/>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3C90FC4F-D4B0-AD00-369C-A6E1883354FA}"/>
              </a:ext>
            </a:extLst>
          </p:cNvPr>
          <p:cNvSpPr>
            <a:spLocks noGrp="1"/>
          </p:cNvSpPr>
          <p:nvPr>
            <p:ph type="sldNum" sz="quarter" idx="12"/>
          </p:nvPr>
        </p:nvSpPr>
        <p:spPr/>
        <p:txBody>
          <a:bodyPr/>
          <a:lstStyle/>
          <a:p>
            <a:fld id="{8E9E4023-6F3A-457B-B0BB-8C1F114B424F}" type="slidenum">
              <a:rPr lang="en-SG" smtClean="0"/>
              <a:t>‹#›</a:t>
            </a:fld>
            <a:endParaRPr lang="en-SG"/>
          </a:p>
        </p:txBody>
      </p:sp>
    </p:spTree>
    <p:extLst>
      <p:ext uri="{BB962C8B-B14F-4D97-AF65-F5344CB8AC3E}">
        <p14:creationId xmlns:p14="http://schemas.microsoft.com/office/powerpoint/2010/main" val="5159723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7C8F61D-2519-FCC0-71BF-1003AC9E27D4}"/>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8AD1D330-035E-0B56-9851-3D75CA8D10C1}"/>
              </a:ext>
            </a:extLst>
          </p:cNvPr>
          <p:cNvSpPr>
            <a:spLocks noGrp="1"/>
          </p:cNvSpPr>
          <p:nvPr>
            <p:ph type="sldNum" sz="quarter" idx="12"/>
          </p:nvPr>
        </p:nvSpPr>
        <p:spPr/>
        <p:txBody>
          <a:bodyPr/>
          <a:lstStyle/>
          <a:p>
            <a:fld id="{8E9E4023-6F3A-457B-B0BB-8C1F114B424F}" type="slidenum">
              <a:rPr lang="en-SG" smtClean="0"/>
              <a:t>‹#›</a:t>
            </a:fld>
            <a:endParaRPr lang="en-SG"/>
          </a:p>
        </p:txBody>
      </p:sp>
    </p:spTree>
    <p:extLst>
      <p:ext uri="{BB962C8B-B14F-4D97-AF65-F5344CB8AC3E}">
        <p14:creationId xmlns:p14="http://schemas.microsoft.com/office/powerpoint/2010/main" val="266455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DC0DA-1A25-D2A4-15F2-41F320115B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9871A6BA-84FE-C01C-B267-EBDBC463EE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02A6FA30-08B8-ADE3-801B-9A70CCDAA6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5B672D15-C132-5339-588E-3B12A65633F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CF3BAB7-AFF5-CE42-94B5-1CDB974116F4}"/>
              </a:ext>
            </a:extLst>
          </p:cNvPr>
          <p:cNvSpPr>
            <a:spLocks noGrp="1"/>
          </p:cNvSpPr>
          <p:nvPr>
            <p:ph type="sldNum" sz="quarter" idx="12"/>
          </p:nvPr>
        </p:nvSpPr>
        <p:spPr/>
        <p:txBody>
          <a:bodyPr/>
          <a:lstStyle/>
          <a:p>
            <a:fld id="{8E9E4023-6F3A-457B-B0BB-8C1F114B424F}" type="slidenum">
              <a:rPr lang="en-SG" smtClean="0"/>
              <a:pPr/>
              <a:t>‹#›</a:t>
            </a:fld>
            <a:endParaRPr lang="en-SG"/>
          </a:p>
        </p:txBody>
      </p:sp>
    </p:spTree>
    <p:extLst>
      <p:ext uri="{BB962C8B-B14F-4D97-AF65-F5344CB8AC3E}">
        <p14:creationId xmlns:p14="http://schemas.microsoft.com/office/powerpoint/2010/main" val="1717589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B8CD1-D5A8-08C6-F89B-1EB6D85823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A7FC92A9-4CA1-0048-A864-A0FF1B44FD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43E9A9BA-746F-BFAC-9F4B-65B9636D21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F2A2DDD-9F60-4C73-D325-ADC4EF02EDE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946D2AD-1A5B-FAD9-24C2-04ACF6837809}"/>
              </a:ext>
            </a:extLst>
          </p:cNvPr>
          <p:cNvSpPr>
            <a:spLocks noGrp="1"/>
          </p:cNvSpPr>
          <p:nvPr>
            <p:ph type="sldNum" sz="quarter" idx="12"/>
          </p:nvPr>
        </p:nvSpPr>
        <p:spPr/>
        <p:txBody>
          <a:bodyPr/>
          <a:lstStyle/>
          <a:p>
            <a:fld id="{8E9E4023-6F3A-457B-B0BB-8C1F114B424F}" type="slidenum">
              <a:rPr lang="en-SG" smtClean="0"/>
              <a:pPr/>
              <a:t>‹#›</a:t>
            </a:fld>
            <a:endParaRPr lang="en-SG"/>
          </a:p>
        </p:txBody>
      </p:sp>
    </p:spTree>
    <p:extLst>
      <p:ext uri="{BB962C8B-B14F-4D97-AF65-F5344CB8AC3E}">
        <p14:creationId xmlns:p14="http://schemas.microsoft.com/office/powerpoint/2010/main" val="351416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428BD-BA1C-B381-53AB-133B423AE64C}"/>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03414821-E238-AF06-2D97-F4581DB5EB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Footer Placeholder 4">
            <a:extLst>
              <a:ext uri="{FF2B5EF4-FFF2-40B4-BE49-F238E27FC236}">
                <a16:creationId xmlns:a16="http://schemas.microsoft.com/office/drawing/2014/main" id="{872C2A85-152E-24D0-5C1F-CC695DBA19E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36678C-B078-5524-C312-57E80F651D73}"/>
              </a:ext>
            </a:extLst>
          </p:cNvPr>
          <p:cNvSpPr>
            <a:spLocks noGrp="1"/>
          </p:cNvSpPr>
          <p:nvPr>
            <p:ph type="sldNum" sz="quarter" idx="12"/>
          </p:nvPr>
        </p:nvSpPr>
        <p:spPr/>
        <p:txBody>
          <a:bodyPr/>
          <a:lstStyle/>
          <a:p>
            <a:fld id="{8E9E4023-6F3A-457B-B0BB-8C1F114B424F}" type="slidenum">
              <a:rPr lang="en-SG" smtClean="0"/>
              <a:pPr/>
              <a:t>‹#›</a:t>
            </a:fld>
            <a:endParaRPr lang="en-SG"/>
          </a:p>
        </p:txBody>
      </p:sp>
    </p:spTree>
    <p:extLst>
      <p:ext uri="{BB962C8B-B14F-4D97-AF65-F5344CB8AC3E}">
        <p14:creationId xmlns:p14="http://schemas.microsoft.com/office/powerpoint/2010/main" val="3819209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8850CA-27A8-6E5D-31FA-B76AF87FE27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FC22CCB1-1DE7-D21B-0069-C59E1C04E0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Footer Placeholder 4">
            <a:extLst>
              <a:ext uri="{FF2B5EF4-FFF2-40B4-BE49-F238E27FC236}">
                <a16:creationId xmlns:a16="http://schemas.microsoft.com/office/drawing/2014/main" id="{2E8FEF77-A8F2-D6FA-A67C-EF0CAD3AD34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5FAE588-A125-A715-15EC-71B890A37851}"/>
              </a:ext>
            </a:extLst>
          </p:cNvPr>
          <p:cNvSpPr>
            <a:spLocks noGrp="1"/>
          </p:cNvSpPr>
          <p:nvPr>
            <p:ph type="sldNum" sz="quarter" idx="12"/>
          </p:nvPr>
        </p:nvSpPr>
        <p:spPr/>
        <p:txBody>
          <a:bodyPr/>
          <a:lstStyle/>
          <a:p>
            <a:fld id="{8E9E4023-6F3A-457B-B0BB-8C1F114B424F}" type="slidenum">
              <a:rPr lang="en-SG" smtClean="0"/>
              <a:pPr/>
              <a:t>‹#›</a:t>
            </a:fld>
            <a:endParaRPr lang="en-SG"/>
          </a:p>
        </p:txBody>
      </p:sp>
    </p:spTree>
    <p:extLst>
      <p:ext uri="{BB962C8B-B14F-4D97-AF65-F5344CB8AC3E}">
        <p14:creationId xmlns:p14="http://schemas.microsoft.com/office/powerpoint/2010/main" val="3624770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125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1688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82515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37611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2169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FC703B-5018-D00F-D7F5-D563315D77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640C06FC-12F6-1C2F-8C12-BB747800DE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A82F88C8-FB2E-B993-F23D-89C299A020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86B75A-687E-405C-8A0B-8D00578BA2C3}" type="datetimeFigureOut">
              <a:rPr lang="en-US" smtClean="0"/>
              <a:pPr/>
              <a:t>11/19/2025</a:t>
            </a:fld>
            <a:endParaRPr lang="en-US" dirty="0"/>
          </a:p>
        </p:txBody>
      </p:sp>
      <p:sp>
        <p:nvSpPr>
          <p:cNvPr id="5" name="Footer Placeholder 4">
            <a:extLst>
              <a:ext uri="{FF2B5EF4-FFF2-40B4-BE49-F238E27FC236}">
                <a16:creationId xmlns:a16="http://schemas.microsoft.com/office/drawing/2014/main" id="{F202E306-5064-BDD0-4094-D57FA2191E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27C841D-A6BA-C9D4-3F4D-F097F37EFD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9E4023-6F3A-457B-B0BB-8C1F114B424F}" type="slidenum">
              <a:rPr lang="en-SG" smtClean="0"/>
              <a:pPr/>
              <a:t>‹#›</a:t>
            </a:fld>
            <a:endParaRPr lang="en-SG"/>
          </a:p>
        </p:txBody>
      </p:sp>
      <p:sp>
        <p:nvSpPr>
          <p:cNvPr id="7" name="Rectangle 6">
            <a:extLst>
              <a:ext uri="{FF2B5EF4-FFF2-40B4-BE49-F238E27FC236}">
                <a16:creationId xmlns:a16="http://schemas.microsoft.com/office/drawing/2014/main" id="{D5FDBE67-2652-6A87-20FD-BC269099CE1A}"/>
              </a:ext>
            </a:extLst>
          </p:cNvPr>
          <p:cNvSpPr/>
          <p:nvPr userDrawn="1"/>
        </p:nvSpPr>
        <p:spPr>
          <a:xfrm>
            <a:off x="914083" y="6341602"/>
            <a:ext cx="10633904" cy="276999"/>
          </a:xfrm>
          <a:prstGeom prst="rect">
            <a:avLst/>
          </a:prstGeom>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SG" sz="1200" spc="80" dirty="0">
                <a:solidFill>
                  <a:srgbClr val="0070C0"/>
                </a:solidFill>
                <a:latin typeface="Calibri" panose="020F0502020204030204" pitchFamily="34" charset="0"/>
                <a:cs typeface="Calibri" panose="020F0502020204030204" pitchFamily="34" charset="0"/>
              </a:rPr>
              <a:t>[CIT2C20 – FULL STACK WEB DEVELOPMENT] 		</a:t>
            </a:r>
            <a:r>
              <a:rPr lang="en-SG" sz="1200" spc="80" baseline="0" dirty="0">
                <a:solidFill>
                  <a:srgbClr val="0070C0"/>
                </a:solidFill>
                <a:latin typeface="Calibri" panose="020F0502020204030204" pitchFamily="34" charset="0"/>
                <a:cs typeface="Calibri" panose="020F0502020204030204" pitchFamily="34" charset="0"/>
              </a:rPr>
              <a:t>      		      </a:t>
            </a:r>
            <a:r>
              <a:rPr lang="en-US" sz="1200" spc="80" dirty="0">
                <a:solidFill>
                  <a:schemeClr val="bg2">
                    <a:lumMod val="50000"/>
                  </a:schemeClr>
                </a:solidFill>
                <a:latin typeface="Calibri" panose="020F0502020204030204" pitchFamily="34" charset="0"/>
                <a:cs typeface="Calibri" panose="020F0502020204030204" pitchFamily="34" charset="0"/>
              </a:rPr>
              <a:t>TEMASEK POLYTECHNIC I </a:t>
            </a:r>
            <a:r>
              <a:rPr lang="en-US" sz="1200" b="1" spc="80" dirty="0">
                <a:solidFill>
                  <a:schemeClr val="bg2">
                    <a:lumMod val="50000"/>
                  </a:schemeClr>
                </a:solidFill>
                <a:latin typeface="Calibri" panose="020F0502020204030204" pitchFamily="34" charset="0"/>
                <a:cs typeface="Calibri" panose="020F0502020204030204" pitchFamily="34" charset="0"/>
              </a:rPr>
              <a:t>School of Informatics &amp; IT</a:t>
            </a:r>
          </a:p>
        </p:txBody>
      </p:sp>
      <p:sp>
        <p:nvSpPr>
          <p:cNvPr id="8" name="Rectangle 7">
            <a:extLst>
              <a:ext uri="{FF2B5EF4-FFF2-40B4-BE49-F238E27FC236}">
                <a16:creationId xmlns:a16="http://schemas.microsoft.com/office/drawing/2014/main" id="{7BA7BC12-5FAC-7E69-53C8-F966C8C9C568}"/>
              </a:ext>
            </a:extLst>
          </p:cNvPr>
          <p:cNvSpPr/>
          <p:nvPr userDrawn="1"/>
        </p:nvSpPr>
        <p:spPr>
          <a:xfrm>
            <a:off x="0" y="365126"/>
            <a:ext cx="284813" cy="81978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6833789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675" r:id="rId12"/>
    <p:sldLayoutId id="2147483680" r:id="rId13"/>
    <p:sldLayoutId id="2147483681" r:id="rId14"/>
    <p:sldLayoutId id="2147483682" r:id="rId15"/>
    <p:sldLayoutId id="2147483683"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chat.openai.com/chat" TargetMode="Externa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sciencedirect.com/science/article/pii/S2666374025000123" TargetMode="External"/><Relationship Id="rId2" Type="http://schemas.openxmlformats.org/officeDocument/2006/relationships/hyperlink" Target="https://link.springer.com/article/10.1007/s40299-024-00960-0" TargetMode="External"/><Relationship Id="rId1" Type="http://schemas.openxmlformats.org/officeDocument/2006/relationships/slideLayout" Target="../slideLayouts/slideLayout2.xml"/><Relationship Id="rId4" Type="http://schemas.openxmlformats.org/officeDocument/2006/relationships/hyperlink" Target="https://www.mdpi.com/2071-1050/14/19/12304"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research.com/education/online-education-statistics"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mdpi.com/2071-1050/14/19/12304" TargetMode="External"/><Relationship Id="rId2" Type="http://schemas.openxmlformats.org/officeDocument/2006/relationships/hyperlink" Target="https://sleekflow.io/blog/whatsapp-education" TargetMode="External"/><Relationship Id="rId1" Type="http://schemas.openxmlformats.org/officeDocument/2006/relationships/slideLayout" Target="../slideLayouts/slideLayout2.xml"/><Relationship Id="rId4" Type="http://schemas.openxmlformats.org/officeDocument/2006/relationships/hyperlink" Target="https://www.nature.com/articles/s41599-025-04860-6"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malaymail.com/news/singapore/2025/01/20/singapore-families-spent-s18-billion-on-private-tuition-in-2023-with-the-richest-spending-over-s162-per-month/163937" TargetMode="External"/><Relationship Id="rId2" Type="http://schemas.openxmlformats.org/officeDocument/2006/relationships/hyperlink" Target="https://smiletutor.sg/singapore-families-spent-1-8b-on-private-tuition-in-2023-heres-what-that-means-for-2025/" TargetMode="External"/><Relationship Id="rId1" Type="http://schemas.openxmlformats.org/officeDocument/2006/relationships/slideLayout" Target="../slideLayouts/slideLayout2.xml"/><Relationship Id="rId4" Type="http://schemas.openxmlformats.org/officeDocument/2006/relationships/hyperlink" Target="https://link.springer.com/article/10.1007/s40299-024-00960-0"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github.com/YoRHa16608/Fullstack_screenshots/tree/main/screenshots"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mailto:alice@tp.edu.sg"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17030D-F9A5-469C-B08C-422CD33EDF0E}"/>
              </a:ext>
            </a:extLst>
          </p:cNvPr>
          <p:cNvSpPr txBox="1"/>
          <p:nvPr/>
        </p:nvSpPr>
        <p:spPr>
          <a:xfrm>
            <a:off x="2510902" y="723121"/>
            <a:ext cx="6889578" cy="2123658"/>
          </a:xfrm>
          <a:prstGeom prst="rect">
            <a:avLst/>
          </a:prstGeom>
          <a:noFill/>
        </p:spPr>
        <p:txBody>
          <a:bodyPr wrap="none" rtlCol="0">
            <a:spAutoFit/>
          </a:bodyPr>
          <a:lstStyle/>
          <a:p>
            <a:pPr algn="ctr"/>
            <a:r>
              <a:rPr lang="en-GB" sz="4400" b="1" dirty="0"/>
              <a:t>Full Stack Web Development</a:t>
            </a:r>
          </a:p>
          <a:p>
            <a:pPr algn="ctr"/>
            <a:r>
              <a:rPr lang="en-GB" sz="4400" b="1" dirty="0"/>
              <a:t>Project Proposal </a:t>
            </a:r>
          </a:p>
          <a:p>
            <a:pPr algn="ctr"/>
            <a:r>
              <a:rPr lang="en-GB" sz="4400" b="1" dirty="0"/>
              <a:t>(20%)</a:t>
            </a:r>
          </a:p>
        </p:txBody>
      </p:sp>
      <p:sp>
        <p:nvSpPr>
          <p:cNvPr id="3" name="TextBox 2">
            <a:extLst>
              <a:ext uri="{FF2B5EF4-FFF2-40B4-BE49-F238E27FC236}">
                <a16:creationId xmlns:a16="http://schemas.microsoft.com/office/drawing/2014/main" id="{5331E56D-DBB6-4920-8873-6BFF4DD931A4}"/>
              </a:ext>
            </a:extLst>
          </p:cNvPr>
          <p:cNvSpPr txBox="1"/>
          <p:nvPr/>
        </p:nvSpPr>
        <p:spPr>
          <a:xfrm>
            <a:off x="5114932" y="3105834"/>
            <a:ext cx="2067617" cy="923330"/>
          </a:xfrm>
          <a:prstGeom prst="rect">
            <a:avLst/>
          </a:prstGeom>
          <a:noFill/>
        </p:spPr>
        <p:txBody>
          <a:bodyPr wrap="none" rtlCol="0">
            <a:spAutoFit/>
          </a:bodyPr>
          <a:lstStyle/>
          <a:p>
            <a:r>
              <a:rPr lang="en-US" altLang="zh-CN" sz="5400" b="1" dirty="0"/>
              <a:t>Tu2tor</a:t>
            </a:r>
            <a:endParaRPr lang="en-GB" sz="5400" b="1" dirty="0"/>
          </a:p>
        </p:txBody>
      </p:sp>
      <p:sp>
        <p:nvSpPr>
          <p:cNvPr id="4" name="TextBox 3">
            <a:extLst>
              <a:ext uri="{FF2B5EF4-FFF2-40B4-BE49-F238E27FC236}">
                <a16:creationId xmlns:a16="http://schemas.microsoft.com/office/drawing/2014/main" id="{DD8A0C03-BBA9-4AD2-9755-EAEAF6113563}"/>
              </a:ext>
            </a:extLst>
          </p:cNvPr>
          <p:cNvSpPr txBox="1"/>
          <p:nvPr/>
        </p:nvSpPr>
        <p:spPr>
          <a:xfrm>
            <a:off x="8250847" y="5508198"/>
            <a:ext cx="1068562" cy="369332"/>
          </a:xfrm>
          <a:prstGeom prst="rect">
            <a:avLst/>
          </a:prstGeom>
          <a:noFill/>
        </p:spPr>
        <p:txBody>
          <a:bodyPr wrap="none" rtlCol="0">
            <a:spAutoFit/>
          </a:bodyPr>
          <a:lstStyle/>
          <a:p>
            <a:r>
              <a:rPr lang="en-GB" dirty="0"/>
              <a:t>Geng Yue</a:t>
            </a:r>
          </a:p>
        </p:txBody>
      </p:sp>
      <p:sp>
        <p:nvSpPr>
          <p:cNvPr id="6" name="TextBox 5">
            <a:extLst>
              <a:ext uri="{FF2B5EF4-FFF2-40B4-BE49-F238E27FC236}">
                <a16:creationId xmlns:a16="http://schemas.microsoft.com/office/drawing/2014/main" id="{D8258169-E062-40F0-8371-2EA35A7D9BA1}"/>
              </a:ext>
            </a:extLst>
          </p:cNvPr>
          <p:cNvSpPr txBox="1"/>
          <p:nvPr/>
        </p:nvSpPr>
        <p:spPr>
          <a:xfrm>
            <a:off x="9400480" y="5526911"/>
            <a:ext cx="1125629" cy="369332"/>
          </a:xfrm>
          <a:prstGeom prst="rect">
            <a:avLst/>
          </a:prstGeom>
          <a:noFill/>
        </p:spPr>
        <p:txBody>
          <a:bodyPr wrap="none" rtlCol="0">
            <a:spAutoFit/>
          </a:bodyPr>
          <a:lstStyle/>
          <a:p>
            <a:r>
              <a:rPr lang="en-GB" dirty="0"/>
              <a:t>2403880d</a:t>
            </a:r>
          </a:p>
        </p:txBody>
      </p:sp>
      <p:sp>
        <p:nvSpPr>
          <p:cNvPr id="5" name="TextBox 4">
            <a:extLst>
              <a:ext uri="{FF2B5EF4-FFF2-40B4-BE49-F238E27FC236}">
                <a16:creationId xmlns:a16="http://schemas.microsoft.com/office/drawing/2014/main" id="{1B0C6BD1-AE9F-D085-E782-1457F1CA441F}"/>
              </a:ext>
            </a:extLst>
          </p:cNvPr>
          <p:cNvSpPr txBox="1"/>
          <p:nvPr/>
        </p:nvSpPr>
        <p:spPr>
          <a:xfrm>
            <a:off x="10526109" y="5526911"/>
            <a:ext cx="537327" cy="369332"/>
          </a:xfrm>
          <a:prstGeom prst="rect">
            <a:avLst/>
          </a:prstGeom>
          <a:noFill/>
        </p:spPr>
        <p:txBody>
          <a:bodyPr wrap="none" rtlCol="0">
            <a:spAutoFit/>
          </a:bodyPr>
          <a:lstStyle/>
          <a:p>
            <a:r>
              <a:rPr lang="en-GB" dirty="0"/>
              <a:t>P02</a:t>
            </a:r>
          </a:p>
        </p:txBody>
      </p:sp>
    </p:spTree>
    <p:extLst>
      <p:ext uri="{BB962C8B-B14F-4D97-AF65-F5344CB8AC3E}">
        <p14:creationId xmlns:p14="http://schemas.microsoft.com/office/powerpoint/2010/main" val="31812631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F27B9-0D28-49D9-97B5-B24FDEDB25D0}"/>
              </a:ext>
            </a:extLst>
          </p:cNvPr>
          <p:cNvSpPr>
            <a:spLocks noGrp="1"/>
          </p:cNvSpPr>
          <p:nvPr>
            <p:ph type="title"/>
          </p:nvPr>
        </p:nvSpPr>
        <p:spPr/>
        <p:txBody>
          <a:bodyPr/>
          <a:lstStyle/>
          <a:p>
            <a:pPr marL="0" marR="0" algn="ctr">
              <a:lnSpc>
                <a:spcPct val="150000"/>
              </a:lnSpc>
              <a:spcBef>
                <a:spcPts val="0"/>
              </a:spcBef>
              <a:spcAft>
                <a:spcPts val="0"/>
              </a:spcAft>
            </a:pPr>
            <a:r>
              <a:rPr lang="en-GB" sz="3600" b="1"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Declaration of Originality</a:t>
            </a:r>
            <a:endParaRPr lang="en-US" sz="1600" dirty="0">
              <a:effectLst/>
              <a:latin typeface="Arial" panose="020B0604020202020204" pitchFamily="34" charset="0"/>
              <a:ea typeface="SimSun" panose="02010600030101010101" pitchFamily="2" charset="-122"/>
              <a:cs typeface="Times New Roman" panose="02020603050405020304" pitchFamily="18" charset="0"/>
            </a:endParaRPr>
          </a:p>
        </p:txBody>
      </p:sp>
      <p:sp>
        <p:nvSpPr>
          <p:cNvPr id="3" name="Content Placeholder 2">
            <a:extLst>
              <a:ext uri="{FF2B5EF4-FFF2-40B4-BE49-F238E27FC236}">
                <a16:creationId xmlns:a16="http://schemas.microsoft.com/office/drawing/2014/main" id="{7C877F9F-D62A-45BB-9799-246A29611BAA}"/>
              </a:ext>
            </a:extLst>
          </p:cNvPr>
          <p:cNvSpPr>
            <a:spLocks noGrp="1"/>
          </p:cNvSpPr>
          <p:nvPr>
            <p:ph idx="1"/>
          </p:nvPr>
        </p:nvSpPr>
        <p:spPr/>
        <p:txBody>
          <a:bodyPr>
            <a:normAutofit fontScale="92500" lnSpcReduction="20000"/>
          </a:bodyPr>
          <a:lstStyle/>
          <a:p>
            <a:pPr marL="0" marR="0" indent="0" algn="ctr">
              <a:spcBef>
                <a:spcPts val="0"/>
              </a:spcBef>
              <a:spcAft>
                <a:spcPts val="0"/>
              </a:spcAft>
              <a:buNone/>
            </a:pPr>
            <a:r>
              <a:rPr lang="en-GB" sz="2400" dirty="0">
                <a:solidFill>
                  <a:schemeClr val="tx1"/>
                </a:solidFill>
                <a:effectLst/>
                <a:latin typeface="Arial" panose="020B0604020202020204" pitchFamily="34" charset="0"/>
                <a:ea typeface="Times New Roman" panose="02020603050405020304" pitchFamily="18" charset="0"/>
              </a:rPr>
              <a:t>I am the originator of this work and </a:t>
            </a:r>
            <a:r>
              <a:rPr lang="en-US" sz="2400" dirty="0">
                <a:solidFill>
                  <a:schemeClr val="tx1"/>
                </a:solidFill>
                <a:effectLst/>
                <a:latin typeface="Arial" panose="020B0604020202020204" pitchFamily="34" charset="0"/>
                <a:ea typeface="Times New Roman" panose="02020603050405020304" pitchFamily="18" charset="0"/>
              </a:rPr>
              <a:t>I have </a:t>
            </a:r>
            <a:r>
              <a:rPr lang="en-GB" sz="2400" dirty="0">
                <a:solidFill>
                  <a:schemeClr val="tx1"/>
                </a:solidFill>
                <a:effectLst/>
                <a:latin typeface="Arial" panose="020B0604020202020204" pitchFamily="34" charset="0"/>
                <a:ea typeface="Times New Roman" panose="02020603050405020304" pitchFamily="18" charset="0"/>
              </a:rPr>
              <a:t>appropriately acknowledged all other original sources used as my references for this work.</a:t>
            </a:r>
          </a:p>
          <a:p>
            <a:pPr marL="0" indent="0" algn="ctr">
              <a:spcBef>
                <a:spcPts val="0"/>
              </a:spcBef>
              <a:buNone/>
            </a:pPr>
            <a:endParaRPr lang="en-US" sz="2400" dirty="0">
              <a:solidFill>
                <a:schemeClr val="tx1"/>
              </a:solidFill>
              <a:effectLst/>
              <a:latin typeface="Arial" panose="020B0604020202020204" pitchFamily="34" charset="0"/>
              <a:ea typeface="Times New Roman" panose="02020603050405020304" pitchFamily="18" charset="0"/>
            </a:endParaRPr>
          </a:p>
          <a:p>
            <a:pPr marL="0" marR="0" indent="0" algn="ctr">
              <a:spcBef>
                <a:spcPts val="0"/>
              </a:spcBef>
              <a:spcAft>
                <a:spcPts val="0"/>
              </a:spcAft>
              <a:buNone/>
            </a:pPr>
            <a:r>
              <a:rPr lang="en-GB" sz="2400" dirty="0">
                <a:solidFill>
                  <a:schemeClr val="tx1"/>
                </a:solidFill>
                <a:effectLst/>
                <a:latin typeface="Arial" panose="020B0604020202020204" pitchFamily="34" charset="0"/>
                <a:ea typeface="Times New Roman" panose="02020603050405020304" pitchFamily="18" charset="0"/>
              </a:rPr>
              <a:t>I understand that Plagiarism is the act of taking and using the whole or any part of another person’s work, including work generated by AI, and presenting it as my own.</a:t>
            </a:r>
          </a:p>
          <a:p>
            <a:pPr marL="0" indent="0" algn="ctr">
              <a:spcBef>
                <a:spcPts val="0"/>
              </a:spcBef>
              <a:buNone/>
            </a:pPr>
            <a:endParaRPr lang="en-US" sz="2400" dirty="0">
              <a:solidFill>
                <a:schemeClr val="tx1"/>
              </a:solidFill>
              <a:effectLst/>
              <a:latin typeface="Arial" panose="020B0604020202020204" pitchFamily="34" charset="0"/>
              <a:ea typeface="Times New Roman" panose="02020603050405020304" pitchFamily="18" charset="0"/>
            </a:endParaRPr>
          </a:p>
          <a:p>
            <a:pPr marL="0" marR="0" indent="0" algn="ctr">
              <a:spcBef>
                <a:spcPts val="0"/>
              </a:spcBef>
              <a:spcAft>
                <a:spcPts val="0"/>
              </a:spcAft>
              <a:buNone/>
            </a:pPr>
            <a:r>
              <a:rPr lang="en-GB" sz="2400" dirty="0">
                <a:solidFill>
                  <a:schemeClr val="tx1"/>
                </a:solidFill>
                <a:effectLst/>
                <a:latin typeface="Arial" panose="020B0604020202020204" pitchFamily="34" charset="0"/>
                <a:ea typeface="Times New Roman" panose="02020603050405020304" pitchFamily="18" charset="0"/>
              </a:rPr>
              <a:t>I understand that Plagiarism is an academic offence</a:t>
            </a:r>
            <a:endParaRPr lang="en-US" sz="2400" dirty="0">
              <a:solidFill>
                <a:schemeClr val="tx1"/>
              </a:solidFill>
              <a:effectLst/>
              <a:latin typeface="Arial" panose="020B0604020202020204" pitchFamily="34" charset="0"/>
              <a:ea typeface="Times New Roman" panose="02020603050405020304" pitchFamily="18" charset="0"/>
            </a:endParaRPr>
          </a:p>
          <a:p>
            <a:pPr marL="0" marR="0" indent="0" algn="ctr">
              <a:spcBef>
                <a:spcPts val="0"/>
              </a:spcBef>
              <a:spcAft>
                <a:spcPts val="0"/>
              </a:spcAft>
              <a:buNone/>
            </a:pPr>
            <a:r>
              <a:rPr lang="en-GB" sz="2400" dirty="0">
                <a:solidFill>
                  <a:schemeClr val="tx1"/>
                </a:solidFill>
                <a:effectLst/>
                <a:latin typeface="Arial" panose="020B0604020202020204" pitchFamily="34" charset="0"/>
                <a:ea typeface="Times New Roman" panose="02020603050405020304" pitchFamily="18" charset="0"/>
              </a:rPr>
              <a:t>and if I am found to have committed or abetted the offence of plagiarism in relation to this submitted work, disciplinary action will be enforced.</a:t>
            </a:r>
            <a:endPar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Name and Signature of Student: </a:t>
            </a:r>
          </a:p>
          <a:p>
            <a:pPr marL="0" indent="0">
              <a:lnSpc>
                <a:spcPct val="107000"/>
              </a:lnSpc>
              <a:spcAft>
                <a:spcPts val="800"/>
              </a:spcAft>
              <a:buNone/>
            </a:pPr>
            <a:r>
              <a:rPr lang="en-US" sz="2400" dirty="0">
                <a:solidFill>
                  <a:srgbClr val="FF0000"/>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Geng Yue</a:t>
            </a:r>
            <a:endParaRPr lang="en-SG" sz="2400" dirty="0">
              <a:solidFill>
                <a:srgbClr val="FF0000"/>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p>
            <a:endParaRPr lang="en-SG" sz="3600" dirty="0"/>
          </a:p>
        </p:txBody>
      </p:sp>
    </p:spTree>
    <p:extLst>
      <p:ext uri="{BB962C8B-B14F-4D97-AF65-F5344CB8AC3E}">
        <p14:creationId xmlns:p14="http://schemas.microsoft.com/office/powerpoint/2010/main" val="4241071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F27B9-0D28-49D9-97B5-B24FDEDB25D0}"/>
              </a:ext>
            </a:extLst>
          </p:cNvPr>
          <p:cNvSpPr>
            <a:spLocks noGrp="1"/>
          </p:cNvSpPr>
          <p:nvPr>
            <p:ph type="title"/>
          </p:nvPr>
        </p:nvSpPr>
        <p:spPr/>
        <p:txBody>
          <a:bodyPr>
            <a:noAutofit/>
          </a:bodyPr>
          <a:lstStyle/>
          <a:p>
            <a:pPr marL="0" marR="0" algn="ctr">
              <a:lnSpc>
                <a:spcPct val="150000"/>
              </a:lnSpc>
              <a:spcBef>
                <a:spcPts val="0"/>
              </a:spcBef>
              <a:spcAft>
                <a:spcPts val="0"/>
              </a:spcAft>
            </a:pPr>
            <a:r>
              <a:rPr lang="en-SG" sz="2400" b="1"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Declaration on the use of Generative AI tools for assignments</a:t>
            </a:r>
            <a:endParaRPr lang="en-US" sz="1100" dirty="0">
              <a:effectLst/>
              <a:latin typeface="Arial" panose="020B0604020202020204" pitchFamily="34" charset="0"/>
              <a:ea typeface="SimSun" panose="02010600030101010101" pitchFamily="2" charset="-122"/>
              <a:cs typeface="Times New Roman" panose="02020603050405020304" pitchFamily="18" charset="0"/>
            </a:endParaRPr>
          </a:p>
        </p:txBody>
      </p:sp>
      <p:sp>
        <p:nvSpPr>
          <p:cNvPr id="5" name="Content Placeholder 4">
            <a:extLst>
              <a:ext uri="{FF2B5EF4-FFF2-40B4-BE49-F238E27FC236}">
                <a16:creationId xmlns:a16="http://schemas.microsoft.com/office/drawing/2014/main" id="{59D1921A-1635-F05B-3C5F-1FB1679BB9DC}"/>
              </a:ext>
            </a:extLst>
          </p:cNvPr>
          <p:cNvSpPr>
            <a:spLocks noGrp="1"/>
          </p:cNvSpPr>
          <p:nvPr>
            <p:ph idx="1"/>
          </p:nvPr>
        </p:nvSpPr>
        <p:spPr>
          <a:xfrm>
            <a:off x="959581" y="1499360"/>
            <a:ext cx="10336162" cy="1057410"/>
          </a:xfrm>
        </p:spPr>
        <p:txBody>
          <a:bodyPr>
            <a:normAutofit lnSpcReduction="10000"/>
          </a:bodyPr>
          <a:lstStyle/>
          <a:p>
            <a:pPr marL="0" marR="0" indent="0" algn="just">
              <a:spcBef>
                <a:spcPts val="0"/>
              </a:spcBef>
              <a:spcAft>
                <a:spcPts val="0"/>
              </a:spcAft>
              <a:buNone/>
              <a:tabLst>
                <a:tab pos="228600" algn="l"/>
              </a:tabLst>
            </a:pPr>
            <a:r>
              <a:rPr lang="en-GB" sz="1800" dirty="0">
                <a:solidFill>
                  <a:schemeClr val="tx1"/>
                </a:solidFill>
                <a:effectLst/>
                <a:latin typeface="Arial" panose="020B0604020202020204" pitchFamily="34" charset="0"/>
                <a:ea typeface="Times New Roman" panose="02020603050405020304" pitchFamily="18" charset="0"/>
              </a:rPr>
              <a:t>Describe how you have used Generative AI tools such as </a:t>
            </a:r>
            <a:r>
              <a:rPr lang="en-GB" sz="1800" dirty="0" err="1">
                <a:solidFill>
                  <a:schemeClr val="tx1"/>
                </a:solidFill>
                <a:effectLst/>
                <a:latin typeface="Arial" panose="020B0604020202020204" pitchFamily="34" charset="0"/>
                <a:ea typeface="Times New Roman" panose="02020603050405020304" pitchFamily="18" charset="0"/>
              </a:rPr>
              <a:t>ChatGPT</a:t>
            </a:r>
            <a:r>
              <a:rPr lang="en-GB" sz="1800" dirty="0">
                <a:solidFill>
                  <a:schemeClr val="tx1"/>
                </a:solidFill>
                <a:effectLst/>
                <a:latin typeface="Arial" panose="020B0604020202020204" pitchFamily="34" charset="0"/>
                <a:ea typeface="Times New Roman" panose="02020603050405020304" pitchFamily="18" charset="0"/>
              </a:rPr>
              <a:t> or Dall.E-2 in your assignment. </a:t>
            </a:r>
            <a:endParaRPr lang="en-US" sz="1800" dirty="0">
              <a:solidFill>
                <a:schemeClr val="tx1"/>
              </a:solidFill>
              <a:effectLst/>
              <a:latin typeface="Arial" panose="020B0604020202020204" pitchFamily="34" charset="0"/>
              <a:ea typeface="Times New Roman" panose="02020603050405020304" pitchFamily="18" charset="0"/>
            </a:endParaRPr>
          </a:p>
          <a:p>
            <a:pPr marL="0" marR="0" indent="0" algn="just">
              <a:spcBef>
                <a:spcPts val="0"/>
              </a:spcBef>
              <a:spcAft>
                <a:spcPts val="0"/>
              </a:spcAft>
              <a:buNone/>
              <a:tabLst>
                <a:tab pos="228600" algn="l"/>
              </a:tabLst>
            </a:pPr>
            <a:endParaRPr lang="en-US" sz="1800" dirty="0">
              <a:solidFill>
                <a:schemeClr val="tx1"/>
              </a:solidFill>
              <a:effectLst/>
              <a:latin typeface="Arial" panose="020B0604020202020204" pitchFamily="34" charset="0"/>
              <a:ea typeface="Times New Roman" panose="02020603050405020304" pitchFamily="18" charset="0"/>
            </a:endParaRPr>
          </a:p>
          <a:p>
            <a:pPr marL="0" marR="0" indent="0" algn="just">
              <a:spcBef>
                <a:spcPts val="0"/>
              </a:spcBef>
              <a:spcAft>
                <a:spcPts val="0"/>
              </a:spcAft>
              <a:buNone/>
              <a:tabLst>
                <a:tab pos="228600" algn="l"/>
              </a:tabLst>
            </a:pPr>
            <a:r>
              <a:rPr lang="en-GB" sz="1800" dirty="0">
                <a:solidFill>
                  <a:schemeClr val="tx1"/>
                </a:solidFill>
                <a:effectLst/>
                <a:latin typeface="Arial" panose="020B0604020202020204" pitchFamily="34" charset="0"/>
                <a:ea typeface="Times New Roman" panose="02020603050405020304" pitchFamily="18" charset="0"/>
              </a:rPr>
              <a:t>Show snapshots of the conversations with the AI tool (i.e., the prompts you used and the response you get from the AI tool).  </a:t>
            </a:r>
            <a:endParaRPr lang="en-US" sz="1800" dirty="0">
              <a:solidFill>
                <a:schemeClr val="tx1"/>
              </a:solidFill>
              <a:effectLst/>
              <a:latin typeface="Arial" panose="020B0604020202020204" pitchFamily="34" charset="0"/>
              <a:ea typeface="Times New Roman" panose="02020603050405020304" pitchFamily="18" charset="0"/>
            </a:endParaRPr>
          </a:p>
        </p:txBody>
      </p:sp>
      <p:sp>
        <p:nvSpPr>
          <p:cNvPr id="10" name="TextBox 9">
            <a:extLst>
              <a:ext uri="{FF2B5EF4-FFF2-40B4-BE49-F238E27FC236}">
                <a16:creationId xmlns:a16="http://schemas.microsoft.com/office/drawing/2014/main" id="{9877B34D-A3FD-6731-5308-300BCCC5C733}"/>
              </a:ext>
            </a:extLst>
          </p:cNvPr>
          <p:cNvSpPr txBox="1"/>
          <p:nvPr/>
        </p:nvSpPr>
        <p:spPr>
          <a:xfrm>
            <a:off x="959582" y="2663301"/>
            <a:ext cx="10336161" cy="211288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en-US" dirty="0"/>
          </a:p>
        </p:txBody>
      </p:sp>
    </p:spTree>
    <p:extLst>
      <p:ext uri="{BB962C8B-B14F-4D97-AF65-F5344CB8AC3E}">
        <p14:creationId xmlns:p14="http://schemas.microsoft.com/office/powerpoint/2010/main" val="116405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791E037A-6BE5-7A11-AEC6-913324BAC69F}"/>
              </a:ext>
            </a:extLst>
          </p:cNvPr>
          <p:cNvSpPr txBox="1">
            <a:spLocks/>
          </p:cNvSpPr>
          <p:nvPr/>
        </p:nvSpPr>
        <p:spPr>
          <a:xfrm>
            <a:off x="959581" y="1184910"/>
            <a:ext cx="10336162" cy="2628758"/>
          </a:xfrm>
          <a:prstGeom prst="rect">
            <a:avLst/>
          </a:prstGeom>
        </p:spPr>
        <p:style>
          <a:lnRef idx="2">
            <a:schemeClr val="dk1"/>
          </a:lnRef>
          <a:fillRef idx="1">
            <a:schemeClr val="lt1"/>
          </a:fillRef>
          <a:effectRef idx="0">
            <a:schemeClr val="dk1"/>
          </a:effectRef>
          <a:fontRef idx="minor">
            <a:schemeClr val="dk1"/>
          </a:fontRef>
        </p:style>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0"/>
              </a:spcBef>
              <a:buFont typeface="Arial" panose="020B0604020202020204" pitchFamily="34" charset="0"/>
              <a:buNone/>
            </a:pPr>
            <a:r>
              <a:rPr lang="en-SG" sz="1600" dirty="0">
                <a:solidFill>
                  <a:schemeClr val="tx1"/>
                </a:solidFill>
                <a:latin typeface="Arial" panose="020B0604020202020204" pitchFamily="34" charset="0"/>
                <a:ea typeface="Times New Roman" panose="02020603050405020304" pitchFamily="18" charset="0"/>
              </a:rPr>
              <a:t>The content generated by AI tools are not retrievable except by the user who generated them, so they are considered non-recoverable sources. Although non-recoverable data or quotations in APA Style papers are usually cited as personal communications, with </a:t>
            </a:r>
            <a:r>
              <a:rPr lang="en-SG" sz="1600" dirty="0" err="1">
                <a:solidFill>
                  <a:schemeClr val="tx1"/>
                </a:solidFill>
                <a:latin typeface="Arial" panose="020B0604020202020204" pitchFamily="34" charset="0"/>
                <a:ea typeface="Times New Roman" panose="02020603050405020304" pitchFamily="18" charset="0"/>
              </a:rPr>
              <a:t>ChatGPT</a:t>
            </a:r>
            <a:r>
              <a:rPr lang="en-SG" sz="1600" dirty="0">
                <a:solidFill>
                  <a:schemeClr val="tx1"/>
                </a:solidFill>
                <a:latin typeface="Arial" panose="020B0604020202020204" pitchFamily="34" charset="0"/>
                <a:ea typeface="Times New Roman" panose="02020603050405020304" pitchFamily="18" charset="0"/>
              </a:rPr>
              <a:t>-generated text there is no person communicating. Quoting text from </a:t>
            </a:r>
            <a:r>
              <a:rPr lang="en-SG" sz="1600" dirty="0" err="1">
                <a:solidFill>
                  <a:schemeClr val="tx1"/>
                </a:solidFill>
                <a:latin typeface="Arial" panose="020B0604020202020204" pitchFamily="34" charset="0"/>
                <a:ea typeface="Times New Roman" panose="02020603050405020304" pitchFamily="18" charset="0"/>
              </a:rPr>
              <a:t>ChatGPT</a:t>
            </a:r>
            <a:r>
              <a:rPr lang="en-SG" sz="1600" dirty="0">
                <a:solidFill>
                  <a:schemeClr val="tx1"/>
                </a:solidFill>
                <a:latin typeface="Arial" panose="020B0604020202020204" pitchFamily="34" charset="0"/>
                <a:ea typeface="Times New Roman" panose="02020603050405020304" pitchFamily="18" charset="0"/>
              </a:rPr>
              <a:t> chat is therefore more like sharing the output of an algorithm, with a reference list entry and the corresponding in-text citation.</a:t>
            </a:r>
          </a:p>
          <a:p>
            <a:pPr marL="0" indent="0" algn="just">
              <a:spcBef>
                <a:spcPts val="0"/>
              </a:spcBef>
              <a:buFont typeface="Arial" panose="020B0604020202020204" pitchFamily="34" charset="0"/>
              <a:buNone/>
            </a:pPr>
            <a:endParaRPr lang="en-SG" sz="1600" dirty="0">
              <a:solidFill>
                <a:schemeClr val="tx1"/>
              </a:solidFill>
              <a:latin typeface="Arial" panose="020B0604020202020204" pitchFamily="34" charset="0"/>
              <a:ea typeface="Times New Roman" panose="02020603050405020304" pitchFamily="18" charset="0"/>
            </a:endParaRPr>
          </a:p>
          <a:p>
            <a:pPr marL="0" indent="0" algn="just">
              <a:spcBef>
                <a:spcPts val="0"/>
              </a:spcBef>
              <a:buFont typeface="Arial" panose="020B0604020202020204" pitchFamily="34" charset="0"/>
              <a:buNone/>
            </a:pPr>
            <a:r>
              <a:rPr lang="en-SG" sz="1600" dirty="0">
                <a:solidFill>
                  <a:schemeClr val="tx1"/>
                </a:solidFill>
                <a:latin typeface="Arial" panose="020B0604020202020204" pitchFamily="34" charset="0"/>
                <a:ea typeface="Times New Roman" panose="02020603050405020304" pitchFamily="18" charset="0"/>
              </a:rPr>
              <a:t>According to the official APA Style site, </a:t>
            </a:r>
            <a:r>
              <a:rPr lang="en-SG" sz="1600" dirty="0" err="1">
                <a:solidFill>
                  <a:schemeClr val="tx1"/>
                </a:solidFill>
                <a:latin typeface="Arial" panose="020B0604020202020204" pitchFamily="34" charset="0"/>
                <a:ea typeface="Times New Roman" panose="02020603050405020304" pitchFamily="18" charset="0"/>
              </a:rPr>
              <a:t>ChatGPT</a:t>
            </a:r>
            <a:r>
              <a:rPr lang="en-SG" sz="1600" dirty="0">
                <a:solidFill>
                  <a:schemeClr val="tx1"/>
                </a:solidFill>
                <a:latin typeface="Arial" panose="020B0604020202020204" pitchFamily="34" charset="0"/>
                <a:ea typeface="Times New Roman" panose="02020603050405020304" pitchFamily="18" charset="0"/>
              </a:rPr>
              <a:t> references should be cited as:</a:t>
            </a:r>
          </a:p>
          <a:p>
            <a:pPr marL="0" indent="0" algn="just">
              <a:spcBef>
                <a:spcPts val="0"/>
              </a:spcBef>
              <a:buFont typeface="Arial" panose="020B0604020202020204" pitchFamily="34" charset="0"/>
              <a:buNone/>
            </a:pPr>
            <a:endParaRPr lang="en-SG" sz="1600" dirty="0">
              <a:solidFill>
                <a:schemeClr val="tx1"/>
              </a:solidFill>
              <a:latin typeface="Arial" panose="020B0604020202020204" pitchFamily="34" charset="0"/>
              <a:ea typeface="Times New Roman" panose="02020603050405020304" pitchFamily="18" charset="0"/>
            </a:endParaRPr>
          </a:p>
          <a:p>
            <a:pPr marL="0" indent="0" algn="just">
              <a:spcBef>
                <a:spcPts val="0"/>
              </a:spcBef>
              <a:buFont typeface="Arial" panose="020B0604020202020204" pitchFamily="34" charset="0"/>
              <a:buNone/>
            </a:pPr>
            <a:r>
              <a:rPr lang="en-SG" sz="1600" dirty="0">
                <a:solidFill>
                  <a:schemeClr val="tx1"/>
                </a:solidFill>
                <a:latin typeface="Arial" panose="020B0604020202020204" pitchFamily="34" charset="0"/>
                <a:ea typeface="Times New Roman" panose="02020603050405020304" pitchFamily="18" charset="0"/>
              </a:rPr>
              <a:t>E.g.   </a:t>
            </a:r>
            <a:r>
              <a:rPr lang="en-SG" sz="1600" dirty="0" err="1">
                <a:solidFill>
                  <a:schemeClr val="tx1"/>
                </a:solidFill>
                <a:latin typeface="Arial" panose="020B0604020202020204" pitchFamily="34" charset="0"/>
                <a:ea typeface="Times New Roman" panose="02020603050405020304" pitchFamily="18" charset="0"/>
              </a:rPr>
              <a:t>OpenAI</a:t>
            </a:r>
            <a:r>
              <a:rPr lang="en-SG" sz="1600" dirty="0">
                <a:solidFill>
                  <a:schemeClr val="tx1"/>
                </a:solidFill>
                <a:latin typeface="Arial" panose="020B0604020202020204" pitchFamily="34" charset="0"/>
                <a:ea typeface="Times New Roman" panose="02020603050405020304" pitchFamily="18" charset="0"/>
              </a:rPr>
              <a:t>. (2023). </a:t>
            </a:r>
            <a:r>
              <a:rPr lang="en-SG" sz="1600" dirty="0" err="1">
                <a:solidFill>
                  <a:schemeClr val="tx1"/>
                </a:solidFill>
                <a:latin typeface="Arial" panose="020B0604020202020204" pitchFamily="34" charset="0"/>
                <a:ea typeface="Times New Roman" panose="02020603050405020304" pitchFamily="18" charset="0"/>
              </a:rPr>
              <a:t>ChatGPT</a:t>
            </a:r>
            <a:r>
              <a:rPr lang="en-SG" sz="1600" dirty="0">
                <a:solidFill>
                  <a:schemeClr val="tx1"/>
                </a:solidFill>
                <a:latin typeface="Arial" panose="020B0604020202020204" pitchFamily="34" charset="0"/>
                <a:ea typeface="Times New Roman" panose="02020603050405020304" pitchFamily="18" charset="0"/>
              </a:rPr>
              <a:t> (Sep 25 version) [Large language model].       </a:t>
            </a:r>
          </a:p>
          <a:p>
            <a:pPr marL="0" indent="0" algn="just">
              <a:spcBef>
                <a:spcPts val="0"/>
              </a:spcBef>
              <a:buFont typeface="Arial" panose="020B0604020202020204" pitchFamily="34" charset="0"/>
              <a:buNone/>
            </a:pPr>
            <a:r>
              <a:rPr lang="en-SG" sz="1600" dirty="0">
                <a:latin typeface="Arial" panose="020B0604020202020204" pitchFamily="34" charset="0"/>
                <a:ea typeface="Times New Roman" panose="02020603050405020304" pitchFamily="18" charset="0"/>
              </a:rPr>
              <a:t>                    </a:t>
            </a:r>
            <a:r>
              <a:rPr lang="en-SG" sz="1600" dirty="0">
                <a:latin typeface="Arial" panose="020B0604020202020204" pitchFamily="34" charset="0"/>
                <a:ea typeface="Times New Roman" panose="02020603050405020304" pitchFamily="18" charset="0"/>
                <a:hlinkClick r:id="rId2"/>
              </a:rPr>
              <a:t>https://chat.openai.com/chat</a:t>
            </a:r>
            <a:r>
              <a:rPr lang="en-SG" sz="1600" dirty="0">
                <a:latin typeface="Arial" panose="020B0604020202020204" pitchFamily="34" charset="0"/>
                <a:ea typeface="Times New Roman" panose="02020603050405020304" pitchFamily="18" charset="0"/>
              </a:rPr>
              <a:t> </a:t>
            </a:r>
          </a:p>
        </p:txBody>
      </p:sp>
      <p:sp>
        <p:nvSpPr>
          <p:cNvPr id="3" name="Title 1">
            <a:extLst>
              <a:ext uri="{FF2B5EF4-FFF2-40B4-BE49-F238E27FC236}">
                <a16:creationId xmlns:a16="http://schemas.microsoft.com/office/drawing/2014/main" id="{5BDA16E0-F35F-9D0A-C62B-AB7CD8FD6F32}"/>
              </a:ext>
            </a:extLst>
          </p:cNvPr>
          <p:cNvSpPr txBox="1">
            <a:spLocks/>
          </p:cNvSpPr>
          <p:nvPr/>
        </p:nvSpPr>
        <p:spPr>
          <a:xfrm>
            <a:off x="959582" y="365126"/>
            <a:ext cx="10336161" cy="819784"/>
          </a:xfrm>
          <a:prstGeom prst="rect">
            <a:avLst/>
          </a:prstGeom>
        </p:spPr>
        <p:txBody>
          <a:bodyPr>
            <a:noAutofit/>
          </a:bodyPr>
          <a:lstStyle>
            <a:lvl1pPr algn="l" defTabSz="914400" rtl="0" eaLnBrk="1" latinLnBrk="0" hangingPunct="1">
              <a:lnSpc>
                <a:spcPct val="90000"/>
              </a:lnSpc>
              <a:spcBef>
                <a:spcPct val="0"/>
              </a:spcBef>
              <a:buNone/>
              <a:defRPr sz="3600" b="0" i="0" u="none" kern="1200">
                <a:solidFill>
                  <a:srgbClr val="0070C0"/>
                </a:solidFill>
                <a:latin typeface="+mn-lt"/>
                <a:ea typeface="+mj-ea"/>
                <a:cs typeface="+mj-cs"/>
              </a:defRPr>
            </a:lvl1pPr>
          </a:lstStyle>
          <a:p>
            <a:pPr algn="ctr">
              <a:lnSpc>
                <a:spcPct val="150000"/>
              </a:lnSpc>
              <a:spcBef>
                <a:spcPts val="0"/>
              </a:spcBef>
            </a:pPr>
            <a:r>
              <a:rPr lang="en-SG" sz="2400" b="1" dirty="0">
                <a:solidFill>
                  <a:srgbClr val="FF0000"/>
                </a:solidFill>
                <a:latin typeface="Arial" panose="020B0604020202020204" pitchFamily="34" charset="0"/>
                <a:ea typeface="Times New Roman" panose="02020603050405020304" pitchFamily="18" charset="0"/>
                <a:cs typeface="Arial" panose="020B0604020202020204" pitchFamily="34" charset="0"/>
              </a:rPr>
              <a:t>How do you indicate the reference?</a:t>
            </a:r>
            <a:endParaRPr lang="en-US" sz="1100" dirty="0">
              <a:latin typeface="Arial" panose="020B0604020202020204" pitchFamily="34" charset="0"/>
              <a:ea typeface="SimSun" panose="02010600030101010101" pitchFamily="2" charset="-122"/>
              <a:cs typeface="Times New Roman" panose="02020603050405020304" pitchFamily="18" charset="0"/>
            </a:endParaRPr>
          </a:p>
        </p:txBody>
      </p:sp>
      <p:sp>
        <p:nvSpPr>
          <p:cNvPr id="5" name="TextBox 4">
            <a:extLst>
              <a:ext uri="{FF2B5EF4-FFF2-40B4-BE49-F238E27FC236}">
                <a16:creationId xmlns:a16="http://schemas.microsoft.com/office/drawing/2014/main" id="{60EFE433-EAE2-4855-84B2-7012E3FCB36E}"/>
              </a:ext>
            </a:extLst>
          </p:cNvPr>
          <p:cNvSpPr txBox="1"/>
          <p:nvPr/>
        </p:nvSpPr>
        <p:spPr>
          <a:xfrm>
            <a:off x="959581" y="3813668"/>
            <a:ext cx="10336162" cy="255454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marR="0" algn="just">
              <a:spcBef>
                <a:spcPts val="0"/>
              </a:spcBef>
              <a:spcAft>
                <a:spcPts val="0"/>
              </a:spcAft>
              <a:tabLst>
                <a:tab pos="228600" algn="l"/>
              </a:tabLst>
            </a:pPr>
            <a:r>
              <a:rPr lang="en-GB" sz="1600" b="1" dirty="0">
                <a:solidFill>
                  <a:srgbClr val="FF0000"/>
                </a:solidFill>
                <a:effectLst/>
                <a:latin typeface="Arial" panose="020B0604020202020204" pitchFamily="34" charset="0"/>
                <a:ea typeface="Times New Roman" panose="02020603050405020304" pitchFamily="18" charset="0"/>
              </a:rPr>
              <a:t>Important Note:</a:t>
            </a:r>
            <a:endParaRPr lang="en-US" sz="1600" dirty="0">
              <a:solidFill>
                <a:srgbClr val="FF0000"/>
              </a:solidFill>
              <a:effectLst/>
              <a:latin typeface="Arial" panose="020B0604020202020204" pitchFamily="34" charset="0"/>
              <a:ea typeface="Times New Roman" panose="02020603050405020304" pitchFamily="18" charset="0"/>
            </a:endParaRPr>
          </a:p>
          <a:p>
            <a:pPr marL="342900" marR="0" lvl="0" indent="-342900" algn="just">
              <a:spcBef>
                <a:spcPts val="0"/>
              </a:spcBef>
              <a:spcAft>
                <a:spcPts val="0"/>
              </a:spcAft>
              <a:buFont typeface="Symbol" panose="05050102010706020507" pitchFamily="18" charset="2"/>
              <a:buChar char=""/>
              <a:tabLst>
                <a:tab pos="228600" algn="l"/>
              </a:tabLst>
            </a:pPr>
            <a:endParaRPr lang="en-GB" sz="1600" dirty="0">
              <a:effectLst/>
              <a:latin typeface="Arial" panose="020B0604020202020204" pitchFamily="34" charset="0"/>
              <a:ea typeface="Times New Roman" panose="02020603050405020304" pitchFamily="18" charset="0"/>
            </a:endParaRPr>
          </a:p>
          <a:p>
            <a:pPr marL="342900" marR="0" lvl="0" indent="-342900" algn="just">
              <a:spcBef>
                <a:spcPts val="0"/>
              </a:spcBef>
              <a:spcAft>
                <a:spcPts val="0"/>
              </a:spcAft>
              <a:buFont typeface="Symbol" panose="05050102010706020507" pitchFamily="18" charset="2"/>
              <a:buChar char=""/>
              <a:tabLst>
                <a:tab pos="228600" algn="l"/>
              </a:tabLst>
            </a:pPr>
            <a:r>
              <a:rPr lang="en-GB" sz="1600" dirty="0">
                <a:effectLst/>
                <a:latin typeface="Arial" panose="020B0604020202020204" pitchFamily="34" charset="0"/>
                <a:ea typeface="Times New Roman" panose="02020603050405020304" pitchFamily="18" charset="0"/>
              </a:rPr>
              <a:t>Do not copy answers produced by the AI tool in totality as it is considered as plagiarism.  </a:t>
            </a:r>
            <a:endParaRPr lang="en-US" sz="1600" dirty="0">
              <a:effectLst/>
              <a:latin typeface="Arial" panose="020B0604020202020204" pitchFamily="34" charset="0"/>
              <a:ea typeface="Times New Roman" panose="02020603050405020304" pitchFamily="18" charset="0"/>
            </a:endParaRPr>
          </a:p>
          <a:p>
            <a:pPr marL="228600" marR="0" algn="just">
              <a:spcBef>
                <a:spcPts val="0"/>
              </a:spcBef>
              <a:spcAft>
                <a:spcPts val="0"/>
              </a:spcAft>
              <a:tabLst>
                <a:tab pos="228600" algn="l"/>
              </a:tabLst>
            </a:pPr>
            <a:r>
              <a:rPr lang="en-GB" sz="1600" dirty="0">
                <a:effectLst/>
                <a:latin typeface="Arial" panose="020B0604020202020204" pitchFamily="34" charset="0"/>
                <a:ea typeface="Times New Roman" panose="02020603050405020304" pitchFamily="18" charset="0"/>
              </a:rPr>
              <a:t> </a:t>
            </a:r>
            <a:endParaRPr lang="en-US" sz="1600" dirty="0">
              <a:effectLst/>
              <a:latin typeface="Arial" panose="020B0604020202020204" pitchFamily="34" charset="0"/>
              <a:ea typeface="Times New Roman" panose="02020603050405020304" pitchFamily="18" charset="0"/>
            </a:endParaRPr>
          </a:p>
          <a:p>
            <a:pPr marL="342900" marR="0" lvl="0" indent="-342900" algn="just">
              <a:spcBef>
                <a:spcPts val="0"/>
              </a:spcBef>
              <a:spcAft>
                <a:spcPts val="0"/>
              </a:spcAft>
              <a:buFont typeface="Symbol" panose="05050102010706020507" pitchFamily="18" charset="2"/>
              <a:buChar char=""/>
              <a:tabLst>
                <a:tab pos="228600" algn="l"/>
              </a:tabLst>
            </a:pPr>
            <a:r>
              <a:rPr lang="en-GB" sz="1600" dirty="0">
                <a:effectLst/>
                <a:latin typeface="Arial" panose="020B0604020202020204" pitchFamily="34" charset="0"/>
                <a:ea typeface="Times New Roman" panose="02020603050405020304" pitchFamily="18" charset="0"/>
              </a:rPr>
              <a:t>Do not rely on any information produced by the AI tool blindly. You should always verify the answer with other sources. Do not assume that these answers provided by the AI tool are correct.  </a:t>
            </a:r>
            <a:endParaRPr lang="en-US" sz="1600" dirty="0">
              <a:effectLst/>
              <a:latin typeface="Arial" panose="020B0604020202020204" pitchFamily="34" charset="0"/>
              <a:ea typeface="Times New Roman" panose="02020603050405020304" pitchFamily="18" charset="0"/>
            </a:endParaRPr>
          </a:p>
          <a:p>
            <a:pPr marL="457200" marR="0">
              <a:spcBef>
                <a:spcPts val="0"/>
              </a:spcBef>
              <a:spcAft>
                <a:spcPts val="0"/>
              </a:spcAft>
            </a:pPr>
            <a:r>
              <a:rPr lang="en-GB" sz="1600" dirty="0">
                <a:effectLst/>
                <a:latin typeface="Arial" panose="020B0604020202020204" pitchFamily="34" charset="0"/>
                <a:ea typeface="Times New Roman" panose="02020603050405020304" pitchFamily="18" charset="0"/>
              </a:rPr>
              <a:t> </a:t>
            </a:r>
            <a:endParaRPr lang="en-US" sz="1600" dirty="0">
              <a:effectLst/>
              <a:latin typeface="Arial" panose="020B0604020202020204" pitchFamily="34" charset="0"/>
              <a:ea typeface="Times New Roman" panose="02020603050405020304" pitchFamily="18" charset="0"/>
            </a:endParaRPr>
          </a:p>
          <a:p>
            <a:pPr marL="342900" marR="0" lvl="0" indent="-342900" algn="just">
              <a:spcBef>
                <a:spcPts val="0"/>
              </a:spcBef>
              <a:spcAft>
                <a:spcPts val="0"/>
              </a:spcAft>
              <a:buFont typeface="Symbol" panose="05050102010706020507" pitchFamily="18" charset="2"/>
              <a:buChar char=""/>
              <a:tabLst>
                <a:tab pos="228600" algn="l"/>
              </a:tabLst>
            </a:pPr>
            <a:r>
              <a:rPr lang="en-GB" sz="1600" dirty="0">
                <a:effectLst/>
                <a:latin typeface="Arial" panose="020B0604020202020204" pitchFamily="34" charset="0"/>
                <a:ea typeface="Times New Roman" panose="02020603050405020304" pitchFamily="18" charset="0"/>
              </a:rPr>
              <a:t>To achieve quality outputs from the AI tool, you should provide good prompt that is clear and specific. Be precise and provide context.  Avoid asking open-ended questions. </a:t>
            </a:r>
          </a:p>
          <a:p>
            <a:pPr marR="0" lvl="0" algn="just">
              <a:spcBef>
                <a:spcPts val="0"/>
              </a:spcBef>
              <a:spcAft>
                <a:spcPts val="0"/>
              </a:spcAft>
              <a:tabLst>
                <a:tab pos="228600" algn="l"/>
              </a:tabLst>
            </a:pPr>
            <a:endParaRPr lang="en-US" sz="1600" dirty="0">
              <a:effectLst/>
              <a:latin typeface="Arial" panose="020B0604020202020204" pitchFamily="34" charset="0"/>
              <a:ea typeface="Times New Roman" panose="02020603050405020304" pitchFamily="18" charset="0"/>
            </a:endParaRPr>
          </a:p>
        </p:txBody>
      </p:sp>
    </p:spTree>
    <p:extLst>
      <p:ext uri="{BB962C8B-B14F-4D97-AF65-F5344CB8AC3E}">
        <p14:creationId xmlns:p14="http://schemas.microsoft.com/office/powerpoint/2010/main" val="4011785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17672-F6E5-9794-1B2A-1763A27561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977476-C6D1-EFDC-F7D7-707F9B4954F6}"/>
              </a:ext>
            </a:extLst>
          </p:cNvPr>
          <p:cNvSpPr>
            <a:spLocks noGrp="1"/>
          </p:cNvSpPr>
          <p:nvPr>
            <p:ph type="title"/>
          </p:nvPr>
        </p:nvSpPr>
        <p:spPr>
          <a:xfrm>
            <a:off x="838200" y="365126"/>
            <a:ext cx="10515600" cy="1078664"/>
          </a:xfrm>
        </p:spPr>
        <p:txBody>
          <a:bodyPr>
            <a:normAutofit fontScale="90000"/>
          </a:bodyPr>
          <a:lstStyle/>
          <a:p>
            <a:r>
              <a:rPr lang="en-US" b="1" dirty="0"/>
              <a:t>Selected Use Case – </a:t>
            </a:r>
            <a:br>
              <a:rPr lang="en-US" b="1" dirty="0"/>
            </a:br>
            <a:r>
              <a:rPr lang="en-US" b="1" dirty="0">
                <a:highlight>
                  <a:srgbClr val="FFFF00"/>
                </a:highlight>
              </a:rPr>
              <a:t>Highlight your selected use case below</a:t>
            </a:r>
            <a:endParaRPr lang="en-US" dirty="0">
              <a:highlight>
                <a:srgbClr val="FFFF00"/>
              </a:highlight>
            </a:endParaRPr>
          </a:p>
        </p:txBody>
      </p:sp>
      <p:sp>
        <p:nvSpPr>
          <p:cNvPr id="3" name="Content Placeholder 2">
            <a:extLst>
              <a:ext uri="{FF2B5EF4-FFF2-40B4-BE49-F238E27FC236}">
                <a16:creationId xmlns:a16="http://schemas.microsoft.com/office/drawing/2014/main" id="{C8760CD5-405C-869B-BC45-A94C15FE2050}"/>
              </a:ext>
            </a:extLst>
          </p:cNvPr>
          <p:cNvSpPr>
            <a:spLocks noGrp="1"/>
          </p:cNvSpPr>
          <p:nvPr>
            <p:ph idx="1"/>
          </p:nvPr>
        </p:nvSpPr>
        <p:spPr>
          <a:xfrm>
            <a:off x="548640" y="1536866"/>
            <a:ext cx="11290434" cy="4806182"/>
          </a:xfrm>
        </p:spPr>
        <p:txBody>
          <a:bodyPr>
            <a:normAutofit fontScale="92500" lnSpcReduction="10000"/>
          </a:bodyPr>
          <a:lstStyle/>
          <a:p>
            <a:pPr marL="0" indent="0" algn="just">
              <a:buNone/>
            </a:pPr>
            <a:r>
              <a:rPr lang="en-US" sz="1600" b="1" dirty="0"/>
              <a:t>Case Study Options</a:t>
            </a:r>
            <a:r>
              <a:rPr lang="en-US" sz="1600" dirty="0"/>
              <a:t> (</a:t>
            </a:r>
            <a:r>
              <a:rPr lang="en-US" sz="1600" i="1" dirty="0"/>
              <a:t>The problem statement serves as a starting point; you can use it as is or adapt it based on your users' specific needs.</a:t>
            </a:r>
            <a:r>
              <a:rPr lang="en-US" sz="1600" dirty="0"/>
              <a:t>):</a:t>
            </a:r>
          </a:p>
          <a:p>
            <a:pPr marL="0" indent="0" algn="just">
              <a:buNone/>
            </a:pPr>
            <a:endParaRPr lang="en-US" sz="1600" dirty="0"/>
          </a:p>
          <a:p>
            <a:pPr marL="0" lvl="0" indent="0" algn="just">
              <a:buNone/>
            </a:pPr>
            <a:r>
              <a:rPr lang="en-US" sz="1600" b="1" dirty="0"/>
              <a:t>Campus Event Management System</a:t>
            </a:r>
            <a:endParaRPr lang="en-US" sz="1600" dirty="0"/>
          </a:p>
          <a:p>
            <a:pPr algn="just"/>
            <a:r>
              <a:rPr lang="en-US" sz="1600" b="1" dirty="0"/>
              <a:t>Problem Statement:</a:t>
            </a:r>
            <a:r>
              <a:rPr lang="en-US" sz="1600" dirty="0"/>
              <a:t> Students often miss out on campus events due to scattered announcements, lack of reminders, and complicated registration processes, leading to low participation and poor event visibility. </a:t>
            </a:r>
          </a:p>
          <a:p>
            <a:pPr lvl="0" algn="just"/>
            <a:endParaRPr lang="en-US" sz="1600" b="1" dirty="0"/>
          </a:p>
          <a:p>
            <a:pPr marL="0" lvl="0" indent="0" algn="just">
              <a:buNone/>
            </a:pPr>
            <a:r>
              <a:rPr lang="en-US" sz="1600" b="1" dirty="0"/>
              <a:t>Library Book Finder &amp; Reservation System</a:t>
            </a:r>
            <a:endParaRPr lang="en-US" sz="1600" dirty="0"/>
          </a:p>
          <a:p>
            <a:pPr algn="just"/>
            <a:r>
              <a:rPr lang="en-US" sz="1600" b="1" dirty="0"/>
              <a:t>Problem Statement: </a:t>
            </a:r>
            <a:r>
              <a:rPr lang="en-US" sz="1600" dirty="0"/>
              <a:t>Students waste time searching for books in the library without knowing their availability, resulting in frustration and missed opportunities to access learning resources.</a:t>
            </a:r>
          </a:p>
          <a:p>
            <a:pPr marL="0" indent="0" algn="just">
              <a:buNone/>
            </a:pPr>
            <a:r>
              <a:rPr lang="en-US" sz="1600" dirty="0"/>
              <a:t> </a:t>
            </a:r>
          </a:p>
          <a:p>
            <a:pPr marL="0" lvl="0" indent="0" algn="just">
              <a:buNone/>
            </a:pPr>
            <a:r>
              <a:rPr lang="en-US" sz="1600" b="1" dirty="0">
                <a:highlight>
                  <a:srgbClr val="FFFF00"/>
                </a:highlight>
              </a:rPr>
              <a:t>Peer-to-Peer Learning / Tutor Finder</a:t>
            </a:r>
            <a:endParaRPr lang="en-US" sz="1600" dirty="0">
              <a:highlight>
                <a:srgbClr val="FFFF00"/>
              </a:highlight>
            </a:endParaRPr>
          </a:p>
          <a:p>
            <a:pPr algn="just"/>
            <a:r>
              <a:rPr lang="en-US" sz="1600" b="1" dirty="0">
                <a:highlight>
                  <a:srgbClr val="FFFF00"/>
                </a:highlight>
              </a:rPr>
              <a:t>Problem Statement: </a:t>
            </a:r>
            <a:r>
              <a:rPr lang="en-US" sz="1600" dirty="0">
                <a:highlight>
                  <a:srgbClr val="FFFF00"/>
                </a:highlight>
              </a:rPr>
              <a:t>Students often need academic help but struggle to find peers with the right expertise, leading to missed learning opportunities and uneven access to support.</a:t>
            </a:r>
          </a:p>
          <a:p>
            <a:pPr marL="0" indent="0" algn="just">
              <a:buNone/>
            </a:pPr>
            <a:r>
              <a:rPr lang="en-US" sz="1600" dirty="0"/>
              <a:t> </a:t>
            </a:r>
          </a:p>
          <a:p>
            <a:pPr marL="0" lvl="0" indent="0" algn="just">
              <a:buNone/>
            </a:pPr>
            <a:r>
              <a:rPr lang="en-US" sz="1600" b="1" dirty="0"/>
              <a:t>Internship &amp; Job Portal for Students</a:t>
            </a:r>
            <a:endParaRPr lang="en-US" sz="1600" dirty="0"/>
          </a:p>
          <a:p>
            <a:pPr algn="just"/>
            <a:r>
              <a:rPr lang="en-US" sz="1600" b="1" dirty="0"/>
              <a:t>Problem Statement: </a:t>
            </a:r>
            <a:r>
              <a:rPr lang="en-US" sz="1600" dirty="0"/>
              <a:t>Students often struggle to find internships and job opportunities relevant to their courses, as postings are scattered across multiple platforms with no campus-specific matching.</a:t>
            </a:r>
            <a:r>
              <a:rPr lang="en-US" sz="1600" b="1" dirty="0"/>
              <a:t> </a:t>
            </a:r>
            <a:endParaRPr lang="en-US" sz="1600" dirty="0"/>
          </a:p>
        </p:txBody>
      </p:sp>
    </p:spTree>
    <p:extLst>
      <p:ext uri="{BB962C8B-B14F-4D97-AF65-F5344CB8AC3E}">
        <p14:creationId xmlns:p14="http://schemas.microsoft.com/office/powerpoint/2010/main" val="1420197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04071-0090-17B7-2A90-3317FAB697E2}"/>
              </a:ext>
            </a:extLst>
          </p:cNvPr>
          <p:cNvSpPr>
            <a:spLocks noGrp="1"/>
          </p:cNvSpPr>
          <p:nvPr>
            <p:ph type="title"/>
          </p:nvPr>
        </p:nvSpPr>
        <p:spPr/>
        <p:txBody>
          <a:bodyPr/>
          <a:lstStyle/>
          <a:p>
            <a:r>
              <a:rPr lang="en-US" b="1" dirty="0"/>
              <a:t>Problem Definition/Customer Needs (4%)</a:t>
            </a:r>
            <a:endParaRPr lang="en-US" dirty="0"/>
          </a:p>
        </p:txBody>
      </p:sp>
      <p:pic>
        <p:nvPicPr>
          <p:cNvPr id="9" name="Picture 8">
            <a:extLst>
              <a:ext uri="{FF2B5EF4-FFF2-40B4-BE49-F238E27FC236}">
                <a16:creationId xmlns:a16="http://schemas.microsoft.com/office/drawing/2014/main" id="{B01B1A60-B793-6598-607D-FCBA88207E1A}"/>
              </a:ext>
            </a:extLst>
          </p:cNvPr>
          <p:cNvPicPr>
            <a:picLocks noChangeAspect="1"/>
          </p:cNvPicPr>
          <p:nvPr/>
        </p:nvPicPr>
        <p:blipFill>
          <a:blip r:embed="rId2"/>
          <a:stretch>
            <a:fillRect/>
          </a:stretch>
        </p:blipFill>
        <p:spPr>
          <a:xfrm>
            <a:off x="739942" y="1619656"/>
            <a:ext cx="10712116" cy="4112009"/>
          </a:xfrm>
          <a:prstGeom prst="rect">
            <a:avLst/>
          </a:prstGeom>
        </p:spPr>
      </p:pic>
    </p:spTree>
    <p:extLst>
      <p:ext uri="{BB962C8B-B14F-4D97-AF65-F5344CB8AC3E}">
        <p14:creationId xmlns:p14="http://schemas.microsoft.com/office/powerpoint/2010/main" val="1716147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4485F-1971-E1E1-0150-CFD6CDF85E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F6E75E-9C10-B9DF-1FE3-0DF030A1F9EB}"/>
              </a:ext>
            </a:extLst>
          </p:cNvPr>
          <p:cNvSpPr>
            <a:spLocks noGrp="1"/>
          </p:cNvSpPr>
          <p:nvPr>
            <p:ph type="title"/>
          </p:nvPr>
        </p:nvSpPr>
        <p:spPr/>
        <p:txBody>
          <a:bodyPr/>
          <a:lstStyle/>
          <a:p>
            <a:r>
              <a:rPr lang="en-US" b="1" dirty="0"/>
              <a:t>Problem Definition/Customer Needs (4%)</a:t>
            </a:r>
            <a:endParaRPr lang="en-US" dirty="0"/>
          </a:p>
        </p:txBody>
      </p:sp>
      <p:sp>
        <p:nvSpPr>
          <p:cNvPr id="3" name="Content Placeholder 2">
            <a:extLst>
              <a:ext uri="{FF2B5EF4-FFF2-40B4-BE49-F238E27FC236}">
                <a16:creationId xmlns:a16="http://schemas.microsoft.com/office/drawing/2014/main" id="{33470A05-E2C0-BC32-CE16-D1FB03A78EBF}"/>
              </a:ext>
            </a:extLst>
          </p:cNvPr>
          <p:cNvSpPr>
            <a:spLocks noGrp="1"/>
          </p:cNvSpPr>
          <p:nvPr>
            <p:ph idx="1"/>
          </p:nvPr>
        </p:nvSpPr>
        <p:spPr>
          <a:xfrm>
            <a:off x="708509" y="1283793"/>
            <a:ext cx="10645291" cy="5468233"/>
          </a:xfrm>
        </p:spPr>
        <p:txBody>
          <a:bodyPr>
            <a:normAutofit fontScale="92500" lnSpcReduction="10000"/>
          </a:bodyPr>
          <a:lstStyle/>
          <a:p>
            <a:pPr marL="0" indent="0" algn="just">
              <a:buNone/>
            </a:pPr>
            <a:r>
              <a:rPr lang="en-US" altLang="zh-CN" sz="3000" b="1" dirty="0"/>
              <a:t>Problem Statement</a:t>
            </a:r>
          </a:p>
          <a:p>
            <a:pPr algn="just"/>
            <a:r>
              <a:rPr lang="en-US" altLang="zh-CN" sz="1800" b="1" dirty="0"/>
              <a:t>Problem 1: Discovery Problem - Information Silos Prevent Finding Qualified Tutors. </a:t>
            </a:r>
            <a:r>
              <a:rPr lang="en-US" altLang="zh-CN" sz="1800" dirty="0"/>
              <a:t>During the discovery stage, students cannot systematically find qualified peer tutors because communication happens organically through existing social circles like class groups, friends, casual networks. Rather than through purposeful channels designed for academic support. In instances where a student is struggling with one subject, asking classmates within their immediate network results in missing highly qualified peer tutors from other classes or cohorts who have proven expertise in that subject. This creates information silos whereby the talented peers remain invisible simply because they are not in the same social circle. There is no capacity to search for tutors by subject expertise, availability, or past performance. Students waste time asking around and are not assured of finding suitable help. </a:t>
            </a:r>
            <a:r>
              <a:rPr lang="en-US" altLang="zh-CN" sz="1800" b="1" dirty="0"/>
              <a:t>Customer need: </a:t>
            </a:r>
            <a:r>
              <a:rPr lang="en-US" altLang="zh-CN" sz="1800" dirty="0"/>
              <a:t>"As a student struggling with ADEV, I want to quickly find experienced tutors available this week with good ratings, so that I can get help before my exam."</a:t>
            </a:r>
          </a:p>
          <a:p>
            <a:pPr algn="just"/>
            <a:r>
              <a:rPr lang="en-US" sz="1800" b="1" dirty="0"/>
              <a:t>Problem 2: Coordination Problem-Informal Channels Make Booking and Management Chaotic. </a:t>
            </a:r>
            <a:r>
              <a:rPr lang="en-US" sz="1800" dirty="0"/>
              <a:t>When a student identifies a potential </a:t>
            </a:r>
            <a:r>
              <a:rPr lang="en-US" sz="1800" dirty="0" err="1"/>
              <a:t>peervtutor</a:t>
            </a:r>
            <a:r>
              <a:rPr lang="en-US" sz="1800" dirty="0"/>
              <a:t>, the coordination stage is challenging as it relies on informal channels such as Reddit, WhatsApp, or personal messaging. Lacking a unified platform, students and tutors are forced to coordinate schedules through back-and-forth messaging, which results in missed appointments, double booking, and confusion over session details. There is no centralized booking system, no calendar integration, and there is no systemized tracking of upcoming or past sessions. Each tutoring arrangement requires a different, manual coordination across various communication tools. In this respect, such a fragmented approach adds a lot of unnecessary friction to a rather seamless process from the customer's perspective, from the point of booking confirmation to session completion. </a:t>
            </a:r>
            <a:r>
              <a:rPr lang="en-US" sz="1800" b="1" dirty="0"/>
              <a:t>Customer need: </a:t>
            </a:r>
            <a:r>
              <a:rPr lang="en-US" sz="1800" dirty="0"/>
              <a:t>"As a tutor managing 5-10 sessions per week, I want a centralized booking system with automatic conflict detection and calendar integration, so that I can efficiently manage my tutoring schedule without chaotic messaging."</a:t>
            </a:r>
          </a:p>
        </p:txBody>
      </p:sp>
    </p:spTree>
    <p:extLst>
      <p:ext uri="{BB962C8B-B14F-4D97-AF65-F5344CB8AC3E}">
        <p14:creationId xmlns:p14="http://schemas.microsoft.com/office/powerpoint/2010/main" val="3971626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89BFC-6784-358E-1242-185AAC0E3B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A234D9-13B3-8B5B-D0ED-F4D8608B15F4}"/>
              </a:ext>
            </a:extLst>
          </p:cNvPr>
          <p:cNvSpPr>
            <a:spLocks noGrp="1"/>
          </p:cNvSpPr>
          <p:nvPr>
            <p:ph type="title"/>
          </p:nvPr>
        </p:nvSpPr>
        <p:spPr/>
        <p:txBody>
          <a:bodyPr/>
          <a:lstStyle/>
          <a:p>
            <a:r>
              <a:rPr lang="en-US" b="1" dirty="0"/>
              <a:t>Problem Definition/Customer Needs (4%)</a:t>
            </a:r>
            <a:endParaRPr lang="en-US" dirty="0"/>
          </a:p>
        </p:txBody>
      </p:sp>
      <p:sp>
        <p:nvSpPr>
          <p:cNvPr id="3" name="Content Placeholder 2">
            <a:extLst>
              <a:ext uri="{FF2B5EF4-FFF2-40B4-BE49-F238E27FC236}">
                <a16:creationId xmlns:a16="http://schemas.microsoft.com/office/drawing/2014/main" id="{0690E9D0-6C98-8EFA-BB2D-9ECF7793897A}"/>
              </a:ext>
            </a:extLst>
          </p:cNvPr>
          <p:cNvSpPr>
            <a:spLocks noGrp="1"/>
          </p:cNvSpPr>
          <p:nvPr>
            <p:ph idx="1"/>
          </p:nvPr>
        </p:nvSpPr>
        <p:spPr>
          <a:xfrm>
            <a:off x="708509" y="1283794"/>
            <a:ext cx="10645291" cy="4893170"/>
          </a:xfrm>
        </p:spPr>
        <p:txBody>
          <a:bodyPr>
            <a:normAutofit lnSpcReduction="10000"/>
          </a:bodyPr>
          <a:lstStyle/>
          <a:p>
            <a:pPr marL="0" indent="0" algn="just">
              <a:buNone/>
            </a:pPr>
            <a:r>
              <a:rPr lang="en-US" altLang="zh-CN" b="1" dirty="0"/>
              <a:t>Problem Statement</a:t>
            </a:r>
          </a:p>
          <a:p>
            <a:pPr algn="just"/>
            <a:r>
              <a:rPr lang="en-US" altLang="zh-CN" sz="1800" b="1" dirty="0"/>
              <a:t>Problem 3: </a:t>
            </a:r>
            <a:r>
              <a:rPr lang="en-US" altLang="zh-CN" sz="1700" b="1" dirty="0"/>
              <a:t>Trust &amp; Motivation Problem - No Quality Assurance and No Incentive for Good Students to Help. </a:t>
            </a:r>
            <a:r>
              <a:rPr lang="en-US" altLang="zh-CN" sz="1800" dirty="0"/>
              <a:t>The problem with the present peer-learning system is two-fold. The first is that there is no mechanism for quality assurance. As a result, there is no review, feedback, or experience available to a student seeking tutoring services, making it impossible to gauge beforehand how much value they will derive. The second issue is more deeply ingrained. Better-performing students feel embarrassed to tutor other peers because there is no incentive system. Capable peers view tutoring others as a chore because they can't gain more value out of it. Tu2tor rectifies this situation by implementing a credit system whereby peers can reward each other to better themselves later on - peers can gain credits to tutor others, which they can redeem later to gain tutorage assistance themselves. This break-through mechanism indicates that better-performing peers are essentially rewarding themselves because they will gain because peers tutor each other. </a:t>
            </a:r>
            <a:r>
              <a:rPr lang="en-US" altLang="zh-CN" sz="1800" b="1" dirty="0"/>
              <a:t>Customer need :     </a:t>
            </a:r>
            <a:r>
              <a:rPr lang="en-US" altLang="zh-CN" sz="1800" dirty="0"/>
              <a:t>“As a high-performing student, I want to gain credits to reward other peers, such that when I personally need tutorage assistance in other subjects I am no better at, I gain access to quality tutorage assistance, which is essentially rewarding myself because I am helping myself at a later date.”</a:t>
            </a:r>
          </a:p>
          <a:p>
            <a:pPr algn="just"/>
            <a:r>
              <a:rPr lang="en-US" sz="1800" b="1" dirty="0"/>
              <a:t>Problem 4:</a:t>
            </a:r>
            <a:r>
              <a:rPr lang="en-US" sz="1800" dirty="0"/>
              <a:t> </a:t>
            </a:r>
            <a:r>
              <a:rPr lang="en-US" altLang="zh-CN" sz="1700" b="1" dirty="0"/>
              <a:t>Matching Problem - Manual Browsing Without AI-Driven Recommendations.</a:t>
            </a:r>
            <a:r>
              <a:rPr lang="en-US" sz="1800" dirty="0"/>
              <a:t> Students must manually browse dozens of peer's profiles, leading to decision fatigue and inefficiency. Without intelligent matching based on learning history, they struggle to identify the best fit for their needs. </a:t>
            </a:r>
            <a:r>
              <a:rPr lang="en-US" altLang="zh-CN" sz="1800" b="1" dirty="0"/>
              <a:t>Customer need </a:t>
            </a:r>
            <a:r>
              <a:rPr lang="en-US" sz="1800" b="1" dirty="0"/>
              <a:t>: </a:t>
            </a:r>
            <a:r>
              <a:rPr lang="en-US" sz="1800" dirty="0"/>
              <a:t>"</a:t>
            </a:r>
            <a:r>
              <a:rPr lang="en-US" altLang="zh-CN" dirty="0"/>
              <a:t> </a:t>
            </a:r>
            <a:r>
              <a:rPr lang="en-US" altLang="zh-CN" sz="1700" dirty="0"/>
              <a:t>As a student with previous ADEV and DBAV tutoring, I want AI recommendations based on my history so that I can quickly find the best match.</a:t>
            </a:r>
            <a:r>
              <a:rPr lang="en-US" sz="1700" dirty="0"/>
              <a:t>."</a:t>
            </a:r>
          </a:p>
        </p:txBody>
      </p:sp>
    </p:spTree>
    <p:extLst>
      <p:ext uri="{BB962C8B-B14F-4D97-AF65-F5344CB8AC3E}">
        <p14:creationId xmlns:p14="http://schemas.microsoft.com/office/powerpoint/2010/main" val="15019279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E3DCC-8FC8-57BE-DC80-FE3A12797B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4EB04D-D5C5-759A-371D-E7F71B42A14A}"/>
              </a:ext>
            </a:extLst>
          </p:cNvPr>
          <p:cNvSpPr>
            <a:spLocks noGrp="1"/>
          </p:cNvSpPr>
          <p:nvPr>
            <p:ph type="title"/>
          </p:nvPr>
        </p:nvSpPr>
        <p:spPr/>
        <p:txBody>
          <a:bodyPr/>
          <a:lstStyle/>
          <a:p>
            <a:r>
              <a:rPr lang="en-US" b="1" dirty="0"/>
              <a:t>Problem Definition/Customer Needs (4%)</a:t>
            </a:r>
            <a:endParaRPr lang="en-US" dirty="0"/>
          </a:p>
        </p:txBody>
      </p:sp>
      <p:sp>
        <p:nvSpPr>
          <p:cNvPr id="3" name="Content Placeholder 2">
            <a:extLst>
              <a:ext uri="{FF2B5EF4-FFF2-40B4-BE49-F238E27FC236}">
                <a16:creationId xmlns:a16="http://schemas.microsoft.com/office/drawing/2014/main" id="{6FC69A7B-A71E-1B34-9F28-F44E9F0D945E}"/>
              </a:ext>
            </a:extLst>
          </p:cNvPr>
          <p:cNvSpPr>
            <a:spLocks noGrp="1"/>
          </p:cNvSpPr>
          <p:nvPr>
            <p:ph idx="1"/>
          </p:nvPr>
        </p:nvSpPr>
        <p:spPr>
          <a:xfrm>
            <a:off x="661073" y="1210282"/>
            <a:ext cx="10045279" cy="5096037"/>
          </a:xfrm>
        </p:spPr>
        <p:txBody>
          <a:bodyPr>
            <a:normAutofit fontScale="55000" lnSpcReduction="20000"/>
          </a:bodyPr>
          <a:lstStyle/>
          <a:p>
            <a:pPr algn="just"/>
            <a:endParaRPr lang="en-US" altLang="zh-CN" b="1" dirty="0"/>
          </a:p>
          <a:p>
            <a:pPr marL="0" indent="0" algn="just">
              <a:buNone/>
            </a:pPr>
            <a:r>
              <a:rPr lang="en-US" altLang="zh-CN" sz="6700" b="1" dirty="0"/>
              <a:t>Tutee’s user story</a:t>
            </a:r>
            <a:endParaRPr lang="en-US" altLang="zh-CN" b="1" dirty="0"/>
          </a:p>
          <a:p>
            <a:pPr algn="just"/>
            <a:r>
              <a:rPr lang="en-US" altLang="zh-CN" b="1" dirty="0"/>
              <a:t>Finding Qualified Tutors Quickly</a:t>
            </a:r>
          </a:p>
          <a:p>
            <a:pPr marL="0" indent="0" algn="just">
              <a:buNone/>
            </a:pPr>
            <a:r>
              <a:rPr lang="en-US" altLang="zh-CN" dirty="0"/>
              <a:t>I'm a Year 1 IT student struggling with DBAV, and my exam is next week. I need to find a tutor who really knows this subject and has helped other students successfully before. I don't have time to ask around in multiple WhatsApp groups or wait for responses. I want a system where I can search by subject, see who's available this week, and check their ratings from previous students. This would make the website personalized for me and get me the right help before it's too late. </a:t>
            </a:r>
          </a:p>
          <a:p>
            <a:pPr algn="just"/>
            <a:r>
              <a:rPr lang="en-US" altLang="zh-CN" b="1" dirty="0"/>
              <a:t>Making Informed Decisions with Reviews </a:t>
            </a:r>
          </a:p>
          <a:p>
            <a:pPr marL="0" indent="0" algn="just">
              <a:buNone/>
            </a:pPr>
            <a:r>
              <a:rPr lang="en-US" altLang="zh-CN" dirty="0"/>
              <a:t>I want to book a tutor for React.js, but I'm worried about wasting my credits on someone who might not be helpful. Before I commit, I need to see what other students have said about this tutor. Were they clear in their explanations? Did they actually help improve grades? I feel students should have some transparency about the quality of tutors through a review system so I can make confident decisions about who to learn from.</a:t>
            </a:r>
          </a:p>
          <a:p>
            <a:pPr algn="just"/>
            <a:r>
              <a:rPr lang="en-US" altLang="zh-CN" b="1" dirty="0"/>
              <a:t>Seamless Video Sessions </a:t>
            </a:r>
          </a:p>
          <a:p>
            <a:pPr marL="0" indent="0" algn="just">
              <a:buNone/>
            </a:pPr>
            <a:r>
              <a:rPr lang="en-US" altLang="zh-CN" dirty="0"/>
              <a:t>When I am booking an online tutoring session, I don't want to be bothered with several applications and lost Zoom links. It would be simpler to plan if the video meeting was integrated right into the platform. I should click "Join Session" and directly start learning without copying links, downloading apps, and troubleshooting. The system should remember about my upcoming sessions and let me join in with one click. </a:t>
            </a:r>
          </a:p>
          <a:p>
            <a:pPr algn="just"/>
            <a:r>
              <a:rPr lang="en-US" altLang="zh-CN" b="1" dirty="0"/>
              <a:t>Personal AI recommendations </a:t>
            </a:r>
          </a:p>
          <a:p>
            <a:pPr marL="0" indent="0" algn="just">
              <a:buNone/>
            </a:pPr>
            <a:r>
              <a:rPr lang="en-US" altLang="zh-CN" dirty="0"/>
              <a:t>I have already taken tutoring for ADEV and JavaScript; now I need help with React. The modules I want to learn need not be confined to what I'm currently studying—perhaps I'd like to explore other IT frameworks or even design principles. I want an authentication system so that the platform remembers my learning history and recommends tutors who match my progression. Instead of browsing hundreds of profiles, the AI should suggest the best tutors based on what I've learned before.</a:t>
            </a:r>
            <a:endParaRPr lang="en-US" sz="1700" dirty="0"/>
          </a:p>
        </p:txBody>
      </p:sp>
    </p:spTree>
    <p:extLst>
      <p:ext uri="{BB962C8B-B14F-4D97-AF65-F5344CB8AC3E}">
        <p14:creationId xmlns:p14="http://schemas.microsoft.com/office/powerpoint/2010/main" val="8616935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A8D49-A12F-780C-49D2-BB8057E179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80E255-D5F0-37C3-DD27-E9E74CE13F1E}"/>
              </a:ext>
            </a:extLst>
          </p:cNvPr>
          <p:cNvSpPr>
            <a:spLocks noGrp="1"/>
          </p:cNvSpPr>
          <p:nvPr>
            <p:ph type="title"/>
          </p:nvPr>
        </p:nvSpPr>
        <p:spPr/>
        <p:txBody>
          <a:bodyPr/>
          <a:lstStyle/>
          <a:p>
            <a:r>
              <a:rPr lang="en-US" b="1" dirty="0"/>
              <a:t>Problem Definition/Customer Needs (4%)</a:t>
            </a:r>
            <a:endParaRPr lang="en-US" dirty="0"/>
          </a:p>
        </p:txBody>
      </p:sp>
      <p:sp>
        <p:nvSpPr>
          <p:cNvPr id="3" name="Content Placeholder 2">
            <a:extLst>
              <a:ext uri="{FF2B5EF4-FFF2-40B4-BE49-F238E27FC236}">
                <a16:creationId xmlns:a16="http://schemas.microsoft.com/office/drawing/2014/main" id="{94B8B74C-5065-3E08-625E-7CF77D8AC977}"/>
              </a:ext>
            </a:extLst>
          </p:cNvPr>
          <p:cNvSpPr>
            <a:spLocks noGrp="1"/>
          </p:cNvSpPr>
          <p:nvPr>
            <p:ph idx="1"/>
          </p:nvPr>
        </p:nvSpPr>
        <p:spPr>
          <a:xfrm>
            <a:off x="661074" y="1210282"/>
            <a:ext cx="10269338" cy="5329797"/>
          </a:xfrm>
        </p:spPr>
        <p:txBody>
          <a:bodyPr>
            <a:normAutofit fontScale="55000" lnSpcReduction="20000"/>
          </a:bodyPr>
          <a:lstStyle/>
          <a:p>
            <a:pPr algn="just"/>
            <a:endParaRPr lang="en-US" altLang="zh-CN" b="1" dirty="0"/>
          </a:p>
          <a:p>
            <a:pPr marL="0" indent="0" algn="just">
              <a:buNone/>
            </a:pPr>
            <a:r>
              <a:rPr lang="en-US" altLang="zh-CN" sz="6700" b="1" dirty="0"/>
              <a:t>Tutor’s user story</a:t>
            </a:r>
          </a:p>
          <a:p>
            <a:pPr marL="0" indent="0" algn="just">
              <a:buNone/>
            </a:pPr>
            <a:endParaRPr lang="en-US" altLang="zh-CN" b="1" dirty="0"/>
          </a:p>
          <a:p>
            <a:r>
              <a:rPr lang="en-US" altLang="zh-CN" b="1" dirty="0"/>
              <a:t>Credit System - Helping Others Means Helping My Future Self</a:t>
            </a:r>
          </a:p>
          <a:p>
            <a:pPr marL="0" indent="0">
              <a:buNone/>
            </a:pPr>
            <a:r>
              <a:rPr lang="en-US" altLang="zh-CN" dirty="0"/>
              <a:t>I'm strong in Full stack development but struggle with IOT. I've never been motivated to tutor because it takes time from my studies and free time. With Tu2tor's credit system, when I tutor DBAV now, I earn credits to use for IOT help this semester. Helping my peers today is actually investing in my own future learning. This makes me want to actively share my knowledge, knowing that when I need help later, I'll have credits to access quality tutoring. It's helping others while helping my future self.</a:t>
            </a:r>
          </a:p>
          <a:p>
            <a:r>
              <a:rPr lang="en-US" altLang="zh-CN" b="1" dirty="0"/>
              <a:t>Managing My Tutoring Schedule</a:t>
            </a:r>
            <a:r>
              <a:rPr lang="en-US" altLang="zh-CN" dirty="0"/>
              <a:t> </a:t>
            </a:r>
          </a:p>
          <a:p>
            <a:pPr marL="0" indent="0">
              <a:buNone/>
            </a:pPr>
            <a:r>
              <a:rPr lang="en-US" altLang="zh-CN" dirty="0"/>
              <a:t>I'm helping 3 students every week, and I want to make it easy for potential students to know when I'm available without constant messaging. I should be able to set my available time slots once in my profile—for example, Mondays 2-5pm and Wednesdays 10am-4pm—and students can view these slots directly when they visit my profile. When a student books a slot, the system should automatically mark it as unavailable for others, preventing double-booking. This way, I don't have to manually coordinate schedules through WhatsApp, and students can immediately see when they can book me.</a:t>
            </a:r>
          </a:p>
          <a:p>
            <a:r>
              <a:rPr lang="en-US" altLang="zh-CN" b="1" dirty="0"/>
              <a:t>Building My Reputation</a:t>
            </a:r>
            <a:endParaRPr lang="en-US" altLang="zh-CN" dirty="0"/>
          </a:p>
          <a:p>
            <a:pPr marL="0" indent="0">
              <a:buNone/>
            </a:pPr>
            <a:r>
              <a:rPr lang="en-US" altLang="zh-CN" dirty="0"/>
              <a:t> I specialize in web development subjects like ADEV and DBAV and I've helped many students improve their grades. When I apply for internships or jobs, I want to include this tutoring experience on my resume, but I need verifiable evidence. This platform can serve as proof, my profile displays the real cases of students I've helped, their actual reviews and ratings, and specific comments about how I improved their understanding. Employers and schools can verify this directly through the platform. Having documented student feedback and quantifiable results (like "helped 25 students improve by average 1 grade") makes my resume stand out and demonstrates my teaching abilities with real evidence, not just claims.</a:t>
            </a:r>
          </a:p>
        </p:txBody>
      </p:sp>
    </p:spTree>
    <p:extLst>
      <p:ext uri="{BB962C8B-B14F-4D97-AF65-F5344CB8AC3E}">
        <p14:creationId xmlns:p14="http://schemas.microsoft.com/office/powerpoint/2010/main" val="383049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08C29-B67A-C42A-98CD-50FD966D46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00130C-E744-D08E-90FD-BF8F139C91A9}"/>
              </a:ext>
            </a:extLst>
          </p:cNvPr>
          <p:cNvSpPr>
            <a:spLocks noGrp="1"/>
          </p:cNvSpPr>
          <p:nvPr>
            <p:ph type="title"/>
          </p:nvPr>
        </p:nvSpPr>
        <p:spPr/>
        <p:txBody>
          <a:bodyPr/>
          <a:lstStyle/>
          <a:p>
            <a:r>
              <a:rPr lang="en-US" b="1" dirty="0"/>
              <a:t>Problem Definition/Customer Needs (4%)</a:t>
            </a:r>
            <a:endParaRPr lang="en-US" dirty="0"/>
          </a:p>
        </p:txBody>
      </p:sp>
      <p:sp>
        <p:nvSpPr>
          <p:cNvPr id="3" name="Content Placeholder 2">
            <a:extLst>
              <a:ext uri="{FF2B5EF4-FFF2-40B4-BE49-F238E27FC236}">
                <a16:creationId xmlns:a16="http://schemas.microsoft.com/office/drawing/2014/main" id="{25BD9545-D448-4BE3-AD38-79F2332FC145}"/>
              </a:ext>
            </a:extLst>
          </p:cNvPr>
          <p:cNvSpPr>
            <a:spLocks noGrp="1"/>
          </p:cNvSpPr>
          <p:nvPr>
            <p:ph idx="1"/>
          </p:nvPr>
        </p:nvSpPr>
        <p:spPr>
          <a:xfrm>
            <a:off x="838200" y="1384853"/>
            <a:ext cx="11436626" cy="5400260"/>
          </a:xfrm>
        </p:spPr>
        <p:txBody>
          <a:bodyPr>
            <a:normAutofit fontScale="55000" lnSpcReduction="20000"/>
          </a:bodyPr>
          <a:lstStyle/>
          <a:p>
            <a:pPr marL="0" indent="0">
              <a:buNone/>
            </a:pPr>
            <a:r>
              <a:rPr lang="en-US" altLang="zh-CN" sz="5900" b="1" dirty="0"/>
              <a:t>Acceptance Criteria</a:t>
            </a:r>
          </a:p>
          <a:p>
            <a:pPr marL="0" indent="0">
              <a:buNone/>
            </a:pPr>
            <a:r>
              <a:rPr lang="en-US" altLang="zh-CN" dirty="0"/>
              <a:t>From these user stories and problem definitions, I can derive clear success metrics for Tu2tor:</a:t>
            </a:r>
            <a:br>
              <a:rPr lang="en-US" altLang="zh-CN" dirty="0"/>
            </a:br>
            <a:endParaRPr lang="en-US" altLang="zh-CN" dirty="0"/>
          </a:p>
          <a:p>
            <a:pPr marL="0" indent="0">
              <a:buNone/>
            </a:pPr>
            <a:r>
              <a:rPr lang="en-US" altLang="zh-CN" b="1" dirty="0"/>
              <a:t>Finding Qualified Tutors Quickly:</a:t>
            </a:r>
            <a:endParaRPr lang="en-US" altLang="zh-CN" dirty="0"/>
          </a:p>
          <a:p>
            <a:pPr marL="0" indent="0">
              <a:buNone/>
            </a:pPr>
            <a:r>
              <a:rPr lang="en-US" altLang="zh-CN" dirty="0"/>
              <a:t>-Students can search by subject, rating, and availability without asking around in multiple group chats</a:t>
            </a:r>
          </a:p>
          <a:p>
            <a:pPr marL="0" indent="0">
              <a:buNone/>
            </a:pPr>
            <a:r>
              <a:rPr lang="en-US" altLang="zh-CN" dirty="0"/>
              <a:t>-Search results surface peer tutors beyond students' immediate social circles</a:t>
            </a:r>
          </a:p>
          <a:p>
            <a:pPr marL="0" indent="0">
              <a:buNone/>
            </a:pPr>
            <a:r>
              <a:rPr lang="en-US" altLang="zh-CN" dirty="0"/>
              <a:t>-Students feel confident they've found the right help before exam deadlines</a:t>
            </a:r>
          </a:p>
          <a:p>
            <a:pPr marL="0" indent="0">
              <a:buNone/>
            </a:pPr>
            <a:endParaRPr lang="en-US" altLang="zh-CN" b="1" dirty="0"/>
          </a:p>
          <a:p>
            <a:pPr marL="0" indent="0">
              <a:buNone/>
            </a:pPr>
            <a:r>
              <a:rPr lang="en-US" altLang="zh-CN" b="1" dirty="0"/>
              <a:t>Making Informed Decisions:</a:t>
            </a:r>
          </a:p>
          <a:p>
            <a:pPr marL="0" indent="0">
              <a:buNone/>
            </a:pPr>
            <a:r>
              <a:rPr lang="en-US" altLang="zh-CN" dirty="0"/>
              <a:t>-Students can read authentic reviews from peers who've worked with the peer tutor</a:t>
            </a:r>
          </a:p>
          <a:p>
            <a:pPr marL="0" indent="0">
              <a:buNone/>
            </a:pPr>
            <a:r>
              <a:rPr lang="en-US" altLang="zh-CN" dirty="0"/>
              <a:t>-Review content helps students assess whether the tutor is clear, patient, and knowledgeable</a:t>
            </a:r>
          </a:p>
          <a:p>
            <a:pPr marL="0" indent="0">
              <a:buNone/>
            </a:pPr>
            <a:r>
              <a:rPr lang="en-US" altLang="zh-CN" dirty="0"/>
              <a:t>-Students trust they're spending credits wisely on quality tutoring</a:t>
            </a:r>
          </a:p>
          <a:p>
            <a:pPr marL="0" indent="0">
              <a:buNone/>
            </a:pPr>
            <a:endParaRPr lang="en-US" altLang="zh-CN" dirty="0"/>
          </a:p>
          <a:p>
            <a:pPr marL="0" indent="0">
              <a:buNone/>
            </a:pPr>
            <a:r>
              <a:rPr lang="en-US" altLang="zh-CN" b="1" dirty="0"/>
              <a:t>Seamless Session Experience:</a:t>
            </a:r>
            <a:endParaRPr lang="en-US" altLang="zh-CN" dirty="0"/>
          </a:p>
          <a:p>
            <a:pPr marL="0" indent="0">
              <a:buNone/>
            </a:pPr>
            <a:r>
              <a:rPr lang="en-US" altLang="zh-CN" dirty="0"/>
              <a:t>-Students join video sessions with one click, no copying Zoom links or downloading apps</a:t>
            </a:r>
          </a:p>
          <a:p>
            <a:pPr marL="0" indent="0">
              <a:buNone/>
            </a:pPr>
            <a:r>
              <a:rPr lang="en-US" altLang="zh-CN" dirty="0"/>
              <a:t>-Tutors can manage their schedule through centralized calendar without WhatsApp chaos</a:t>
            </a:r>
          </a:p>
          <a:p>
            <a:pPr marL="0" indent="0">
              <a:buNone/>
            </a:pPr>
            <a:r>
              <a:rPr lang="en-US" altLang="zh-CN" dirty="0"/>
              <a:t>-Both parties can multitask with floating video while browsing the platform</a:t>
            </a:r>
          </a:p>
          <a:p>
            <a:pPr marL="0" indent="0">
              <a:buNone/>
            </a:pPr>
            <a:br>
              <a:rPr lang="en-US" altLang="zh-CN" dirty="0"/>
            </a:br>
            <a:endParaRPr lang="en-US" altLang="zh-CN" dirty="0"/>
          </a:p>
          <a:p>
            <a:pPr marL="0" indent="0" algn="just">
              <a:buNone/>
            </a:pPr>
            <a:endParaRPr lang="en-US" sz="1700" dirty="0"/>
          </a:p>
        </p:txBody>
      </p:sp>
    </p:spTree>
    <p:extLst>
      <p:ext uri="{BB962C8B-B14F-4D97-AF65-F5344CB8AC3E}">
        <p14:creationId xmlns:p14="http://schemas.microsoft.com/office/powerpoint/2010/main" val="16676558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81361-22F9-3398-A5ED-7E2BAEB388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CA7EAE-083B-B45F-27B9-8DE970E48244}"/>
              </a:ext>
            </a:extLst>
          </p:cNvPr>
          <p:cNvSpPr>
            <a:spLocks noGrp="1"/>
          </p:cNvSpPr>
          <p:nvPr>
            <p:ph type="title"/>
          </p:nvPr>
        </p:nvSpPr>
        <p:spPr/>
        <p:txBody>
          <a:bodyPr/>
          <a:lstStyle/>
          <a:p>
            <a:r>
              <a:rPr lang="en-US" b="1" dirty="0"/>
              <a:t>Problem Definition/Customer Needs (4%)</a:t>
            </a:r>
            <a:endParaRPr lang="en-US" dirty="0"/>
          </a:p>
        </p:txBody>
      </p:sp>
      <p:sp>
        <p:nvSpPr>
          <p:cNvPr id="3" name="Content Placeholder 2">
            <a:extLst>
              <a:ext uri="{FF2B5EF4-FFF2-40B4-BE49-F238E27FC236}">
                <a16:creationId xmlns:a16="http://schemas.microsoft.com/office/drawing/2014/main" id="{C0EF926D-53FB-563F-C556-B5966E7B3E1C}"/>
              </a:ext>
            </a:extLst>
          </p:cNvPr>
          <p:cNvSpPr>
            <a:spLocks noGrp="1"/>
          </p:cNvSpPr>
          <p:nvPr>
            <p:ph idx="1"/>
          </p:nvPr>
        </p:nvSpPr>
        <p:spPr>
          <a:xfrm>
            <a:off x="838200" y="1384853"/>
            <a:ext cx="11436626" cy="5711686"/>
          </a:xfrm>
        </p:spPr>
        <p:txBody>
          <a:bodyPr>
            <a:normAutofit fontScale="47500" lnSpcReduction="20000"/>
          </a:bodyPr>
          <a:lstStyle/>
          <a:p>
            <a:pPr marL="0" indent="0">
              <a:buNone/>
            </a:pPr>
            <a:r>
              <a:rPr lang="en-US" altLang="zh-CN" sz="5900" b="1" dirty="0"/>
              <a:t>Acceptance Criteria</a:t>
            </a:r>
          </a:p>
          <a:p>
            <a:pPr marL="0" indent="0">
              <a:buNone/>
            </a:pPr>
            <a:r>
              <a:rPr lang="en-US" altLang="zh-CN" dirty="0"/>
              <a:t>From these user stories and problem definitions, I can derive clear success metrics for Tu2tor:</a:t>
            </a:r>
            <a:br>
              <a:rPr lang="en-US" altLang="zh-CN" dirty="0"/>
            </a:br>
            <a:endParaRPr lang="en-US" altLang="zh-CN" dirty="0"/>
          </a:p>
          <a:p>
            <a:pPr marL="0" indent="0">
              <a:buNone/>
            </a:pPr>
            <a:r>
              <a:rPr lang="en-US" altLang="zh-CN" b="1" dirty="0"/>
              <a:t>Credit System Motivation:</a:t>
            </a:r>
            <a:endParaRPr lang="en-US" altLang="zh-CN" dirty="0"/>
          </a:p>
          <a:p>
            <a:pPr marL="0" indent="0">
              <a:buNone/>
            </a:pPr>
            <a:r>
              <a:rPr lang="en-US" altLang="zh-CN" dirty="0"/>
              <a:t>- Strong students see tutoring as "helping their future self for another subject" rather than just a favor</a:t>
            </a:r>
          </a:p>
          <a:p>
            <a:pPr marL="0" indent="0">
              <a:buNone/>
            </a:pPr>
            <a:r>
              <a:rPr lang="en-US" altLang="zh-CN" dirty="0"/>
              <a:t>- Students who excel in one subject earn credits to get help in subjects they struggle with</a:t>
            </a:r>
          </a:p>
          <a:p>
            <a:pPr marL="0" indent="0">
              <a:buNone/>
            </a:pPr>
            <a:r>
              <a:rPr lang="en-US" altLang="zh-CN" dirty="0"/>
              <a:t>- The ecosystem sustains itself through mutual benefit rather than relying on altruism</a:t>
            </a:r>
          </a:p>
          <a:p>
            <a:pPr marL="0" indent="0">
              <a:buNone/>
            </a:pPr>
            <a:r>
              <a:rPr lang="en-US" altLang="zh-CN" b="1" dirty="0"/>
              <a:t>AI-Powered Personalization:</a:t>
            </a:r>
            <a:endParaRPr lang="en-US" altLang="zh-CN" dirty="0"/>
          </a:p>
          <a:p>
            <a:pPr marL="0" indent="0">
              <a:buNone/>
            </a:pPr>
            <a:r>
              <a:rPr lang="en-US" altLang="zh-CN" dirty="0"/>
              <a:t>- Students receive tutor recommendations based on their learning history</a:t>
            </a:r>
          </a:p>
          <a:p>
            <a:pPr marL="0" indent="0">
              <a:buNone/>
            </a:pPr>
            <a:r>
              <a:rPr lang="en-US" altLang="zh-CN" dirty="0"/>
              <a:t>- The platform remembers past subjects studied and suggests appropriate next steps</a:t>
            </a:r>
          </a:p>
          <a:p>
            <a:pPr marL="0" indent="0">
              <a:buNone/>
            </a:pPr>
            <a:r>
              <a:rPr lang="en-US" altLang="zh-CN" dirty="0"/>
              <a:t>- Browsing time decreases significantly compared to manually scrolling through profiles</a:t>
            </a:r>
          </a:p>
          <a:p>
            <a:pPr marL="0" indent="0">
              <a:buNone/>
            </a:pPr>
            <a:r>
              <a:rPr lang="en-US" altLang="zh-CN" b="1" dirty="0"/>
              <a:t>Building Tutor Reputation:</a:t>
            </a:r>
          </a:p>
          <a:p>
            <a:pPr marL="0" indent="0">
              <a:buNone/>
            </a:pPr>
            <a:r>
              <a:rPr lang="en-US" altLang="zh-CN" dirty="0"/>
              <a:t>- Tutors can showcase their expertise through verified reviews and session counts</a:t>
            </a:r>
          </a:p>
          <a:p>
            <a:pPr marL="0" indent="0">
              <a:buNone/>
            </a:pPr>
            <a:r>
              <a:rPr lang="en-US" altLang="zh-CN" dirty="0"/>
              <a:t>- Tutor profiles serve as credible evidence for resumes and job applications</a:t>
            </a:r>
          </a:p>
          <a:p>
            <a:pPr marL="0" indent="0">
              <a:buNone/>
            </a:pPr>
            <a:r>
              <a:rPr lang="en-US" altLang="zh-CN" dirty="0"/>
              <a:t>- Students prefer tutors with documented track records over unknown peers</a:t>
            </a:r>
          </a:p>
          <a:p>
            <a:pPr marL="0" indent="0">
              <a:buNone/>
            </a:pPr>
            <a:r>
              <a:rPr lang="en-US" altLang="zh-CN" b="1" dirty="0"/>
              <a:t>Real-Time Collaborative Learning:</a:t>
            </a:r>
            <a:endParaRPr lang="en-US" altLang="zh-CN" dirty="0"/>
          </a:p>
          <a:p>
            <a:pPr marL="0" indent="0">
              <a:buNone/>
            </a:pPr>
            <a:r>
              <a:rPr lang="en-US" altLang="zh-CN" dirty="0"/>
              <a:t>- Programming tutoring sessions include live code editing where both can type simultaneously</a:t>
            </a:r>
          </a:p>
          <a:p>
            <a:pPr marL="0" indent="0">
              <a:buNone/>
            </a:pPr>
            <a:r>
              <a:rPr lang="en-US" altLang="zh-CN" dirty="0"/>
              <a:t>- Students learn by doing alongside tutors, not just watching explanations</a:t>
            </a:r>
          </a:p>
          <a:p>
            <a:pPr marL="0" indent="0">
              <a:buNone/>
            </a:pPr>
            <a:r>
              <a:rPr lang="en-US" altLang="zh-CN" dirty="0"/>
              <a:t>- Code collaboration makes debugging and understanding concepts more effective</a:t>
            </a:r>
            <a:br>
              <a:rPr lang="en-US" altLang="zh-CN" dirty="0"/>
            </a:br>
            <a:endParaRPr lang="en-US" altLang="zh-CN" dirty="0"/>
          </a:p>
          <a:p>
            <a:pPr marL="0" indent="0">
              <a:buNone/>
            </a:pPr>
            <a:br>
              <a:rPr lang="en-US" altLang="zh-CN" dirty="0"/>
            </a:br>
            <a:endParaRPr lang="en-US" altLang="zh-CN" dirty="0"/>
          </a:p>
          <a:p>
            <a:pPr marL="0" indent="0" algn="just">
              <a:buNone/>
            </a:pPr>
            <a:endParaRPr lang="en-US" sz="1700" dirty="0"/>
          </a:p>
        </p:txBody>
      </p:sp>
    </p:spTree>
    <p:extLst>
      <p:ext uri="{BB962C8B-B14F-4D97-AF65-F5344CB8AC3E}">
        <p14:creationId xmlns:p14="http://schemas.microsoft.com/office/powerpoint/2010/main" val="21365123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2063B-C7BA-4B1D-B58C-6CC93786C9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93B867-408B-E7C3-1F8F-DF09D77C1BAA}"/>
              </a:ext>
            </a:extLst>
          </p:cNvPr>
          <p:cNvSpPr>
            <a:spLocks noGrp="1"/>
          </p:cNvSpPr>
          <p:nvPr>
            <p:ph type="title"/>
          </p:nvPr>
        </p:nvSpPr>
        <p:spPr/>
        <p:txBody>
          <a:bodyPr/>
          <a:lstStyle/>
          <a:p>
            <a:r>
              <a:rPr lang="en-US" b="1" dirty="0"/>
              <a:t>Project Objectives (3%)</a:t>
            </a:r>
            <a:endParaRPr lang="en-US" dirty="0"/>
          </a:p>
        </p:txBody>
      </p:sp>
      <p:pic>
        <p:nvPicPr>
          <p:cNvPr id="8" name="Picture 7">
            <a:extLst>
              <a:ext uri="{FF2B5EF4-FFF2-40B4-BE49-F238E27FC236}">
                <a16:creationId xmlns:a16="http://schemas.microsoft.com/office/drawing/2014/main" id="{4AD2BA13-A0E4-AF1F-3ACD-4D847AEF91DE}"/>
              </a:ext>
            </a:extLst>
          </p:cNvPr>
          <p:cNvPicPr>
            <a:picLocks noChangeAspect="1"/>
          </p:cNvPicPr>
          <p:nvPr/>
        </p:nvPicPr>
        <p:blipFill>
          <a:blip r:embed="rId2"/>
          <a:stretch>
            <a:fillRect/>
          </a:stretch>
        </p:blipFill>
        <p:spPr>
          <a:xfrm>
            <a:off x="732322" y="1690688"/>
            <a:ext cx="10009472" cy="4169100"/>
          </a:xfrm>
          <a:prstGeom prst="rect">
            <a:avLst/>
          </a:prstGeom>
        </p:spPr>
      </p:pic>
    </p:spTree>
    <p:extLst>
      <p:ext uri="{BB962C8B-B14F-4D97-AF65-F5344CB8AC3E}">
        <p14:creationId xmlns:p14="http://schemas.microsoft.com/office/powerpoint/2010/main" val="20175915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6E245-88B4-B4D1-48E2-817FBBDF33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FD76BB-441F-5A86-9F12-CB8B40F3CE62}"/>
              </a:ext>
            </a:extLst>
          </p:cNvPr>
          <p:cNvSpPr>
            <a:spLocks noGrp="1"/>
          </p:cNvSpPr>
          <p:nvPr>
            <p:ph type="title"/>
          </p:nvPr>
        </p:nvSpPr>
        <p:spPr/>
        <p:txBody>
          <a:bodyPr/>
          <a:lstStyle/>
          <a:p>
            <a:r>
              <a:rPr lang="en-US" b="1" dirty="0"/>
              <a:t>Project Objectives (3%)</a:t>
            </a:r>
            <a:endParaRPr lang="en-US" dirty="0"/>
          </a:p>
        </p:txBody>
      </p:sp>
      <p:sp>
        <p:nvSpPr>
          <p:cNvPr id="3" name="Content Placeholder 2">
            <a:extLst>
              <a:ext uri="{FF2B5EF4-FFF2-40B4-BE49-F238E27FC236}">
                <a16:creationId xmlns:a16="http://schemas.microsoft.com/office/drawing/2014/main" id="{4C70A787-970F-3BB7-78FD-A04117B6FB38}"/>
              </a:ext>
            </a:extLst>
          </p:cNvPr>
          <p:cNvSpPr>
            <a:spLocks noGrp="1"/>
          </p:cNvSpPr>
          <p:nvPr>
            <p:ph idx="1"/>
          </p:nvPr>
        </p:nvSpPr>
        <p:spPr>
          <a:xfrm>
            <a:off x="587396" y="1429128"/>
            <a:ext cx="10766404" cy="4911115"/>
          </a:xfrm>
        </p:spPr>
        <p:txBody>
          <a:bodyPr>
            <a:normAutofit fontScale="70000" lnSpcReduction="20000"/>
          </a:bodyPr>
          <a:lstStyle/>
          <a:p>
            <a:pPr marL="0" indent="0" algn="just">
              <a:buNone/>
            </a:pPr>
            <a:r>
              <a:rPr lang="en-US" sz="4000" b="1" dirty="0"/>
              <a:t>What is the purpose of Tu2tor, and why is it needed?</a:t>
            </a:r>
          </a:p>
          <a:p>
            <a:pPr algn="just"/>
            <a:r>
              <a:rPr lang="en-US" dirty="0"/>
              <a:t>Tu2tor is a campus-based peer tutoring platform designed to connect Temasek Polytechnic students who need academic help with fellow students who can provide quality tutoring.</a:t>
            </a:r>
          </a:p>
          <a:p>
            <a:pPr algn="just"/>
            <a:endParaRPr lang="en-US" b="1" dirty="0"/>
          </a:p>
          <a:p>
            <a:pPr algn="just"/>
            <a:r>
              <a:rPr lang="en-US" b="1" dirty="0"/>
              <a:t>Why peer tutoring matters: </a:t>
            </a:r>
            <a:r>
              <a:rPr lang="en-US" altLang="zh-CN" dirty="0"/>
              <a:t>A meta-analysis conducted in 2024 of 27 studies showed that peer tutoring programs have a moderate highly positive effect (g = 0.480) on the academic achievement of college students. Regarding STEM subjects, the results of the meta-analysis conducted in 2025 showed that the strong significant effect of peer tutoring programs on these subjects’ academic achievement; this implies that peer tutoring greatly improves university academic performance. Notably, there were significantly higher effects in Asian countries. This implies that peer tutoring programs suit the education system that prevails in Singapore.</a:t>
            </a:r>
          </a:p>
          <a:p>
            <a:pPr algn="just"/>
            <a:endParaRPr lang="en-US" b="1" dirty="0"/>
          </a:p>
          <a:p>
            <a:pPr algn="just"/>
            <a:r>
              <a:rPr lang="en-US" b="1" dirty="0"/>
              <a:t>The current problem: </a:t>
            </a:r>
            <a:r>
              <a:rPr lang="en-US" dirty="0"/>
              <a:t>While students have vast knowledge resources within their own community, there's no efficient way to connect those who need help with those who can provide it. The informal system—relying on WhatsApp groups, word-of-mouth, and bulletin boards—creates inefficiencies, information gaps, and trust barriers. Research on WhatsApp use in education highlights major coordination challenges including information overload in large group chats, 24/7 availability expectations, and messages getting lost in the noise. </a:t>
            </a:r>
          </a:p>
        </p:txBody>
      </p:sp>
    </p:spTree>
    <p:extLst>
      <p:ext uri="{BB962C8B-B14F-4D97-AF65-F5344CB8AC3E}">
        <p14:creationId xmlns:p14="http://schemas.microsoft.com/office/powerpoint/2010/main" val="5473558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82919-1BA5-7047-D369-71C0FD88AD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A0AF05-5DCD-5764-FFAA-1454D4382ABB}"/>
              </a:ext>
            </a:extLst>
          </p:cNvPr>
          <p:cNvSpPr>
            <a:spLocks noGrp="1"/>
          </p:cNvSpPr>
          <p:nvPr>
            <p:ph type="title"/>
          </p:nvPr>
        </p:nvSpPr>
        <p:spPr/>
        <p:txBody>
          <a:bodyPr/>
          <a:lstStyle/>
          <a:p>
            <a:r>
              <a:rPr lang="en-US" b="1" dirty="0"/>
              <a:t>Project Objectives (3%)</a:t>
            </a:r>
            <a:endParaRPr lang="en-US" dirty="0"/>
          </a:p>
        </p:txBody>
      </p:sp>
      <p:sp>
        <p:nvSpPr>
          <p:cNvPr id="3" name="Content Placeholder 2">
            <a:extLst>
              <a:ext uri="{FF2B5EF4-FFF2-40B4-BE49-F238E27FC236}">
                <a16:creationId xmlns:a16="http://schemas.microsoft.com/office/drawing/2014/main" id="{A72FCEA6-6608-8A9B-230A-71AE97F2EC8B}"/>
              </a:ext>
            </a:extLst>
          </p:cNvPr>
          <p:cNvSpPr>
            <a:spLocks noGrp="1"/>
          </p:cNvSpPr>
          <p:nvPr>
            <p:ph idx="1"/>
          </p:nvPr>
        </p:nvSpPr>
        <p:spPr>
          <a:xfrm>
            <a:off x="587396" y="1429128"/>
            <a:ext cx="10766404" cy="4911115"/>
          </a:xfrm>
        </p:spPr>
        <p:txBody>
          <a:bodyPr>
            <a:normAutofit/>
          </a:bodyPr>
          <a:lstStyle/>
          <a:p>
            <a:pPr marL="0" indent="0" algn="just">
              <a:buNone/>
            </a:pPr>
            <a:r>
              <a:rPr lang="en-US" altLang="zh-CN" dirty="0"/>
              <a:t>Source: </a:t>
            </a:r>
            <a:r>
              <a:rPr lang="en-US" altLang="zh-CN" dirty="0">
                <a:hlinkClick r:id="rId2"/>
              </a:rPr>
              <a:t>https://link.springer.com/article/10.1007/s40299-024-00960-0</a:t>
            </a:r>
            <a:r>
              <a:rPr lang="en-US" altLang="zh-CN" dirty="0"/>
              <a:t>  </a:t>
            </a:r>
          </a:p>
          <a:p>
            <a:pPr marL="0" indent="0" algn="just">
              <a:buNone/>
            </a:pPr>
            <a:r>
              <a:rPr lang="en-US" altLang="zh-CN" dirty="0">
                <a:hlinkClick r:id="rId3"/>
              </a:rPr>
              <a:t>https://www.sciencedirect.com/science/article/pii/S2666374025000123</a:t>
            </a:r>
            <a:endParaRPr lang="en-US" altLang="zh-CN" dirty="0"/>
          </a:p>
          <a:p>
            <a:pPr marL="0" indent="0" algn="just">
              <a:buNone/>
            </a:pPr>
            <a:r>
              <a:rPr lang="en-US" altLang="zh-CN" dirty="0">
                <a:hlinkClick r:id="rId4"/>
              </a:rPr>
              <a:t>https://www.mdpi.com/2071-1050/14/19/12304</a:t>
            </a:r>
            <a:r>
              <a:rPr lang="en-US" altLang="zh-CN" dirty="0"/>
              <a:t>  </a:t>
            </a:r>
          </a:p>
        </p:txBody>
      </p:sp>
    </p:spTree>
    <p:extLst>
      <p:ext uri="{BB962C8B-B14F-4D97-AF65-F5344CB8AC3E}">
        <p14:creationId xmlns:p14="http://schemas.microsoft.com/office/powerpoint/2010/main" val="3044731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F7F2A-D036-5882-3460-087CDCEBA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A00E59-0AB3-E8B9-6135-36D9B8E7EC5B}"/>
              </a:ext>
            </a:extLst>
          </p:cNvPr>
          <p:cNvSpPr>
            <a:spLocks noGrp="1"/>
          </p:cNvSpPr>
          <p:nvPr>
            <p:ph type="title"/>
          </p:nvPr>
        </p:nvSpPr>
        <p:spPr/>
        <p:txBody>
          <a:bodyPr/>
          <a:lstStyle/>
          <a:p>
            <a:r>
              <a:rPr lang="en-US" b="1" dirty="0"/>
              <a:t>Project Objectives (3%)</a:t>
            </a:r>
            <a:endParaRPr lang="en-US" dirty="0"/>
          </a:p>
        </p:txBody>
      </p:sp>
      <p:sp>
        <p:nvSpPr>
          <p:cNvPr id="3" name="Content Placeholder 2">
            <a:extLst>
              <a:ext uri="{FF2B5EF4-FFF2-40B4-BE49-F238E27FC236}">
                <a16:creationId xmlns:a16="http://schemas.microsoft.com/office/drawing/2014/main" id="{60E1BB84-0DD2-10E8-BCFF-6145B31EB24F}"/>
              </a:ext>
            </a:extLst>
          </p:cNvPr>
          <p:cNvSpPr>
            <a:spLocks noGrp="1"/>
          </p:cNvSpPr>
          <p:nvPr>
            <p:ph idx="1"/>
          </p:nvPr>
        </p:nvSpPr>
        <p:spPr>
          <a:xfrm>
            <a:off x="587395" y="1429128"/>
            <a:ext cx="11215025" cy="5292620"/>
          </a:xfrm>
        </p:spPr>
        <p:txBody>
          <a:bodyPr>
            <a:normAutofit fontScale="70000" lnSpcReduction="20000"/>
          </a:bodyPr>
          <a:lstStyle/>
          <a:p>
            <a:pPr marL="0" indent="0">
              <a:buNone/>
            </a:pPr>
            <a:r>
              <a:rPr lang="en-US" altLang="zh-CN" sz="4000" b="1" dirty="0"/>
              <a:t>What is the main goal of the web app?</a:t>
            </a:r>
          </a:p>
          <a:p>
            <a:pPr marL="0" indent="0">
              <a:buNone/>
            </a:pPr>
            <a:r>
              <a:rPr lang="en-US" altLang="zh-CN" dirty="0"/>
              <a:t>The main goal is to create a seamless, trustworthy, and efficient marketplace for peer-to-peer learning within the TP IIT community.</a:t>
            </a:r>
          </a:p>
          <a:p>
            <a:pPr marL="0" indent="0">
              <a:buNone/>
            </a:pPr>
            <a:r>
              <a:rPr lang="en-US" altLang="zh-CN" dirty="0"/>
              <a:t>Tu2tor transforms scattered informal arrangements into a structured, scalable peer learning ecosystem by:</a:t>
            </a:r>
          </a:p>
          <a:p>
            <a:r>
              <a:rPr lang="en-US" altLang="zh-CN" b="1" dirty="0"/>
              <a:t>Centralizing tutor discovery</a:t>
            </a:r>
            <a:r>
              <a:rPr lang="en-US" altLang="zh-CN" dirty="0"/>
              <a:t>: Students find qualified tutors through structured search instead of asking around in multiple WhatsApp groups</a:t>
            </a:r>
          </a:p>
          <a:p>
            <a:r>
              <a:rPr lang="en-US" altLang="zh-CN" b="1" dirty="0"/>
              <a:t>Streamlining booking management</a:t>
            </a:r>
            <a:r>
              <a:rPr lang="en-US" altLang="zh-CN" dirty="0"/>
              <a:t>: Automated scheduling prevents the chaos of coordinating through messaging apps</a:t>
            </a:r>
          </a:p>
          <a:p>
            <a:r>
              <a:rPr lang="en-US" altLang="zh-CN" b="1" dirty="0"/>
              <a:t>Building trust through quality assurance</a:t>
            </a:r>
            <a:r>
              <a:rPr lang="en-US" altLang="zh-CN" dirty="0"/>
              <a:t>: Reviews and ratings help students make informed decisions before committing credits</a:t>
            </a:r>
          </a:p>
          <a:p>
            <a:r>
              <a:rPr lang="en-US" altLang="zh-CN" b="1" dirty="0"/>
              <a:t>Rewarding knowledge sharing</a:t>
            </a:r>
            <a:r>
              <a:rPr lang="en-US" altLang="zh-CN" dirty="0"/>
              <a:t>: Credit system motivates talented students to help peers, knowing they're investing in their own future learning</a:t>
            </a:r>
          </a:p>
          <a:p>
            <a:pPr marL="0" indent="0">
              <a:buNone/>
            </a:pPr>
            <a:r>
              <a:rPr lang="en-US" altLang="zh-CN" b="1" dirty="0"/>
              <a:t>Digital-first approach</a:t>
            </a:r>
            <a:r>
              <a:rPr lang="en-US" altLang="zh-CN" dirty="0"/>
              <a:t>: In 2024, 60% of institutions observed that online classes tend to fill first, and 50% noted that online program enrollment is increasing faster than on-campus enrollment, showing strong student preference for digital solutions. </a:t>
            </a:r>
          </a:p>
          <a:p>
            <a:pPr marL="0" indent="0">
              <a:buNone/>
            </a:pPr>
            <a:r>
              <a:rPr lang="en-US" altLang="zh-CN" dirty="0"/>
              <a:t>Tu2tor meets this expectation by integrating video sessions, AI recommendations, and centralized booking—no more juggling multiple platforms.</a:t>
            </a:r>
          </a:p>
        </p:txBody>
      </p:sp>
    </p:spTree>
    <p:extLst>
      <p:ext uri="{BB962C8B-B14F-4D97-AF65-F5344CB8AC3E}">
        <p14:creationId xmlns:p14="http://schemas.microsoft.com/office/powerpoint/2010/main" val="9365306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C7E46-3FE8-BE46-29CC-666C9BF8D3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D82FBE-3ED7-1B99-B85B-480FD8864740}"/>
              </a:ext>
            </a:extLst>
          </p:cNvPr>
          <p:cNvSpPr>
            <a:spLocks noGrp="1"/>
          </p:cNvSpPr>
          <p:nvPr>
            <p:ph type="title"/>
          </p:nvPr>
        </p:nvSpPr>
        <p:spPr/>
        <p:txBody>
          <a:bodyPr/>
          <a:lstStyle/>
          <a:p>
            <a:r>
              <a:rPr lang="en-US" b="1" dirty="0"/>
              <a:t>Project Objectives (3%)</a:t>
            </a:r>
            <a:endParaRPr lang="en-US" dirty="0"/>
          </a:p>
        </p:txBody>
      </p:sp>
      <p:sp>
        <p:nvSpPr>
          <p:cNvPr id="3" name="Content Placeholder 2">
            <a:extLst>
              <a:ext uri="{FF2B5EF4-FFF2-40B4-BE49-F238E27FC236}">
                <a16:creationId xmlns:a16="http://schemas.microsoft.com/office/drawing/2014/main" id="{5A6A7FE4-D1CE-E038-6770-EB4C4E008C03}"/>
              </a:ext>
            </a:extLst>
          </p:cNvPr>
          <p:cNvSpPr>
            <a:spLocks noGrp="1"/>
          </p:cNvSpPr>
          <p:nvPr>
            <p:ph idx="1"/>
          </p:nvPr>
        </p:nvSpPr>
        <p:spPr>
          <a:xfrm>
            <a:off x="587395" y="1429128"/>
            <a:ext cx="11215025" cy="5292620"/>
          </a:xfrm>
        </p:spPr>
        <p:txBody>
          <a:bodyPr>
            <a:normAutofit/>
          </a:bodyPr>
          <a:lstStyle/>
          <a:p>
            <a:pPr marL="0" indent="0">
              <a:buNone/>
            </a:pPr>
            <a:r>
              <a:rPr lang="en-US" altLang="zh-CN" dirty="0"/>
              <a:t>Source: </a:t>
            </a:r>
            <a:r>
              <a:rPr lang="en-US" altLang="zh-CN" dirty="0">
                <a:hlinkClick r:id="rId2"/>
              </a:rPr>
              <a:t>https://research.com/education/online-education-statistics</a:t>
            </a:r>
            <a:endParaRPr lang="en-US" altLang="zh-CN" dirty="0"/>
          </a:p>
        </p:txBody>
      </p:sp>
    </p:spTree>
    <p:extLst>
      <p:ext uri="{BB962C8B-B14F-4D97-AF65-F5344CB8AC3E}">
        <p14:creationId xmlns:p14="http://schemas.microsoft.com/office/powerpoint/2010/main" val="33439376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91B1B-F697-3FA6-49DF-64613BF763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9FEC52-D0A5-3549-4281-A458A5217B05}"/>
              </a:ext>
            </a:extLst>
          </p:cNvPr>
          <p:cNvSpPr>
            <a:spLocks noGrp="1"/>
          </p:cNvSpPr>
          <p:nvPr>
            <p:ph type="title"/>
          </p:nvPr>
        </p:nvSpPr>
        <p:spPr/>
        <p:txBody>
          <a:bodyPr/>
          <a:lstStyle/>
          <a:p>
            <a:r>
              <a:rPr lang="en-US" b="1" dirty="0"/>
              <a:t>Project Objectives (3%)</a:t>
            </a:r>
            <a:endParaRPr lang="en-US" dirty="0"/>
          </a:p>
        </p:txBody>
      </p:sp>
      <p:sp>
        <p:nvSpPr>
          <p:cNvPr id="3" name="Content Placeholder 2">
            <a:extLst>
              <a:ext uri="{FF2B5EF4-FFF2-40B4-BE49-F238E27FC236}">
                <a16:creationId xmlns:a16="http://schemas.microsoft.com/office/drawing/2014/main" id="{925FC905-6C73-C5DF-FA16-F1C0B4AFA825}"/>
              </a:ext>
            </a:extLst>
          </p:cNvPr>
          <p:cNvSpPr>
            <a:spLocks noGrp="1"/>
          </p:cNvSpPr>
          <p:nvPr>
            <p:ph idx="1"/>
          </p:nvPr>
        </p:nvSpPr>
        <p:spPr>
          <a:xfrm>
            <a:off x="488487" y="1094518"/>
            <a:ext cx="11215025" cy="5292620"/>
          </a:xfrm>
        </p:spPr>
        <p:txBody>
          <a:bodyPr>
            <a:normAutofit fontScale="85000" lnSpcReduction="20000"/>
          </a:bodyPr>
          <a:lstStyle/>
          <a:p>
            <a:endParaRPr lang="en-US" altLang="zh-CN" b="1" dirty="0"/>
          </a:p>
          <a:p>
            <a:pPr marL="0" indent="0">
              <a:buNone/>
            </a:pPr>
            <a:r>
              <a:rPr lang="en-US" altLang="zh-CN" sz="3300" b="1" dirty="0"/>
              <a:t>What problems or needs does it solve?</a:t>
            </a:r>
          </a:p>
          <a:p>
            <a:r>
              <a:rPr lang="en-US" altLang="zh-CN" dirty="0"/>
              <a:t>Tu2tor tackles five overlapping issues based on the research:</a:t>
            </a:r>
          </a:p>
          <a:p>
            <a:endParaRPr lang="en-US" altLang="zh-CN" dirty="0"/>
          </a:p>
          <a:p>
            <a:r>
              <a:rPr lang="en-US" altLang="zh-CN" b="1" dirty="0"/>
              <a:t>Discovery Problem: </a:t>
            </a:r>
            <a:r>
              <a:rPr lang="en-US" altLang="zh-CN" dirty="0"/>
              <a:t>The issue of discovering qualified tutors outside of the immediate friend group faces the students. Though WhatsApp offers very high engagement rates (98% open rate), the informal communication platform prevents the students from tapping into qualified tutors other than their friend group. Studies reveal that more qualified tutor discovery occurs with an official tutor-seeking platform than with group chat forums.</a:t>
            </a:r>
          </a:p>
          <a:p>
            <a:endParaRPr lang="en-US" altLang="zh-CN" b="1" dirty="0"/>
          </a:p>
          <a:p>
            <a:r>
              <a:rPr lang="en-US" altLang="zh-CN" b="1" dirty="0"/>
              <a:t>Coordination Problem</a:t>
            </a:r>
            <a:r>
              <a:rPr lang="en-US" altLang="zh-CN" dirty="0"/>
              <a:t>: By using WhatsApp as the platform of booking an appointment creates coordination problems. Some of the major issues that emerge according to research include information overlap during group bookings on messaging platforms such as WhatsApp. There’s the issue of being on call 24/7 with the student wanting access at any point. There’s the problem of getting the message through the noise.</a:t>
            </a:r>
          </a:p>
        </p:txBody>
      </p:sp>
    </p:spTree>
    <p:extLst>
      <p:ext uri="{BB962C8B-B14F-4D97-AF65-F5344CB8AC3E}">
        <p14:creationId xmlns:p14="http://schemas.microsoft.com/office/powerpoint/2010/main" val="11224048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769ED-08EC-1E29-9100-A12B4012B6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6B0D0B-1EED-58A0-D775-286523D531EB}"/>
              </a:ext>
            </a:extLst>
          </p:cNvPr>
          <p:cNvSpPr>
            <a:spLocks noGrp="1"/>
          </p:cNvSpPr>
          <p:nvPr>
            <p:ph type="title"/>
          </p:nvPr>
        </p:nvSpPr>
        <p:spPr/>
        <p:txBody>
          <a:bodyPr/>
          <a:lstStyle/>
          <a:p>
            <a:r>
              <a:rPr lang="en-US" b="1" dirty="0"/>
              <a:t>Project Objectives (3%)</a:t>
            </a:r>
            <a:endParaRPr lang="en-US" dirty="0"/>
          </a:p>
        </p:txBody>
      </p:sp>
      <p:sp>
        <p:nvSpPr>
          <p:cNvPr id="3" name="Content Placeholder 2">
            <a:extLst>
              <a:ext uri="{FF2B5EF4-FFF2-40B4-BE49-F238E27FC236}">
                <a16:creationId xmlns:a16="http://schemas.microsoft.com/office/drawing/2014/main" id="{CDD2E1A4-AABE-78CE-C2BC-01B6F73B9E66}"/>
              </a:ext>
            </a:extLst>
          </p:cNvPr>
          <p:cNvSpPr>
            <a:spLocks noGrp="1"/>
          </p:cNvSpPr>
          <p:nvPr>
            <p:ph idx="1"/>
          </p:nvPr>
        </p:nvSpPr>
        <p:spPr>
          <a:xfrm>
            <a:off x="488487" y="1027906"/>
            <a:ext cx="11210988" cy="5251782"/>
          </a:xfrm>
        </p:spPr>
        <p:txBody>
          <a:bodyPr>
            <a:normAutofit fontScale="92500" lnSpcReduction="10000"/>
          </a:bodyPr>
          <a:lstStyle/>
          <a:p>
            <a:endParaRPr lang="en-US" altLang="zh-CN" b="1" dirty="0"/>
          </a:p>
          <a:p>
            <a:pPr marL="0" indent="0">
              <a:buNone/>
            </a:pPr>
            <a:r>
              <a:rPr lang="en-US" altLang="zh-CN" sz="3000" b="1" dirty="0"/>
              <a:t>What problems or needs does it solve?</a:t>
            </a:r>
          </a:p>
          <a:p>
            <a:r>
              <a:rPr lang="en-US" altLang="zh-CN" b="1" dirty="0"/>
              <a:t>Trust &amp; Motivation Problem: </a:t>
            </a:r>
            <a:r>
              <a:rPr lang="en-US" altLang="zh-CN" sz="2600" dirty="0"/>
              <a:t>There are no quality assurance mechanisms—the students cannot evaluate the tutor’s performance prior to appointment. Current literature indicates that successful students frequently lack the motivation to tutor until adequate incentive schemes are put into place. Current academic literature validates that incentive reward schemes (addressing credit-based rewards and gamification) significantly improve student participation and engagement.</a:t>
            </a:r>
          </a:p>
          <a:p>
            <a:r>
              <a:rPr lang="en-US" altLang="zh-CN" b="1" dirty="0"/>
              <a:t>Problem of Integration: </a:t>
            </a:r>
            <a:r>
              <a:rPr lang="en-US" altLang="zh-CN" sz="2600" dirty="0"/>
              <a:t>Most of the students expect integrated functionalities while interacting with technology; therefore, the complexity of interacting with different platforms like zoom and WhatsApp might affect the efficiency of the system.</a:t>
            </a:r>
          </a:p>
          <a:p>
            <a:r>
              <a:rPr lang="en-US" altLang="zh-CN" b="1" dirty="0"/>
              <a:t>Personalization Problem: </a:t>
            </a:r>
            <a:r>
              <a:rPr lang="en-US" altLang="zh-CN" sz="2600" dirty="0"/>
              <a:t>Surfing dozens of profiles manually results in decision fatigue without the intelligent matchmaking based on the learning experience and the success of peers.</a:t>
            </a:r>
          </a:p>
        </p:txBody>
      </p:sp>
    </p:spTree>
    <p:extLst>
      <p:ext uri="{BB962C8B-B14F-4D97-AF65-F5344CB8AC3E}">
        <p14:creationId xmlns:p14="http://schemas.microsoft.com/office/powerpoint/2010/main" val="42206249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0CE5D-D3CF-4919-D967-FB8E3A11EF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797486-CD38-064F-D75F-839D258F29C3}"/>
              </a:ext>
            </a:extLst>
          </p:cNvPr>
          <p:cNvSpPr>
            <a:spLocks noGrp="1"/>
          </p:cNvSpPr>
          <p:nvPr>
            <p:ph type="title"/>
          </p:nvPr>
        </p:nvSpPr>
        <p:spPr/>
        <p:txBody>
          <a:bodyPr/>
          <a:lstStyle/>
          <a:p>
            <a:r>
              <a:rPr lang="en-US" b="1" dirty="0"/>
              <a:t>Project Objectives (3%)</a:t>
            </a:r>
            <a:endParaRPr lang="en-US" dirty="0"/>
          </a:p>
        </p:txBody>
      </p:sp>
      <p:sp>
        <p:nvSpPr>
          <p:cNvPr id="3" name="Content Placeholder 2">
            <a:extLst>
              <a:ext uri="{FF2B5EF4-FFF2-40B4-BE49-F238E27FC236}">
                <a16:creationId xmlns:a16="http://schemas.microsoft.com/office/drawing/2014/main" id="{2EB7CE56-AC5B-B7CF-A1A8-3A8A2DE94D15}"/>
              </a:ext>
            </a:extLst>
          </p:cNvPr>
          <p:cNvSpPr>
            <a:spLocks noGrp="1"/>
          </p:cNvSpPr>
          <p:nvPr>
            <p:ph idx="1"/>
          </p:nvPr>
        </p:nvSpPr>
        <p:spPr>
          <a:xfrm>
            <a:off x="587395" y="1429128"/>
            <a:ext cx="11215025" cy="5292620"/>
          </a:xfrm>
        </p:spPr>
        <p:txBody>
          <a:bodyPr>
            <a:normAutofit/>
          </a:bodyPr>
          <a:lstStyle/>
          <a:p>
            <a:r>
              <a:rPr lang="en-US" altLang="zh-CN" dirty="0"/>
              <a:t>Source:</a:t>
            </a:r>
          </a:p>
          <a:p>
            <a:pPr marL="0" indent="0">
              <a:buNone/>
            </a:pPr>
            <a:r>
              <a:rPr lang="en-US" altLang="zh-CN" dirty="0">
                <a:hlinkClick r:id="rId2"/>
              </a:rPr>
              <a:t>https://sleekflow.io/blog/whatsapp-education</a:t>
            </a:r>
            <a:r>
              <a:rPr lang="en-US" altLang="zh-CN" dirty="0"/>
              <a:t> </a:t>
            </a:r>
          </a:p>
          <a:p>
            <a:pPr marL="0" indent="0">
              <a:buNone/>
            </a:pPr>
            <a:r>
              <a:rPr lang="en-US" altLang="zh-CN" dirty="0">
                <a:hlinkClick r:id="rId3"/>
              </a:rPr>
              <a:t>https://www.mdpi.com/2071-1050/14/19/12304</a:t>
            </a:r>
            <a:endParaRPr lang="en-US" altLang="zh-CN" dirty="0"/>
          </a:p>
          <a:p>
            <a:pPr marL="0" indent="0">
              <a:buNone/>
            </a:pPr>
            <a:r>
              <a:rPr lang="en-US" altLang="zh-CN" dirty="0">
                <a:hlinkClick r:id="rId4"/>
              </a:rPr>
              <a:t>https://www.nature.com/articles/s41599-025-04860-6</a:t>
            </a:r>
            <a:endParaRPr lang="en-US" altLang="zh-CN" dirty="0"/>
          </a:p>
          <a:p>
            <a:pPr marL="0" indent="0">
              <a:buNone/>
            </a:pPr>
            <a:endParaRPr lang="en-US" altLang="zh-CN" dirty="0"/>
          </a:p>
        </p:txBody>
      </p:sp>
    </p:spTree>
    <p:extLst>
      <p:ext uri="{BB962C8B-B14F-4D97-AF65-F5344CB8AC3E}">
        <p14:creationId xmlns:p14="http://schemas.microsoft.com/office/powerpoint/2010/main" val="30493141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9ED74-05BC-70EA-75BE-9F9243198C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1F2D28-058F-20B4-89E1-462016853BBD}"/>
              </a:ext>
            </a:extLst>
          </p:cNvPr>
          <p:cNvSpPr>
            <a:spLocks noGrp="1"/>
          </p:cNvSpPr>
          <p:nvPr>
            <p:ph type="title"/>
          </p:nvPr>
        </p:nvSpPr>
        <p:spPr/>
        <p:txBody>
          <a:bodyPr/>
          <a:lstStyle/>
          <a:p>
            <a:r>
              <a:rPr lang="en-US" b="1" dirty="0"/>
              <a:t>Project Objectives (3%)</a:t>
            </a:r>
            <a:endParaRPr lang="en-US" dirty="0"/>
          </a:p>
        </p:txBody>
      </p:sp>
      <p:sp>
        <p:nvSpPr>
          <p:cNvPr id="3" name="Content Placeholder 2">
            <a:extLst>
              <a:ext uri="{FF2B5EF4-FFF2-40B4-BE49-F238E27FC236}">
                <a16:creationId xmlns:a16="http://schemas.microsoft.com/office/drawing/2014/main" id="{22D009EE-0275-73A7-4E68-5CF964072471}"/>
              </a:ext>
            </a:extLst>
          </p:cNvPr>
          <p:cNvSpPr>
            <a:spLocks noGrp="1"/>
          </p:cNvSpPr>
          <p:nvPr>
            <p:ph idx="1"/>
          </p:nvPr>
        </p:nvSpPr>
        <p:spPr>
          <a:xfrm>
            <a:off x="587395" y="1429128"/>
            <a:ext cx="11215025" cy="5292620"/>
          </a:xfrm>
        </p:spPr>
        <p:txBody>
          <a:bodyPr>
            <a:normAutofit fontScale="92500" lnSpcReduction="20000"/>
          </a:bodyPr>
          <a:lstStyle/>
          <a:p>
            <a:pPr marL="0" indent="0">
              <a:buNone/>
            </a:pPr>
            <a:r>
              <a:rPr lang="en-US" altLang="zh-CN" sz="3000" b="1" dirty="0"/>
              <a:t>What gap or issue currently exists?</a:t>
            </a:r>
          </a:p>
          <a:p>
            <a:r>
              <a:rPr lang="en-US" altLang="zh-CN" sz="2600" b="1" dirty="0"/>
              <a:t>The tutoring paradox</a:t>
            </a:r>
            <a:r>
              <a:rPr lang="en-US" altLang="zh-CN" sz="2600" dirty="0"/>
              <a:t>: Singapore has one of the world's strongest tutoring cultures. Families spent S$1.8 billion on private tutoring in 2023 (up almost 30% from 2018), with average household spending reaching S$104.80 per month in 2023 compared to S$88.40 in 2018. But this massive market focuses almost entirely on primary and secondary students through commercial agencies.</a:t>
            </a:r>
          </a:p>
          <a:p>
            <a:r>
              <a:rPr lang="en-US" altLang="zh-CN" dirty="0"/>
              <a:t> </a:t>
            </a:r>
            <a:r>
              <a:rPr lang="en-US" altLang="zh-CN" sz="2600" b="1" dirty="0"/>
              <a:t>The polytechnic gap</a:t>
            </a:r>
            <a:r>
              <a:rPr lang="en-US" altLang="zh-CN" sz="2600" dirty="0"/>
              <a:t>: No centralized platform exists for student-to-student tutoring at the tertiary level. This gap is especially problematic for polytechnic students who benefit most from peer learning due to the practical, project-based nature of their curricula. As demonstrated by research, peer tutoring has larger effect sizes in Asia, making it particularly suitable for Singapore's education context. Learning DBAV from someone who just completed the same assignment last semester is far more relevant than generic tutoring content.</a:t>
            </a:r>
          </a:p>
          <a:p>
            <a:r>
              <a:rPr lang="en-US" altLang="zh-CN" sz="2600" b="1" dirty="0"/>
              <a:t>Wasted potential</a:t>
            </a:r>
            <a:r>
              <a:rPr lang="en-US" altLang="zh-CN" sz="2600" dirty="0"/>
              <a:t>: Current informal methods (WhatsApp, word-of-mouth, bulletin boards) waste time, create uncertainty, and severely underutilize the vast knowledge resources within the student body. Talented tutors remain invisible, struggling students can't find help, and everyone loses.</a:t>
            </a:r>
          </a:p>
          <a:p>
            <a:pPr marL="0" indent="0">
              <a:buNone/>
            </a:pPr>
            <a:endParaRPr lang="en-US" altLang="zh-CN" dirty="0"/>
          </a:p>
        </p:txBody>
      </p:sp>
    </p:spTree>
    <p:extLst>
      <p:ext uri="{BB962C8B-B14F-4D97-AF65-F5344CB8AC3E}">
        <p14:creationId xmlns:p14="http://schemas.microsoft.com/office/powerpoint/2010/main" val="12907229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2F905-B4CA-2E4C-E219-784D1EFCA0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AB289D-A34C-75A6-479A-A09395BC1ECB}"/>
              </a:ext>
            </a:extLst>
          </p:cNvPr>
          <p:cNvSpPr>
            <a:spLocks noGrp="1"/>
          </p:cNvSpPr>
          <p:nvPr>
            <p:ph type="title"/>
          </p:nvPr>
        </p:nvSpPr>
        <p:spPr/>
        <p:txBody>
          <a:bodyPr/>
          <a:lstStyle/>
          <a:p>
            <a:r>
              <a:rPr lang="en-US" b="1" dirty="0"/>
              <a:t>Project Objectives (3%)</a:t>
            </a:r>
            <a:endParaRPr lang="en-US" dirty="0"/>
          </a:p>
        </p:txBody>
      </p:sp>
      <p:sp>
        <p:nvSpPr>
          <p:cNvPr id="3" name="Content Placeholder 2">
            <a:extLst>
              <a:ext uri="{FF2B5EF4-FFF2-40B4-BE49-F238E27FC236}">
                <a16:creationId xmlns:a16="http://schemas.microsoft.com/office/drawing/2014/main" id="{A0654AD4-7AB9-84D5-3777-78AA3555F03F}"/>
              </a:ext>
            </a:extLst>
          </p:cNvPr>
          <p:cNvSpPr>
            <a:spLocks noGrp="1"/>
          </p:cNvSpPr>
          <p:nvPr>
            <p:ph idx="1"/>
          </p:nvPr>
        </p:nvSpPr>
        <p:spPr>
          <a:xfrm>
            <a:off x="587395" y="1429128"/>
            <a:ext cx="11215025" cy="5292620"/>
          </a:xfrm>
        </p:spPr>
        <p:txBody>
          <a:bodyPr>
            <a:normAutofit/>
          </a:bodyPr>
          <a:lstStyle/>
          <a:p>
            <a:pPr marL="0" indent="0">
              <a:buNone/>
            </a:pPr>
            <a:r>
              <a:rPr lang="en-US" altLang="zh-CN" dirty="0"/>
              <a:t>Source: </a:t>
            </a:r>
          </a:p>
          <a:p>
            <a:pPr marL="0" indent="0">
              <a:buNone/>
            </a:pPr>
            <a:r>
              <a:rPr lang="en-US" altLang="zh-CN" dirty="0">
                <a:hlinkClick r:id="rId2"/>
              </a:rPr>
              <a:t>https://smiletutor.sg/singapore-families-spent-1-8b-on-private-tuition-in-2023-heres-what-that-means-for-2025/</a:t>
            </a:r>
            <a:r>
              <a:rPr lang="en-US" altLang="zh-CN" dirty="0"/>
              <a:t> </a:t>
            </a:r>
          </a:p>
          <a:p>
            <a:pPr marL="0" indent="0">
              <a:buNone/>
            </a:pPr>
            <a:r>
              <a:rPr lang="en-US" altLang="zh-CN" dirty="0">
                <a:hlinkClick r:id="rId3"/>
              </a:rPr>
              <a:t>https://www.malaymail.com/news/singapore/2025/01/20/singapore-families-spent-s18-billion-on-private-tuition-in-2023-with-the-richest-spending-over-s162-per-month/163937</a:t>
            </a:r>
            <a:endParaRPr lang="en-US" altLang="zh-CN" dirty="0"/>
          </a:p>
          <a:p>
            <a:pPr marL="0" indent="0">
              <a:buNone/>
            </a:pPr>
            <a:endParaRPr lang="en-US" altLang="zh-CN" dirty="0">
              <a:hlinkClick r:id="rId4"/>
            </a:endParaRPr>
          </a:p>
          <a:p>
            <a:pPr marL="0" indent="0">
              <a:buNone/>
            </a:pPr>
            <a:r>
              <a:rPr lang="en-US" altLang="zh-CN" dirty="0">
                <a:hlinkClick r:id="rId4"/>
              </a:rPr>
              <a:t>https://link.springer.com/article/10.1007/s40299-024-00960-0</a:t>
            </a:r>
            <a:endParaRPr lang="en-US" altLang="zh-CN" dirty="0"/>
          </a:p>
          <a:p>
            <a:pPr marL="0" indent="0">
              <a:buNone/>
            </a:pPr>
            <a:endParaRPr lang="en-US" altLang="zh-CN" dirty="0"/>
          </a:p>
        </p:txBody>
      </p:sp>
    </p:spTree>
    <p:extLst>
      <p:ext uri="{BB962C8B-B14F-4D97-AF65-F5344CB8AC3E}">
        <p14:creationId xmlns:p14="http://schemas.microsoft.com/office/powerpoint/2010/main" val="4962768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3D299-6FB6-5DEE-E7F6-BBA9771431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2D54CB-1901-7A0D-444A-711E110EFC27}"/>
              </a:ext>
            </a:extLst>
          </p:cNvPr>
          <p:cNvSpPr>
            <a:spLocks noGrp="1"/>
          </p:cNvSpPr>
          <p:nvPr>
            <p:ph type="title"/>
          </p:nvPr>
        </p:nvSpPr>
        <p:spPr/>
        <p:txBody>
          <a:bodyPr/>
          <a:lstStyle/>
          <a:p>
            <a:r>
              <a:rPr lang="en-US" b="1" dirty="0"/>
              <a:t>Project Objectives (3%)</a:t>
            </a:r>
            <a:endParaRPr lang="en-US" dirty="0"/>
          </a:p>
        </p:txBody>
      </p:sp>
      <p:sp>
        <p:nvSpPr>
          <p:cNvPr id="3" name="Content Placeholder 2">
            <a:extLst>
              <a:ext uri="{FF2B5EF4-FFF2-40B4-BE49-F238E27FC236}">
                <a16:creationId xmlns:a16="http://schemas.microsoft.com/office/drawing/2014/main" id="{77D81FCD-A5A4-1222-CDD3-8D35A0BB73B2}"/>
              </a:ext>
            </a:extLst>
          </p:cNvPr>
          <p:cNvSpPr>
            <a:spLocks noGrp="1"/>
          </p:cNvSpPr>
          <p:nvPr>
            <p:ph idx="1"/>
          </p:nvPr>
        </p:nvSpPr>
        <p:spPr>
          <a:xfrm>
            <a:off x="581340" y="1356461"/>
            <a:ext cx="11215025" cy="5292620"/>
          </a:xfrm>
        </p:spPr>
        <p:txBody>
          <a:bodyPr>
            <a:normAutofit fontScale="40000" lnSpcReduction="20000"/>
          </a:bodyPr>
          <a:lstStyle/>
          <a:p>
            <a:pPr marL="0" indent="0">
              <a:buNone/>
            </a:pPr>
            <a:r>
              <a:rPr lang="en-US" altLang="zh-CN" sz="5900" b="1" dirty="0"/>
              <a:t>Who are the target users and what are their needs?</a:t>
            </a:r>
          </a:p>
          <a:p>
            <a:pPr marL="0" indent="0">
              <a:buNone/>
            </a:pPr>
            <a:r>
              <a:rPr lang="en-US" altLang="zh-CN" sz="5100" dirty="0"/>
              <a:t>Tu2tor caters to the following user groups within the Temasek Polytechnic community:</a:t>
            </a:r>
            <a:endParaRPr lang="en-US" altLang="zh-CN" sz="5100" b="1" dirty="0"/>
          </a:p>
          <a:p>
            <a:pPr marL="0" indent="0">
              <a:buNone/>
            </a:pPr>
            <a:r>
              <a:rPr lang="en-US" altLang="zh-CN" sz="5100" b="1" dirty="0"/>
              <a:t>Students (Tutees) - </a:t>
            </a:r>
            <a:r>
              <a:rPr lang="en-US" altLang="zh-CN" sz="5100" dirty="0"/>
              <a:t>TP students of various years and classes who require academic support whether studying for an examination, projects, or just require an explanation of complicated matters. This group of learners requires the following:</a:t>
            </a:r>
          </a:p>
          <a:p>
            <a:pPr marL="0" indent="0">
              <a:buNone/>
            </a:pPr>
            <a:r>
              <a:rPr lang="en-US" altLang="zh-CN" sz="5100" dirty="0"/>
              <a:t>-Quick access to qualified tutors of specific subjects</a:t>
            </a:r>
          </a:p>
          <a:p>
            <a:pPr marL="0" indent="0">
              <a:buNone/>
            </a:pPr>
            <a:r>
              <a:rPr lang="en-US" altLang="zh-CN" sz="5100" dirty="0"/>
              <a:t>-Transparency Through Reviews For Informed Decisions</a:t>
            </a:r>
          </a:p>
          <a:p>
            <a:pPr marL="0" indent="0">
              <a:buNone/>
            </a:pPr>
            <a:r>
              <a:rPr lang="en-US" altLang="zh-CN" sz="5100" dirty="0"/>
              <a:t>-Online booking with automated schedules</a:t>
            </a:r>
          </a:p>
          <a:p>
            <a:pPr marL="0" indent="0">
              <a:buNone/>
            </a:pPr>
            <a:r>
              <a:rPr lang="en-US" altLang="zh-CN" sz="5100" dirty="0"/>
              <a:t>-Seamless integrated video meeting sessions</a:t>
            </a:r>
          </a:p>
          <a:p>
            <a:pPr marL="0" indent="0">
              <a:buNone/>
            </a:pPr>
            <a:r>
              <a:rPr lang="en-US" altLang="zh-CN" sz="5100" dirty="0"/>
              <a:t>-Personalized suggestions based on the learning path</a:t>
            </a:r>
            <a:endParaRPr lang="en-US" altLang="zh-CN" sz="5100" b="1" dirty="0"/>
          </a:p>
          <a:p>
            <a:pPr marL="0" indent="0">
              <a:buNone/>
            </a:pPr>
            <a:r>
              <a:rPr lang="en-US" altLang="zh-CN" sz="5100" b="1" dirty="0"/>
              <a:t>Student Tutors: </a:t>
            </a:r>
            <a:r>
              <a:rPr lang="en-US" altLang="zh-CN" sz="5100" dirty="0"/>
              <a:t>TP students who excel at certain subjects and want to tutor other students while obtaining credits and improving their reputation. They have the following requirements:</a:t>
            </a:r>
          </a:p>
          <a:p>
            <a:pPr marL="0" indent="0">
              <a:buNone/>
            </a:pPr>
            <a:r>
              <a:rPr lang="en-US" altLang="zh-CN" sz="5100" dirty="0"/>
              <a:t>-Visibility to Show Expertise and Availability</a:t>
            </a:r>
          </a:p>
          <a:p>
            <a:pPr marL="0" indent="0">
              <a:buNone/>
            </a:pPr>
            <a:r>
              <a:rPr lang="en-US" altLang="zh-CN" sz="5100" dirty="0"/>
              <a:t>-A centralized calendar system that organizes sessions with no overlapping timelines </a:t>
            </a:r>
          </a:p>
          <a:p>
            <a:pPr marL="0" indent="0">
              <a:buNone/>
            </a:pPr>
            <a:r>
              <a:rPr lang="en-US" altLang="zh-CN" sz="5100" dirty="0"/>
              <a:t>-Feedback procedures aimed at improving the quality of teaching</a:t>
            </a:r>
          </a:p>
          <a:p>
            <a:pPr marL="0" indent="0">
              <a:buNone/>
            </a:pPr>
            <a:endParaRPr lang="en-US" altLang="zh-CN" sz="5100" dirty="0"/>
          </a:p>
        </p:txBody>
      </p:sp>
    </p:spTree>
    <p:extLst>
      <p:ext uri="{BB962C8B-B14F-4D97-AF65-F5344CB8AC3E}">
        <p14:creationId xmlns:p14="http://schemas.microsoft.com/office/powerpoint/2010/main" val="20268503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F624A-2C3B-368A-D5C3-13081292F3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A2F826-D887-8AEA-9169-0576358B6730}"/>
              </a:ext>
            </a:extLst>
          </p:cNvPr>
          <p:cNvSpPr>
            <a:spLocks noGrp="1"/>
          </p:cNvSpPr>
          <p:nvPr>
            <p:ph type="title"/>
          </p:nvPr>
        </p:nvSpPr>
        <p:spPr/>
        <p:txBody>
          <a:bodyPr/>
          <a:lstStyle/>
          <a:p>
            <a:r>
              <a:rPr lang="en-US" b="1" dirty="0"/>
              <a:t>Project Objectives (3%)</a:t>
            </a:r>
            <a:endParaRPr lang="en-US" dirty="0"/>
          </a:p>
        </p:txBody>
      </p:sp>
      <p:sp>
        <p:nvSpPr>
          <p:cNvPr id="3" name="Content Placeholder 2">
            <a:extLst>
              <a:ext uri="{FF2B5EF4-FFF2-40B4-BE49-F238E27FC236}">
                <a16:creationId xmlns:a16="http://schemas.microsoft.com/office/drawing/2014/main" id="{57CDE9CB-98CE-8653-BD02-0292D3EB645C}"/>
              </a:ext>
            </a:extLst>
          </p:cNvPr>
          <p:cNvSpPr>
            <a:spLocks noGrp="1"/>
          </p:cNvSpPr>
          <p:nvPr>
            <p:ph idx="1"/>
          </p:nvPr>
        </p:nvSpPr>
        <p:spPr>
          <a:xfrm>
            <a:off x="508672" y="1301959"/>
            <a:ext cx="11542030" cy="5637791"/>
          </a:xfrm>
        </p:spPr>
        <p:txBody>
          <a:bodyPr>
            <a:normAutofit fontScale="25000" lnSpcReduction="20000"/>
          </a:bodyPr>
          <a:lstStyle/>
          <a:p>
            <a:pPr marL="0" indent="0">
              <a:buNone/>
            </a:pPr>
            <a:r>
              <a:rPr lang="en-US" altLang="zh-CN" sz="11200" b="1" dirty="0"/>
              <a:t>How will Tu2tor make their lives easier?</a:t>
            </a:r>
          </a:p>
          <a:p>
            <a:pPr marL="0" indent="0">
              <a:buNone/>
            </a:pPr>
            <a:r>
              <a:rPr lang="en-US" altLang="zh-CN" sz="6400" b="1" dirty="0"/>
              <a:t>For students seeking assistance:</a:t>
            </a:r>
          </a:p>
          <a:p>
            <a:pPr marL="0" indent="0">
              <a:buNone/>
            </a:pPr>
            <a:r>
              <a:rPr lang="en-US" altLang="zh-CN" sz="6400" b="1" dirty="0"/>
              <a:t>Speed of discovery: </a:t>
            </a:r>
            <a:r>
              <a:rPr lang="en-US" altLang="zh-CN" sz="6400" dirty="0"/>
              <a:t>Discover the right tutor in minutes, not days spent searching across various group chats.</a:t>
            </a:r>
          </a:p>
          <a:p>
            <a:pPr marL="0" indent="0">
              <a:buNone/>
            </a:pPr>
            <a:r>
              <a:rPr lang="en-US" altLang="zh-CN" sz="6400" b="1" dirty="0"/>
              <a:t>Smart decisions: </a:t>
            </a:r>
            <a:r>
              <a:rPr lang="en-US" altLang="zh-CN" sz="6400" dirty="0"/>
              <a:t>Check out genuine reviews so that credits are spent effectively instead of being wasted on inept tutoring.</a:t>
            </a:r>
          </a:p>
          <a:p>
            <a:pPr marL="0" indent="0">
              <a:buNone/>
            </a:pPr>
            <a:r>
              <a:rPr lang="en-US" altLang="zh-CN" sz="6400" b="1" dirty="0"/>
              <a:t>Seamless sessions: </a:t>
            </a:r>
            <a:r>
              <a:rPr lang="en-US" altLang="zh-CN" sz="6400" dirty="0"/>
              <a:t>Join online tutoring sessions with just one click—without the hassle of copying links or downloading an app</a:t>
            </a:r>
          </a:p>
          <a:p>
            <a:pPr marL="0" indent="0">
              <a:buNone/>
            </a:pPr>
            <a:r>
              <a:rPr lang="en-US" altLang="zh-CN" sz="6400" b="1" dirty="0"/>
              <a:t>Smarter match: </a:t>
            </a:r>
            <a:r>
              <a:rPr lang="en-US" altLang="zh-CN" sz="6400" dirty="0"/>
              <a:t>AI-powered matches examine the user’s study progression and offer </a:t>
            </a:r>
            <a:r>
              <a:rPr lang="en-US" altLang="zh-CN" sz="6400" dirty="0" err="1"/>
              <a:t>recommendators</a:t>
            </a:r>
            <a:r>
              <a:rPr lang="en-US" altLang="zh-CN" sz="6400" dirty="0"/>
              <a:t> that fit their study pattern with higher efficiency and increased learner satisfaction.</a:t>
            </a:r>
          </a:p>
          <a:p>
            <a:pPr marL="0" indent="0">
              <a:buNone/>
            </a:pPr>
            <a:endParaRPr lang="en-US" altLang="zh-CN" sz="6400" dirty="0"/>
          </a:p>
          <a:p>
            <a:pPr marL="0" indent="0">
              <a:buNone/>
            </a:pPr>
            <a:r>
              <a:rPr lang="en-US" altLang="zh-CN" sz="6400" b="1" dirty="0"/>
              <a:t>For Tutors:</a:t>
            </a:r>
          </a:p>
          <a:p>
            <a:pPr marL="0" indent="0">
              <a:buNone/>
            </a:pPr>
            <a:r>
              <a:rPr lang="en-US" altLang="zh-CN" sz="6400" b="1" dirty="0"/>
              <a:t>Effortless visibility: </a:t>
            </a:r>
            <a:r>
              <a:rPr lang="en-US" altLang="zh-CN" sz="6400" dirty="0"/>
              <a:t>Profiles offer expertise, topics of expertise, availability, and ratings without the need of incessantly promoting oneself</a:t>
            </a:r>
          </a:p>
          <a:p>
            <a:pPr marL="0" indent="0">
              <a:buNone/>
            </a:pPr>
            <a:r>
              <a:rPr lang="en-US" altLang="zh-CN" sz="6400" b="1" dirty="0"/>
              <a:t>No Scheduling Chaos: </a:t>
            </a:r>
            <a:r>
              <a:rPr lang="en-US" altLang="zh-CN" sz="6400" dirty="0"/>
              <a:t>The centralized calendar system automatically detects clashes and avoids double bookings so that there’s an end to the endless WhatsApp group messaging on bookings</a:t>
            </a:r>
          </a:p>
          <a:p>
            <a:pPr marL="0" indent="0">
              <a:buNone/>
            </a:pPr>
            <a:r>
              <a:rPr lang="en-US" altLang="zh-CN" sz="6400" b="1" dirty="0"/>
              <a:t>Constructing reputation through Reviews and Badges: </a:t>
            </a:r>
            <a:r>
              <a:rPr lang="en-US" altLang="zh-CN" sz="6400" dirty="0"/>
              <a:t>Excellence made visible; Verifiable evidence of experience on Resume and Job Apps. Always remain in control with the request-based booking system that enables the tutor to choose the requests that fit their timetable and specialisms. </a:t>
            </a:r>
          </a:p>
          <a:p>
            <a:pPr marL="0" indent="0">
              <a:buNone/>
            </a:pPr>
            <a:r>
              <a:rPr lang="en-US" altLang="zh-CN" sz="6400" b="1" dirty="0"/>
              <a:t>Both:</a:t>
            </a:r>
          </a:p>
          <a:p>
            <a:pPr marL="0" indent="0">
              <a:buNone/>
            </a:pPr>
            <a:r>
              <a:rPr lang="en-US" altLang="zh-CN" sz="6400" dirty="0"/>
              <a:t>A credit system makes an altruistic activity of peer tutoring a mutually beneficial activity because the act of improving others inherently improves yourself too.</a:t>
            </a:r>
          </a:p>
        </p:txBody>
      </p:sp>
    </p:spTree>
    <p:extLst>
      <p:ext uri="{BB962C8B-B14F-4D97-AF65-F5344CB8AC3E}">
        <p14:creationId xmlns:p14="http://schemas.microsoft.com/office/powerpoint/2010/main" val="21095260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FC334-18C0-6C84-BF5F-668BC43C35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77C90E-0100-8B9D-87DE-3C79ECD3BCA7}"/>
              </a:ext>
            </a:extLst>
          </p:cNvPr>
          <p:cNvSpPr>
            <a:spLocks noGrp="1"/>
          </p:cNvSpPr>
          <p:nvPr>
            <p:ph type="title"/>
          </p:nvPr>
        </p:nvSpPr>
        <p:spPr/>
        <p:txBody>
          <a:bodyPr/>
          <a:lstStyle/>
          <a:p>
            <a:r>
              <a:rPr lang="en-US" b="1" dirty="0"/>
              <a:t>Project Objectives (3%)</a:t>
            </a:r>
            <a:endParaRPr lang="en-US" dirty="0"/>
          </a:p>
        </p:txBody>
      </p:sp>
      <p:sp>
        <p:nvSpPr>
          <p:cNvPr id="3" name="Content Placeholder 2">
            <a:extLst>
              <a:ext uri="{FF2B5EF4-FFF2-40B4-BE49-F238E27FC236}">
                <a16:creationId xmlns:a16="http://schemas.microsoft.com/office/drawing/2014/main" id="{C8DAEB09-2230-AAF9-A629-D18DFD176D0F}"/>
              </a:ext>
            </a:extLst>
          </p:cNvPr>
          <p:cNvSpPr>
            <a:spLocks noGrp="1"/>
          </p:cNvSpPr>
          <p:nvPr>
            <p:ph idx="1"/>
          </p:nvPr>
        </p:nvSpPr>
        <p:spPr>
          <a:xfrm>
            <a:off x="508672" y="1301959"/>
            <a:ext cx="11542030" cy="5637791"/>
          </a:xfrm>
        </p:spPr>
        <p:txBody>
          <a:bodyPr>
            <a:normAutofit fontScale="55000" lnSpcReduction="20000"/>
          </a:bodyPr>
          <a:lstStyle/>
          <a:p>
            <a:pPr marL="0" indent="0">
              <a:buNone/>
            </a:pPr>
            <a:r>
              <a:rPr lang="en-US" altLang="zh-CN" sz="5100" b="1" dirty="0"/>
              <a:t>What is the unique value proposition?</a:t>
            </a:r>
          </a:p>
          <a:p>
            <a:pPr marL="0" indent="0">
              <a:buNone/>
            </a:pPr>
            <a:r>
              <a:rPr lang="en-US" altLang="zh-CN" sz="3800" dirty="0"/>
              <a:t>Tu2tor provides "Trusted Peer Learning, Seamlessly Integrated", encompassing four distinctive aspects that set this platform apart from other generic tutoring websites:</a:t>
            </a:r>
          </a:p>
          <a:p>
            <a:pPr marL="0" indent="0">
              <a:buNone/>
            </a:pPr>
            <a:endParaRPr lang="en-US" altLang="zh-CN" sz="3800" dirty="0"/>
          </a:p>
          <a:p>
            <a:pPr marL="0" indent="0">
              <a:buNone/>
            </a:pPr>
            <a:r>
              <a:rPr lang="en-US" altLang="zh-CN" sz="3800" b="1" dirty="0"/>
              <a:t>1. Campus-Exclusive Community - Peer-Level Learning That Works</a:t>
            </a:r>
          </a:p>
          <a:p>
            <a:pPr marL="0" indent="0">
              <a:buNone/>
            </a:pPr>
            <a:endParaRPr lang="en-US" altLang="zh-CN" sz="3800" dirty="0"/>
          </a:p>
          <a:p>
            <a:pPr marL="0" indent="0">
              <a:buNone/>
            </a:pPr>
            <a:r>
              <a:rPr lang="en-US" altLang="zh-CN" sz="3800" dirty="0"/>
              <a:t>TP only email verification (@student.tp.edu.sg) builds an exclusive community of trusted users who are all Temasek Polytechnic students. This exclusivity ensures:</a:t>
            </a:r>
          </a:p>
          <a:p>
            <a:r>
              <a:rPr lang="en-US" altLang="zh-CN" sz="3800" b="1" dirty="0"/>
              <a:t>True peer-to-peer matching</a:t>
            </a:r>
            <a:r>
              <a:rPr lang="en-US" altLang="zh-CN" sz="3800" dirty="0"/>
              <a:t>: Tutors recently completed the same courses (ADEV, DBAV, etc.) and understand TP's specific curriculum, assignment requirements, and teaching style</a:t>
            </a:r>
          </a:p>
          <a:p>
            <a:r>
              <a:rPr lang="en-US" altLang="zh-CN" sz="3800" b="1" dirty="0"/>
              <a:t>Shared context</a:t>
            </a:r>
            <a:r>
              <a:rPr lang="en-US" altLang="zh-CN" sz="3800" dirty="0"/>
              <a:t>: Both tutors and students speak the same language—they know the same lecturers, use the same course materials, and face identical project challenges</a:t>
            </a:r>
          </a:p>
          <a:p>
            <a:r>
              <a:rPr lang="en-US" altLang="zh-CN" sz="3800" b="1" dirty="0"/>
              <a:t>Campus safety</a:t>
            </a:r>
            <a:r>
              <a:rPr lang="en-US" altLang="zh-CN" sz="3800" dirty="0"/>
              <a:t>: Unlike open marketplaces where anyone can register, TP-only verification prevents external scammers and ensures accountability through student IDs</a:t>
            </a:r>
          </a:p>
          <a:p>
            <a:r>
              <a:rPr lang="en-US" altLang="zh-CN" sz="3800" b="1" dirty="0"/>
              <a:t>Network effects</a:t>
            </a:r>
            <a:r>
              <a:rPr lang="en-US" altLang="zh-CN" sz="3800" dirty="0"/>
              <a:t>: As more TP students join, the platform becomes increasingly valuable—students can find tutors for even niche subjects like specific electives or specialized modules</a:t>
            </a:r>
          </a:p>
        </p:txBody>
      </p:sp>
    </p:spTree>
    <p:extLst>
      <p:ext uri="{BB962C8B-B14F-4D97-AF65-F5344CB8AC3E}">
        <p14:creationId xmlns:p14="http://schemas.microsoft.com/office/powerpoint/2010/main" val="24305439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C7493-9614-B1AD-9CCA-F577AE2878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4EB1FB-A07D-7E14-AE03-2523FA77113E}"/>
              </a:ext>
            </a:extLst>
          </p:cNvPr>
          <p:cNvSpPr>
            <a:spLocks noGrp="1"/>
          </p:cNvSpPr>
          <p:nvPr>
            <p:ph type="title"/>
          </p:nvPr>
        </p:nvSpPr>
        <p:spPr/>
        <p:txBody>
          <a:bodyPr/>
          <a:lstStyle/>
          <a:p>
            <a:r>
              <a:rPr lang="en-US" b="1" dirty="0"/>
              <a:t>Project Objectives (3%)</a:t>
            </a:r>
            <a:endParaRPr lang="en-US" dirty="0"/>
          </a:p>
        </p:txBody>
      </p:sp>
      <p:sp>
        <p:nvSpPr>
          <p:cNvPr id="3" name="Content Placeholder 2">
            <a:extLst>
              <a:ext uri="{FF2B5EF4-FFF2-40B4-BE49-F238E27FC236}">
                <a16:creationId xmlns:a16="http://schemas.microsoft.com/office/drawing/2014/main" id="{A52FE870-E7DB-F724-5442-21914228B67C}"/>
              </a:ext>
            </a:extLst>
          </p:cNvPr>
          <p:cNvSpPr>
            <a:spLocks noGrp="1"/>
          </p:cNvSpPr>
          <p:nvPr>
            <p:ph idx="1"/>
          </p:nvPr>
        </p:nvSpPr>
        <p:spPr>
          <a:xfrm>
            <a:off x="508672" y="1301960"/>
            <a:ext cx="11542030" cy="5244176"/>
          </a:xfrm>
        </p:spPr>
        <p:txBody>
          <a:bodyPr>
            <a:normAutofit fontScale="55000" lnSpcReduction="20000"/>
          </a:bodyPr>
          <a:lstStyle/>
          <a:p>
            <a:pPr marL="0" indent="0">
              <a:buNone/>
            </a:pPr>
            <a:r>
              <a:rPr lang="en-US" altLang="zh-CN" sz="5100" b="1" dirty="0"/>
              <a:t>What is the unique value proposition?</a:t>
            </a:r>
          </a:p>
          <a:p>
            <a:pPr marL="0" indent="0">
              <a:buNone/>
            </a:pPr>
            <a:r>
              <a:rPr lang="en-US" altLang="zh-CN" sz="3800" dirty="0"/>
              <a:t>Tu2tor provides "Trusted Peer Learning, Seamlessly Integrated", encompassing four distinctive aspects that set this platform apart from other generic tutoring websites:</a:t>
            </a:r>
          </a:p>
          <a:p>
            <a:pPr marL="0" indent="0">
              <a:buNone/>
            </a:pPr>
            <a:endParaRPr lang="en-US" altLang="zh-CN" sz="3800" dirty="0"/>
          </a:p>
          <a:p>
            <a:pPr marL="0" indent="0">
              <a:buNone/>
            </a:pPr>
            <a:r>
              <a:rPr lang="en-US" altLang="zh-CN" b="1" dirty="0"/>
              <a:t>2. Complete Integration - One Platform, Zero Friction</a:t>
            </a:r>
            <a:endParaRPr lang="en-US" altLang="zh-CN" dirty="0"/>
          </a:p>
          <a:p>
            <a:pPr marL="0" indent="0">
              <a:buNone/>
            </a:pPr>
            <a:r>
              <a:rPr lang="en-US" altLang="zh-CN" dirty="0"/>
              <a:t>End-to-end functionality eliminates the need to juggle multiple apps throughout the tutoring journey:</a:t>
            </a:r>
          </a:p>
          <a:p>
            <a:r>
              <a:rPr lang="en-US" altLang="zh-CN" b="1" dirty="0"/>
              <a:t>Discovery</a:t>
            </a:r>
            <a:r>
              <a:rPr lang="en-US" altLang="zh-CN" dirty="0"/>
              <a:t>: Advanced search with filters (subject, rating, price, availability) plus AI-powered recommendations in one interface</a:t>
            </a:r>
          </a:p>
          <a:p>
            <a:r>
              <a:rPr lang="en-US" altLang="zh-CN" b="1" dirty="0"/>
              <a:t>Booking</a:t>
            </a:r>
            <a:r>
              <a:rPr lang="en-US" altLang="zh-CN" dirty="0"/>
              <a:t>: Integrated calendar shows tutor availability in real-time, request-based system lets tutors review and accept bookings, automatic conflict detection prevents double-booking</a:t>
            </a:r>
          </a:p>
          <a:p>
            <a:r>
              <a:rPr lang="en-US" altLang="zh-CN" b="1" dirty="0"/>
              <a:t>Communication</a:t>
            </a:r>
            <a:r>
              <a:rPr lang="en-US" altLang="zh-CN" dirty="0"/>
              <a:t>: Built-in messaging system for session coordination (currently 30% implemented)</a:t>
            </a:r>
          </a:p>
          <a:p>
            <a:r>
              <a:rPr lang="en-US" altLang="zh-CN" b="1" dirty="0"/>
              <a:t>Video Sessions</a:t>
            </a:r>
            <a:r>
              <a:rPr lang="en-US" altLang="zh-CN" dirty="0"/>
              <a:t>: One-click  Meet integration, no copying Zoom links, no downloading apps, no "can you send the link again?" messages. Unique floating video window lets students browse other pages while staying in the session</a:t>
            </a:r>
          </a:p>
          <a:p>
            <a:r>
              <a:rPr lang="en-US" altLang="zh-CN" b="1" dirty="0"/>
              <a:t>Credit “Payment”</a:t>
            </a:r>
            <a:r>
              <a:rPr lang="en-US" altLang="zh-CN" dirty="0"/>
              <a:t>: Internal credit system eliminates awkward cash transactions, </a:t>
            </a:r>
            <a:r>
              <a:rPr lang="en-US" altLang="zh-CN" dirty="0" err="1"/>
              <a:t>PayNow</a:t>
            </a:r>
            <a:r>
              <a:rPr lang="en-US" altLang="zh-CN" dirty="0"/>
              <a:t> transfers, or payment disputes—credits automatically transfer upon session completion</a:t>
            </a:r>
          </a:p>
          <a:p>
            <a:r>
              <a:rPr lang="en-US" altLang="zh-CN" b="1" dirty="0"/>
              <a:t>Quality Assurance</a:t>
            </a:r>
            <a:r>
              <a:rPr lang="en-US" altLang="zh-CN" dirty="0"/>
              <a:t>: Post-session review prompts ensure feedback collection, reviews directly impact tutor rankings and visibility</a:t>
            </a:r>
          </a:p>
          <a:p>
            <a:pPr marL="0" indent="0">
              <a:buNone/>
            </a:pPr>
            <a:endParaRPr lang="en-US" altLang="zh-CN" dirty="0"/>
          </a:p>
          <a:p>
            <a:pPr marL="0" indent="0">
              <a:buNone/>
            </a:pPr>
            <a:r>
              <a:rPr lang="en-US" altLang="zh-CN" dirty="0"/>
              <a:t>This seamless flow means students go from "I need help with DBAV" to "I'm in a video session with a qualified tutor" without leaving the platform.</a:t>
            </a:r>
          </a:p>
        </p:txBody>
      </p:sp>
    </p:spTree>
    <p:extLst>
      <p:ext uri="{BB962C8B-B14F-4D97-AF65-F5344CB8AC3E}">
        <p14:creationId xmlns:p14="http://schemas.microsoft.com/office/powerpoint/2010/main" val="9182776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AC74A-665D-4C05-56CC-053BD55F2E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5CA6C6-59BC-9149-6276-731F2693B753}"/>
              </a:ext>
            </a:extLst>
          </p:cNvPr>
          <p:cNvSpPr>
            <a:spLocks noGrp="1"/>
          </p:cNvSpPr>
          <p:nvPr>
            <p:ph type="title"/>
          </p:nvPr>
        </p:nvSpPr>
        <p:spPr/>
        <p:txBody>
          <a:bodyPr/>
          <a:lstStyle/>
          <a:p>
            <a:r>
              <a:rPr lang="en-US" b="1" dirty="0"/>
              <a:t>Project Objectives (3%)</a:t>
            </a:r>
            <a:endParaRPr lang="en-US" dirty="0"/>
          </a:p>
        </p:txBody>
      </p:sp>
      <p:sp>
        <p:nvSpPr>
          <p:cNvPr id="3" name="Content Placeholder 2">
            <a:extLst>
              <a:ext uri="{FF2B5EF4-FFF2-40B4-BE49-F238E27FC236}">
                <a16:creationId xmlns:a16="http://schemas.microsoft.com/office/drawing/2014/main" id="{1CB58DEE-A03E-ECEC-8141-62B98EF3CB90}"/>
              </a:ext>
            </a:extLst>
          </p:cNvPr>
          <p:cNvSpPr>
            <a:spLocks noGrp="1"/>
          </p:cNvSpPr>
          <p:nvPr>
            <p:ph idx="1"/>
          </p:nvPr>
        </p:nvSpPr>
        <p:spPr>
          <a:xfrm>
            <a:off x="508672" y="1301960"/>
            <a:ext cx="11542030" cy="5020117"/>
          </a:xfrm>
        </p:spPr>
        <p:txBody>
          <a:bodyPr>
            <a:normAutofit fontScale="55000" lnSpcReduction="20000"/>
          </a:bodyPr>
          <a:lstStyle/>
          <a:p>
            <a:pPr marL="0" indent="0">
              <a:buNone/>
            </a:pPr>
            <a:r>
              <a:rPr lang="en-US" altLang="zh-CN" sz="5100" b="1" dirty="0"/>
              <a:t>What is the unique value proposition?</a:t>
            </a:r>
          </a:p>
          <a:p>
            <a:pPr marL="0" indent="0">
              <a:buNone/>
            </a:pPr>
            <a:r>
              <a:rPr lang="en-US" altLang="zh-CN" sz="3800" dirty="0"/>
              <a:t>Tu2tor provides "Trusted Peer Learning, Seamlessly Integrated", encompassing four distinctive aspects that set this platform apart from other generic tutoring websites:</a:t>
            </a:r>
          </a:p>
          <a:p>
            <a:pPr marL="0" indent="0">
              <a:buNone/>
            </a:pPr>
            <a:endParaRPr lang="en-US" altLang="zh-CN" sz="3800" dirty="0"/>
          </a:p>
          <a:p>
            <a:pPr marL="0" indent="0">
              <a:buNone/>
            </a:pPr>
            <a:r>
              <a:rPr lang="en-US" altLang="zh-CN" b="1" dirty="0"/>
              <a:t>3. AI-Powered Personalization - Smarter Than Manual Browsing</a:t>
            </a:r>
            <a:endParaRPr lang="en-US" altLang="zh-CN" dirty="0"/>
          </a:p>
          <a:p>
            <a:pPr marL="0" indent="0">
              <a:buNone/>
            </a:pPr>
            <a:r>
              <a:rPr lang="en-US" altLang="zh-CN" dirty="0"/>
              <a:t>LLM engine analyzes individual learning patterns to deliver intelligent recommendations:</a:t>
            </a:r>
          </a:p>
          <a:p>
            <a:r>
              <a:rPr lang="en-US" altLang="zh-CN" b="1" dirty="0"/>
              <a:t>Learning history tracking</a:t>
            </a:r>
            <a:r>
              <a:rPr lang="en-US" altLang="zh-CN" dirty="0"/>
              <a:t>: System remembers subjects studied (e.g., "Previously took ADEV tutoring, now searching for IOT help") and suggests tutors who specialize in natural progression paths</a:t>
            </a:r>
          </a:p>
          <a:p>
            <a:r>
              <a:rPr lang="en-US" altLang="zh-CN" b="1" dirty="0"/>
              <a:t>Success pattern matching</a:t>
            </a:r>
            <a:r>
              <a:rPr lang="en-US" altLang="zh-CN" dirty="0"/>
              <a:t>: AI identifies which tutors have successfully helped students with similar backgrounds and learning goals</a:t>
            </a:r>
          </a:p>
          <a:p>
            <a:r>
              <a:rPr lang="en-US" altLang="zh-CN" b="1" dirty="0"/>
              <a:t>Context-aware chat assistant</a:t>
            </a:r>
            <a:r>
              <a:rPr lang="en-US" altLang="zh-CN" dirty="0"/>
              <a:t>: Students can ask natural language questions like "I'm struggling with database normalization in DBAV, who can help?" and receive personalized tutor recommendations with reasoning</a:t>
            </a:r>
          </a:p>
          <a:p>
            <a:r>
              <a:rPr lang="en-US" altLang="zh-CN" b="1" dirty="0"/>
              <a:t>Dynamic ranking</a:t>
            </a:r>
            <a:r>
              <a:rPr lang="en-US" altLang="zh-CN" dirty="0"/>
              <a:t>: Search results adapt based on student priorities—AI Priority Slider lets users weight "highest rating" vs "most available" to match their urgency</a:t>
            </a:r>
          </a:p>
          <a:p>
            <a:r>
              <a:rPr lang="en-US" altLang="zh-CN" b="1" dirty="0"/>
              <a:t>Continuous learning</a:t>
            </a:r>
            <a:r>
              <a:rPr lang="en-US" altLang="zh-CN" dirty="0"/>
              <a:t>: As more sessions complete and reviews accumulate, recommendations improve through feedback loops</a:t>
            </a:r>
          </a:p>
          <a:p>
            <a:pPr marL="0" indent="0">
              <a:buNone/>
            </a:pPr>
            <a:r>
              <a:rPr lang="en-US" altLang="zh-CN" dirty="0"/>
              <a:t>This moves beyond simple keyword matching to understanding what makes a good tutor-student fit, dramatically reducing browsing time and improving satisfaction.</a:t>
            </a:r>
          </a:p>
        </p:txBody>
      </p:sp>
    </p:spTree>
    <p:extLst>
      <p:ext uri="{BB962C8B-B14F-4D97-AF65-F5344CB8AC3E}">
        <p14:creationId xmlns:p14="http://schemas.microsoft.com/office/powerpoint/2010/main" val="1835746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C0405-1DF8-6AA5-48B6-C1F486FAEE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B7D401-1B42-9B03-591D-EF25FFEA6491}"/>
              </a:ext>
            </a:extLst>
          </p:cNvPr>
          <p:cNvSpPr>
            <a:spLocks noGrp="1"/>
          </p:cNvSpPr>
          <p:nvPr>
            <p:ph type="title"/>
          </p:nvPr>
        </p:nvSpPr>
        <p:spPr/>
        <p:txBody>
          <a:bodyPr/>
          <a:lstStyle/>
          <a:p>
            <a:r>
              <a:rPr lang="en-US" b="1" dirty="0"/>
              <a:t>Project Objectives (3%)</a:t>
            </a:r>
            <a:endParaRPr lang="en-US" dirty="0"/>
          </a:p>
        </p:txBody>
      </p:sp>
      <p:sp>
        <p:nvSpPr>
          <p:cNvPr id="3" name="Content Placeholder 2">
            <a:extLst>
              <a:ext uri="{FF2B5EF4-FFF2-40B4-BE49-F238E27FC236}">
                <a16:creationId xmlns:a16="http://schemas.microsoft.com/office/drawing/2014/main" id="{1E23553A-2D12-5C62-7DB4-26BAF73EE320}"/>
              </a:ext>
            </a:extLst>
          </p:cNvPr>
          <p:cNvSpPr>
            <a:spLocks noGrp="1"/>
          </p:cNvSpPr>
          <p:nvPr>
            <p:ph idx="1"/>
          </p:nvPr>
        </p:nvSpPr>
        <p:spPr>
          <a:xfrm>
            <a:off x="508672" y="1301960"/>
            <a:ext cx="11542030" cy="5020117"/>
          </a:xfrm>
        </p:spPr>
        <p:txBody>
          <a:bodyPr>
            <a:normAutofit fontScale="47500" lnSpcReduction="20000"/>
          </a:bodyPr>
          <a:lstStyle/>
          <a:p>
            <a:pPr marL="0" indent="0">
              <a:buNone/>
            </a:pPr>
            <a:r>
              <a:rPr lang="en-US" altLang="zh-CN" sz="5900" b="1" dirty="0"/>
              <a:t>What is the unique value proposition?</a:t>
            </a:r>
          </a:p>
          <a:p>
            <a:pPr marL="0" indent="0">
              <a:buNone/>
            </a:pPr>
            <a:r>
              <a:rPr lang="en-US" altLang="zh-CN" sz="3800" dirty="0"/>
              <a:t>Tu2tor provides "Trusted Peer Learning, Seamlessly Integrated", encompassing four distinctive aspects that set this platform apart from other generic tutoring websites:</a:t>
            </a:r>
          </a:p>
          <a:p>
            <a:pPr marL="0" indent="0">
              <a:buNone/>
            </a:pPr>
            <a:endParaRPr lang="en-US" altLang="zh-CN" sz="3800" dirty="0"/>
          </a:p>
          <a:p>
            <a:pPr marL="0" indent="0">
              <a:buNone/>
            </a:pPr>
            <a:r>
              <a:rPr lang="en-US" altLang="zh-CN" b="1" dirty="0"/>
              <a:t>4. Quality Assurance Built-In - Trust Through Transparency</a:t>
            </a:r>
            <a:endParaRPr lang="en-US" altLang="zh-CN" dirty="0"/>
          </a:p>
          <a:p>
            <a:pPr marL="0" indent="0">
              <a:buNone/>
            </a:pPr>
            <a:r>
              <a:rPr lang="en-US" altLang="zh-CN" dirty="0"/>
              <a:t>This multi-layered approach confirms that students place credits with qualified tutors.</a:t>
            </a:r>
          </a:p>
          <a:p>
            <a:endParaRPr lang="en-US" altLang="zh-CN" dirty="0"/>
          </a:p>
          <a:p>
            <a:r>
              <a:rPr lang="en-US" altLang="zh-CN" b="1" dirty="0"/>
              <a:t>Authentic booking experience</a:t>
            </a:r>
            <a:r>
              <a:rPr lang="en-US" altLang="zh-CN" dirty="0"/>
              <a:t>: Customer reviews only come after completion of the sessions, not reviews generated by friends or competitors as might happen with other business listings on the platform.</a:t>
            </a:r>
          </a:p>
          <a:p>
            <a:r>
              <a:rPr lang="en-US" altLang="zh-CN" b="1" dirty="0"/>
              <a:t>All-around rating system: </a:t>
            </a:r>
            <a:r>
              <a:rPr lang="en-US" altLang="zh-CN" dirty="0"/>
              <a:t>ratings on a scale of 1-5 stars + comments + applicable keywords (Clear, Patient, Knowledgeable) reveal multi-faceted qualities</a:t>
            </a:r>
          </a:p>
          <a:p>
            <a:r>
              <a:rPr lang="en-US" altLang="zh-CN" b="1" dirty="0"/>
              <a:t>Response of the tutor: </a:t>
            </a:r>
            <a:r>
              <a:rPr lang="en-US" altLang="zh-CN" dirty="0"/>
              <a:t>Tutors should react appropriately to the reviews provided by demonstrating their accountability and expressing their gratitude to the students. This helps them gain</a:t>
            </a:r>
          </a:p>
          <a:p>
            <a:r>
              <a:rPr lang="en-US" altLang="zh-CN" b="1" dirty="0"/>
              <a:t>Performance badges</a:t>
            </a:r>
            <a:r>
              <a:rPr lang="en-US" altLang="zh-CN" dirty="0"/>
              <a:t>: Given automatically based on certain criteria after every performance (Newbie-0-5 sessions; Rising Star-10+ sessions with a rating of 4.5+; Expert-30+ sessions with rating of 4.7+; TopTutor-50+ sessions with a rating of at least 4.8+)</a:t>
            </a:r>
          </a:p>
          <a:p>
            <a:r>
              <a:rPr lang="en-US" altLang="zh-CN" b="1" dirty="0"/>
              <a:t>Real-Time Statistics: </a:t>
            </a:r>
            <a:r>
              <a:rPr lang="en-US" altLang="zh-CN" dirty="0"/>
              <a:t>All tutor profiles show the numbers of overall sessions conducted, average rating given, response rate, and completion rate without any hidden numbers.</a:t>
            </a:r>
          </a:p>
          <a:p>
            <a:r>
              <a:rPr lang="en-US" altLang="zh-CN" b="1" dirty="0"/>
              <a:t>Optional anonymous reviews : </a:t>
            </a:r>
            <a:r>
              <a:rPr lang="en-US" altLang="zh-CN" dirty="0"/>
              <a:t>Feedback may remain completely anonymous while still being linked with genuine bookings. Contrary to the unofficial WhatsApp system used by students who gamble on tutors that they do not know, the quality assurance of Tu2tor allows the students to make informed decisions based on transparent data.</a:t>
            </a:r>
          </a:p>
        </p:txBody>
      </p:sp>
    </p:spTree>
    <p:extLst>
      <p:ext uri="{BB962C8B-B14F-4D97-AF65-F5344CB8AC3E}">
        <p14:creationId xmlns:p14="http://schemas.microsoft.com/office/powerpoint/2010/main" val="38963671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7CD11-AF20-3B1B-BAF0-6A9F524E53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B9C508-0B02-381F-8B4E-815309F30FCE}"/>
              </a:ext>
            </a:extLst>
          </p:cNvPr>
          <p:cNvSpPr>
            <a:spLocks noGrp="1"/>
          </p:cNvSpPr>
          <p:nvPr>
            <p:ph type="title"/>
          </p:nvPr>
        </p:nvSpPr>
        <p:spPr/>
        <p:txBody>
          <a:bodyPr/>
          <a:lstStyle/>
          <a:p>
            <a:r>
              <a:rPr lang="en-US" b="1" dirty="0"/>
              <a:t>Project Objectives (3%)</a:t>
            </a:r>
            <a:endParaRPr lang="en-US" dirty="0"/>
          </a:p>
        </p:txBody>
      </p:sp>
      <p:sp>
        <p:nvSpPr>
          <p:cNvPr id="3" name="Content Placeholder 2">
            <a:extLst>
              <a:ext uri="{FF2B5EF4-FFF2-40B4-BE49-F238E27FC236}">
                <a16:creationId xmlns:a16="http://schemas.microsoft.com/office/drawing/2014/main" id="{1836147A-8947-A67E-1988-0B38CC8D578C}"/>
              </a:ext>
            </a:extLst>
          </p:cNvPr>
          <p:cNvSpPr>
            <a:spLocks noGrp="1"/>
          </p:cNvSpPr>
          <p:nvPr>
            <p:ph idx="1"/>
          </p:nvPr>
        </p:nvSpPr>
        <p:spPr>
          <a:xfrm>
            <a:off x="508672" y="1301960"/>
            <a:ext cx="11542030" cy="5020117"/>
          </a:xfrm>
        </p:spPr>
        <p:txBody>
          <a:bodyPr>
            <a:normAutofit fontScale="47500" lnSpcReduction="20000"/>
          </a:bodyPr>
          <a:lstStyle/>
          <a:p>
            <a:pPr marL="0" indent="0">
              <a:buNone/>
            </a:pPr>
            <a:r>
              <a:rPr lang="en-US" altLang="zh-CN" sz="7000" b="1" dirty="0"/>
              <a:t>Why would users choose Tu2tor over alternatives?</a:t>
            </a:r>
            <a:endParaRPr lang="en-US" altLang="zh-CN" sz="7000" dirty="0"/>
          </a:p>
          <a:p>
            <a:pPr marL="0" indent="0">
              <a:buNone/>
            </a:pPr>
            <a:r>
              <a:rPr lang="en-US" altLang="zh-CN" b="1" dirty="0"/>
              <a:t>vs. WhatsApp/Informal Methods:</a:t>
            </a:r>
            <a:endParaRPr lang="en-US" altLang="zh-CN" dirty="0"/>
          </a:p>
          <a:p>
            <a:r>
              <a:rPr lang="en-US" altLang="zh-CN" dirty="0"/>
              <a:t>- Centralized discovery vs. scattered group chats</a:t>
            </a:r>
          </a:p>
          <a:p>
            <a:r>
              <a:rPr lang="en-US" altLang="zh-CN" dirty="0"/>
              <a:t>- Quality assurance through reviews vs. unknown quality</a:t>
            </a:r>
          </a:p>
          <a:p>
            <a:r>
              <a:rPr lang="en-US" altLang="zh-CN" dirty="0"/>
              <a:t>- Automated scheduling vs. manual coordination</a:t>
            </a:r>
          </a:p>
          <a:p>
            <a:r>
              <a:rPr lang="en-US" altLang="zh-CN" dirty="0"/>
              <a:t>- Integrated video vs. lost Zoom links</a:t>
            </a:r>
          </a:p>
          <a:p>
            <a:pPr marL="0" indent="0">
              <a:buNone/>
            </a:pPr>
            <a:r>
              <a:rPr lang="en-US" altLang="zh-CN" b="1" dirty="0"/>
              <a:t>vs. Commercial Tutoring Platforms:</a:t>
            </a:r>
            <a:endParaRPr lang="en-US" altLang="zh-CN" dirty="0"/>
          </a:p>
          <a:p>
            <a:r>
              <a:rPr lang="en-US" altLang="zh-CN" dirty="0"/>
              <a:t>- Peer-to-peer learning (equally effective, lower cost) vs. expensive professional tutors</a:t>
            </a:r>
          </a:p>
          <a:p>
            <a:r>
              <a:rPr lang="en-US" altLang="zh-CN" dirty="0"/>
              <a:t>- Campus-exclusive community vs. generic marketplace</a:t>
            </a:r>
          </a:p>
          <a:p>
            <a:r>
              <a:rPr lang="en-US" altLang="zh-CN" dirty="0"/>
              <a:t>- Credit system vs. cash payments</a:t>
            </a:r>
          </a:p>
          <a:p>
            <a:r>
              <a:rPr lang="en-US" altLang="zh-CN" dirty="0"/>
              <a:t>- Subject relevance (tutors who recently passed courses) vs. generic content</a:t>
            </a:r>
          </a:p>
          <a:p>
            <a:pPr marL="0" indent="0">
              <a:buNone/>
            </a:pPr>
            <a:r>
              <a:rPr lang="en-US" altLang="zh-CN" b="1" dirty="0"/>
              <a:t>vs. LMS/Learning Platforms:</a:t>
            </a:r>
            <a:endParaRPr lang="en-US" altLang="zh-CN" dirty="0"/>
          </a:p>
          <a:p>
            <a:r>
              <a:rPr lang="en-US" altLang="zh-CN" dirty="0"/>
              <a:t>- Live 1-on-1 tutoring vs. static resources</a:t>
            </a:r>
          </a:p>
          <a:p>
            <a:r>
              <a:rPr lang="en-US" altLang="zh-CN" dirty="0"/>
              <a:t>- Personalized AI recommendations vs. course catalogs</a:t>
            </a:r>
          </a:p>
          <a:p>
            <a:r>
              <a:rPr lang="en-US" altLang="zh-CN" dirty="0"/>
              <a:t>- Social learning community vs. isolated studying</a:t>
            </a:r>
          </a:p>
          <a:p>
            <a:r>
              <a:rPr lang="en-US" altLang="zh-CN" dirty="0"/>
              <a:t>- Practical project help vs. theoretical content</a:t>
            </a:r>
          </a:p>
          <a:p>
            <a:pPr marL="0" indent="0">
              <a:buNone/>
            </a:pPr>
            <a:r>
              <a:rPr lang="en-US" altLang="zh-CN" b="1" dirty="0"/>
              <a:t>The Tu2tor Advantage</a:t>
            </a:r>
            <a:r>
              <a:rPr lang="en-US" altLang="zh-CN" dirty="0"/>
              <a:t>: The only platform designed specifically for TP peer tutoring that combines trusted matchmaking, seamless booking, integrated video, AI personalization, and quality assurance in one complete solution.</a:t>
            </a:r>
          </a:p>
          <a:p>
            <a:pPr marL="0" indent="0">
              <a:buNone/>
            </a:pPr>
            <a:endParaRPr lang="en-US" altLang="zh-CN" dirty="0"/>
          </a:p>
        </p:txBody>
      </p:sp>
    </p:spTree>
    <p:extLst>
      <p:ext uri="{BB962C8B-B14F-4D97-AF65-F5344CB8AC3E}">
        <p14:creationId xmlns:p14="http://schemas.microsoft.com/office/powerpoint/2010/main" val="30734252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1642E-F147-5AE9-8A21-AB75385B47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1A9152-0E70-ECD6-526A-1AB046D8C6D9}"/>
              </a:ext>
            </a:extLst>
          </p:cNvPr>
          <p:cNvSpPr>
            <a:spLocks noGrp="1"/>
          </p:cNvSpPr>
          <p:nvPr>
            <p:ph type="title"/>
          </p:nvPr>
        </p:nvSpPr>
        <p:spPr/>
        <p:txBody>
          <a:bodyPr/>
          <a:lstStyle/>
          <a:p>
            <a:pPr lvl="0"/>
            <a:r>
              <a:rPr lang="en-US" b="1" dirty="0"/>
              <a:t>Proposed Features (3%)</a:t>
            </a:r>
            <a:endParaRPr lang="en-US" dirty="0"/>
          </a:p>
        </p:txBody>
      </p:sp>
      <p:graphicFrame>
        <p:nvGraphicFramePr>
          <p:cNvPr id="5" name="Table 4">
            <a:extLst>
              <a:ext uri="{FF2B5EF4-FFF2-40B4-BE49-F238E27FC236}">
                <a16:creationId xmlns:a16="http://schemas.microsoft.com/office/drawing/2014/main" id="{BAEED393-1070-2643-5289-FD54DA219C09}"/>
              </a:ext>
            </a:extLst>
          </p:cNvPr>
          <p:cNvGraphicFramePr>
            <a:graphicFrameLocks noGrp="1"/>
          </p:cNvGraphicFramePr>
          <p:nvPr>
            <p:extLst>
              <p:ext uri="{D42A27DB-BD31-4B8C-83A1-F6EECF244321}">
                <p14:modId xmlns:p14="http://schemas.microsoft.com/office/powerpoint/2010/main" val="1385477149"/>
              </p:ext>
            </p:extLst>
          </p:nvPr>
        </p:nvGraphicFramePr>
        <p:xfrm>
          <a:off x="459654" y="1450975"/>
          <a:ext cx="11397265" cy="4753609"/>
        </p:xfrm>
        <a:graphic>
          <a:graphicData uri="http://schemas.openxmlformats.org/drawingml/2006/table">
            <a:tbl>
              <a:tblPr firstRow="1" bandRow="1">
                <a:tableStyleId>{5C22544A-7EE6-4342-B048-85BDC9FD1C3A}</a:tableStyleId>
              </a:tblPr>
              <a:tblGrid>
                <a:gridCol w="2279453">
                  <a:extLst>
                    <a:ext uri="{9D8B030D-6E8A-4147-A177-3AD203B41FA5}">
                      <a16:colId xmlns:a16="http://schemas.microsoft.com/office/drawing/2014/main" val="1895186589"/>
                    </a:ext>
                  </a:extLst>
                </a:gridCol>
                <a:gridCol w="2279453">
                  <a:extLst>
                    <a:ext uri="{9D8B030D-6E8A-4147-A177-3AD203B41FA5}">
                      <a16:colId xmlns:a16="http://schemas.microsoft.com/office/drawing/2014/main" val="3709950371"/>
                    </a:ext>
                  </a:extLst>
                </a:gridCol>
                <a:gridCol w="2279453">
                  <a:extLst>
                    <a:ext uri="{9D8B030D-6E8A-4147-A177-3AD203B41FA5}">
                      <a16:colId xmlns:a16="http://schemas.microsoft.com/office/drawing/2014/main" val="1564183303"/>
                    </a:ext>
                  </a:extLst>
                </a:gridCol>
                <a:gridCol w="2279453">
                  <a:extLst>
                    <a:ext uri="{9D8B030D-6E8A-4147-A177-3AD203B41FA5}">
                      <a16:colId xmlns:a16="http://schemas.microsoft.com/office/drawing/2014/main" val="933354680"/>
                    </a:ext>
                  </a:extLst>
                </a:gridCol>
                <a:gridCol w="2279453">
                  <a:extLst>
                    <a:ext uri="{9D8B030D-6E8A-4147-A177-3AD203B41FA5}">
                      <a16:colId xmlns:a16="http://schemas.microsoft.com/office/drawing/2014/main" val="2149251216"/>
                    </a:ext>
                  </a:extLst>
                </a:gridCol>
              </a:tblGrid>
              <a:tr h="412749">
                <a:tc>
                  <a:txBody>
                    <a:bodyPr/>
                    <a:lstStyle/>
                    <a:p>
                      <a:pPr>
                        <a:buNone/>
                      </a:pPr>
                      <a:r>
                        <a:rPr lang="en-US" sz="1400" b="1" dirty="0"/>
                        <a:t>Feature Name</a:t>
                      </a:r>
                      <a:endParaRPr lang="en-US" sz="1400" dirty="0"/>
                    </a:p>
                  </a:txBody>
                  <a:tcPr anchor="ctr"/>
                </a:tc>
                <a:tc>
                  <a:txBody>
                    <a:bodyPr/>
                    <a:lstStyle/>
                    <a:p>
                      <a:pPr>
                        <a:buNone/>
                      </a:pPr>
                      <a:r>
                        <a:rPr lang="en-US" sz="1400" b="1"/>
                        <a:t>Description / Purpose</a:t>
                      </a:r>
                      <a:endParaRPr lang="en-US" sz="1400"/>
                    </a:p>
                  </a:txBody>
                  <a:tcPr anchor="ctr"/>
                </a:tc>
                <a:tc>
                  <a:txBody>
                    <a:bodyPr/>
                    <a:lstStyle/>
                    <a:p>
                      <a:pPr>
                        <a:buNone/>
                      </a:pPr>
                      <a:r>
                        <a:rPr lang="en-US" sz="1400" b="1"/>
                        <a:t>User Actions / What It Does</a:t>
                      </a:r>
                      <a:endParaRPr lang="en-US" sz="1400"/>
                    </a:p>
                  </a:txBody>
                  <a:tcPr anchor="ctr"/>
                </a:tc>
                <a:tc>
                  <a:txBody>
                    <a:bodyPr/>
                    <a:lstStyle/>
                    <a:p>
                      <a:pPr>
                        <a:buNone/>
                      </a:pPr>
                      <a:r>
                        <a:rPr lang="en-US" sz="1400" b="1"/>
                        <a:t>Expected Outcome / Display</a:t>
                      </a:r>
                      <a:endParaRPr lang="en-US" sz="1400"/>
                    </a:p>
                  </a:txBody>
                  <a:tcPr anchor="ctr"/>
                </a:tc>
                <a:tc>
                  <a:txBody>
                    <a:bodyPr/>
                    <a:lstStyle/>
                    <a:p>
                      <a:pPr>
                        <a:buNone/>
                      </a:pPr>
                      <a:r>
                        <a:rPr lang="en-US" sz="1400" b="1"/>
                        <a:t>Notes / Future Plans</a:t>
                      </a:r>
                      <a:endParaRPr lang="en-US" sz="1400"/>
                    </a:p>
                  </a:txBody>
                  <a:tcPr anchor="ctr"/>
                </a:tc>
                <a:extLst>
                  <a:ext uri="{0D108BD9-81ED-4DB2-BD59-A6C34878D82A}">
                    <a16:rowId xmlns:a16="http://schemas.microsoft.com/office/drawing/2014/main" val="3238503483"/>
                  </a:ext>
                </a:extLst>
              </a:tr>
              <a:tr h="766533">
                <a:tc>
                  <a:txBody>
                    <a:bodyPr/>
                    <a:lstStyle/>
                    <a:p>
                      <a:r>
                        <a:rPr lang="en-US" sz="1200" b="0">
                          <a:effectLst/>
                        </a:rPr>
                        <a:t>Tutor Profile Creation</a:t>
                      </a:r>
                    </a:p>
                  </a:txBody>
                  <a:tcPr marL="63500" marR="63500" marT="31750" marB="31750" anchor="ctr"/>
                </a:tc>
                <a:tc>
                  <a:txBody>
                    <a:bodyPr/>
                    <a:lstStyle/>
                    <a:p>
                      <a:r>
                        <a:rPr lang="en-US" sz="1200" b="0">
                          <a:effectLst/>
                        </a:rPr>
                        <a:t>Enable students to register as tutors by creating comprehensive profiles showcasing their expertise</a:t>
                      </a:r>
                    </a:p>
                  </a:txBody>
                  <a:tcPr marL="63500" marR="63500" marT="31750" marB="31750" anchor="ctr"/>
                </a:tc>
                <a:tc>
                  <a:txBody>
                    <a:bodyPr/>
                    <a:lstStyle/>
                    <a:p>
                      <a:r>
                        <a:rPr lang="en-US" sz="1200" b="0">
                          <a:effectLst/>
                        </a:rPr>
                        <a:t>Users fill profile with bio, subjects, hourly rate, available time slots, preferred locations, and upload profile picture</a:t>
                      </a:r>
                    </a:p>
                  </a:txBody>
                  <a:tcPr marL="63500" marR="63500" marT="31750" marB="31750" anchor="ctr"/>
                </a:tc>
                <a:tc>
                  <a:txBody>
                    <a:bodyPr/>
                    <a:lstStyle/>
                    <a:p>
                      <a:r>
                        <a:rPr lang="en-US" sz="1200" b="0">
                          <a:effectLst/>
                        </a:rPr>
                        <a:t>Complete tutor profile displayed in search results with ratings, badges, and availability status</a:t>
                      </a:r>
                    </a:p>
                  </a:txBody>
                  <a:tcPr marL="63500" marR="63500" marT="31750" marB="31750" anchor="ctr"/>
                </a:tc>
                <a:tc>
                  <a:txBody>
                    <a:bodyPr/>
                    <a:lstStyle/>
                    <a:p>
                      <a:r>
                        <a:rPr lang="en-US" sz="1200" b="0">
                          <a:effectLst/>
                        </a:rPr>
                        <a:t>May add video introductions and teaching methodology descriptions</a:t>
                      </a:r>
                    </a:p>
                  </a:txBody>
                  <a:tcPr marL="63500" marR="63500" marT="31750" marB="31750" anchor="ctr"/>
                </a:tc>
                <a:extLst>
                  <a:ext uri="{0D108BD9-81ED-4DB2-BD59-A6C34878D82A}">
                    <a16:rowId xmlns:a16="http://schemas.microsoft.com/office/drawing/2014/main" val="195928634"/>
                  </a:ext>
                </a:extLst>
              </a:tr>
              <a:tr h="589641">
                <a:tc>
                  <a:txBody>
                    <a:bodyPr/>
                    <a:lstStyle/>
                    <a:p>
                      <a:r>
                        <a:rPr lang="en-US" sz="1200" b="0">
                          <a:effectLst/>
                        </a:rPr>
                        <a:t>Advanced Search &amp; Filters</a:t>
                      </a:r>
                    </a:p>
                  </a:txBody>
                  <a:tcPr marL="63500" marR="63500" marT="31750" marB="31750" anchor="ctr"/>
                </a:tc>
                <a:tc>
                  <a:txBody>
                    <a:bodyPr/>
                    <a:lstStyle/>
                    <a:p>
                      <a:r>
                        <a:rPr lang="en-US" sz="1200" b="0">
                          <a:effectLst/>
                        </a:rPr>
                        <a:t>Help students quickly find tutors matching specific criteria using multi-dimensional filtering</a:t>
                      </a:r>
                    </a:p>
                  </a:txBody>
                  <a:tcPr marL="63500" marR="63500" marT="31750" marB="31750" anchor="ctr"/>
                </a:tc>
                <a:tc>
                  <a:txBody>
                    <a:bodyPr/>
                    <a:lstStyle/>
                    <a:p>
                      <a:r>
                        <a:rPr lang="en-US" sz="1200" b="0">
                          <a:effectLst/>
                        </a:rPr>
                        <a:t>Users enter subject, select price range, minimum rating, availability days, and online/offline preference</a:t>
                      </a:r>
                    </a:p>
                  </a:txBody>
                  <a:tcPr marL="63500" marR="63500" marT="31750" marB="31750" anchor="ctr"/>
                </a:tc>
                <a:tc>
                  <a:txBody>
                    <a:bodyPr/>
                    <a:lstStyle/>
                    <a:p>
                      <a:r>
                        <a:rPr lang="en-US" sz="1200" b="0">
                          <a:effectLst/>
                        </a:rPr>
                        <a:t>Filtered list of tutors ranked by relevance; results update in real-time as filters change</a:t>
                      </a:r>
                    </a:p>
                  </a:txBody>
                  <a:tcPr marL="63500" marR="63500" marT="31750" marB="31750" anchor="ctr"/>
                </a:tc>
                <a:tc>
                  <a:txBody>
                    <a:bodyPr/>
                    <a:lstStyle/>
                    <a:p>
                      <a:r>
                        <a:rPr lang="en-US" sz="1200" b="0" dirty="0">
                          <a:effectLst/>
                        </a:rPr>
                        <a:t>Future: Add experience level filter and response time metrics</a:t>
                      </a:r>
                    </a:p>
                  </a:txBody>
                  <a:tcPr marL="63500" marR="63500" marT="31750" marB="31750" anchor="ctr"/>
                </a:tc>
                <a:extLst>
                  <a:ext uri="{0D108BD9-81ED-4DB2-BD59-A6C34878D82A}">
                    <a16:rowId xmlns:a16="http://schemas.microsoft.com/office/drawing/2014/main" val="2822858972"/>
                  </a:ext>
                </a:extLst>
              </a:tr>
              <a:tr h="589641">
                <a:tc>
                  <a:txBody>
                    <a:bodyPr/>
                    <a:lstStyle/>
                    <a:p>
                      <a:r>
                        <a:rPr lang="en-US" sz="1200" b="0">
                          <a:effectLst/>
                        </a:rPr>
                        <a:t>Tutor Detail View</a:t>
                      </a:r>
                    </a:p>
                  </a:txBody>
                  <a:tcPr marL="63500" marR="63500" marT="31750" marB="31750" anchor="ctr"/>
                </a:tc>
                <a:tc>
                  <a:txBody>
                    <a:bodyPr/>
                    <a:lstStyle/>
                    <a:p>
                      <a:r>
                        <a:rPr lang="en-US" sz="1200" b="0">
                          <a:effectLst/>
                        </a:rPr>
                        <a:t>Provide comprehensive information about a tutor before booking</a:t>
                      </a:r>
                    </a:p>
                  </a:txBody>
                  <a:tcPr marL="63500" marR="63500" marT="31750" marB="31750" anchor="ctr"/>
                </a:tc>
                <a:tc>
                  <a:txBody>
                    <a:bodyPr/>
                    <a:lstStyle/>
                    <a:p>
                      <a:r>
                        <a:rPr lang="en-US" sz="1200" b="0">
                          <a:effectLst/>
                        </a:rPr>
                        <a:t>Users click on tutor card to view full profile, read reviews, check detailed availability calendar, see statistics</a:t>
                      </a:r>
                    </a:p>
                  </a:txBody>
                  <a:tcPr marL="63500" marR="63500" marT="31750" marB="31750" anchor="ctr"/>
                </a:tc>
                <a:tc>
                  <a:txBody>
                    <a:bodyPr/>
                    <a:lstStyle/>
                    <a:p>
                      <a:r>
                        <a:rPr lang="en-US" sz="1200" b="0">
                          <a:effectLst/>
                        </a:rPr>
                        <a:t>Full-screen profile showing bio, subjects, ratings breakdown, student reviews with tags, completed sessions count, response rate</a:t>
                      </a:r>
                    </a:p>
                  </a:txBody>
                  <a:tcPr marL="63500" marR="63500" marT="31750" marB="31750" anchor="ctr"/>
                </a:tc>
                <a:tc>
                  <a:txBody>
                    <a:bodyPr/>
                    <a:lstStyle/>
                    <a:p>
                      <a:r>
                        <a:rPr lang="en-US" sz="1200" b="0">
                          <a:effectLst/>
                        </a:rPr>
                        <a:t>May add "Ask Question" feature for pre-booking inquiries</a:t>
                      </a:r>
                    </a:p>
                  </a:txBody>
                  <a:tcPr marL="63500" marR="63500" marT="31750" marB="31750" anchor="ctr"/>
                </a:tc>
                <a:extLst>
                  <a:ext uri="{0D108BD9-81ED-4DB2-BD59-A6C34878D82A}">
                    <a16:rowId xmlns:a16="http://schemas.microsoft.com/office/drawing/2014/main" val="3488274501"/>
                  </a:ext>
                </a:extLst>
              </a:tr>
              <a:tr h="589641">
                <a:tc>
                  <a:txBody>
                    <a:bodyPr/>
                    <a:lstStyle/>
                    <a:p>
                      <a:r>
                        <a:rPr lang="en-US" sz="1200" b="0">
                          <a:effectLst/>
                        </a:rPr>
                        <a:t>Booking Request System</a:t>
                      </a:r>
                    </a:p>
                  </a:txBody>
                  <a:tcPr marL="63500" marR="63500" marT="31750" marB="31750" anchor="ctr"/>
                </a:tc>
                <a:tc>
                  <a:txBody>
                    <a:bodyPr/>
                    <a:lstStyle/>
                    <a:p>
                      <a:r>
                        <a:rPr lang="en-US" sz="1200" b="0">
                          <a:effectLst/>
                        </a:rPr>
                        <a:t>Enable request-based pairing where students send booking requests and tutors accept/decline</a:t>
                      </a:r>
                    </a:p>
                  </a:txBody>
                  <a:tcPr marL="63500" marR="63500" marT="31750" marB="31750" anchor="ctr"/>
                </a:tc>
                <a:tc>
                  <a:txBody>
                    <a:bodyPr/>
                    <a:lstStyle/>
                    <a:p>
                      <a:r>
                        <a:rPr lang="en-US" sz="1200" b="0">
                          <a:effectLst/>
                        </a:rPr>
                        <a:t>Students select date, time slot, duration (30min-3hrs), location, add notes about learning goals; submit request to tutor</a:t>
                      </a:r>
                    </a:p>
                  </a:txBody>
                  <a:tcPr marL="63500" marR="63500" marT="31750" marB="31750" anchor="ctr"/>
                </a:tc>
                <a:tc>
                  <a:txBody>
                    <a:bodyPr/>
                    <a:lstStyle/>
                    <a:p>
                      <a:r>
                        <a:rPr lang="en-US" sz="1200" b="0">
                          <a:effectLst/>
                        </a:rPr>
                        <a:t>Booking created in "pending" status; tutor receives notification and can accept/decline; upon acceptance, status changes to "confirmed"</a:t>
                      </a:r>
                    </a:p>
                  </a:txBody>
                  <a:tcPr marL="63500" marR="63500" marT="31750" marB="31750" anchor="ctr"/>
                </a:tc>
                <a:tc>
                  <a:txBody>
                    <a:bodyPr/>
                    <a:lstStyle/>
                    <a:p>
                      <a:r>
                        <a:rPr lang="en-US" sz="1200" b="0">
                          <a:effectLst/>
                        </a:rPr>
                        <a:t>May add instant booking option for tutors who enable auto-accept</a:t>
                      </a:r>
                    </a:p>
                  </a:txBody>
                  <a:tcPr marL="63500" marR="63500" marT="31750" marB="31750" anchor="ctr"/>
                </a:tc>
                <a:extLst>
                  <a:ext uri="{0D108BD9-81ED-4DB2-BD59-A6C34878D82A}">
                    <a16:rowId xmlns:a16="http://schemas.microsoft.com/office/drawing/2014/main" val="4124828537"/>
                  </a:ext>
                </a:extLst>
              </a:tr>
              <a:tr h="589641">
                <a:tc>
                  <a:txBody>
                    <a:bodyPr/>
                    <a:lstStyle/>
                    <a:p>
                      <a:r>
                        <a:rPr lang="en-US" sz="1200" b="0">
                          <a:effectLst/>
                        </a:rPr>
                        <a:t>Calendar Integration</a:t>
                      </a:r>
                    </a:p>
                  </a:txBody>
                  <a:tcPr marL="63500" marR="63500" marT="31750" marB="31750" anchor="ctr"/>
                </a:tc>
                <a:tc>
                  <a:txBody>
                    <a:bodyPr/>
                    <a:lstStyle/>
                    <a:p>
                      <a:r>
                        <a:rPr lang="en-US" sz="1200" b="0">
                          <a:effectLst/>
                        </a:rPr>
                        <a:t>Display personalized calendar showing upcoming, active, and completed sessions</a:t>
                      </a:r>
                    </a:p>
                  </a:txBody>
                  <a:tcPr marL="63500" marR="63500" marT="31750" marB="31750" anchor="ctr"/>
                </a:tc>
                <a:tc>
                  <a:txBody>
                    <a:bodyPr/>
                    <a:lstStyle/>
                    <a:p>
                      <a:r>
                        <a:rPr lang="en-US" sz="1200" b="0">
                          <a:effectLst/>
                        </a:rPr>
                        <a:t>Users view calendar with color-coded sessions; click session for details</a:t>
                      </a:r>
                    </a:p>
                  </a:txBody>
                  <a:tcPr marL="63500" marR="63500" marT="31750" marB="31750" anchor="ctr"/>
                </a:tc>
                <a:tc>
                  <a:txBody>
                    <a:bodyPr/>
                    <a:lstStyle/>
                    <a:p>
                      <a:r>
                        <a:rPr lang="en-US" sz="1200" b="0">
                          <a:effectLst/>
                        </a:rPr>
                        <a:t>Calendar view with upcoming sessions highlighted; shows date, time, tutor/student name, subject, location; prevents double-booking</a:t>
                      </a:r>
                    </a:p>
                  </a:txBody>
                  <a:tcPr marL="63500" marR="63500" marT="31750" marB="31750" anchor="ctr"/>
                </a:tc>
                <a:tc>
                  <a:txBody>
                    <a:bodyPr/>
                    <a:lstStyle/>
                    <a:p>
                      <a:r>
                        <a:rPr lang="en-US" sz="1200" b="0" dirty="0">
                          <a:effectLst/>
                        </a:rPr>
                        <a:t>May sync with Google Calendar and send reminder notifications</a:t>
                      </a:r>
                    </a:p>
                  </a:txBody>
                  <a:tcPr marL="63500" marR="63500" marT="31750" marB="31750" anchor="ctr"/>
                </a:tc>
                <a:extLst>
                  <a:ext uri="{0D108BD9-81ED-4DB2-BD59-A6C34878D82A}">
                    <a16:rowId xmlns:a16="http://schemas.microsoft.com/office/drawing/2014/main" val="2815425469"/>
                  </a:ext>
                </a:extLst>
              </a:tr>
            </a:tbl>
          </a:graphicData>
        </a:graphic>
      </p:graphicFrame>
    </p:spTree>
    <p:extLst>
      <p:ext uri="{BB962C8B-B14F-4D97-AF65-F5344CB8AC3E}">
        <p14:creationId xmlns:p14="http://schemas.microsoft.com/office/powerpoint/2010/main" val="11908427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D4A80-8D46-F82E-1C8E-EEF907B230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A78CAA-1DF5-1348-5388-7C38DEF85D29}"/>
              </a:ext>
            </a:extLst>
          </p:cNvPr>
          <p:cNvSpPr>
            <a:spLocks noGrp="1"/>
          </p:cNvSpPr>
          <p:nvPr>
            <p:ph type="title"/>
          </p:nvPr>
        </p:nvSpPr>
        <p:spPr/>
        <p:txBody>
          <a:bodyPr/>
          <a:lstStyle/>
          <a:p>
            <a:pPr lvl="0"/>
            <a:r>
              <a:rPr lang="en-US" b="1" dirty="0"/>
              <a:t>Proposed Features (3%)</a:t>
            </a:r>
            <a:endParaRPr lang="en-US" dirty="0"/>
          </a:p>
        </p:txBody>
      </p:sp>
      <p:graphicFrame>
        <p:nvGraphicFramePr>
          <p:cNvPr id="5" name="Table 4">
            <a:extLst>
              <a:ext uri="{FF2B5EF4-FFF2-40B4-BE49-F238E27FC236}">
                <a16:creationId xmlns:a16="http://schemas.microsoft.com/office/drawing/2014/main" id="{96A8A168-4E7B-319E-F6A6-70A253E088F0}"/>
              </a:ext>
            </a:extLst>
          </p:cNvPr>
          <p:cNvGraphicFramePr>
            <a:graphicFrameLocks noGrp="1"/>
          </p:cNvGraphicFramePr>
          <p:nvPr>
            <p:extLst>
              <p:ext uri="{D42A27DB-BD31-4B8C-83A1-F6EECF244321}">
                <p14:modId xmlns:p14="http://schemas.microsoft.com/office/powerpoint/2010/main" val="642074735"/>
              </p:ext>
            </p:extLst>
          </p:nvPr>
        </p:nvGraphicFramePr>
        <p:xfrm>
          <a:off x="459654" y="1450975"/>
          <a:ext cx="11397265" cy="5119369"/>
        </p:xfrm>
        <a:graphic>
          <a:graphicData uri="http://schemas.openxmlformats.org/drawingml/2006/table">
            <a:tbl>
              <a:tblPr firstRow="1" bandRow="1">
                <a:tableStyleId>{5C22544A-7EE6-4342-B048-85BDC9FD1C3A}</a:tableStyleId>
              </a:tblPr>
              <a:tblGrid>
                <a:gridCol w="2279453">
                  <a:extLst>
                    <a:ext uri="{9D8B030D-6E8A-4147-A177-3AD203B41FA5}">
                      <a16:colId xmlns:a16="http://schemas.microsoft.com/office/drawing/2014/main" val="1895186589"/>
                    </a:ext>
                  </a:extLst>
                </a:gridCol>
                <a:gridCol w="2279453">
                  <a:extLst>
                    <a:ext uri="{9D8B030D-6E8A-4147-A177-3AD203B41FA5}">
                      <a16:colId xmlns:a16="http://schemas.microsoft.com/office/drawing/2014/main" val="3709950371"/>
                    </a:ext>
                  </a:extLst>
                </a:gridCol>
                <a:gridCol w="2279453">
                  <a:extLst>
                    <a:ext uri="{9D8B030D-6E8A-4147-A177-3AD203B41FA5}">
                      <a16:colId xmlns:a16="http://schemas.microsoft.com/office/drawing/2014/main" val="1564183303"/>
                    </a:ext>
                  </a:extLst>
                </a:gridCol>
                <a:gridCol w="2279453">
                  <a:extLst>
                    <a:ext uri="{9D8B030D-6E8A-4147-A177-3AD203B41FA5}">
                      <a16:colId xmlns:a16="http://schemas.microsoft.com/office/drawing/2014/main" val="933354680"/>
                    </a:ext>
                  </a:extLst>
                </a:gridCol>
                <a:gridCol w="2279453">
                  <a:extLst>
                    <a:ext uri="{9D8B030D-6E8A-4147-A177-3AD203B41FA5}">
                      <a16:colId xmlns:a16="http://schemas.microsoft.com/office/drawing/2014/main" val="2149251216"/>
                    </a:ext>
                  </a:extLst>
                </a:gridCol>
              </a:tblGrid>
              <a:tr h="412749">
                <a:tc>
                  <a:txBody>
                    <a:bodyPr/>
                    <a:lstStyle/>
                    <a:p>
                      <a:pPr>
                        <a:buNone/>
                      </a:pPr>
                      <a:r>
                        <a:rPr lang="en-US" sz="1400" b="1" dirty="0"/>
                        <a:t>Feature Name</a:t>
                      </a:r>
                      <a:endParaRPr lang="en-US" sz="1400" dirty="0"/>
                    </a:p>
                  </a:txBody>
                  <a:tcPr anchor="ctr"/>
                </a:tc>
                <a:tc>
                  <a:txBody>
                    <a:bodyPr/>
                    <a:lstStyle/>
                    <a:p>
                      <a:pPr>
                        <a:buNone/>
                      </a:pPr>
                      <a:r>
                        <a:rPr lang="en-US" sz="1400" b="1"/>
                        <a:t>Description / Purpose</a:t>
                      </a:r>
                      <a:endParaRPr lang="en-US" sz="1400"/>
                    </a:p>
                  </a:txBody>
                  <a:tcPr anchor="ctr"/>
                </a:tc>
                <a:tc>
                  <a:txBody>
                    <a:bodyPr/>
                    <a:lstStyle/>
                    <a:p>
                      <a:pPr>
                        <a:buNone/>
                      </a:pPr>
                      <a:r>
                        <a:rPr lang="en-US" sz="1400" b="1"/>
                        <a:t>User Actions / What It Does</a:t>
                      </a:r>
                      <a:endParaRPr lang="en-US" sz="1400"/>
                    </a:p>
                  </a:txBody>
                  <a:tcPr anchor="ctr"/>
                </a:tc>
                <a:tc>
                  <a:txBody>
                    <a:bodyPr/>
                    <a:lstStyle/>
                    <a:p>
                      <a:pPr>
                        <a:buNone/>
                      </a:pPr>
                      <a:r>
                        <a:rPr lang="en-US" sz="1400" b="1"/>
                        <a:t>Expected Outcome / Display</a:t>
                      </a:r>
                      <a:endParaRPr lang="en-US" sz="1400"/>
                    </a:p>
                  </a:txBody>
                  <a:tcPr anchor="ctr"/>
                </a:tc>
                <a:tc>
                  <a:txBody>
                    <a:bodyPr/>
                    <a:lstStyle/>
                    <a:p>
                      <a:pPr>
                        <a:buNone/>
                      </a:pPr>
                      <a:r>
                        <a:rPr lang="en-US" sz="1400" b="1"/>
                        <a:t>Notes / Future Plans</a:t>
                      </a:r>
                      <a:endParaRPr lang="en-US" sz="1400"/>
                    </a:p>
                  </a:txBody>
                  <a:tcPr anchor="ctr"/>
                </a:tc>
                <a:extLst>
                  <a:ext uri="{0D108BD9-81ED-4DB2-BD59-A6C34878D82A}">
                    <a16:rowId xmlns:a16="http://schemas.microsoft.com/office/drawing/2014/main" val="3238503483"/>
                  </a:ext>
                </a:extLst>
              </a:tr>
              <a:tr h="766533">
                <a:tc>
                  <a:txBody>
                    <a:bodyPr/>
                    <a:lstStyle/>
                    <a:p>
                      <a:r>
                        <a:rPr lang="en-US" sz="1200" b="0">
                          <a:effectLst/>
                        </a:rPr>
                        <a:t>Credit Management</a:t>
                      </a:r>
                    </a:p>
                  </a:txBody>
                  <a:tcPr marL="63500" marR="63500" marT="31750" marB="31750" anchor="ctr"/>
                </a:tc>
                <a:tc>
                  <a:txBody>
                    <a:bodyPr/>
                    <a:lstStyle/>
                    <a:p>
                      <a:r>
                        <a:rPr lang="en-US" sz="1200" b="0" dirty="0">
                          <a:effectLst/>
                        </a:rPr>
                        <a:t>Manage internal credit system for booking payments without real money transactions</a:t>
                      </a:r>
                    </a:p>
                  </a:txBody>
                  <a:tcPr marL="63500" marR="63500" marT="31750" marB="31750" anchor="ctr"/>
                </a:tc>
                <a:tc>
                  <a:txBody>
                    <a:bodyPr/>
                    <a:lstStyle/>
                    <a:p>
                      <a:r>
                        <a:rPr lang="en-US" sz="1200" b="0">
                          <a:effectLst/>
                        </a:rPr>
                        <a:t>Users start with 500 credits; booking deducts credits based on (hourly_rate × duration); completed sessions transfer credits to tutor</a:t>
                      </a:r>
                    </a:p>
                  </a:txBody>
                  <a:tcPr marL="63500" marR="63500" marT="31750" marB="31750" anchor="ctr"/>
                </a:tc>
                <a:tc>
                  <a:txBody>
                    <a:bodyPr/>
                    <a:lstStyle/>
                    <a:p>
                      <a:r>
                        <a:rPr lang="en-US" sz="1200" b="0">
                          <a:effectLst/>
                        </a:rPr>
                        <a:t>Dashboard displays current credit balance; transaction history shows debits and credits; low balance warning</a:t>
                      </a:r>
                    </a:p>
                  </a:txBody>
                  <a:tcPr marL="63500" marR="63500" marT="31750" marB="31750" anchor="ctr"/>
                </a:tc>
                <a:tc>
                  <a:txBody>
                    <a:bodyPr/>
                    <a:lstStyle/>
                    <a:p>
                      <a:r>
                        <a:rPr lang="en-US" sz="1200" b="0">
                          <a:effectLst/>
                        </a:rPr>
                        <a:t>May add credit purchase system or earning credits through referrals</a:t>
                      </a:r>
                    </a:p>
                  </a:txBody>
                  <a:tcPr marL="63500" marR="63500" marT="31750" marB="31750" anchor="ctr"/>
                </a:tc>
                <a:extLst>
                  <a:ext uri="{0D108BD9-81ED-4DB2-BD59-A6C34878D82A}">
                    <a16:rowId xmlns:a16="http://schemas.microsoft.com/office/drawing/2014/main" val="195928634"/>
                  </a:ext>
                </a:extLst>
              </a:tr>
              <a:tr h="589641">
                <a:tc>
                  <a:txBody>
                    <a:bodyPr/>
                    <a:lstStyle/>
                    <a:p>
                      <a:r>
                        <a:rPr lang="en-US" sz="1200" b="0">
                          <a:effectLst/>
                        </a:rPr>
                        <a:t>Video Session Room</a:t>
                      </a:r>
                    </a:p>
                  </a:txBody>
                  <a:tcPr marL="63500" marR="63500" marT="31750" marB="31750" anchor="ctr"/>
                </a:tc>
                <a:tc>
                  <a:txBody>
                    <a:bodyPr/>
                    <a:lstStyle/>
                    <a:p>
                      <a:r>
                        <a:rPr lang="en-US" sz="1200" b="0" dirty="0">
                          <a:effectLst/>
                        </a:rPr>
                        <a:t>Provide integrated </a:t>
                      </a:r>
                      <a:r>
                        <a:rPr lang="en-US" sz="1200" b="0" dirty="0" err="1">
                          <a:effectLst/>
                        </a:rPr>
                        <a:t>Jitsi</a:t>
                      </a:r>
                      <a:r>
                        <a:rPr lang="en-US" sz="1200" b="0" dirty="0">
                          <a:effectLst/>
                        </a:rPr>
                        <a:t> Meet video conferencing for online tutoring sessions</a:t>
                      </a:r>
                    </a:p>
                  </a:txBody>
                  <a:tcPr marL="63500" marR="63500" marT="31750" marB="31750" anchor="ctr"/>
                </a:tc>
                <a:tc>
                  <a:txBody>
                    <a:bodyPr/>
                    <a:lstStyle/>
                    <a:p>
                      <a:r>
                        <a:rPr lang="en-US" sz="1200" b="0">
                          <a:effectLst/>
                        </a:rPr>
                        <a:t>Students click "Join Session Now" button (available ±15 minutes from scheduled time); enters almost-fullscreen video room</a:t>
                      </a:r>
                    </a:p>
                  </a:txBody>
                  <a:tcPr marL="63500" marR="63500" marT="31750" marB="31750" anchor="ctr"/>
                </a:tc>
                <a:tc>
                  <a:txBody>
                    <a:bodyPr/>
                    <a:lstStyle/>
                    <a:p>
                      <a:r>
                        <a:rPr lang="en-US" sz="1200" b="0">
                          <a:effectLst/>
                        </a:rPr>
                        <a:t>Jitsi video interface occupies calc(100vh-180px); session info bar below with subject, tutor name, time; unlimited re-entry during time window</a:t>
                      </a:r>
                    </a:p>
                  </a:txBody>
                  <a:tcPr marL="63500" marR="63500" marT="31750" marB="31750" anchor="ctr"/>
                </a:tc>
                <a:tc>
                  <a:txBody>
                    <a:bodyPr/>
                    <a:lstStyle/>
                    <a:p>
                      <a:r>
                        <a:rPr lang="en-US" sz="1200" b="0" dirty="0">
                          <a:effectLst/>
                        </a:rPr>
                        <a:t>Session recordings may be added for review purposes</a:t>
                      </a:r>
                    </a:p>
                  </a:txBody>
                  <a:tcPr marL="63500" marR="63500" marT="31750" marB="31750" anchor="ctr"/>
                </a:tc>
                <a:extLst>
                  <a:ext uri="{0D108BD9-81ED-4DB2-BD59-A6C34878D82A}">
                    <a16:rowId xmlns:a16="http://schemas.microsoft.com/office/drawing/2014/main" val="2822858972"/>
                  </a:ext>
                </a:extLst>
              </a:tr>
              <a:tr h="589641">
                <a:tc>
                  <a:txBody>
                    <a:bodyPr/>
                    <a:lstStyle/>
                    <a:p>
                      <a:r>
                        <a:rPr lang="en-US" sz="1200" b="0">
                          <a:effectLst/>
                        </a:rPr>
                        <a:t>Review &amp; Rating System</a:t>
                      </a:r>
                    </a:p>
                  </a:txBody>
                  <a:tcPr marL="63500" marR="63500" marT="31750" marB="31750" anchor="ctr"/>
                </a:tc>
                <a:tc>
                  <a:txBody>
                    <a:bodyPr/>
                    <a:lstStyle/>
                    <a:p>
                      <a:r>
                        <a:rPr lang="en-US" sz="1200" b="0">
                          <a:effectLst/>
                        </a:rPr>
                        <a:t>Enable quality assurance through student reviews of completed sessions</a:t>
                      </a:r>
                    </a:p>
                  </a:txBody>
                  <a:tcPr marL="63500" marR="63500" marT="31750" marB="31750" anchor="ctr"/>
                </a:tc>
                <a:tc>
                  <a:txBody>
                    <a:bodyPr/>
                    <a:lstStyle/>
                    <a:p>
                      <a:r>
                        <a:rPr lang="en-US" sz="1200" b="0" dirty="0">
                          <a:effectLst/>
                        </a:rPr>
                        <a:t>After session completion, students rate 1-5 stars, write comment (10-1000 chars), select tags (Clear, Patient, Knowledgeable), choose anonymous option</a:t>
                      </a:r>
                    </a:p>
                  </a:txBody>
                  <a:tcPr marL="63500" marR="63500" marT="31750" marB="31750" anchor="ctr"/>
                </a:tc>
                <a:tc>
                  <a:txBody>
                    <a:bodyPr/>
                    <a:lstStyle/>
                    <a:p>
                      <a:r>
                        <a:rPr lang="en-US" sz="1200" b="0" dirty="0">
                          <a:effectLst/>
                        </a:rPr>
                        <a:t>Review posted on tutor profile; tutor's average rating updates automatically via Mongoose middleware; reviews display with helpful count and tutor response</a:t>
                      </a:r>
                    </a:p>
                  </a:txBody>
                  <a:tcPr marL="63500" marR="63500" marT="31750" marB="31750" anchor="ctr"/>
                </a:tc>
                <a:tc>
                  <a:txBody>
                    <a:bodyPr/>
                    <a:lstStyle/>
                    <a:p>
                      <a:r>
                        <a:rPr lang="en-US" sz="1200" b="0">
                          <a:effectLst/>
                        </a:rPr>
                        <a:t>May add photo uploads and form field feedback later on</a:t>
                      </a:r>
                    </a:p>
                  </a:txBody>
                  <a:tcPr marL="63500" marR="63500" marT="31750" marB="31750" anchor="ctr"/>
                </a:tc>
                <a:extLst>
                  <a:ext uri="{0D108BD9-81ED-4DB2-BD59-A6C34878D82A}">
                    <a16:rowId xmlns:a16="http://schemas.microsoft.com/office/drawing/2014/main" val="3488274501"/>
                  </a:ext>
                </a:extLst>
              </a:tr>
              <a:tr h="589641">
                <a:tc>
                  <a:txBody>
                    <a:bodyPr/>
                    <a:lstStyle/>
                    <a:p>
                      <a:r>
                        <a:rPr lang="en-US" sz="1200" b="0">
                          <a:effectLst/>
                        </a:rPr>
                        <a:t>Tutor Response to Reviews</a:t>
                      </a:r>
                    </a:p>
                  </a:txBody>
                  <a:tcPr marL="63500" marR="63500" marT="31750" marB="31750" anchor="ctr"/>
                </a:tc>
                <a:tc>
                  <a:txBody>
                    <a:bodyPr/>
                    <a:lstStyle/>
                    <a:p>
                      <a:r>
                        <a:rPr lang="en-US" sz="1200" b="0">
                          <a:effectLst/>
                        </a:rPr>
                        <a:t>Allow tutors to respond to student reviews professionally</a:t>
                      </a:r>
                    </a:p>
                  </a:txBody>
                  <a:tcPr marL="63500" marR="63500" marT="31750" marB="31750" anchor="ctr"/>
                </a:tc>
                <a:tc>
                  <a:txBody>
                    <a:bodyPr/>
                    <a:lstStyle/>
                    <a:p>
                      <a:r>
                        <a:rPr lang="en-US" sz="1200" b="0">
                          <a:effectLst/>
                        </a:rPr>
                        <a:t>Tutors view reviews on their profile and can write responses to address feedback</a:t>
                      </a:r>
                    </a:p>
                  </a:txBody>
                  <a:tcPr marL="63500" marR="63500" marT="31750" marB="31750" anchor="ctr"/>
                </a:tc>
                <a:tc>
                  <a:txBody>
                    <a:bodyPr/>
                    <a:lstStyle/>
                    <a:p>
                      <a:r>
                        <a:rPr lang="en-US" sz="1200" b="0">
                          <a:effectLst/>
                        </a:rPr>
                        <a:t>Response appears below student review; shows tutor's perspective; builds trust through transparency</a:t>
                      </a:r>
                    </a:p>
                  </a:txBody>
                  <a:tcPr marL="63500" marR="63500" marT="31750" marB="31750" anchor="ctr"/>
                </a:tc>
                <a:tc>
                  <a:txBody>
                    <a:bodyPr/>
                    <a:lstStyle/>
                    <a:p>
                      <a:r>
                        <a:rPr lang="en-US" sz="1200" b="0" dirty="0">
                          <a:effectLst/>
                        </a:rPr>
                        <a:t>May add review flagging system for inappropriate content</a:t>
                      </a:r>
                    </a:p>
                  </a:txBody>
                  <a:tcPr marL="63500" marR="63500" marT="31750" marB="31750" anchor="ctr"/>
                </a:tc>
                <a:extLst>
                  <a:ext uri="{0D108BD9-81ED-4DB2-BD59-A6C34878D82A}">
                    <a16:rowId xmlns:a16="http://schemas.microsoft.com/office/drawing/2014/main" val="4124828537"/>
                  </a:ext>
                </a:extLst>
              </a:tr>
              <a:tr h="589641">
                <a:tc>
                  <a:txBody>
                    <a:bodyPr/>
                    <a:lstStyle/>
                    <a:p>
                      <a:r>
                        <a:rPr lang="en-US" sz="1200" b="0">
                          <a:effectLst/>
                        </a:rPr>
                        <a:t>AI Recommendation Engine</a:t>
                      </a:r>
                    </a:p>
                  </a:txBody>
                  <a:tcPr marL="63500" marR="63500" marT="31750" marB="31750" anchor="ctr"/>
                </a:tc>
                <a:tc>
                  <a:txBody>
                    <a:bodyPr/>
                    <a:lstStyle/>
                    <a:p>
                      <a:r>
                        <a:rPr lang="en-US" sz="1200" b="0" dirty="0">
                          <a:effectLst/>
                        </a:rPr>
                        <a:t>Provide intelligent tutor suggestions using </a:t>
                      </a:r>
                      <a:r>
                        <a:rPr lang="en-US" altLang="zh-CN" sz="1200" b="0" dirty="0">
                          <a:effectLst/>
                        </a:rPr>
                        <a:t>LLM </a:t>
                      </a:r>
                      <a:r>
                        <a:rPr lang="en-US" sz="1200" b="0" dirty="0">
                          <a:effectLst/>
                        </a:rPr>
                        <a:t>based on learning history</a:t>
                      </a:r>
                    </a:p>
                  </a:txBody>
                  <a:tcPr marL="63500" marR="63500" marT="31750" marB="31750" anchor="ctr"/>
                </a:tc>
                <a:tc>
                  <a:txBody>
                    <a:bodyPr/>
                    <a:lstStyle/>
                    <a:p>
                      <a:r>
                        <a:rPr lang="en-US" sz="1200" b="0">
                          <a:effectLst/>
                        </a:rPr>
                        <a:t>Students open AI chat assistant; ask questions like "I need help with React hooks" or "Recommend an ADEV tutor"</a:t>
                      </a:r>
                    </a:p>
                  </a:txBody>
                  <a:tcPr marL="63500" marR="63500" marT="31750" marB="31750" anchor="ctr"/>
                </a:tc>
                <a:tc>
                  <a:txBody>
                    <a:bodyPr/>
                    <a:lstStyle/>
                    <a:p>
                      <a:r>
                        <a:rPr lang="en-US" sz="1200" b="0">
                          <a:effectLst/>
                        </a:rPr>
                        <a:t>AI analyzes student's previous bookings, subjects studied, review patterns; responds with personalized tutor recommendations with reasoning; supports multi-turn conversation</a:t>
                      </a:r>
                    </a:p>
                  </a:txBody>
                  <a:tcPr marL="63500" marR="63500" marT="31750" marB="31750" anchor="ctr"/>
                </a:tc>
                <a:tc>
                  <a:txBody>
                    <a:bodyPr/>
                    <a:lstStyle/>
                    <a:p>
                      <a:r>
                        <a:rPr lang="en-US" sz="1200" b="0" dirty="0">
                          <a:effectLst/>
                        </a:rPr>
                        <a:t>May expand to recommend study schedules, learning paths, and study groups</a:t>
                      </a:r>
                    </a:p>
                  </a:txBody>
                  <a:tcPr marL="63500" marR="63500" marT="31750" marB="31750" anchor="ctr"/>
                </a:tc>
                <a:extLst>
                  <a:ext uri="{0D108BD9-81ED-4DB2-BD59-A6C34878D82A}">
                    <a16:rowId xmlns:a16="http://schemas.microsoft.com/office/drawing/2014/main" val="2815425469"/>
                  </a:ext>
                </a:extLst>
              </a:tr>
            </a:tbl>
          </a:graphicData>
        </a:graphic>
      </p:graphicFrame>
    </p:spTree>
    <p:extLst>
      <p:ext uri="{BB962C8B-B14F-4D97-AF65-F5344CB8AC3E}">
        <p14:creationId xmlns:p14="http://schemas.microsoft.com/office/powerpoint/2010/main" val="3271847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BC574-70FD-523F-8AF9-8EDF08B281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082052-B32F-1B14-8FC9-E1B43997CD92}"/>
              </a:ext>
            </a:extLst>
          </p:cNvPr>
          <p:cNvSpPr>
            <a:spLocks noGrp="1"/>
          </p:cNvSpPr>
          <p:nvPr>
            <p:ph type="title"/>
          </p:nvPr>
        </p:nvSpPr>
        <p:spPr/>
        <p:txBody>
          <a:bodyPr/>
          <a:lstStyle/>
          <a:p>
            <a:pPr lvl="0"/>
            <a:r>
              <a:rPr lang="en-US" b="1" dirty="0"/>
              <a:t>Proposed Features (3%)</a:t>
            </a:r>
            <a:endParaRPr lang="en-US" dirty="0"/>
          </a:p>
        </p:txBody>
      </p:sp>
      <p:graphicFrame>
        <p:nvGraphicFramePr>
          <p:cNvPr id="5" name="Table 4">
            <a:extLst>
              <a:ext uri="{FF2B5EF4-FFF2-40B4-BE49-F238E27FC236}">
                <a16:creationId xmlns:a16="http://schemas.microsoft.com/office/drawing/2014/main" id="{5C003D1E-95A0-03E5-CD95-B69F4E613F66}"/>
              </a:ext>
            </a:extLst>
          </p:cNvPr>
          <p:cNvGraphicFramePr>
            <a:graphicFrameLocks noGrp="1"/>
          </p:cNvGraphicFramePr>
          <p:nvPr>
            <p:extLst>
              <p:ext uri="{D42A27DB-BD31-4B8C-83A1-F6EECF244321}">
                <p14:modId xmlns:p14="http://schemas.microsoft.com/office/powerpoint/2010/main" val="2222519671"/>
              </p:ext>
            </p:extLst>
          </p:nvPr>
        </p:nvGraphicFramePr>
        <p:xfrm>
          <a:off x="72668" y="1317751"/>
          <a:ext cx="11941700" cy="5302249"/>
        </p:xfrm>
        <a:graphic>
          <a:graphicData uri="http://schemas.openxmlformats.org/drawingml/2006/table">
            <a:tbl>
              <a:tblPr firstRow="1" bandRow="1">
                <a:tableStyleId>{5C22544A-7EE6-4342-B048-85BDC9FD1C3A}</a:tableStyleId>
              </a:tblPr>
              <a:tblGrid>
                <a:gridCol w="2388340">
                  <a:extLst>
                    <a:ext uri="{9D8B030D-6E8A-4147-A177-3AD203B41FA5}">
                      <a16:colId xmlns:a16="http://schemas.microsoft.com/office/drawing/2014/main" val="1895186589"/>
                    </a:ext>
                  </a:extLst>
                </a:gridCol>
                <a:gridCol w="2388340">
                  <a:extLst>
                    <a:ext uri="{9D8B030D-6E8A-4147-A177-3AD203B41FA5}">
                      <a16:colId xmlns:a16="http://schemas.microsoft.com/office/drawing/2014/main" val="3709950371"/>
                    </a:ext>
                  </a:extLst>
                </a:gridCol>
                <a:gridCol w="2388340">
                  <a:extLst>
                    <a:ext uri="{9D8B030D-6E8A-4147-A177-3AD203B41FA5}">
                      <a16:colId xmlns:a16="http://schemas.microsoft.com/office/drawing/2014/main" val="1564183303"/>
                    </a:ext>
                  </a:extLst>
                </a:gridCol>
                <a:gridCol w="2388340">
                  <a:extLst>
                    <a:ext uri="{9D8B030D-6E8A-4147-A177-3AD203B41FA5}">
                      <a16:colId xmlns:a16="http://schemas.microsoft.com/office/drawing/2014/main" val="933354680"/>
                    </a:ext>
                  </a:extLst>
                </a:gridCol>
                <a:gridCol w="2388340">
                  <a:extLst>
                    <a:ext uri="{9D8B030D-6E8A-4147-A177-3AD203B41FA5}">
                      <a16:colId xmlns:a16="http://schemas.microsoft.com/office/drawing/2014/main" val="2149251216"/>
                    </a:ext>
                  </a:extLst>
                </a:gridCol>
              </a:tblGrid>
              <a:tr h="412749">
                <a:tc>
                  <a:txBody>
                    <a:bodyPr/>
                    <a:lstStyle/>
                    <a:p>
                      <a:pPr>
                        <a:buNone/>
                      </a:pPr>
                      <a:r>
                        <a:rPr lang="en-US" sz="1400" b="1" dirty="0"/>
                        <a:t>Feature Name</a:t>
                      </a:r>
                      <a:endParaRPr lang="en-US" sz="1400" dirty="0"/>
                    </a:p>
                  </a:txBody>
                  <a:tcPr anchor="ctr"/>
                </a:tc>
                <a:tc>
                  <a:txBody>
                    <a:bodyPr/>
                    <a:lstStyle/>
                    <a:p>
                      <a:pPr>
                        <a:buNone/>
                      </a:pPr>
                      <a:r>
                        <a:rPr lang="en-US" sz="1400" b="1"/>
                        <a:t>Description / Purpose</a:t>
                      </a:r>
                      <a:endParaRPr lang="en-US" sz="1400"/>
                    </a:p>
                  </a:txBody>
                  <a:tcPr anchor="ctr"/>
                </a:tc>
                <a:tc>
                  <a:txBody>
                    <a:bodyPr/>
                    <a:lstStyle/>
                    <a:p>
                      <a:pPr>
                        <a:buNone/>
                      </a:pPr>
                      <a:r>
                        <a:rPr lang="en-US" sz="1400" b="1"/>
                        <a:t>User Actions / What It Does</a:t>
                      </a:r>
                      <a:endParaRPr lang="en-US" sz="1400"/>
                    </a:p>
                  </a:txBody>
                  <a:tcPr anchor="ctr"/>
                </a:tc>
                <a:tc>
                  <a:txBody>
                    <a:bodyPr/>
                    <a:lstStyle/>
                    <a:p>
                      <a:pPr>
                        <a:buNone/>
                      </a:pPr>
                      <a:r>
                        <a:rPr lang="en-US" sz="1400" b="1"/>
                        <a:t>Expected Outcome / Display</a:t>
                      </a:r>
                      <a:endParaRPr lang="en-US" sz="1400"/>
                    </a:p>
                  </a:txBody>
                  <a:tcPr anchor="ctr"/>
                </a:tc>
                <a:tc>
                  <a:txBody>
                    <a:bodyPr/>
                    <a:lstStyle/>
                    <a:p>
                      <a:pPr>
                        <a:buNone/>
                      </a:pPr>
                      <a:r>
                        <a:rPr lang="en-US" sz="1400" b="1"/>
                        <a:t>Notes / Future Plans</a:t>
                      </a:r>
                      <a:endParaRPr lang="en-US" sz="1400"/>
                    </a:p>
                  </a:txBody>
                  <a:tcPr anchor="ctr"/>
                </a:tc>
                <a:extLst>
                  <a:ext uri="{0D108BD9-81ED-4DB2-BD59-A6C34878D82A}">
                    <a16:rowId xmlns:a16="http://schemas.microsoft.com/office/drawing/2014/main" val="3238503483"/>
                  </a:ext>
                </a:extLst>
              </a:tr>
              <a:tr h="766533">
                <a:tc>
                  <a:txBody>
                    <a:bodyPr/>
                    <a:lstStyle/>
                    <a:p>
                      <a:r>
                        <a:rPr lang="en-US" sz="1200" b="0">
                          <a:effectLst/>
                        </a:rPr>
                        <a:t>AI Chat Interface</a:t>
                      </a:r>
                    </a:p>
                  </a:txBody>
                  <a:tcPr marL="63500" marR="63500" marT="31750" marB="31750" anchor="ctr"/>
                </a:tc>
                <a:tc>
                  <a:txBody>
                    <a:bodyPr/>
                    <a:lstStyle/>
                    <a:p>
                      <a:r>
                        <a:rPr lang="en-US" sz="1200" b="0">
                          <a:effectLst/>
                        </a:rPr>
                        <a:t>Offer conversational AI support for study help and platform guidance</a:t>
                      </a:r>
                    </a:p>
                  </a:txBody>
                  <a:tcPr marL="63500" marR="63500" marT="31750" marB="31750" anchor="ctr"/>
                </a:tc>
                <a:tc>
                  <a:txBody>
                    <a:bodyPr/>
                    <a:lstStyle/>
                    <a:p>
                      <a:r>
                        <a:rPr lang="en-US" sz="1200" b="0">
                          <a:effectLst/>
                        </a:rPr>
                        <a:t>Users type questions in chat interface; AI responds with context-aware answers; code snippets display with syntax highlighting</a:t>
                      </a:r>
                    </a:p>
                  </a:txBody>
                  <a:tcPr marL="63500" marR="63500" marT="31750" marB="31750" anchor="ctr"/>
                </a:tc>
                <a:tc>
                  <a:txBody>
                    <a:bodyPr/>
                    <a:lstStyle/>
                    <a:p>
                      <a:r>
                        <a:rPr lang="en-US" sz="1200" b="0">
                          <a:effectLst/>
                        </a:rPr>
                        <a:t>Real-time responses with markdown formatting; chat history saved to user account; can reference previous conversations</a:t>
                      </a:r>
                    </a:p>
                  </a:txBody>
                  <a:tcPr marL="63500" marR="63500" marT="31750" marB="31750" anchor="ctr"/>
                </a:tc>
                <a:tc>
                  <a:txBody>
                    <a:bodyPr/>
                    <a:lstStyle/>
                    <a:p>
                      <a:r>
                        <a:rPr lang="en-US" sz="1200" b="0">
                          <a:effectLst/>
                        </a:rPr>
                        <a:t>May add voice input and integration with course materials</a:t>
                      </a:r>
                    </a:p>
                  </a:txBody>
                  <a:tcPr marL="63500" marR="63500" marT="31750" marB="31750" anchor="ctr"/>
                </a:tc>
                <a:extLst>
                  <a:ext uri="{0D108BD9-81ED-4DB2-BD59-A6C34878D82A}">
                    <a16:rowId xmlns:a16="http://schemas.microsoft.com/office/drawing/2014/main" val="195928634"/>
                  </a:ext>
                </a:extLst>
              </a:tr>
              <a:tr h="589641">
                <a:tc>
                  <a:txBody>
                    <a:bodyPr/>
                    <a:lstStyle/>
                    <a:p>
                      <a:r>
                        <a:rPr lang="en-US" sz="1200" b="0">
                          <a:effectLst/>
                        </a:rPr>
                        <a:t>Dashboard Analytics</a:t>
                      </a:r>
                    </a:p>
                  </a:txBody>
                  <a:tcPr marL="63500" marR="63500" marT="31750" marB="31750" anchor="ctr"/>
                </a:tc>
                <a:tc>
                  <a:txBody>
                    <a:bodyPr/>
                    <a:lstStyle/>
                    <a:p>
                      <a:r>
                        <a:rPr lang="en-US" sz="1200" b="0">
                          <a:effectLst/>
                        </a:rPr>
                        <a:t>Visualize personal statistics and activity using Recharts</a:t>
                      </a:r>
                    </a:p>
                  </a:txBody>
                  <a:tcPr marL="63500" marR="63500" marT="31750" marB="31750" anchor="ctr"/>
                </a:tc>
                <a:tc>
                  <a:txBody>
                    <a:bodyPr/>
                    <a:lstStyle/>
                    <a:p>
                      <a:r>
                        <a:rPr lang="en-US" sz="1200" b="0" dirty="0">
                          <a:effectLst/>
                        </a:rPr>
                        <a:t>Users view dashboard with stats cards and charts showing sessions completed, average rating (for tutors), credits earned/spent, upcoming sessions</a:t>
                      </a:r>
                    </a:p>
                  </a:txBody>
                  <a:tcPr marL="63500" marR="63500" marT="31750" marB="31750" anchor="ctr"/>
                </a:tc>
                <a:tc>
                  <a:txBody>
                    <a:bodyPr/>
                    <a:lstStyle/>
                    <a:p>
                      <a:r>
                        <a:rPr lang="en-US" sz="1200" b="0">
                          <a:effectLst/>
                        </a:rPr>
                        <a:t>Recharts visualizations: radial bar charts for profile completion, area charts for activity trends, calendar heatmap for session frequency</a:t>
                      </a:r>
                    </a:p>
                  </a:txBody>
                  <a:tcPr marL="63500" marR="63500" marT="31750" marB="31750" anchor="ctr"/>
                </a:tc>
                <a:tc>
                  <a:txBody>
                    <a:bodyPr/>
                    <a:lstStyle/>
                    <a:p>
                      <a:r>
                        <a:rPr lang="en-US" sz="1200" b="0">
                          <a:effectLst/>
                        </a:rPr>
                        <a:t>May add comparative analytics showing performance vs. peers</a:t>
                      </a:r>
                    </a:p>
                  </a:txBody>
                  <a:tcPr marL="63500" marR="63500" marT="31750" marB="31750" anchor="ctr"/>
                </a:tc>
                <a:extLst>
                  <a:ext uri="{0D108BD9-81ED-4DB2-BD59-A6C34878D82A}">
                    <a16:rowId xmlns:a16="http://schemas.microsoft.com/office/drawing/2014/main" val="2822858972"/>
                  </a:ext>
                </a:extLst>
              </a:tr>
              <a:tr h="589641">
                <a:tc>
                  <a:txBody>
                    <a:bodyPr/>
                    <a:lstStyle/>
                    <a:p>
                      <a:r>
                        <a:rPr lang="en-US" sz="1200" b="0" dirty="0">
                          <a:effectLst/>
                        </a:rPr>
                        <a:t>Booking Management</a:t>
                      </a:r>
                    </a:p>
                  </a:txBody>
                  <a:tcPr marL="63500" marR="63500" marT="31750" marB="31750" anchor="ctr"/>
                </a:tc>
                <a:tc>
                  <a:txBody>
                    <a:bodyPr/>
                    <a:lstStyle/>
                    <a:p>
                      <a:r>
                        <a:rPr lang="en-US" sz="1200" b="0">
                          <a:effectLst/>
                        </a:rPr>
                        <a:t>Centralized view of all bookings with status filtering</a:t>
                      </a:r>
                    </a:p>
                  </a:txBody>
                  <a:tcPr marL="63500" marR="63500" marT="31750" marB="31750" anchor="ctr"/>
                </a:tc>
                <a:tc>
                  <a:txBody>
                    <a:bodyPr/>
                    <a:lstStyle/>
                    <a:p>
                      <a:r>
                        <a:rPr lang="en-US" sz="1200" b="0">
                          <a:effectLst/>
                        </a:rPr>
                        <a:t>Users view bookings page filtered by status: Pending (awaiting confirmation), Confirmed (upcoming sessions), Completed (past sessions), Cancelled</a:t>
                      </a:r>
                    </a:p>
                  </a:txBody>
                  <a:tcPr marL="63500" marR="63500" marT="31750" marB="31750" anchor="ctr"/>
                </a:tc>
                <a:tc>
                  <a:txBody>
                    <a:bodyPr/>
                    <a:lstStyle/>
                    <a:p>
                      <a:r>
                        <a:rPr lang="en-US" sz="1200" b="0">
                          <a:effectLst/>
                        </a:rPr>
                        <a:t>Each booking card shows subject, date, time, tutor/student name, cost, status badge; click to view details or take actions (cancel, reschedule, review)</a:t>
                      </a:r>
                    </a:p>
                  </a:txBody>
                  <a:tcPr marL="63500" marR="63500" marT="31750" marB="31750" anchor="ctr"/>
                </a:tc>
                <a:tc>
                  <a:txBody>
                    <a:bodyPr/>
                    <a:lstStyle/>
                    <a:p>
                      <a:r>
                        <a:rPr lang="en-US" sz="1200" b="0" dirty="0">
                          <a:effectLst/>
                        </a:rPr>
                        <a:t>May add bulk actions and export to CSV</a:t>
                      </a:r>
                    </a:p>
                  </a:txBody>
                  <a:tcPr marL="63500" marR="63500" marT="31750" marB="31750" anchor="ctr"/>
                </a:tc>
                <a:extLst>
                  <a:ext uri="{0D108BD9-81ED-4DB2-BD59-A6C34878D82A}">
                    <a16:rowId xmlns:a16="http://schemas.microsoft.com/office/drawing/2014/main" val="3488274501"/>
                  </a:ext>
                </a:extLst>
              </a:tr>
              <a:tr h="589641">
                <a:tc>
                  <a:txBody>
                    <a:bodyPr/>
                    <a:lstStyle/>
                    <a:p>
                      <a:r>
                        <a:rPr lang="en-US" sz="1200" b="0" dirty="0">
                          <a:effectLst/>
                        </a:rPr>
                        <a:t>Session Completion</a:t>
                      </a:r>
                    </a:p>
                  </a:txBody>
                  <a:tcPr marL="63500" marR="63500" marT="31750" marB="31750" anchor="ctr"/>
                </a:tc>
                <a:tc>
                  <a:txBody>
                    <a:bodyPr/>
                    <a:lstStyle/>
                    <a:p>
                      <a:r>
                        <a:rPr lang="en-US" sz="1200" b="0" dirty="0">
                          <a:effectLst/>
                        </a:rPr>
                        <a:t>Automatically mark sessions as completed after scheduled end time</a:t>
                      </a:r>
                    </a:p>
                  </a:txBody>
                  <a:tcPr marL="63500" marR="63500" marT="31750" marB="31750" anchor="ctr"/>
                </a:tc>
                <a:tc>
                  <a:txBody>
                    <a:bodyPr/>
                    <a:lstStyle/>
                    <a:p>
                      <a:r>
                        <a:rPr lang="en-US" sz="1200" b="0" dirty="0">
                          <a:effectLst/>
                        </a:rPr>
                        <a:t>System checks booking end time; automatically updates status from "confirmed" to "completed" 15 minutes after scheduled end</a:t>
                      </a:r>
                    </a:p>
                  </a:txBody>
                  <a:tcPr marL="63500" marR="63500" marT="31750" marB="31750" anchor="ctr"/>
                </a:tc>
                <a:tc>
                  <a:txBody>
                    <a:bodyPr/>
                    <a:lstStyle/>
                    <a:p>
                      <a:r>
                        <a:rPr lang="en-US" sz="1200" b="0">
                          <a:effectLst/>
                        </a:rPr>
                        <a:t>Booking status changes; triggers review request notification to student; credits transfer to tutor account</a:t>
                      </a:r>
                    </a:p>
                  </a:txBody>
                  <a:tcPr marL="63500" marR="63500" marT="31750" marB="31750" anchor="ctr"/>
                </a:tc>
                <a:tc>
                  <a:txBody>
                    <a:bodyPr/>
                    <a:lstStyle/>
                    <a:p>
                      <a:r>
                        <a:rPr lang="en-US" sz="1200" b="0" dirty="0">
                          <a:effectLst/>
                        </a:rPr>
                        <a:t>Session archiving may be implemented for algorithmic improvements</a:t>
                      </a:r>
                    </a:p>
                  </a:txBody>
                  <a:tcPr marL="63500" marR="63500" marT="31750" marB="31750" anchor="ctr"/>
                </a:tc>
                <a:extLst>
                  <a:ext uri="{0D108BD9-81ED-4DB2-BD59-A6C34878D82A}">
                    <a16:rowId xmlns:a16="http://schemas.microsoft.com/office/drawing/2014/main" val="4124828537"/>
                  </a:ext>
                </a:extLst>
              </a:tr>
              <a:tr h="589641">
                <a:tc>
                  <a:txBody>
                    <a:bodyPr/>
                    <a:lstStyle/>
                    <a:p>
                      <a:r>
                        <a:rPr lang="en-US" sz="1200" b="0">
                          <a:effectLst/>
                        </a:rPr>
                        <a:t>Real-time Collaborative Code Editor</a:t>
                      </a:r>
                    </a:p>
                  </a:txBody>
                  <a:tcPr marL="63500" marR="63500" marT="31750" marB="31750" anchor="ctr"/>
                </a:tc>
                <a:tc>
                  <a:txBody>
                    <a:bodyPr/>
                    <a:lstStyle/>
                    <a:p>
                      <a:r>
                        <a:rPr lang="en-US" sz="1200" b="0">
                          <a:effectLst/>
                        </a:rPr>
                        <a:t>Enable multi-party live coding during tutoring sessions using embedded Monaco Editor (VSCode core)</a:t>
                      </a:r>
                    </a:p>
                  </a:txBody>
                  <a:tcPr marL="63500" marR="63500" marT="31750" marB="31750" anchor="ctr"/>
                </a:tc>
                <a:tc>
                  <a:txBody>
                    <a:bodyPr/>
                    <a:lstStyle/>
                    <a:p>
                      <a:r>
                        <a:rPr lang="en-US" sz="1200" b="0">
                          <a:effectLst/>
                        </a:rPr>
                        <a:t>Students and tutors access split-screen view with video on left, code editor on right; both can type simultaneously; select programming language; run code with integrated compiler</a:t>
                      </a:r>
                    </a:p>
                  </a:txBody>
                  <a:tcPr marL="63500" marR="63500" marT="31750" marB="31750" anchor="ctr"/>
                </a:tc>
                <a:tc>
                  <a:txBody>
                    <a:bodyPr/>
                    <a:lstStyle/>
                    <a:p>
                      <a:r>
                        <a:rPr lang="en-US" sz="1200" b="0" dirty="0">
                          <a:effectLst/>
                        </a:rPr>
                        <a:t>Real-time synchronized editing with multi-cursor display (different colors per user); syntax highlighting for 20+ languages; IntelliSense code completion; instant code execution results; chat overlay for code-specific discussions</a:t>
                      </a:r>
                    </a:p>
                  </a:txBody>
                  <a:tcPr marL="63500" marR="63500" marT="31750" marB="31750" anchor="ctr"/>
                </a:tc>
                <a:tc>
                  <a:txBody>
                    <a:bodyPr/>
                    <a:lstStyle/>
                    <a:p>
                      <a:r>
                        <a:rPr lang="en-US" sz="1200" b="0" dirty="0">
                          <a:effectLst/>
                        </a:rPr>
                        <a:t>Uses </a:t>
                      </a:r>
                      <a:r>
                        <a:rPr lang="en-US" sz="1200" b="0" dirty="0" err="1">
                          <a:effectLst/>
                        </a:rPr>
                        <a:t>Yjs</a:t>
                      </a:r>
                      <a:r>
                        <a:rPr lang="en-US" sz="1200" b="0" dirty="0">
                          <a:effectLst/>
                        </a:rPr>
                        <a:t> CRDT + WebSocket for conflict-free synchronization; Judge0 API for code execution; saves code snapshots per session; particularly valuable for </a:t>
                      </a:r>
                      <a:r>
                        <a:rPr lang="en-US" altLang="zh-CN" sz="1200" b="0" dirty="0">
                          <a:effectLst/>
                        </a:rPr>
                        <a:t>coding</a:t>
                      </a:r>
                      <a:r>
                        <a:rPr lang="en-US" sz="1200" b="0" dirty="0">
                          <a:effectLst/>
                        </a:rPr>
                        <a:t> courses</a:t>
                      </a:r>
                    </a:p>
                  </a:txBody>
                  <a:tcPr marL="63500" marR="63500" marT="31750" marB="31750" anchor="ctr"/>
                </a:tc>
                <a:extLst>
                  <a:ext uri="{0D108BD9-81ED-4DB2-BD59-A6C34878D82A}">
                    <a16:rowId xmlns:a16="http://schemas.microsoft.com/office/drawing/2014/main" val="2815425469"/>
                  </a:ext>
                </a:extLst>
              </a:tr>
            </a:tbl>
          </a:graphicData>
        </a:graphic>
      </p:graphicFrame>
    </p:spTree>
    <p:extLst>
      <p:ext uri="{BB962C8B-B14F-4D97-AF65-F5344CB8AC3E}">
        <p14:creationId xmlns:p14="http://schemas.microsoft.com/office/powerpoint/2010/main" val="14809008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3AE4F-9C69-5CA8-1960-C0B0060EED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DDA9D7-0DA0-475B-60AB-8F6F0DAA3946}"/>
              </a:ext>
            </a:extLst>
          </p:cNvPr>
          <p:cNvSpPr>
            <a:spLocks noGrp="1"/>
          </p:cNvSpPr>
          <p:nvPr>
            <p:ph type="title"/>
          </p:nvPr>
        </p:nvSpPr>
        <p:spPr/>
        <p:txBody>
          <a:bodyPr/>
          <a:lstStyle/>
          <a:p>
            <a:pPr lvl="0"/>
            <a:r>
              <a:rPr lang="en-US" b="1" dirty="0"/>
              <a:t>Wireframe (5%)</a:t>
            </a:r>
            <a:endParaRPr lang="en-US" dirty="0"/>
          </a:p>
        </p:txBody>
      </p:sp>
      <p:pic>
        <p:nvPicPr>
          <p:cNvPr id="7" name="Picture 6">
            <a:extLst>
              <a:ext uri="{FF2B5EF4-FFF2-40B4-BE49-F238E27FC236}">
                <a16:creationId xmlns:a16="http://schemas.microsoft.com/office/drawing/2014/main" id="{FC14D8E4-299B-5DA1-A0F7-A9B19FD77C39}"/>
              </a:ext>
            </a:extLst>
          </p:cNvPr>
          <p:cNvPicPr>
            <a:picLocks noChangeAspect="1"/>
          </p:cNvPicPr>
          <p:nvPr/>
        </p:nvPicPr>
        <p:blipFill>
          <a:blip r:embed="rId2"/>
          <a:stretch>
            <a:fillRect/>
          </a:stretch>
        </p:blipFill>
        <p:spPr>
          <a:xfrm>
            <a:off x="532668" y="1559670"/>
            <a:ext cx="11094056" cy="3252360"/>
          </a:xfrm>
          <a:prstGeom prst="rect">
            <a:avLst/>
          </a:prstGeom>
        </p:spPr>
      </p:pic>
      <p:sp>
        <p:nvSpPr>
          <p:cNvPr id="4" name="文本框 3">
            <a:extLst>
              <a:ext uri="{FF2B5EF4-FFF2-40B4-BE49-F238E27FC236}">
                <a16:creationId xmlns:a16="http://schemas.microsoft.com/office/drawing/2014/main" id="{77708C66-47F9-0648-E5D4-C3D7787D34C8}"/>
              </a:ext>
            </a:extLst>
          </p:cNvPr>
          <p:cNvSpPr txBox="1"/>
          <p:nvPr/>
        </p:nvSpPr>
        <p:spPr>
          <a:xfrm>
            <a:off x="838200" y="4686984"/>
            <a:ext cx="8007350" cy="646331"/>
          </a:xfrm>
          <a:prstGeom prst="rect">
            <a:avLst/>
          </a:prstGeom>
          <a:noFill/>
        </p:spPr>
        <p:txBody>
          <a:bodyPr wrap="square">
            <a:spAutoFit/>
          </a:bodyPr>
          <a:lstStyle/>
          <a:p>
            <a:r>
              <a:rPr lang="en-US" altLang="zh-CN" dirty="0"/>
              <a:t>Screenshots link if pictures not clear enough</a:t>
            </a:r>
            <a:r>
              <a:rPr lang="zh-CN" altLang="en-US" dirty="0"/>
              <a:t>  </a:t>
            </a:r>
            <a:br>
              <a:rPr lang="en-US" altLang="zh-CN" dirty="0"/>
            </a:br>
            <a:r>
              <a:rPr lang="zh-CN" altLang="en-US" dirty="0">
                <a:hlinkClick r:id="rId3"/>
              </a:rPr>
              <a:t>https://github.com/YoRHa16608/Fullstack_screenshots/tree/main/screenshots</a:t>
            </a:r>
            <a:r>
              <a:rPr lang="zh-CN" altLang="en-US" dirty="0"/>
              <a:t>  </a:t>
            </a:r>
          </a:p>
        </p:txBody>
      </p:sp>
    </p:spTree>
    <p:extLst>
      <p:ext uri="{BB962C8B-B14F-4D97-AF65-F5344CB8AC3E}">
        <p14:creationId xmlns:p14="http://schemas.microsoft.com/office/powerpoint/2010/main" val="36593701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CD14D-4CF5-18B8-F837-17A4AFA7EC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54748A-D343-3DEC-3D11-FB826E9C59E5}"/>
              </a:ext>
            </a:extLst>
          </p:cNvPr>
          <p:cNvSpPr>
            <a:spLocks noGrp="1"/>
          </p:cNvSpPr>
          <p:nvPr>
            <p:ph type="title"/>
          </p:nvPr>
        </p:nvSpPr>
        <p:spPr/>
        <p:txBody>
          <a:bodyPr/>
          <a:lstStyle/>
          <a:p>
            <a:pPr lvl="0"/>
            <a:r>
              <a:rPr lang="en-US" b="1" dirty="0"/>
              <a:t>Wireframe (5%)</a:t>
            </a:r>
            <a:endParaRPr lang="en-US" dirty="0"/>
          </a:p>
        </p:txBody>
      </p:sp>
      <p:pic>
        <p:nvPicPr>
          <p:cNvPr id="8" name="图片 7" descr="图形用户界面, 应用程序&#10;&#10;AI 生成的内容可能不正确。">
            <a:extLst>
              <a:ext uri="{FF2B5EF4-FFF2-40B4-BE49-F238E27FC236}">
                <a16:creationId xmlns:a16="http://schemas.microsoft.com/office/drawing/2014/main" id="{B7B0A8A0-15CD-CC00-CB00-8EA8D4C9F0B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26360" y="938163"/>
            <a:ext cx="4479574" cy="2357947"/>
          </a:xfrm>
          <a:prstGeom prst="rect">
            <a:avLst/>
          </a:prstGeom>
        </p:spPr>
      </p:pic>
      <p:pic>
        <p:nvPicPr>
          <p:cNvPr id="10" name="图片 9" descr="图形用户界面, 文本, 应用程序, 电子邮件&#10;&#10;AI 生成的内容可能不正确。">
            <a:extLst>
              <a:ext uri="{FF2B5EF4-FFF2-40B4-BE49-F238E27FC236}">
                <a16:creationId xmlns:a16="http://schemas.microsoft.com/office/drawing/2014/main" id="{8D130A65-CB66-CF84-A912-016994B81BB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26360" y="3296110"/>
            <a:ext cx="4479571" cy="2357946"/>
          </a:xfrm>
          <a:prstGeom prst="rect">
            <a:avLst/>
          </a:prstGeom>
        </p:spPr>
      </p:pic>
      <p:sp>
        <p:nvSpPr>
          <p:cNvPr id="11" name="Content Placeholder 2">
            <a:extLst>
              <a:ext uri="{FF2B5EF4-FFF2-40B4-BE49-F238E27FC236}">
                <a16:creationId xmlns:a16="http://schemas.microsoft.com/office/drawing/2014/main" id="{AD71BA7C-167D-CCAA-7756-0A403E2E7D86}"/>
              </a:ext>
            </a:extLst>
          </p:cNvPr>
          <p:cNvSpPr>
            <a:spLocks noGrp="1"/>
          </p:cNvSpPr>
          <p:nvPr>
            <p:ph idx="1"/>
          </p:nvPr>
        </p:nvSpPr>
        <p:spPr>
          <a:xfrm>
            <a:off x="508672" y="1301960"/>
            <a:ext cx="5587328" cy="4621761"/>
          </a:xfrm>
        </p:spPr>
        <p:txBody>
          <a:bodyPr>
            <a:normAutofit/>
          </a:bodyPr>
          <a:lstStyle/>
          <a:p>
            <a:pPr marL="0" indent="0">
              <a:buNone/>
            </a:pPr>
            <a:r>
              <a:rPr lang="en-US" altLang="zh-CN" sz="3200" b="1" dirty="0"/>
              <a:t>Main Page</a:t>
            </a:r>
          </a:p>
          <a:p>
            <a:pPr marL="0" indent="0">
              <a:buNone/>
            </a:pPr>
            <a:r>
              <a:rPr lang="en-US" altLang="zh-CN" sz="2000" dirty="0"/>
              <a:t>The landing page features a clean hero section with the tagline "Find the perfect peer tutor for your needs" in gradient purple typography. A search bar enables course code lookup while navigation includes "Find a Tutor," "Become a Tutor," and "About" links with "Log In" and "Sign Up" buttons.</a:t>
            </a:r>
          </a:p>
        </p:txBody>
      </p:sp>
    </p:spTree>
    <p:extLst>
      <p:ext uri="{BB962C8B-B14F-4D97-AF65-F5344CB8AC3E}">
        <p14:creationId xmlns:p14="http://schemas.microsoft.com/office/powerpoint/2010/main" val="30590708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CFC1F-EB69-E2DB-C61D-C1FE3C533C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066233-E993-74B8-1998-69140ED537B4}"/>
              </a:ext>
            </a:extLst>
          </p:cNvPr>
          <p:cNvSpPr>
            <a:spLocks noGrp="1"/>
          </p:cNvSpPr>
          <p:nvPr>
            <p:ph type="title"/>
          </p:nvPr>
        </p:nvSpPr>
        <p:spPr/>
        <p:txBody>
          <a:bodyPr/>
          <a:lstStyle/>
          <a:p>
            <a:pPr lvl="0"/>
            <a:r>
              <a:rPr lang="en-US" b="1" dirty="0"/>
              <a:t>Wireframe (5%)</a:t>
            </a:r>
            <a:endParaRPr lang="en-US" dirty="0"/>
          </a:p>
        </p:txBody>
      </p:sp>
      <p:sp>
        <p:nvSpPr>
          <p:cNvPr id="11" name="Content Placeholder 2">
            <a:extLst>
              <a:ext uri="{FF2B5EF4-FFF2-40B4-BE49-F238E27FC236}">
                <a16:creationId xmlns:a16="http://schemas.microsoft.com/office/drawing/2014/main" id="{D4EFE576-ACF5-8D00-EB89-4E744704D50A}"/>
              </a:ext>
            </a:extLst>
          </p:cNvPr>
          <p:cNvSpPr>
            <a:spLocks noGrp="1"/>
          </p:cNvSpPr>
          <p:nvPr>
            <p:ph idx="1"/>
          </p:nvPr>
        </p:nvSpPr>
        <p:spPr>
          <a:xfrm>
            <a:off x="508672" y="1301960"/>
            <a:ext cx="5587328" cy="4621761"/>
          </a:xfrm>
        </p:spPr>
        <p:txBody>
          <a:bodyPr>
            <a:normAutofit/>
          </a:bodyPr>
          <a:lstStyle/>
          <a:p>
            <a:pPr marL="0" indent="0">
              <a:buNone/>
            </a:pPr>
            <a:r>
              <a:rPr lang="en-US" altLang="zh-CN" sz="3200" b="1" dirty="0"/>
              <a:t>AI Assistant Page</a:t>
            </a:r>
          </a:p>
          <a:p>
            <a:pPr marL="0" indent="0">
              <a:buNone/>
            </a:pPr>
            <a:r>
              <a:rPr lang="en-US" altLang="zh-CN" sz="2200" dirty="0"/>
              <a:t>The Tu2tor Assistant is an intelligent chatbot showing "Online" status with LLM provider. The sidebar displays profile completion, credits, and sessions . The interface greets "Hello, </a:t>
            </a:r>
            <a:r>
              <a:rPr lang="en-US" altLang="zh-CN" sz="2200" dirty="0" err="1"/>
              <a:t>alice_student</a:t>
            </a:r>
            <a:r>
              <a:rPr lang="en-US" altLang="zh-CN" sz="2200" dirty="0"/>
              <a:t>" with prompt "Ask me anything about the Tu2tor platform," featuring Deep Reasoning toggle and file attachment options. The Settings panel shows AI providers with usage state.</a:t>
            </a:r>
          </a:p>
        </p:txBody>
      </p:sp>
      <p:pic>
        <p:nvPicPr>
          <p:cNvPr id="4" name="图片 3" descr="图形用户界面, 应用程序&#10;&#10;AI 生成的内容可能不正确。">
            <a:extLst>
              <a:ext uri="{FF2B5EF4-FFF2-40B4-BE49-F238E27FC236}">
                <a16:creationId xmlns:a16="http://schemas.microsoft.com/office/drawing/2014/main" id="{75D1FE99-EC03-9A6A-E986-0AFC2E29A85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95200" y="215124"/>
            <a:ext cx="5388128" cy="2836189"/>
          </a:xfrm>
          <a:prstGeom prst="rect">
            <a:avLst/>
          </a:prstGeom>
        </p:spPr>
      </p:pic>
      <p:pic>
        <p:nvPicPr>
          <p:cNvPr id="6" name="图片 5" descr="图形用户界面, 文本, 应用程序&#10;&#10;AI 生成的内容可能不正确。">
            <a:extLst>
              <a:ext uri="{FF2B5EF4-FFF2-40B4-BE49-F238E27FC236}">
                <a16:creationId xmlns:a16="http://schemas.microsoft.com/office/drawing/2014/main" id="{E3B2ACCE-3928-ED59-E266-AF3D42E0A95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95200" y="2959681"/>
            <a:ext cx="5388128" cy="2836189"/>
          </a:xfrm>
          <a:prstGeom prst="rect">
            <a:avLst/>
          </a:prstGeom>
        </p:spPr>
      </p:pic>
    </p:spTree>
    <p:extLst>
      <p:ext uri="{BB962C8B-B14F-4D97-AF65-F5344CB8AC3E}">
        <p14:creationId xmlns:p14="http://schemas.microsoft.com/office/powerpoint/2010/main" val="15163649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48DDB-3C5B-99C9-18B6-4D7B13918A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6951C2-0B97-2632-9769-74016B7CBED1}"/>
              </a:ext>
            </a:extLst>
          </p:cNvPr>
          <p:cNvSpPr>
            <a:spLocks noGrp="1"/>
          </p:cNvSpPr>
          <p:nvPr>
            <p:ph type="title"/>
          </p:nvPr>
        </p:nvSpPr>
        <p:spPr/>
        <p:txBody>
          <a:bodyPr/>
          <a:lstStyle/>
          <a:p>
            <a:pPr lvl="0"/>
            <a:r>
              <a:rPr lang="en-US" b="1" dirty="0"/>
              <a:t>Wireframe (5%)</a:t>
            </a:r>
            <a:endParaRPr lang="en-US" dirty="0"/>
          </a:p>
        </p:txBody>
      </p:sp>
      <p:sp>
        <p:nvSpPr>
          <p:cNvPr id="11" name="Content Placeholder 2">
            <a:extLst>
              <a:ext uri="{FF2B5EF4-FFF2-40B4-BE49-F238E27FC236}">
                <a16:creationId xmlns:a16="http://schemas.microsoft.com/office/drawing/2014/main" id="{C13149DF-F3E5-F7A5-2896-B149D9FE07CF}"/>
              </a:ext>
            </a:extLst>
          </p:cNvPr>
          <p:cNvSpPr>
            <a:spLocks noGrp="1"/>
          </p:cNvSpPr>
          <p:nvPr>
            <p:ph idx="1"/>
          </p:nvPr>
        </p:nvSpPr>
        <p:spPr>
          <a:xfrm>
            <a:off x="508672" y="1301960"/>
            <a:ext cx="5187278" cy="4621761"/>
          </a:xfrm>
        </p:spPr>
        <p:txBody>
          <a:bodyPr>
            <a:normAutofit/>
          </a:bodyPr>
          <a:lstStyle/>
          <a:p>
            <a:pPr marL="0" indent="0">
              <a:buNone/>
            </a:pPr>
            <a:r>
              <a:rPr lang="en-US" altLang="zh-CN" sz="3200" b="1" dirty="0"/>
              <a:t>Matching Page</a:t>
            </a:r>
          </a:p>
          <a:p>
            <a:pPr marL="0" indent="0">
              <a:buNone/>
            </a:pPr>
            <a:r>
              <a:rPr lang="en-US" altLang="zh-CN" sz="2200" dirty="0"/>
              <a:t>Tu2tor's AI matching system ranks tutors with "Enable Smart Matching" toggle and "Matching Priority: Balanced" slider between Schedule and Rating. Displays "17 Tutors Found" with personalized match percentages (</a:t>
            </a:r>
            <a:r>
              <a:rPr lang="en-US" altLang="zh-CN" sz="2200" dirty="0" err="1"/>
              <a:t>maya_tutor</a:t>
            </a:r>
            <a:r>
              <a:rPr lang="en-US" altLang="zh-CN" sz="2200" dirty="0"/>
              <a:t> 87%, </a:t>
            </a:r>
            <a:r>
              <a:rPr lang="en-US" altLang="zh-CN" sz="2200" dirty="0" err="1"/>
              <a:t>henry_tutor</a:t>
            </a:r>
            <a:r>
              <a:rPr lang="en-US" altLang="zh-CN" sz="2200" dirty="0"/>
              <a:t> 85%). Each recommendation shows "WHY THIS MATCH," "CONSIDERATIONS," and "MATCH DIMENSIONS" metrics.</a:t>
            </a:r>
          </a:p>
        </p:txBody>
      </p:sp>
      <p:pic>
        <p:nvPicPr>
          <p:cNvPr id="5" name="图片 4" descr="图形用户界面, 应用程序, Teams&#10;&#10;AI 生成的内容可能不正确。">
            <a:extLst>
              <a:ext uri="{FF2B5EF4-FFF2-40B4-BE49-F238E27FC236}">
                <a16:creationId xmlns:a16="http://schemas.microsoft.com/office/drawing/2014/main" id="{14A17FAE-FA1A-E11A-BCE6-C93D4FD1ED6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96000" y="313750"/>
            <a:ext cx="5540832" cy="2916569"/>
          </a:xfrm>
          <a:prstGeom prst="rect">
            <a:avLst/>
          </a:prstGeom>
        </p:spPr>
      </p:pic>
      <p:pic>
        <p:nvPicPr>
          <p:cNvPr id="8" name="图片 7" descr="图形用户界面, 应用程序, 电子邮件&#10;&#10;AI 生成的内容可能不正确。">
            <a:extLst>
              <a:ext uri="{FF2B5EF4-FFF2-40B4-BE49-F238E27FC236}">
                <a16:creationId xmlns:a16="http://schemas.microsoft.com/office/drawing/2014/main" id="{4831A1AA-5BC4-C2D7-F4D8-658F3118B8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0" y="3230319"/>
            <a:ext cx="5540833" cy="2916569"/>
          </a:xfrm>
          <a:prstGeom prst="rect">
            <a:avLst/>
          </a:prstGeom>
        </p:spPr>
      </p:pic>
    </p:spTree>
    <p:extLst>
      <p:ext uri="{BB962C8B-B14F-4D97-AF65-F5344CB8AC3E}">
        <p14:creationId xmlns:p14="http://schemas.microsoft.com/office/powerpoint/2010/main" val="1169293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7E029-5551-45D2-9914-C6BFAAB3E2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72560C-A547-F377-FD3F-3F96DA0373C9}"/>
              </a:ext>
            </a:extLst>
          </p:cNvPr>
          <p:cNvSpPr>
            <a:spLocks noGrp="1"/>
          </p:cNvSpPr>
          <p:nvPr>
            <p:ph type="title"/>
          </p:nvPr>
        </p:nvSpPr>
        <p:spPr/>
        <p:txBody>
          <a:bodyPr/>
          <a:lstStyle/>
          <a:p>
            <a:pPr lvl="0"/>
            <a:r>
              <a:rPr lang="en-US" b="1" dirty="0"/>
              <a:t>Wireframe (5%)</a:t>
            </a:r>
            <a:endParaRPr lang="en-US" dirty="0"/>
          </a:p>
        </p:txBody>
      </p:sp>
      <p:sp>
        <p:nvSpPr>
          <p:cNvPr id="11" name="Content Placeholder 2">
            <a:extLst>
              <a:ext uri="{FF2B5EF4-FFF2-40B4-BE49-F238E27FC236}">
                <a16:creationId xmlns:a16="http://schemas.microsoft.com/office/drawing/2014/main" id="{DF6FC571-9A96-A209-8AF3-F50AE2A9366C}"/>
              </a:ext>
            </a:extLst>
          </p:cNvPr>
          <p:cNvSpPr>
            <a:spLocks noGrp="1"/>
          </p:cNvSpPr>
          <p:nvPr>
            <p:ph idx="1"/>
          </p:nvPr>
        </p:nvSpPr>
        <p:spPr>
          <a:xfrm>
            <a:off x="508672" y="1301960"/>
            <a:ext cx="5587328" cy="4621761"/>
          </a:xfrm>
        </p:spPr>
        <p:txBody>
          <a:bodyPr>
            <a:normAutofit/>
          </a:bodyPr>
          <a:lstStyle/>
          <a:p>
            <a:pPr marL="0" indent="0">
              <a:buNone/>
            </a:pPr>
            <a:r>
              <a:rPr lang="en-US" altLang="zh-CN" sz="3200" b="1" dirty="0"/>
              <a:t>User Dashboard Page</a:t>
            </a:r>
          </a:p>
          <a:p>
            <a:pPr marL="0" indent="0">
              <a:buNone/>
            </a:pPr>
            <a:r>
              <a:rPr lang="en-US" altLang="zh-CN" sz="2000" dirty="0"/>
              <a:t>The dashboard shows student's key metrics: Sessions Completed, Upcoming Bookings, Profile Views, day streak. A GitHub-style heatmap tracks 5 sessions over 24 weeks. Profile completion at 80%, Quick Stats show 150 credits, 2 sessions, 0 avg rating, 1 badge. Action buttons include "Find a Tutor" and "Manage Bookings."</a:t>
            </a:r>
          </a:p>
        </p:txBody>
      </p:sp>
      <p:pic>
        <p:nvPicPr>
          <p:cNvPr id="4" name="图片 3" descr="电脑软件截图&#10;&#10;AI 生成的内容可能不正确。">
            <a:extLst>
              <a:ext uri="{FF2B5EF4-FFF2-40B4-BE49-F238E27FC236}">
                <a16:creationId xmlns:a16="http://schemas.microsoft.com/office/drawing/2014/main" id="{E7BB812C-B5C8-FE48-B802-077F0B42813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15870" y="1415256"/>
            <a:ext cx="5418061" cy="2851944"/>
          </a:xfrm>
          <a:prstGeom prst="rect">
            <a:avLst/>
          </a:prstGeom>
        </p:spPr>
      </p:pic>
    </p:spTree>
    <p:extLst>
      <p:ext uri="{BB962C8B-B14F-4D97-AF65-F5344CB8AC3E}">
        <p14:creationId xmlns:p14="http://schemas.microsoft.com/office/powerpoint/2010/main" val="14018968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7E3DF-1DFA-825E-D0B4-3AD15ADEC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5445B4-E5FA-3567-CC76-0E4ED0F27922}"/>
              </a:ext>
            </a:extLst>
          </p:cNvPr>
          <p:cNvSpPr>
            <a:spLocks noGrp="1"/>
          </p:cNvSpPr>
          <p:nvPr>
            <p:ph type="title"/>
          </p:nvPr>
        </p:nvSpPr>
        <p:spPr/>
        <p:txBody>
          <a:bodyPr/>
          <a:lstStyle/>
          <a:p>
            <a:pPr lvl="0"/>
            <a:r>
              <a:rPr lang="en-US" b="1" dirty="0"/>
              <a:t>Wireframe (5%)</a:t>
            </a:r>
            <a:endParaRPr lang="en-US" dirty="0"/>
          </a:p>
        </p:txBody>
      </p:sp>
      <p:sp>
        <p:nvSpPr>
          <p:cNvPr id="11" name="Content Placeholder 2">
            <a:extLst>
              <a:ext uri="{FF2B5EF4-FFF2-40B4-BE49-F238E27FC236}">
                <a16:creationId xmlns:a16="http://schemas.microsoft.com/office/drawing/2014/main" id="{A714E50B-E310-A465-696F-E2476D0669AB}"/>
              </a:ext>
            </a:extLst>
          </p:cNvPr>
          <p:cNvSpPr>
            <a:spLocks noGrp="1"/>
          </p:cNvSpPr>
          <p:nvPr>
            <p:ph idx="1"/>
          </p:nvPr>
        </p:nvSpPr>
        <p:spPr>
          <a:xfrm>
            <a:off x="508672" y="1301960"/>
            <a:ext cx="4723728" cy="4621761"/>
          </a:xfrm>
        </p:spPr>
        <p:txBody>
          <a:bodyPr>
            <a:normAutofit/>
          </a:bodyPr>
          <a:lstStyle/>
          <a:p>
            <a:pPr marL="0" indent="0">
              <a:buNone/>
            </a:pPr>
            <a:r>
              <a:rPr lang="en-US" altLang="zh-CN" sz="3200" b="1" dirty="0"/>
              <a:t>Tutor Profile Page</a:t>
            </a:r>
          </a:p>
          <a:p>
            <a:r>
              <a:rPr lang="en-US" altLang="zh-CN" sz="2000" dirty="0"/>
              <a:t>Tutor's profile shows rating, reviews, min response, sessions, Temasek Polytechnic Year 3, advanced subjected and available time and locations. Booking sidebar shows credits, instant confirmation, free 24hr cancellation, verified tutor badge.</a:t>
            </a:r>
          </a:p>
          <a:p>
            <a:br>
              <a:rPr lang="en-US" altLang="zh-CN" sz="2000" dirty="0"/>
            </a:br>
            <a:endParaRPr lang="en-US" altLang="zh-CN" sz="2000" dirty="0"/>
          </a:p>
        </p:txBody>
      </p:sp>
      <p:pic>
        <p:nvPicPr>
          <p:cNvPr id="5" name="图片 4" descr="图形用户界面, 文本, 应用程序, 电子邮件&#10;&#10;AI 生成的内容可能不正确。">
            <a:extLst>
              <a:ext uri="{FF2B5EF4-FFF2-40B4-BE49-F238E27FC236}">
                <a16:creationId xmlns:a16="http://schemas.microsoft.com/office/drawing/2014/main" id="{5EF0D735-A31A-67E0-D57D-510179529A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67349" y="1690688"/>
            <a:ext cx="6668147" cy="3509962"/>
          </a:xfrm>
          <a:prstGeom prst="rect">
            <a:avLst/>
          </a:prstGeom>
        </p:spPr>
      </p:pic>
    </p:spTree>
    <p:extLst>
      <p:ext uri="{BB962C8B-B14F-4D97-AF65-F5344CB8AC3E}">
        <p14:creationId xmlns:p14="http://schemas.microsoft.com/office/powerpoint/2010/main" val="35351958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623A4-C969-BC98-D0F9-CA89BF1E21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997711-B798-21FA-1061-193D89BA6886}"/>
              </a:ext>
            </a:extLst>
          </p:cNvPr>
          <p:cNvSpPr>
            <a:spLocks noGrp="1"/>
          </p:cNvSpPr>
          <p:nvPr>
            <p:ph type="title"/>
          </p:nvPr>
        </p:nvSpPr>
        <p:spPr/>
        <p:txBody>
          <a:bodyPr/>
          <a:lstStyle/>
          <a:p>
            <a:pPr lvl="0"/>
            <a:r>
              <a:rPr lang="en-US" b="1" dirty="0"/>
              <a:t>Wireframe (5%)</a:t>
            </a:r>
            <a:endParaRPr lang="en-US" dirty="0"/>
          </a:p>
        </p:txBody>
      </p:sp>
      <p:sp>
        <p:nvSpPr>
          <p:cNvPr id="11" name="Content Placeholder 2">
            <a:extLst>
              <a:ext uri="{FF2B5EF4-FFF2-40B4-BE49-F238E27FC236}">
                <a16:creationId xmlns:a16="http://schemas.microsoft.com/office/drawing/2014/main" id="{554E3758-39A2-2228-2309-D862D9DDE97A}"/>
              </a:ext>
            </a:extLst>
          </p:cNvPr>
          <p:cNvSpPr>
            <a:spLocks noGrp="1"/>
          </p:cNvSpPr>
          <p:nvPr>
            <p:ph idx="1"/>
          </p:nvPr>
        </p:nvSpPr>
        <p:spPr>
          <a:xfrm>
            <a:off x="508672" y="1301960"/>
            <a:ext cx="4571968" cy="4621761"/>
          </a:xfrm>
        </p:spPr>
        <p:txBody>
          <a:bodyPr>
            <a:normAutofit/>
          </a:bodyPr>
          <a:lstStyle/>
          <a:p>
            <a:pPr marL="0" indent="0">
              <a:buNone/>
            </a:pPr>
            <a:r>
              <a:rPr lang="en-US" altLang="zh-CN" sz="3200" b="1" dirty="0"/>
              <a:t>Booking Page</a:t>
            </a:r>
          </a:p>
          <a:p>
            <a:r>
              <a:rPr lang="en-US" altLang="zh-CN" sz="2200" dirty="0"/>
              <a:t>Shows student's bookings with Status/Subject filters and active bookings and completed bookings with booking history</a:t>
            </a:r>
            <a:br>
              <a:rPr lang="en-US" altLang="zh-CN" sz="2000" dirty="0"/>
            </a:br>
            <a:endParaRPr lang="en-US" altLang="zh-CN" sz="2000" dirty="0"/>
          </a:p>
        </p:txBody>
      </p:sp>
      <p:pic>
        <p:nvPicPr>
          <p:cNvPr id="4" name="图片 3" descr="图形用户界面, 应用程序, Teams&#10;&#10;AI 生成的内容可能不正确。">
            <a:extLst>
              <a:ext uri="{FF2B5EF4-FFF2-40B4-BE49-F238E27FC236}">
                <a16:creationId xmlns:a16="http://schemas.microsoft.com/office/drawing/2014/main" id="{7563A8F9-68DB-CA02-4C08-9AE6A351F20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86355" y="1805798"/>
            <a:ext cx="6167445" cy="3246404"/>
          </a:xfrm>
          <a:prstGeom prst="rect">
            <a:avLst/>
          </a:prstGeom>
        </p:spPr>
      </p:pic>
    </p:spTree>
    <p:extLst>
      <p:ext uri="{BB962C8B-B14F-4D97-AF65-F5344CB8AC3E}">
        <p14:creationId xmlns:p14="http://schemas.microsoft.com/office/powerpoint/2010/main" val="1096122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CCD48-DFB4-92FC-92E5-614B6C7596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6524B5-A6C6-1FBA-7528-53DA69B7F9B8}"/>
              </a:ext>
            </a:extLst>
          </p:cNvPr>
          <p:cNvSpPr>
            <a:spLocks noGrp="1"/>
          </p:cNvSpPr>
          <p:nvPr>
            <p:ph type="title"/>
          </p:nvPr>
        </p:nvSpPr>
        <p:spPr/>
        <p:txBody>
          <a:bodyPr/>
          <a:lstStyle/>
          <a:p>
            <a:pPr lvl="0"/>
            <a:r>
              <a:rPr lang="en-US" b="1" dirty="0"/>
              <a:t>Wireframe (5%)</a:t>
            </a:r>
            <a:endParaRPr lang="en-US" dirty="0"/>
          </a:p>
        </p:txBody>
      </p:sp>
      <p:sp>
        <p:nvSpPr>
          <p:cNvPr id="11" name="Content Placeholder 2">
            <a:extLst>
              <a:ext uri="{FF2B5EF4-FFF2-40B4-BE49-F238E27FC236}">
                <a16:creationId xmlns:a16="http://schemas.microsoft.com/office/drawing/2014/main" id="{FDDF614F-5F3D-C80B-CEDE-6E8F36E37A20}"/>
              </a:ext>
            </a:extLst>
          </p:cNvPr>
          <p:cNvSpPr>
            <a:spLocks noGrp="1"/>
          </p:cNvSpPr>
          <p:nvPr>
            <p:ph idx="1"/>
          </p:nvPr>
        </p:nvSpPr>
        <p:spPr>
          <a:xfrm>
            <a:off x="508672" y="1301960"/>
            <a:ext cx="4571968" cy="4621761"/>
          </a:xfrm>
        </p:spPr>
        <p:txBody>
          <a:bodyPr>
            <a:normAutofit/>
          </a:bodyPr>
          <a:lstStyle/>
          <a:p>
            <a:pPr marL="0" indent="0">
              <a:buNone/>
            </a:pPr>
            <a:r>
              <a:rPr lang="en-US" altLang="zh-CN" sz="3200" b="1" dirty="0"/>
              <a:t>Session Page</a:t>
            </a:r>
          </a:p>
          <a:p>
            <a:r>
              <a:rPr lang="en-US" altLang="zh-CN" sz="2200" dirty="0"/>
              <a:t>Sessions page with three tabs: "Active Now", "Upcoming", "Completed" . Active session shows "ADEV - Video Test Session" with green "Active Now" badge, date, time, location, duration. Prominent green "Join Now" button enables immediate video session access for time-sensitive learning.</a:t>
            </a:r>
            <a:br>
              <a:rPr lang="en-US" altLang="zh-CN" sz="2000" dirty="0"/>
            </a:br>
            <a:endParaRPr lang="en-US" altLang="zh-CN" sz="2000" dirty="0"/>
          </a:p>
        </p:txBody>
      </p:sp>
      <p:pic>
        <p:nvPicPr>
          <p:cNvPr id="5" name="图片 4" descr="图形用户界面, 应用程序, Teams&#10;&#10;AI 生成的内容可能不正确。">
            <a:extLst>
              <a:ext uri="{FF2B5EF4-FFF2-40B4-BE49-F238E27FC236}">
                <a16:creationId xmlns:a16="http://schemas.microsoft.com/office/drawing/2014/main" id="{D36C68A0-35A6-2720-1F40-9598514E93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51449" y="1690688"/>
            <a:ext cx="6598019" cy="3473049"/>
          </a:xfrm>
          <a:prstGeom prst="rect">
            <a:avLst/>
          </a:prstGeom>
        </p:spPr>
      </p:pic>
    </p:spTree>
    <p:extLst>
      <p:ext uri="{BB962C8B-B14F-4D97-AF65-F5344CB8AC3E}">
        <p14:creationId xmlns:p14="http://schemas.microsoft.com/office/powerpoint/2010/main" val="366325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19E9E-E340-B231-F2DE-5A31E210CA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96770E-FE4C-B898-140F-CEB344810E8A}"/>
              </a:ext>
            </a:extLst>
          </p:cNvPr>
          <p:cNvSpPr>
            <a:spLocks noGrp="1"/>
          </p:cNvSpPr>
          <p:nvPr>
            <p:ph type="title"/>
          </p:nvPr>
        </p:nvSpPr>
        <p:spPr/>
        <p:txBody>
          <a:bodyPr/>
          <a:lstStyle/>
          <a:p>
            <a:pPr lvl="0"/>
            <a:r>
              <a:rPr lang="en-US" b="1" dirty="0"/>
              <a:t>Wireframe (5%)</a:t>
            </a:r>
            <a:endParaRPr lang="en-US" dirty="0"/>
          </a:p>
        </p:txBody>
      </p:sp>
      <p:sp>
        <p:nvSpPr>
          <p:cNvPr id="11" name="Content Placeholder 2">
            <a:extLst>
              <a:ext uri="{FF2B5EF4-FFF2-40B4-BE49-F238E27FC236}">
                <a16:creationId xmlns:a16="http://schemas.microsoft.com/office/drawing/2014/main" id="{843840BA-2407-0989-48C8-086B92132BF7}"/>
              </a:ext>
            </a:extLst>
          </p:cNvPr>
          <p:cNvSpPr>
            <a:spLocks noGrp="1"/>
          </p:cNvSpPr>
          <p:nvPr>
            <p:ph idx="1"/>
          </p:nvPr>
        </p:nvSpPr>
        <p:spPr>
          <a:xfrm>
            <a:off x="508672" y="1301960"/>
            <a:ext cx="4571968" cy="4621761"/>
          </a:xfrm>
        </p:spPr>
        <p:txBody>
          <a:bodyPr>
            <a:normAutofit/>
          </a:bodyPr>
          <a:lstStyle/>
          <a:p>
            <a:pPr marL="0" indent="0">
              <a:buNone/>
            </a:pPr>
            <a:r>
              <a:rPr lang="en-US" altLang="zh-CN" sz="3200" b="1" dirty="0"/>
              <a:t>User Profile Page</a:t>
            </a:r>
          </a:p>
          <a:p>
            <a:r>
              <a:rPr lang="en-US" altLang="zh-CN" sz="2000" dirty="0"/>
              <a:t>My Profile page for student shows Information Technology, school and year of study. It also shows the credit system and session history</a:t>
            </a:r>
          </a:p>
        </p:txBody>
      </p:sp>
      <p:pic>
        <p:nvPicPr>
          <p:cNvPr id="7" name="图片 6" descr="图形用户界面, 应用程序, Teams&#10;&#10;AI 生成的内容可能不正确。">
            <a:extLst>
              <a:ext uri="{FF2B5EF4-FFF2-40B4-BE49-F238E27FC236}">
                <a16:creationId xmlns:a16="http://schemas.microsoft.com/office/drawing/2014/main" id="{B17A58C2-92D2-6B68-48FA-6A695278728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81549" y="1539980"/>
            <a:ext cx="7177435" cy="3778040"/>
          </a:xfrm>
          <a:prstGeom prst="rect">
            <a:avLst/>
          </a:prstGeom>
        </p:spPr>
      </p:pic>
    </p:spTree>
    <p:extLst>
      <p:ext uri="{BB962C8B-B14F-4D97-AF65-F5344CB8AC3E}">
        <p14:creationId xmlns:p14="http://schemas.microsoft.com/office/powerpoint/2010/main" val="29056335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90476-7557-0CE0-978B-E5666001CC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14FD92-0DC7-85E3-9DDF-3C2F1BC07C29}"/>
              </a:ext>
            </a:extLst>
          </p:cNvPr>
          <p:cNvSpPr>
            <a:spLocks noGrp="1"/>
          </p:cNvSpPr>
          <p:nvPr>
            <p:ph type="title"/>
          </p:nvPr>
        </p:nvSpPr>
        <p:spPr/>
        <p:txBody>
          <a:bodyPr/>
          <a:lstStyle/>
          <a:p>
            <a:pPr lvl="0"/>
            <a:r>
              <a:rPr lang="en-US" b="1" dirty="0"/>
              <a:t>Wireframe (5%)</a:t>
            </a:r>
            <a:endParaRPr lang="en-US" dirty="0"/>
          </a:p>
        </p:txBody>
      </p:sp>
      <p:sp>
        <p:nvSpPr>
          <p:cNvPr id="11" name="Content Placeholder 2">
            <a:extLst>
              <a:ext uri="{FF2B5EF4-FFF2-40B4-BE49-F238E27FC236}">
                <a16:creationId xmlns:a16="http://schemas.microsoft.com/office/drawing/2014/main" id="{64003EEA-8B98-657B-7821-33C45E0E0012}"/>
              </a:ext>
            </a:extLst>
          </p:cNvPr>
          <p:cNvSpPr>
            <a:spLocks noGrp="1"/>
          </p:cNvSpPr>
          <p:nvPr>
            <p:ph idx="1"/>
          </p:nvPr>
        </p:nvSpPr>
        <p:spPr>
          <a:xfrm>
            <a:off x="508672" y="1301960"/>
            <a:ext cx="4571968" cy="4621761"/>
          </a:xfrm>
        </p:spPr>
        <p:txBody>
          <a:bodyPr>
            <a:normAutofit/>
          </a:bodyPr>
          <a:lstStyle/>
          <a:p>
            <a:pPr marL="0" indent="0">
              <a:buNone/>
            </a:pPr>
            <a:r>
              <a:rPr lang="en-US" altLang="zh-CN" sz="3200" b="1" dirty="0"/>
              <a:t>User Profile Page</a:t>
            </a:r>
          </a:p>
          <a:p>
            <a:r>
              <a:rPr lang="en-US" altLang="zh-CN" sz="2000" dirty="0"/>
              <a:t>It shows a live “Video Test Session” inside the same platform. On the left is a video call with the student’s camera feed, and on the right there is a collaborative code editor set to Python, with options to save, load and run code in real time.</a:t>
            </a:r>
          </a:p>
        </p:txBody>
      </p:sp>
      <p:pic>
        <p:nvPicPr>
          <p:cNvPr id="4" name="图片 3" descr="电脑萤幕的截图&#10;&#10;AI 生成的内容可能不正确。">
            <a:extLst>
              <a:ext uri="{FF2B5EF4-FFF2-40B4-BE49-F238E27FC236}">
                <a16:creationId xmlns:a16="http://schemas.microsoft.com/office/drawing/2014/main" id="{C75AFE52-B7A7-5929-7966-05BFA95E72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51549" y="365124"/>
            <a:ext cx="5820679" cy="3063875"/>
          </a:xfrm>
          <a:prstGeom prst="rect">
            <a:avLst/>
          </a:prstGeom>
        </p:spPr>
      </p:pic>
      <p:pic>
        <p:nvPicPr>
          <p:cNvPr id="6" name="图片 5" descr="电脑屏幕前的人&#10;&#10;AI 生成的内容可能不正确。">
            <a:extLst>
              <a:ext uri="{FF2B5EF4-FFF2-40B4-BE49-F238E27FC236}">
                <a16:creationId xmlns:a16="http://schemas.microsoft.com/office/drawing/2014/main" id="{65DC8C68-3457-2580-0427-98E65BB8604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91249" y="3428999"/>
            <a:ext cx="5820681" cy="3063875"/>
          </a:xfrm>
          <a:prstGeom prst="rect">
            <a:avLst/>
          </a:prstGeom>
        </p:spPr>
      </p:pic>
    </p:spTree>
    <p:extLst>
      <p:ext uri="{BB962C8B-B14F-4D97-AF65-F5344CB8AC3E}">
        <p14:creationId xmlns:p14="http://schemas.microsoft.com/office/powerpoint/2010/main" val="24491796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95507-F777-C277-36B7-D557F3275F66}"/>
            </a:ext>
          </a:extLst>
        </p:cNvPr>
        <p:cNvGrpSpPr/>
        <p:nvPr/>
      </p:nvGrpSpPr>
      <p:grpSpPr>
        <a:xfrm>
          <a:off x="0" y="0"/>
          <a:ext cx="0" cy="0"/>
          <a:chOff x="0" y="0"/>
          <a:chExt cx="0" cy="0"/>
        </a:xfrm>
      </p:grpSpPr>
      <p:pic>
        <p:nvPicPr>
          <p:cNvPr id="9" name="图片 8" descr="图示&#10;&#10;AI 生成的内容可能不正确。">
            <a:extLst>
              <a:ext uri="{FF2B5EF4-FFF2-40B4-BE49-F238E27FC236}">
                <a16:creationId xmlns:a16="http://schemas.microsoft.com/office/drawing/2014/main" id="{C78F6103-5259-C175-9E8C-C54C868784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1851" y="198186"/>
            <a:ext cx="8743950" cy="6442911"/>
          </a:xfrm>
          <a:prstGeom prst="rect">
            <a:avLst/>
          </a:prstGeom>
        </p:spPr>
      </p:pic>
      <p:sp>
        <p:nvSpPr>
          <p:cNvPr id="11" name="标题 10">
            <a:extLst>
              <a:ext uri="{FF2B5EF4-FFF2-40B4-BE49-F238E27FC236}">
                <a16:creationId xmlns:a16="http://schemas.microsoft.com/office/drawing/2014/main" id="{3F1D3B2F-5BD5-7A36-A696-C67BCB40B288}"/>
              </a:ext>
            </a:extLst>
          </p:cNvPr>
          <p:cNvSpPr>
            <a:spLocks noGrp="1"/>
          </p:cNvSpPr>
          <p:nvPr>
            <p:ph type="title"/>
          </p:nvPr>
        </p:nvSpPr>
        <p:spPr/>
        <p:txBody>
          <a:bodyPr/>
          <a:lstStyle/>
          <a:p>
            <a:r>
              <a:rPr lang="en-US" altLang="zh-CN" b="1" dirty="0"/>
              <a:t>User Flow</a:t>
            </a:r>
            <a:br>
              <a:rPr lang="en-US" altLang="zh-CN" b="1" dirty="0"/>
            </a:br>
            <a:endParaRPr lang="zh-CN" altLang="en-US" dirty="0"/>
          </a:p>
        </p:txBody>
      </p:sp>
    </p:spTree>
    <p:extLst>
      <p:ext uri="{BB962C8B-B14F-4D97-AF65-F5344CB8AC3E}">
        <p14:creationId xmlns:p14="http://schemas.microsoft.com/office/powerpoint/2010/main" val="8021081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2FDA4-8B25-E74F-AD93-1CCDFD130C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1B39DC-B97E-3BEB-7EA1-E8049DA09B4C}"/>
              </a:ext>
            </a:extLst>
          </p:cNvPr>
          <p:cNvSpPr>
            <a:spLocks noGrp="1"/>
          </p:cNvSpPr>
          <p:nvPr>
            <p:ph type="title"/>
          </p:nvPr>
        </p:nvSpPr>
        <p:spPr/>
        <p:txBody>
          <a:bodyPr/>
          <a:lstStyle/>
          <a:p>
            <a:pPr lvl="0"/>
            <a:r>
              <a:rPr lang="en-US" b="1" dirty="0"/>
              <a:t>Data Modeling (5%)</a:t>
            </a:r>
            <a:endParaRPr lang="en-US" dirty="0"/>
          </a:p>
        </p:txBody>
      </p:sp>
      <p:sp>
        <p:nvSpPr>
          <p:cNvPr id="3" name="Content Placeholder 2">
            <a:extLst>
              <a:ext uri="{FF2B5EF4-FFF2-40B4-BE49-F238E27FC236}">
                <a16:creationId xmlns:a16="http://schemas.microsoft.com/office/drawing/2014/main" id="{BC23B266-F5B8-7E31-BAF0-075A9F1D09C8}"/>
              </a:ext>
            </a:extLst>
          </p:cNvPr>
          <p:cNvSpPr>
            <a:spLocks noGrp="1"/>
          </p:cNvSpPr>
          <p:nvPr>
            <p:ph idx="1"/>
          </p:nvPr>
        </p:nvSpPr>
        <p:spPr/>
        <p:txBody>
          <a:bodyPr/>
          <a:lstStyle/>
          <a:p>
            <a:pPr algn="just"/>
            <a:r>
              <a:rPr lang="en-US" dirty="0"/>
              <a:t>Initial identification of entities in your application.</a:t>
            </a:r>
          </a:p>
          <a:p>
            <a:pPr algn="just"/>
            <a:r>
              <a:rPr lang="en-US" dirty="0"/>
              <a:t>Include </a:t>
            </a:r>
            <a:r>
              <a:rPr lang="en-US" b="1" dirty="0"/>
              <a:t>at least four</a:t>
            </a:r>
            <a:r>
              <a:rPr lang="en-US" dirty="0"/>
              <a:t> key data models and provide sample attributes for each model.</a:t>
            </a:r>
          </a:p>
          <a:p>
            <a:pPr algn="just"/>
            <a:r>
              <a:rPr lang="en-US" dirty="0">
                <a:solidFill>
                  <a:srgbClr val="FF0000"/>
                </a:solidFill>
              </a:rPr>
              <a:t>Note: Refer to the sample table in the next slide</a:t>
            </a:r>
          </a:p>
        </p:txBody>
      </p:sp>
    </p:spTree>
    <p:extLst>
      <p:ext uri="{BB962C8B-B14F-4D97-AF65-F5344CB8AC3E}">
        <p14:creationId xmlns:p14="http://schemas.microsoft.com/office/powerpoint/2010/main" val="36960133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41C51-5338-C641-D3F2-B94384350F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9DE426-7609-F8B2-998A-6DF51AE9732B}"/>
              </a:ext>
            </a:extLst>
          </p:cNvPr>
          <p:cNvSpPr>
            <a:spLocks noGrp="1"/>
          </p:cNvSpPr>
          <p:nvPr>
            <p:ph type="title"/>
          </p:nvPr>
        </p:nvSpPr>
        <p:spPr>
          <a:xfrm>
            <a:off x="710063" y="0"/>
            <a:ext cx="10515600" cy="1325563"/>
          </a:xfrm>
        </p:spPr>
        <p:txBody>
          <a:bodyPr/>
          <a:lstStyle/>
          <a:p>
            <a:pPr lvl="0"/>
            <a:r>
              <a:rPr lang="en-US" b="1" dirty="0"/>
              <a:t>Data Modeling - User</a:t>
            </a:r>
            <a:endParaRPr lang="en-US" dirty="0"/>
          </a:p>
        </p:txBody>
      </p:sp>
      <p:graphicFrame>
        <p:nvGraphicFramePr>
          <p:cNvPr id="6" name="Table 5">
            <a:extLst>
              <a:ext uri="{FF2B5EF4-FFF2-40B4-BE49-F238E27FC236}">
                <a16:creationId xmlns:a16="http://schemas.microsoft.com/office/drawing/2014/main" id="{435E2743-D839-D53E-ED05-04B23824F013}"/>
              </a:ext>
            </a:extLst>
          </p:cNvPr>
          <p:cNvGraphicFramePr>
            <a:graphicFrameLocks noGrp="1"/>
          </p:cNvGraphicFramePr>
          <p:nvPr/>
        </p:nvGraphicFramePr>
        <p:xfrm>
          <a:off x="241300" y="1080628"/>
          <a:ext cx="12007850" cy="5196840"/>
        </p:xfrm>
        <a:graphic>
          <a:graphicData uri="http://schemas.openxmlformats.org/drawingml/2006/table">
            <a:tbl>
              <a:tblPr>
                <a:tableStyleId>{5940675A-B579-460E-94D1-54222C63F5DA}</a:tableStyleId>
              </a:tblPr>
              <a:tblGrid>
                <a:gridCol w="3196361">
                  <a:extLst>
                    <a:ext uri="{9D8B030D-6E8A-4147-A177-3AD203B41FA5}">
                      <a16:colId xmlns:a16="http://schemas.microsoft.com/office/drawing/2014/main" val="402914341"/>
                    </a:ext>
                  </a:extLst>
                </a:gridCol>
                <a:gridCol w="1864031">
                  <a:extLst>
                    <a:ext uri="{9D8B030D-6E8A-4147-A177-3AD203B41FA5}">
                      <a16:colId xmlns:a16="http://schemas.microsoft.com/office/drawing/2014/main" val="2214403198"/>
                    </a:ext>
                  </a:extLst>
                </a:gridCol>
                <a:gridCol w="1907976">
                  <a:extLst>
                    <a:ext uri="{9D8B030D-6E8A-4147-A177-3AD203B41FA5}">
                      <a16:colId xmlns:a16="http://schemas.microsoft.com/office/drawing/2014/main" val="4128410810"/>
                    </a:ext>
                  </a:extLst>
                </a:gridCol>
                <a:gridCol w="5039482">
                  <a:extLst>
                    <a:ext uri="{9D8B030D-6E8A-4147-A177-3AD203B41FA5}">
                      <a16:colId xmlns:a16="http://schemas.microsoft.com/office/drawing/2014/main" val="1825415284"/>
                    </a:ext>
                  </a:extLst>
                </a:gridCol>
              </a:tblGrid>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Table: </a:t>
                      </a:r>
                      <a:r>
                        <a:rPr lang="en-US" altLang="zh-CN" sz="1600" b="1" i="0" kern="1200" dirty="0">
                          <a:solidFill>
                            <a:schemeClr val="tx1"/>
                          </a:solidFill>
                          <a:effectLst/>
                          <a:latin typeface="+mn-lt"/>
                          <a:ea typeface="+mn-ea"/>
                          <a:cs typeface="+mn-cs"/>
                        </a:rPr>
                        <a:t>User</a:t>
                      </a:r>
                    </a:p>
                    <a:p>
                      <a:pPr>
                        <a:buNone/>
                      </a:pPr>
                      <a:endParaRPr lang="en-US" sz="1600" b="0" dirty="0"/>
                    </a:p>
                  </a:txBody>
                  <a:tcPr anchor="ctr">
                    <a:solidFill>
                      <a:schemeClr val="bg1"/>
                    </a:solidFill>
                  </a:tcPr>
                </a:tc>
                <a:tc gridSpan="3">
                  <a:txBody>
                    <a:bodyPr/>
                    <a:lstStyle/>
                    <a:p>
                      <a:pPr>
                        <a:buNone/>
                      </a:pPr>
                      <a:r>
                        <a:rPr lang="en-US" sz="1600" b="1" dirty="0"/>
                        <a:t>Description: </a:t>
                      </a:r>
                    </a:p>
                    <a:p>
                      <a:pPr>
                        <a:buNone/>
                      </a:pPr>
                      <a:r>
                        <a:rPr lang="en-US" altLang="zh-CN" sz="1600" b="0" i="0" kern="1200" dirty="0">
                          <a:solidFill>
                            <a:schemeClr val="tx1"/>
                          </a:solidFill>
                          <a:effectLst/>
                          <a:latin typeface="+mn-lt"/>
                          <a:ea typeface="+mn-ea"/>
                          <a:cs typeface="+mn-cs"/>
                        </a:rPr>
                        <a:t> Stores fundamental user information for authentication and profile management. Serves as the base model for all platform users.</a:t>
                      </a:r>
                      <a:endParaRPr lang="en-US" sz="1600" b="1" dirty="0"/>
                    </a:p>
                    <a:p>
                      <a:pPr>
                        <a:buNone/>
                      </a:pPr>
                      <a:r>
                        <a:rPr lang="en-US" sz="1600" b="1" dirty="0"/>
                        <a:t>Usage in App:</a:t>
                      </a:r>
                      <a:r>
                        <a:rPr lang="en-US" sz="1600" dirty="0"/>
                        <a:t> </a:t>
                      </a:r>
                    </a:p>
                    <a:p>
                      <a:r>
                        <a:rPr lang="en-US" altLang="zh-CN" sz="1600" b="0" i="0" kern="1200" dirty="0">
                          <a:solidFill>
                            <a:schemeClr val="tx1"/>
                          </a:solidFill>
                          <a:effectLst/>
                          <a:latin typeface="+mn-lt"/>
                          <a:ea typeface="+mn-ea"/>
                          <a:cs typeface="+mn-cs"/>
                        </a:rPr>
                        <a:t>Handles user registration, login authentication, profile display, and role management. Used throughout the platform to identify students and tutors, track credits, and manage account settings.</a:t>
                      </a:r>
                    </a:p>
                  </a:txBody>
                  <a:tcPr anchor="ctr">
                    <a:solidFill>
                      <a:schemeClr val="bg1"/>
                    </a:solidFill>
                  </a:tcPr>
                </a:tc>
                <a:tc hMerge="1">
                  <a:txBody>
                    <a:bodyPr/>
                    <a:lstStyle/>
                    <a:p>
                      <a:endParaRPr lang="en-US"/>
                    </a:p>
                  </a:txBody>
                  <a:tcPr/>
                </a:tc>
                <a:tc hMerge="1">
                  <a:txBody>
                    <a:bodyPr/>
                    <a:lstStyle/>
                    <a:p>
                      <a:pPr>
                        <a:buNone/>
                      </a:pPr>
                      <a:endParaRPr lang="en-US" b="1" dirty="0"/>
                    </a:p>
                  </a:txBody>
                  <a:tcPr anchor="ctr"/>
                </a:tc>
                <a:extLst>
                  <a:ext uri="{0D108BD9-81ED-4DB2-BD59-A6C34878D82A}">
                    <a16:rowId xmlns:a16="http://schemas.microsoft.com/office/drawing/2014/main" val="2947018476"/>
                  </a:ext>
                </a:extLst>
              </a:tr>
              <a:tr h="182880">
                <a:tc>
                  <a:txBody>
                    <a:bodyPr/>
                    <a:lstStyle/>
                    <a:p>
                      <a:pPr>
                        <a:buNone/>
                      </a:pPr>
                      <a:r>
                        <a:rPr lang="en-US" sz="1600" b="1" dirty="0"/>
                        <a:t>Attribute</a:t>
                      </a:r>
                    </a:p>
                  </a:txBody>
                  <a:tcPr anchor="ctr">
                    <a:solidFill>
                      <a:schemeClr val="bg1"/>
                    </a:solidFill>
                  </a:tcPr>
                </a:tc>
                <a:tc>
                  <a:txBody>
                    <a:bodyPr/>
                    <a:lstStyle/>
                    <a:p>
                      <a:pPr>
                        <a:buNone/>
                      </a:pPr>
                      <a:r>
                        <a:rPr lang="en-US" sz="1600" b="1" dirty="0"/>
                        <a:t>Type</a:t>
                      </a:r>
                    </a:p>
                  </a:txBody>
                  <a:tcPr anchor="ctr">
                    <a:solidFill>
                      <a:schemeClr val="bg1"/>
                    </a:solidFill>
                  </a:tcPr>
                </a:tc>
                <a:tc>
                  <a:txBody>
                    <a:bodyPr/>
                    <a:lstStyle/>
                    <a:p>
                      <a:pPr>
                        <a:buNone/>
                      </a:pPr>
                      <a:r>
                        <a:rPr lang="en-US" sz="1600" b="1" dirty="0"/>
                        <a:t>Sample Value</a:t>
                      </a:r>
                    </a:p>
                  </a:txBody>
                  <a:tcPr anchor="ctr">
                    <a:solidFill>
                      <a:schemeClr val="bg1"/>
                    </a:solidFill>
                  </a:tcPr>
                </a:tc>
                <a:tc>
                  <a:txBody>
                    <a:bodyPr/>
                    <a:lstStyle/>
                    <a:p>
                      <a:pPr>
                        <a:buNone/>
                      </a:pPr>
                      <a:r>
                        <a:rPr lang="en-US" sz="1600" b="1" dirty="0"/>
                        <a:t>Description</a:t>
                      </a:r>
                    </a:p>
                  </a:txBody>
                  <a:tcPr anchor="ctr">
                    <a:solidFill>
                      <a:schemeClr val="bg1"/>
                    </a:solidFill>
                  </a:tcPr>
                </a:tc>
                <a:extLst>
                  <a:ext uri="{0D108BD9-81ED-4DB2-BD59-A6C34878D82A}">
                    <a16:rowId xmlns:a16="http://schemas.microsoft.com/office/drawing/2014/main" val="70020745"/>
                  </a:ext>
                </a:extLst>
              </a:tr>
              <a:tr h="0">
                <a:tc>
                  <a:txBody>
                    <a:bodyPr/>
                    <a:lstStyle/>
                    <a:p>
                      <a:r>
                        <a:rPr lang="en-US" sz="1600">
                          <a:effectLst/>
                        </a:rPr>
                        <a:t>_id</a:t>
                      </a:r>
                    </a:p>
                  </a:txBody>
                  <a:tcPr marL="63500" marR="63500" marT="31750" marB="31750" anchor="ctr">
                    <a:solidFill>
                      <a:schemeClr val="bg1"/>
                    </a:solidFill>
                  </a:tcPr>
                </a:tc>
                <a:tc>
                  <a:txBody>
                    <a:bodyPr/>
                    <a:lstStyle/>
                    <a:p>
                      <a:r>
                        <a:rPr lang="en-US" sz="1600" dirty="0" err="1">
                          <a:effectLst/>
                        </a:rPr>
                        <a:t>ObjectId</a:t>
                      </a:r>
                      <a:endParaRPr lang="en-US" sz="1600" dirty="0">
                        <a:effectLst/>
                      </a:endParaRPr>
                    </a:p>
                  </a:txBody>
                  <a:tcPr marL="63500" marR="63500" marT="31750" marB="31750" anchor="ctr">
                    <a:solidFill>
                      <a:schemeClr val="bg1"/>
                    </a:solidFill>
                  </a:tcPr>
                </a:tc>
                <a:tc>
                  <a:txBody>
                    <a:bodyPr/>
                    <a:lstStyle/>
                    <a:p>
                      <a:r>
                        <a:rPr lang="en-US" sz="1600">
                          <a:effectLst/>
                        </a:rPr>
                        <a:t>user_001</a:t>
                      </a:r>
                    </a:p>
                  </a:txBody>
                  <a:tcPr marL="63500" marR="63500" marT="31750" marB="31750" anchor="ctr">
                    <a:solidFill>
                      <a:schemeClr val="bg1"/>
                    </a:solidFill>
                  </a:tcPr>
                </a:tc>
                <a:tc>
                  <a:txBody>
                    <a:bodyPr/>
                    <a:lstStyle/>
                    <a:p>
                      <a:r>
                        <a:rPr lang="en-US" sz="1600" dirty="0">
                          <a:effectLst/>
                        </a:rPr>
                        <a:t>Unique identifier for each user, automatically generated by MongoDB.</a:t>
                      </a:r>
                    </a:p>
                  </a:txBody>
                  <a:tcPr marL="63500" marR="63500" marT="31750" marB="31750" anchor="ctr">
                    <a:solidFill>
                      <a:schemeClr val="bg1"/>
                    </a:solidFill>
                  </a:tcPr>
                </a:tc>
                <a:extLst>
                  <a:ext uri="{0D108BD9-81ED-4DB2-BD59-A6C34878D82A}">
                    <a16:rowId xmlns:a16="http://schemas.microsoft.com/office/drawing/2014/main" val="2707098043"/>
                  </a:ext>
                </a:extLst>
              </a:tr>
              <a:tr h="0">
                <a:tc>
                  <a:txBody>
                    <a:bodyPr/>
                    <a:lstStyle/>
                    <a:p>
                      <a:r>
                        <a:rPr lang="en-US" sz="1600">
                          <a:effectLst/>
                        </a:rPr>
                        <a:t>username</a:t>
                      </a:r>
                    </a:p>
                  </a:txBody>
                  <a:tcPr marL="63500" marR="63500" marT="31750" marB="31750" anchor="ctr">
                    <a:solidFill>
                      <a:schemeClr val="bg1"/>
                    </a:solidFill>
                  </a:tcPr>
                </a:tc>
                <a:tc>
                  <a:txBody>
                    <a:bodyPr/>
                    <a:lstStyle/>
                    <a:p>
                      <a:r>
                        <a:rPr lang="en-US" sz="1600">
                          <a:effectLst/>
                        </a:rPr>
                        <a:t>String</a:t>
                      </a:r>
                    </a:p>
                  </a:txBody>
                  <a:tcPr marL="63500" marR="63500" marT="31750" marB="31750" anchor="ctr">
                    <a:solidFill>
                      <a:schemeClr val="bg1"/>
                    </a:solidFill>
                  </a:tcPr>
                </a:tc>
                <a:tc>
                  <a:txBody>
                    <a:bodyPr/>
                    <a:lstStyle/>
                    <a:p>
                      <a:r>
                        <a:rPr lang="en-US" sz="1600">
                          <a:effectLst/>
                        </a:rPr>
                        <a:t>alice_student</a:t>
                      </a:r>
                    </a:p>
                  </a:txBody>
                  <a:tcPr marL="63500" marR="63500" marT="31750" marB="31750" anchor="ctr">
                    <a:solidFill>
                      <a:schemeClr val="bg1"/>
                    </a:solidFill>
                  </a:tcPr>
                </a:tc>
                <a:tc>
                  <a:txBody>
                    <a:bodyPr/>
                    <a:lstStyle/>
                    <a:p>
                      <a:r>
                        <a:rPr lang="en-US" sz="1600">
                          <a:effectLst/>
                        </a:rPr>
                        <a:t>Display name shown on profile, bookings, and reviews. Required field.</a:t>
                      </a:r>
                    </a:p>
                  </a:txBody>
                  <a:tcPr marL="63500" marR="63500" marT="31750" marB="31750" anchor="ctr">
                    <a:solidFill>
                      <a:schemeClr val="bg1"/>
                    </a:solidFill>
                  </a:tcPr>
                </a:tc>
                <a:extLst>
                  <a:ext uri="{0D108BD9-81ED-4DB2-BD59-A6C34878D82A}">
                    <a16:rowId xmlns:a16="http://schemas.microsoft.com/office/drawing/2014/main" val="1840665485"/>
                  </a:ext>
                </a:extLst>
              </a:tr>
              <a:tr h="0">
                <a:tc>
                  <a:txBody>
                    <a:bodyPr/>
                    <a:lstStyle/>
                    <a:p>
                      <a:r>
                        <a:rPr lang="en-US" sz="1600">
                          <a:effectLst/>
                        </a:rPr>
                        <a:t>email</a:t>
                      </a:r>
                    </a:p>
                  </a:txBody>
                  <a:tcPr marL="63500" marR="63500" marT="31750" marB="31750" anchor="ctr">
                    <a:solidFill>
                      <a:schemeClr val="bg1"/>
                    </a:solidFill>
                  </a:tcPr>
                </a:tc>
                <a:tc>
                  <a:txBody>
                    <a:bodyPr/>
                    <a:lstStyle/>
                    <a:p>
                      <a:r>
                        <a:rPr lang="en-US" sz="1600">
                          <a:effectLst/>
                        </a:rPr>
                        <a:t>String</a:t>
                      </a:r>
                    </a:p>
                  </a:txBody>
                  <a:tcPr marL="63500" marR="63500" marT="31750" marB="31750" anchor="ctr">
                    <a:solidFill>
                      <a:schemeClr val="bg1"/>
                    </a:solidFill>
                  </a:tcPr>
                </a:tc>
                <a:tc>
                  <a:txBody>
                    <a:bodyPr/>
                    <a:lstStyle/>
                    <a:p>
                      <a:r>
                        <a:rPr lang="en-US" sz="1600" u="none" strike="noStrike" dirty="0">
                          <a:solidFill>
                            <a:srgbClr val="4DAAFC"/>
                          </a:solidFill>
                          <a:effectLst/>
                          <a:hlinkClick r:id="rId2"/>
                        </a:rPr>
                        <a:t>alice@student.tp.edu.sg</a:t>
                      </a:r>
                      <a:endParaRPr lang="en-US" sz="1600" dirty="0">
                        <a:effectLst/>
                      </a:endParaRPr>
                    </a:p>
                  </a:txBody>
                  <a:tcPr marL="63500" marR="63500" marT="31750" marB="31750" anchor="ctr">
                    <a:solidFill>
                      <a:schemeClr val="bg1"/>
                    </a:solidFill>
                  </a:tcPr>
                </a:tc>
                <a:tc>
                  <a:txBody>
                    <a:bodyPr/>
                    <a:lstStyle/>
                    <a:p>
                      <a:r>
                        <a:rPr lang="en-US" sz="1600">
                          <a:effectLst/>
                        </a:rPr>
                        <a:t>Temasek Polytechnic email address used for authentication and notifications. Must be unique.</a:t>
                      </a:r>
                    </a:p>
                  </a:txBody>
                  <a:tcPr marL="63500" marR="63500" marT="31750" marB="31750" anchor="ctr">
                    <a:solidFill>
                      <a:schemeClr val="bg1"/>
                    </a:solidFill>
                  </a:tcPr>
                </a:tc>
                <a:extLst>
                  <a:ext uri="{0D108BD9-81ED-4DB2-BD59-A6C34878D82A}">
                    <a16:rowId xmlns:a16="http://schemas.microsoft.com/office/drawing/2014/main" val="2234607868"/>
                  </a:ext>
                </a:extLst>
              </a:tr>
              <a:tr h="0">
                <a:tc>
                  <a:txBody>
                    <a:bodyPr/>
                    <a:lstStyle/>
                    <a:p>
                      <a:r>
                        <a:rPr lang="en-US" sz="1600">
                          <a:effectLst/>
                        </a:rPr>
                        <a:t>password</a:t>
                      </a:r>
                    </a:p>
                  </a:txBody>
                  <a:tcPr marL="63500" marR="63500" marT="31750" marB="31750" anchor="ctr">
                    <a:solidFill>
                      <a:schemeClr val="bg1"/>
                    </a:solidFill>
                  </a:tcPr>
                </a:tc>
                <a:tc>
                  <a:txBody>
                    <a:bodyPr/>
                    <a:lstStyle/>
                    <a:p>
                      <a:r>
                        <a:rPr lang="en-US" sz="1600">
                          <a:effectLst/>
                        </a:rPr>
                        <a:t>String</a:t>
                      </a:r>
                    </a:p>
                  </a:txBody>
                  <a:tcPr marL="63500" marR="63500" marT="31750" marB="31750" anchor="ctr">
                    <a:solidFill>
                      <a:schemeClr val="bg1"/>
                    </a:solidFill>
                  </a:tcPr>
                </a:tc>
                <a:tc>
                  <a:txBody>
                    <a:bodyPr/>
                    <a:lstStyle/>
                    <a:p>
                      <a:r>
                        <a:rPr lang="en-US" sz="1600">
                          <a:effectLst/>
                        </a:rPr>
                        <a:t>$2b$10$...</a:t>
                      </a:r>
                    </a:p>
                  </a:txBody>
                  <a:tcPr marL="63500" marR="63500" marT="31750" marB="31750" anchor="ctr">
                    <a:solidFill>
                      <a:schemeClr val="bg1"/>
                    </a:solidFill>
                  </a:tcPr>
                </a:tc>
                <a:tc>
                  <a:txBody>
                    <a:bodyPr/>
                    <a:lstStyle/>
                    <a:p>
                      <a:r>
                        <a:rPr lang="en-US" sz="1600" dirty="0" err="1">
                          <a:effectLst/>
                        </a:rPr>
                        <a:t>Bcrypt</a:t>
                      </a:r>
                      <a:r>
                        <a:rPr lang="en-US" sz="1600" dirty="0">
                          <a:effectLst/>
                        </a:rPr>
                        <a:t> hashed password for secure authentication. Never stored in plain text.</a:t>
                      </a:r>
                    </a:p>
                  </a:txBody>
                  <a:tcPr marL="63500" marR="63500" marT="31750" marB="31750" anchor="ctr">
                    <a:solidFill>
                      <a:schemeClr val="bg1"/>
                    </a:solidFill>
                  </a:tcPr>
                </a:tc>
                <a:extLst>
                  <a:ext uri="{0D108BD9-81ED-4DB2-BD59-A6C34878D82A}">
                    <a16:rowId xmlns:a16="http://schemas.microsoft.com/office/drawing/2014/main" val="3913391811"/>
                  </a:ext>
                </a:extLst>
              </a:tr>
              <a:tr h="0">
                <a:tc>
                  <a:txBody>
                    <a:bodyPr/>
                    <a:lstStyle/>
                    <a:p>
                      <a:r>
                        <a:rPr lang="en-US" sz="1600">
                          <a:effectLst/>
                        </a:rPr>
                        <a:t>role</a:t>
                      </a:r>
                    </a:p>
                  </a:txBody>
                  <a:tcPr marL="63500" marR="63500" marT="31750" marB="31750" anchor="ctr">
                    <a:solidFill>
                      <a:schemeClr val="bg1"/>
                    </a:solidFill>
                  </a:tcPr>
                </a:tc>
                <a:tc>
                  <a:txBody>
                    <a:bodyPr/>
                    <a:lstStyle/>
                    <a:p>
                      <a:r>
                        <a:rPr lang="en-US" sz="1600">
                          <a:effectLst/>
                        </a:rPr>
                        <a:t>Array[String]</a:t>
                      </a:r>
                    </a:p>
                  </a:txBody>
                  <a:tcPr marL="63500" marR="63500" marT="31750" marB="31750" anchor="ctr">
                    <a:solidFill>
                      <a:schemeClr val="bg1"/>
                    </a:solidFill>
                  </a:tcPr>
                </a:tc>
                <a:tc>
                  <a:txBody>
                    <a:bodyPr/>
                    <a:lstStyle/>
                    <a:p>
                      <a:r>
                        <a:rPr lang="en-US" sz="1600">
                          <a:effectLst/>
                        </a:rPr>
                        <a:t>['student', 'tutor']</a:t>
                      </a:r>
                    </a:p>
                  </a:txBody>
                  <a:tcPr marL="63500" marR="63500" marT="31750" marB="31750" anchor="ctr">
                    <a:solidFill>
                      <a:schemeClr val="bg1"/>
                    </a:solidFill>
                  </a:tcPr>
                </a:tc>
                <a:tc>
                  <a:txBody>
                    <a:bodyPr/>
                    <a:lstStyle/>
                    <a:p>
                      <a:r>
                        <a:rPr lang="en-US" sz="1600" dirty="0">
                          <a:effectLst/>
                        </a:rPr>
                        <a:t>User roles allowing multi-role support. Users can be both student and tutor simultaneously.</a:t>
                      </a:r>
                    </a:p>
                  </a:txBody>
                  <a:tcPr marL="63500" marR="63500" marT="31750" marB="31750" anchor="ctr">
                    <a:solidFill>
                      <a:schemeClr val="bg1"/>
                    </a:solidFill>
                  </a:tcPr>
                </a:tc>
                <a:extLst>
                  <a:ext uri="{0D108BD9-81ED-4DB2-BD59-A6C34878D82A}">
                    <a16:rowId xmlns:a16="http://schemas.microsoft.com/office/drawing/2014/main" val="2445594671"/>
                  </a:ext>
                </a:extLst>
              </a:tr>
              <a:tr h="0">
                <a:tc>
                  <a:txBody>
                    <a:bodyPr/>
                    <a:lstStyle/>
                    <a:p>
                      <a:r>
                        <a:rPr lang="en-US" sz="1600">
                          <a:effectLst/>
                        </a:rPr>
                        <a:t>school</a:t>
                      </a:r>
                    </a:p>
                  </a:txBody>
                  <a:tcPr marL="63500" marR="63500" marT="31750" marB="31750" anchor="ctr">
                    <a:solidFill>
                      <a:schemeClr val="bg1"/>
                    </a:solidFill>
                  </a:tcPr>
                </a:tc>
                <a:tc>
                  <a:txBody>
                    <a:bodyPr/>
                    <a:lstStyle/>
                    <a:p>
                      <a:r>
                        <a:rPr lang="en-US" sz="1600">
                          <a:effectLst/>
                        </a:rPr>
                        <a:t>String</a:t>
                      </a:r>
                    </a:p>
                  </a:txBody>
                  <a:tcPr marL="63500" marR="63500" marT="31750" marB="31750" anchor="ctr">
                    <a:solidFill>
                      <a:schemeClr val="bg1"/>
                    </a:solidFill>
                  </a:tcPr>
                </a:tc>
                <a:tc>
                  <a:txBody>
                    <a:bodyPr/>
                    <a:lstStyle/>
                    <a:p>
                      <a:r>
                        <a:rPr lang="en-US" sz="1600" dirty="0">
                          <a:effectLst/>
                        </a:rPr>
                        <a:t>Temasek Polytechnic</a:t>
                      </a:r>
                    </a:p>
                  </a:txBody>
                  <a:tcPr marL="63500" marR="63500" marT="31750" marB="31750" anchor="ctr">
                    <a:solidFill>
                      <a:schemeClr val="bg1"/>
                    </a:solidFill>
                  </a:tcPr>
                </a:tc>
                <a:tc>
                  <a:txBody>
                    <a:bodyPr/>
                    <a:lstStyle/>
                    <a:p>
                      <a:r>
                        <a:rPr lang="en-US" sz="1600" dirty="0">
                          <a:effectLst/>
                        </a:rPr>
                        <a:t>Educational institution name, used for campus-specific filtering.</a:t>
                      </a:r>
                    </a:p>
                  </a:txBody>
                  <a:tcPr marL="63500" marR="63500" marT="31750" marB="31750" anchor="ctr">
                    <a:solidFill>
                      <a:schemeClr val="bg1"/>
                    </a:solidFill>
                  </a:tcPr>
                </a:tc>
                <a:extLst>
                  <a:ext uri="{0D108BD9-81ED-4DB2-BD59-A6C34878D82A}">
                    <a16:rowId xmlns:a16="http://schemas.microsoft.com/office/drawing/2014/main" val="2299822991"/>
                  </a:ext>
                </a:extLst>
              </a:tr>
            </a:tbl>
          </a:graphicData>
        </a:graphic>
      </p:graphicFrame>
    </p:spTree>
    <p:extLst>
      <p:ext uri="{BB962C8B-B14F-4D97-AF65-F5344CB8AC3E}">
        <p14:creationId xmlns:p14="http://schemas.microsoft.com/office/powerpoint/2010/main" val="40266261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FA80E-5A4B-DB2F-F111-FA9D71DB23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E50CCA-F94C-1D77-C8CA-D43C19560BBB}"/>
              </a:ext>
            </a:extLst>
          </p:cNvPr>
          <p:cNvSpPr>
            <a:spLocks noGrp="1"/>
          </p:cNvSpPr>
          <p:nvPr>
            <p:ph type="title"/>
          </p:nvPr>
        </p:nvSpPr>
        <p:spPr>
          <a:xfrm>
            <a:off x="710063" y="0"/>
            <a:ext cx="10515600" cy="1325563"/>
          </a:xfrm>
        </p:spPr>
        <p:txBody>
          <a:bodyPr/>
          <a:lstStyle/>
          <a:p>
            <a:pPr lvl="0"/>
            <a:r>
              <a:rPr lang="en-US" b="1" dirty="0"/>
              <a:t>Data Modeling - </a:t>
            </a:r>
            <a:r>
              <a:rPr lang="en-US" altLang="zh-CN" b="1" dirty="0"/>
              <a:t>User</a:t>
            </a:r>
            <a:endParaRPr lang="en-US" dirty="0"/>
          </a:p>
        </p:txBody>
      </p:sp>
      <p:graphicFrame>
        <p:nvGraphicFramePr>
          <p:cNvPr id="6" name="Table 5">
            <a:extLst>
              <a:ext uri="{FF2B5EF4-FFF2-40B4-BE49-F238E27FC236}">
                <a16:creationId xmlns:a16="http://schemas.microsoft.com/office/drawing/2014/main" id="{EF2B62F6-4DA8-C6C3-8BD1-857E57BFA1E3}"/>
              </a:ext>
            </a:extLst>
          </p:cNvPr>
          <p:cNvGraphicFramePr>
            <a:graphicFrameLocks noGrp="1"/>
          </p:cNvGraphicFramePr>
          <p:nvPr>
            <p:extLst>
              <p:ext uri="{D42A27DB-BD31-4B8C-83A1-F6EECF244321}">
                <p14:modId xmlns:p14="http://schemas.microsoft.com/office/powerpoint/2010/main" val="2455508709"/>
              </p:ext>
            </p:extLst>
          </p:nvPr>
        </p:nvGraphicFramePr>
        <p:xfrm>
          <a:off x="241300" y="1080628"/>
          <a:ext cx="12007850" cy="5196840"/>
        </p:xfrm>
        <a:graphic>
          <a:graphicData uri="http://schemas.openxmlformats.org/drawingml/2006/table">
            <a:tbl>
              <a:tblPr>
                <a:tableStyleId>{5940675A-B579-460E-94D1-54222C63F5DA}</a:tableStyleId>
              </a:tblPr>
              <a:tblGrid>
                <a:gridCol w="3196361">
                  <a:extLst>
                    <a:ext uri="{9D8B030D-6E8A-4147-A177-3AD203B41FA5}">
                      <a16:colId xmlns:a16="http://schemas.microsoft.com/office/drawing/2014/main" val="402914341"/>
                    </a:ext>
                  </a:extLst>
                </a:gridCol>
                <a:gridCol w="1864031">
                  <a:extLst>
                    <a:ext uri="{9D8B030D-6E8A-4147-A177-3AD203B41FA5}">
                      <a16:colId xmlns:a16="http://schemas.microsoft.com/office/drawing/2014/main" val="2214403198"/>
                    </a:ext>
                  </a:extLst>
                </a:gridCol>
                <a:gridCol w="1907976">
                  <a:extLst>
                    <a:ext uri="{9D8B030D-6E8A-4147-A177-3AD203B41FA5}">
                      <a16:colId xmlns:a16="http://schemas.microsoft.com/office/drawing/2014/main" val="4128410810"/>
                    </a:ext>
                  </a:extLst>
                </a:gridCol>
                <a:gridCol w="5039482">
                  <a:extLst>
                    <a:ext uri="{9D8B030D-6E8A-4147-A177-3AD203B41FA5}">
                      <a16:colId xmlns:a16="http://schemas.microsoft.com/office/drawing/2014/main" val="1825415284"/>
                    </a:ext>
                  </a:extLst>
                </a:gridCol>
              </a:tblGrid>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Table: </a:t>
                      </a:r>
                      <a:r>
                        <a:rPr lang="en-US" altLang="zh-CN" sz="1600" b="1" i="0" kern="1200" dirty="0">
                          <a:solidFill>
                            <a:schemeClr val="tx1"/>
                          </a:solidFill>
                          <a:effectLst/>
                          <a:latin typeface="+mn-lt"/>
                          <a:ea typeface="+mn-ea"/>
                          <a:cs typeface="+mn-cs"/>
                        </a:rPr>
                        <a:t>User</a:t>
                      </a:r>
                    </a:p>
                    <a:p>
                      <a:pPr>
                        <a:buNone/>
                      </a:pPr>
                      <a:endParaRPr lang="en-US" sz="1600" b="0" dirty="0"/>
                    </a:p>
                  </a:txBody>
                  <a:tcPr anchor="ctr">
                    <a:solidFill>
                      <a:schemeClr val="bg1"/>
                    </a:solidFill>
                  </a:tcPr>
                </a:tc>
                <a:tc gridSpan="3">
                  <a:txBody>
                    <a:bodyPr/>
                    <a:lstStyle/>
                    <a:p>
                      <a:pPr>
                        <a:buNone/>
                      </a:pPr>
                      <a:r>
                        <a:rPr lang="en-US" sz="1600" b="1" dirty="0"/>
                        <a:t>Description: </a:t>
                      </a:r>
                    </a:p>
                    <a:p>
                      <a:pPr>
                        <a:buNone/>
                      </a:pPr>
                      <a:r>
                        <a:rPr lang="en-US" altLang="zh-CN" sz="1600" b="0" i="0" kern="1200" dirty="0">
                          <a:solidFill>
                            <a:schemeClr val="tx1"/>
                          </a:solidFill>
                          <a:effectLst/>
                          <a:latin typeface="+mn-lt"/>
                          <a:ea typeface="+mn-ea"/>
                          <a:cs typeface="+mn-cs"/>
                        </a:rPr>
                        <a:t> Stores fundamental user information for authentication and profile management. Serves as the base model for all platform users.</a:t>
                      </a:r>
                      <a:endParaRPr lang="en-US" sz="1600" b="1" dirty="0"/>
                    </a:p>
                    <a:p>
                      <a:pPr>
                        <a:buNone/>
                      </a:pPr>
                      <a:r>
                        <a:rPr lang="en-US" sz="1600" b="1" dirty="0"/>
                        <a:t>Usage in App:</a:t>
                      </a:r>
                      <a:r>
                        <a:rPr lang="en-US" sz="1600" dirty="0"/>
                        <a:t> </a:t>
                      </a:r>
                    </a:p>
                    <a:p>
                      <a:r>
                        <a:rPr lang="en-US" altLang="zh-CN" sz="1600" b="0" i="0" kern="1200" dirty="0">
                          <a:solidFill>
                            <a:schemeClr val="tx1"/>
                          </a:solidFill>
                          <a:effectLst/>
                          <a:latin typeface="+mn-lt"/>
                          <a:ea typeface="+mn-ea"/>
                          <a:cs typeface="+mn-cs"/>
                        </a:rPr>
                        <a:t>Handles user registration, login authentication, profile display, and role management. Used throughout the platform to identify students and tutors, track credits, and manage account settings.</a:t>
                      </a:r>
                    </a:p>
                  </a:txBody>
                  <a:tcPr anchor="ctr">
                    <a:solidFill>
                      <a:schemeClr val="bg1"/>
                    </a:solidFill>
                  </a:tcPr>
                </a:tc>
                <a:tc hMerge="1">
                  <a:txBody>
                    <a:bodyPr/>
                    <a:lstStyle/>
                    <a:p>
                      <a:endParaRPr lang="en-US"/>
                    </a:p>
                  </a:txBody>
                  <a:tcPr/>
                </a:tc>
                <a:tc hMerge="1">
                  <a:txBody>
                    <a:bodyPr/>
                    <a:lstStyle/>
                    <a:p>
                      <a:pPr>
                        <a:buNone/>
                      </a:pPr>
                      <a:endParaRPr lang="en-US" b="1" dirty="0"/>
                    </a:p>
                  </a:txBody>
                  <a:tcPr anchor="ctr"/>
                </a:tc>
                <a:extLst>
                  <a:ext uri="{0D108BD9-81ED-4DB2-BD59-A6C34878D82A}">
                    <a16:rowId xmlns:a16="http://schemas.microsoft.com/office/drawing/2014/main" val="2947018476"/>
                  </a:ext>
                </a:extLst>
              </a:tr>
              <a:tr h="182880">
                <a:tc>
                  <a:txBody>
                    <a:bodyPr/>
                    <a:lstStyle/>
                    <a:p>
                      <a:pPr>
                        <a:buNone/>
                      </a:pPr>
                      <a:r>
                        <a:rPr lang="en-US" sz="1600" b="1" dirty="0"/>
                        <a:t>Attribute</a:t>
                      </a:r>
                    </a:p>
                  </a:txBody>
                  <a:tcPr anchor="ctr">
                    <a:solidFill>
                      <a:schemeClr val="bg1"/>
                    </a:solidFill>
                  </a:tcPr>
                </a:tc>
                <a:tc>
                  <a:txBody>
                    <a:bodyPr/>
                    <a:lstStyle/>
                    <a:p>
                      <a:pPr>
                        <a:buNone/>
                      </a:pPr>
                      <a:r>
                        <a:rPr lang="en-US" sz="1600" b="1" dirty="0"/>
                        <a:t>Type</a:t>
                      </a:r>
                    </a:p>
                  </a:txBody>
                  <a:tcPr anchor="ctr">
                    <a:solidFill>
                      <a:schemeClr val="bg1"/>
                    </a:solidFill>
                  </a:tcPr>
                </a:tc>
                <a:tc>
                  <a:txBody>
                    <a:bodyPr/>
                    <a:lstStyle/>
                    <a:p>
                      <a:pPr>
                        <a:buNone/>
                      </a:pPr>
                      <a:r>
                        <a:rPr lang="en-US" sz="1600" b="1" dirty="0"/>
                        <a:t>Sample Value</a:t>
                      </a:r>
                    </a:p>
                  </a:txBody>
                  <a:tcPr anchor="ctr">
                    <a:solidFill>
                      <a:schemeClr val="bg1"/>
                    </a:solidFill>
                  </a:tcPr>
                </a:tc>
                <a:tc>
                  <a:txBody>
                    <a:bodyPr/>
                    <a:lstStyle/>
                    <a:p>
                      <a:pPr>
                        <a:buNone/>
                      </a:pPr>
                      <a:r>
                        <a:rPr lang="en-US" sz="1600" b="1" dirty="0"/>
                        <a:t>Description</a:t>
                      </a:r>
                    </a:p>
                  </a:txBody>
                  <a:tcPr anchor="ctr">
                    <a:solidFill>
                      <a:schemeClr val="bg1"/>
                    </a:solidFill>
                  </a:tcPr>
                </a:tc>
                <a:extLst>
                  <a:ext uri="{0D108BD9-81ED-4DB2-BD59-A6C34878D82A}">
                    <a16:rowId xmlns:a16="http://schemas.microsoft.com/office/drawing/2014/main" val="70020745"/>
                  </a:ext>
                </a:extLst>
              </a:tr>
              <a:tr h="0">
                <a:tc>
                  <a:txBody>
                    <a:bodyPr/>
                    <a:lstStyle/>
                    <a:p>
                      <a:r>
                        <a:rPr lang="en-US" sz="1600">
                          <a:effectLst/>
                        </a:rPr>
                        <a:t>course</a:t>
                      </a:r>
                    </a:p>
                  </a:txBody>
                  <a:tcPr marL="63500" marR="63500" marT="31750" marB="31750" anchor="ctr">
                    <a:solidFill>
                      <a:schemeClr val="bg1"/>
                    </a:solidFill>
                  </a:tcPr>
                </a:tc>
                <a:tc>
                  <a:txBody>
                    <a:bodyPr/>
                    <a:lstStyle/>
                    <a:p>
                      <a:r>
                        <a:rPr lang="en-US" sz="1600">
                          <a:effectLst/>
                        </a:rPr>
                        <a:t>String</a:t>
                      </a:r>
                    </a:p>
                  </a:txBody>
                  <a:tcPr marL="63500" marR="63500" marT="31750" marB="31750" anchor="ctr">
                    <a:solidFill>
                      <a:schemeClr val="bg1"/>
                    </a:solidFill>
                  </a:tcPr>
                </a:tc>
                <a:tc>
                  <a:txBody>
                    <a:bodyPr/>
                    <a:lstStyle/>
                    <a:p>
                      <a:r>
                        <a:rPr lang="en-US" sz="1600">
                          <a:effectLst/>
                        </a:rPr>
                        <a:t>Information Technology</a:t>
                      </a:r>
                    </a:p>
                  </a:txBody>
                  <a:tcPr marL="63500" marR="63500" marT="31750" marB="31750" anchor="ctr">
                    <a:solidFill>
                      <a:schemeClr val="bg1"/>
                    </a:solidFill>
                  </a:tcPr>
                </a:tc>
                <a:tc>
                  <a:txBody>
                    <a:bodyPr/>
                    <a:lstStyle/>
                    <a:p>
                      <a:r>
                        <a:rPr lang="en-US" sz="1600">
                          <a:effectLst/>
                        </a:rPr>
                        <a:t>Major or diploma program, displayed on profile and used for matching.</a:t>
                      </a:r>
                    </a:p>
                  </a:txBody>
                  <a:tcPr marL="63500" marR="63500" marT="31750" marB="31750" anchor="ctr">
                    <a:solidFill>
                      <a:schemeClr val="bg1"/>
                    </a:solidFill>
                  </a:tcPr>
                </a:tc>
                <a:extLst>
                  <a:ext uri="{0D108BD9-81ED-4DB2-BD59-A6C34878D82A}">
                    <a16:rowId xmlns:a16="http://schemas.microsoft.com/office/drawing/2014/main" val="2707098043"/>
                  </a:ext>
                </a:extLst>
              </a:tr>
              <a:tr h="0">
                <a:tc>
                  <a:txBody>
                    <a:bodyPr/>
                    <a:lstStyle/>
                    <a:p>
                      <a:r>
                        <a:rPr lang="en-US" sz="1600">
                          <a:effectLst/>
                        </a:rPr>
                        <a:t>yearOfStudy</a:t>
                      </a:r>
                    </a:p>
                  </a:txBody>
                  <a:tcPr marL="63500" marR="63500" marT="31750" marB="31750" anchor="ctr">
                    <a:solidFill>
                      <a:schemeClr val="bg1"/>
                    </a:solidFill>
                  </a:tcPr>
                </a:tc>
                <a:tc>
                  <a:txBody>
                    <a:bodyPr/>
                    <a:lstStyle/>
                    <a:p>
                      <a:r>
                        <a:rPr lang="en-US" sz="1600">
                          <a:effectLst/>
                        </a:rPr>
                        <a:t>Number</a:t>
                      </a:r>
                    </a:p>
                  </a:txBody>
                  <a:tcPr marL="63500" marR="63500" marT="31750" marB="31750" anchor="ctr">
                    <a:solidFill>
                      <a:schemeClr val="bg1"/>
                    </a:solidFill>
                  </a:tcPr>
                </a:tc>
                <a:tc>
                  <a:txBody>
                    <a:bodyPr/>
                    <a:lstStyle/>
                    <a:p>
                      <a:r>
                        <a:rPr lang="en-US" altLang="zh-CN" sz="1600" dirty="0">
                          <a:effectLst/>
                        </a:rPr>
                        <a:t>2</a:t>
                      </a:r>
                    </a:p>
                  </a:txBody>
                  <a:tcPr marL="63500" marR="63500" marT="31750" marB="31750" anchor="ctr">
                    <a:solidFill>
                      <a:schemeClr val="bg1"/>
                    </a:solidFill>
                  </a:tcPr>
                </a:tc>
                <a:tc>
                  <a:txBody>
                    <a:bodyPr/>
                    <a:lstStyle/>
                    <a:p>
                      <a:r>
                        <a:rPr lang="en-US" sz="1600">
                          <a:effectLst/>
                        </a:rPr>
                        <a:t>Academic year (1, 2, or 3), helps match students with appropriate tutors.</a:t>
                      </a:r>
                    </a:p>
                  </a:txBody>
                  <a:tcPr marL="63500" marR="63500" marT="31750" marB="31750" anchor="ctr">
                    <a:solidFill>
                      <a:schemeClr val="bg1"/>
                    </a:solidFill>
                  </a:tcPr>
                </a:tc>
                <a:extLst>
                  <a:ext uri="{0D108BD9-81ED-4DB2-BD59-A6C34878D82A}">
                    <a16:rowId xmlns:a16="http://schemas.microsoft.com/office/drawing/2014/main" val="1840665485"/>
                  </a:ext>
                </a:extLst>
              </a:tr>
              <a:tr h="0">
                <a:tc>
                  <a:txBody>
                    <a:bodyPr/>
                    <a:lstStyle/>
                    <a:p>
                      <a:r>
                        <a:rPr lang="en-US" sz="1600">
                          <a:effectLst/>
                        </a:rPr>
                        <a:t>credits</a:t>
                      </a:r>
                    </a:p>
                  </a:txBody>
                  <a:tcPr marL="63500" marR="63500" marT="31750" marB="31750" anchor="ctr">
                    <a:solidFill>
                      <a:schemeClr val="bg1"/>
                    </a:solidFill>
                  </a:tcPr>
                </a:tc>
                <a:tc>
                  <a:txBody>
                    <a:bodyPr/>
                    <a:lstStyle/>
                    <a:p>
                      <a:r>
                        <a:rPr lang="en-US" sz="1600">
                          <a:effectLst/>
                        </a:rPr>
                        <a:t>Number</a:t>
                      </a:r>
                    </a:p>
                  </a:txBody>
                  <a:tcPr marL="63500" marR="63500" marT="31750" marB="31750" anchor="ctr">
                    <a:solidFill>
                      <a:schemeClr val="bg1"/>
                    </a:solidFill>
                  </a:tcPr>
                </a:tc>
                <a:tc>
                  <a:txBody>
                    <a:bodyPr/>
                    <a:lstStyle/>
                    <a:p>
                      <a:r>
                        <a:rPr lang="en-US" altLang="zh-CN" sz="1600">
                          <a:effectLst/>
                        </a:rPr>
                        <a:t>150</a:t>
                      </a:r>
                    </a:p>
                  </a:txBody>
                  <a:tcPr marL="63500" marR="63500" marT="31750" marB="31750" anchor="ctr">
                    <a:solidFill>
                      <a:schemeClr val="bg1"/>
                    </a:solidFill>
                  </a:tcPr>
                </a:tc>
                <a:tc>
                  <a:txBody>
                    <a:bodyPr/>
                    <a:lstStyle/>
                    <a:p>
                      <a:r>
                        <a:rPr lang="en-US" sz="1600">
                          <a:effectLst/>
                        </a:rPr>
                        <a:t>Platform currency for booking sessions. Default: 500 credits upon registration.</a:t>
                      </a:r>
                    </a:p>
                  </a:txBody>
                  <a:tcPr marL="63500" marR="63500" marT="31750" marB="31750" anchor="ctr">
                    <a:solidFill>
                      <a:schemeClr val="bg1"/>
                    </a:solidFill>
                  </a:tcPr>
                </a:tc>
                <a:extLst>
                  <a:ext uri="{0D108BD9-81ED-4DB2-BD59-A6C34878D82A}">
                    <a16:rowId xmlns:a16="http://schemas.microsoft.com/office/drawing/2014/main" val="2234607868"/>
                  </a:ext>
                </a:extLst>
              </a:tr>
              <a:tr h="0">
                <a:tc>
                  <a:txBody>
                    <a:bodyPr/>
                    <a:lstStyle/>
                    <a:p>
                      <a:r>
                        <a:rPr lang="en-US" sz="1600">
                          <a:effectLst/>
                        </a:rPr>
                        <a:t>badges</a:t>
                      </a:r>
                    </a:p>
                  </a:txBody>
                  <a:tcPr marL="63500" marR="63500" marT="31750" marB="31750" anchor="ctr">
                    <a:solidFill>
                      <a:schemeClr val="bg1"/>
                    </a:solidFill>
                  </a:tcPr>
                </a:tc>
                <a:tc>
                  <a:txBody>
                    <a:bodyPr/>
                    <a:lstStyle/>
                    <a:p>
                      <a:r>
                        <a:rPr lang="en-US" sz="1600">
                          <a:effectLst/>
                        </a:rPr>
                        <a:t>Array[String]</a:t>
                      </a:r>
                    </a:p>
                  </a:txBody>
                  <a:tcPr marL="63500" marR="63500" marT="31750" marB="31750" anchor="ctr">
                    <a:solidFill>
                      <a:schemeClr val="bg1"/>
                    </a:solidFill>
                  </a:tcPr>
                </a:tc>
                <a:tc>
                  <a:txBody>
                    <a:bodyPr/>
                    <a:lstStyle/>
                    <a:p>
                      <a:r>
                        <a:rPr lang="en-US" sz="1600">
                          <a:effectLst/>
                        </a:rPr>
                        <a:t>['First Session', 'Top Reviewer']</a:t>
                      </a:r>
                    </a:p>
                  </a:txBody>
                  <a:tcPr marL="63500" marR="63500" marT="31750" marB="31750" anchor="ctr">
                    <a:solidFill>
                      <a:schemeClr val="bg1"/>
                    </a:solidFill>
                  </a:tcPr>
                </a:tc>
                <a:tc>
                  <a:txBody>
                    <a:bodyPr/>
                    <a:lstStyle/>
                    <a:p>
                      <a:r>
                        <a:rPr lang="en-US" sz="1600" dirty="0">
                          <a:effectLst/>
                        </a:rPr>
                        <a:t>Achievement badges earned through platform activities, displayed on profile.</a:t>
                      </a:r>
                    </a:p>
                  </a:txBody>
                  <a:tcPr marL="63500" marR="63500" marT="31750" marB="31750" anchor="ctr">
                    <a:solidFill>
                      <a:schemeClr val="bg1"/>
                    </a:solidFill>
                  </a:tcPr>
                </a:tc>
                <a:extLst>
                  <a:ext uri="{0D108BD9-81ED-4DB2-BD59-A6C34878D82A}">
                    <a16:rowId xmlns:a16="http://schemas.microsoft.com/office/drawing/2014/main" val="3913391811"/>
                  </a:ext>
                </a:extLst>
              </a:tr>
              <a:tr h="0">
                <a:tc>
                  <a:txBody>
                    <a:bodyPr/>
                    <a:lstStyle/>
                    <a:p>
                      <a:r>
                        <a:rPr lang="en-US" sz="1600">
                          <a:effectLst/>
                        </a:rPr>
                        <a:t>profilePicture</a:t>
                      </a:r>
                    </a:p>
                  </a:txBody>
                  <a:tcPr marL="63500" marR="63500" marT="31750" marB="31750" anchor="ctr">
                    <a:solidFill>
                      <a:schemeClr val="bg1"/>
                    </a:solidFill>
                  </a:tcPr>
                </a:tc>
                <a:tc>
                  <a:txBody>
                    <a:bodyPr/>
                    <a:lstStyle/>
                    <a:p>
                      <a:r>
                        <a:rPr lang="en-US" sz="1600">
                          <a:effectLst/>
                        </a:rPr>
                        <a:t>String</a:t>
                      </a:r>
                    </a:p>
                  </a:txBody>
                  <a:tcPr marL="63500" marR="63500" marT="31750" marB="31750" anchor="ctr">
                    <a:solidFill>
                      <a:schemeClr val="bg1"/>
                    </a:solidFill>
                  </a:tcPr>
                </a:tc>
                <a:tc>
                  <a:txBody>
                    <a:bodyPr/>
                    <a:lstStyle/>
                    <a:p>
                      <a:r>
                        <a:rPr lang="en-US" sz="1600">
                          <a:effectLst/>
                        </a:rPr>
                        <a:t>/uploads/avatar123.jpg</a:t>
                      </a:r>
                    </a:p>
                  </a:txBody>
                  <a:tcPr marL="63500" marR="63500" marT="31750" marB="31750" anchor="ctr">
                    <a:solidFill>
                      <a:schemeClr val="bg1"/>
                    </a:solidFill>
                  </a:tcPr>
                </a:tc>
                <a:tc>
                  <a:txBody>
                    <a:bodyPr/>
                    <a:lstStyle/>
                    <a:p>
                      <a:r>
                        <a:rPr lang="en-US" sz="1600" dirty="0">
                          <a:effectLst/>
                        </a:rPr>
                        <a:t>URL path to user's profile image. Optional field.</a:t>
                      </a:r>
                    </a:p>
                  </a:txBody>
                  <a:tcPr marL="63500" marR="63500" marT="31750" marB="31750" anchor="ctr">
                    <a:solidFill>
                      <a:schemeClr val="bg1"/>
                    </a:solidFill>
                  </a:tcPr>
                </a:tc>
                <a:extLst>
                  <a:ext uri="{0D108BD9-81ED-4DB2-BD59-A6C34878D82A}">
                    <a16:rowId xmlns:a16="http://schemas.microsoft.com/office/drawing/2014/main" val="2445594671"/>
                  </a:ext>
                </a:extLst>
              </a:tr>
              <a:tr h="0">
                <a:tc>
                  <a:txBody>
                    <a:bodyPr/>
                    <a:lstStyle/>
                    <a:p>
                      <a:r>
                        <a:rPr lang="en-US" sz="1600">
                          <a:effectLst/>
                        </a:rPr>
                        <a:t>profileCompletion</a:t>
                      </a:r>
                    </a:p>
                  </a:txBody>
                  <a:tcPr marL="63500" marR="63500" marT="31750" marB="31750" anchor="ctr">
                    <a:solidFill>
                      <a:schemeClr val="bg1"/>
                    </a:solidFill>
                  </a:tcPr>
                </a:tc>
                <a:tc>
                  <a:txBody>
                    <a:bodyPr/>
                    <a:lstStyle/>
                    <a:p>
                      <a:r>
                        <a:rPr lang="en-US" sz="1600">
                          <a:effectLst/>
                        </a:rPr>
                        <a:t>Number</a:t>
                      </a:r>
                    </a:p>
                  </a:txBody>
                  <a:tcPr marL="63500" marR="63500" marT="31750" marB="31750" anchor="ctr">
                    <a:solidFill>
                      <a:schemeClr val="bg1"/>
                    </a:solidFill>
                  </a:tcPr>
                </a:tc>
                <a:tc>
                  <a:txBody>
                    <a:bodyPr/>
                    <a:lstStyle/>
                    <a:p>
                      <a:r>
                        <a:rPr lang="en-US" altLang="zh-CN" sz="1600">
                          <a:effectLst/>
                        </a:rPr>
                        <a:t>80</a:t>
                      </a:r>
                    </a:p>
                  </a:txBody>
                  <a:tcPr marL="63500" marR="63500" marT="31750" marB="31750" anchor="ctr">
                    <a:solidFill>
                      <a:schemeClr val="bg1"/>
                    </a:solidFill>
                  </a:tcPr>
                </a:tc>
                <a:tc>
                  <a:txBody>
                    <a:bodyPr/>
                    <a:lstStyle/>
                    <a:p>
                      <a:r>
                        <a:rPr lang="en-US" sz="1600" dirty="0">
                          <a:effectLst/>
                        </a:rPr>
                        <a:t>Percentage (0-100) indicating how complete the profile is. Encourages full profile setup.</a:t>
                      </a:r>
                    </a:p>
                  </a:txBody>
                  <a:tcPr marL="63500" marR="63500" marT="31750" marB="31750" anchor="ctr">
                    <a:solidFill>
                      <a:schemeClr val="bg1"/>
                    </a:solidFill>
                  </a:tcPr>
                </a:tc>
                <a:extLst>
                  <a:ext uri="{0D108BD9-81ED-4DB2-BD59-A6C34878D82A}">
                    <a16:rowId xmlns:a16="http://schemas.microsoft.com/office/drawing/2014/main" val="2299822991"/>
                  </a:ext>
                </a:extLst>
              </a:tr>
            </a:tbl>
          </a:graphicData>
        </a:graphic>
      </p:graphicFrame>
    </p:spTree>
    <p:extLst>
      <p:ext uri="{BB962C8B-B14F-4D97-AF65-F5344CB8AC3E}">
        <p14:creationId xmlns:p14="http://schemas.microsoft.com/office/powerpoint/2010/main" val="3713618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69FEC-40DE-F643-8859-EC864A5DD5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D61D1C-4A2D-EE0D-78F0-FEC5456CB84D}"/>
              </a:ext>
            </a:extLst>
          </p:cNvPr>
          <p:cNvSpPr>
            <a:spLocks noGrp="1"/>
          </p:cNvSpPr>
          <p:nvPr>
            <p:ph type="title"/>
          </p:nvPr>
        </p:nvSpPr>
        <p:spPr>
          <a:xfrm>
            <a:off x="710063" y="0"/>
            <a:ext cx="10515600" cy="1325563"/>
          </a:xfrm>
        </p:spPr>
        <p:txBody>
          <a:bodyPr/>
          <a:lstStyle/>
          <a:p>
            <a:pPr lvl="0"/>
            <a:r>
              <a:rPr lang="en-US" b="1" dirty="0"/>
              <a:t>Data Modeling - </a:t>
            </a:r>
            <a:r>
              <a:rPr lang="en-US" altLang="zh-CN" b="1" dirty="0"/>
              <a:t>User</a:t>
            </a:r>
            <a:endParaRPr lang="en-US" dirty="0"/>
          </a:p>
        </p:txBody>
      </p:sp>
      <p:graphicFrame>
        <p:nvGraphicFramePr>
          <p:cNvPr id="6" name="Table 5">
            <a:extLst>
              <a:ext uri="{FF2B5EF4-FFF2-40B4-BE49-F238E27FC236}">
                <a16:creationId xmlns:a16="http://schemas.microsoft.com/office/drawing/2014/main" id="{6156C3CF-8CAF-D5F1-965E-0BC6A6FAEDE9}"/>
              </a:ext>
            </a:extLst>
          </p:cNvPr>
          <p:cNvGraphicFramePr>
            <a:graphicFrameLocks noGrp="1"/>
          </p:cNvGraphicFramePr>
          <p:nvPr>
            <p:extLst>
              <p:ext uri="{D42A27DB-BD31-4B8C-83A1-F6EECF244321}">
                <p14:modId xmlns:p14="http://schemas.microsoft.com/office/powerpoint/2010/main" val="207849048"/>
              </p:ext>
            </p:extLst>
          </p:nvPr>
        </p:nvGraphicFramePr>
        <p:xfrm>
          <a:off x="241300" y="1080628"/>
          <a:ext cx="11557001" cy="2992120"/>
        </p:xfrm>
        <a:graphic>
          <a:graphicData uri="http://schemas.openxmlformats.org/drawingml/2006/table">
            <a:tbl>
              <a:tblPr>
                <a:tableStyleId>{5940675A-B579-460E-94D1-54222C63F5DA}</a:tableStyleId>
              </a:tblPr>
              <a:tblGrid>
                <a:gridCol w="3076350">
                  <a:extLst>
                    <a:ext uri="{9D8B030D-6E8A-4147-A177-3AD203B41FA5}">
                      <a16:colId xmlns:a16="http://schemas.microsoft.com/office/drawing/2014/main" val="402914341"/>
                    </a:ext>
                  </a:extLst>
                </a:gridCol>
                <a:gridCol w="1794044">
                  <a:extLst>
                    <a:ext uri="{9D8B030D-6E8A-4147-A177-3AD203B41FA5}">
                      <a16:colId xmlns:a16="http://schemas.microsoft.com/office/drawing/2014/main" val="2214403198"/>
                    </a:ext>
                  </a:extLst>
                </a:gridCol>
                <a:gridCol w="1836339">
                  <a:extLst>
                    <a:ext uri="{9D8B030D-6E8A-4147-A177-3AD203B41FA5}">
                      <a16:colId xmlns:a16="http://schemas.microsoft.com/office/drawing/2014/main" val="4128410810"/>
                    </a:ext>
                  </a:extLst>
                </a:gridCol>
                <a:gridCol w="4850268">
                  <a:extLst>
                    <a:ext uri="{9D8B030D-6E8A-4147-A177-3AD203B41FA5}">
                      <a16:colId xmlns:a16="http://schemas.microsoft.com/office/drawing/2014/main" val="1825415284"/>
                    </a:ext>
                  </a:extLst>
                </a:gridCol>
              </a:tblGrid>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Table: </a:t>
                      </a:r>
                      <a:r>
                        <a:rPr lang="en-US" altLang="zh-CN" sz="1600" b="1" i="0" kern="1200" dirty="0">
                          <a:solidFill>
                            <a:schemeClr val="tx1"/>
                          </a:solidFill>
                          <a:effectLst/>
                          <a:latin typeface="+mn-lt"/>
                          <a:ea typeface="+mn-ea"/>
                          <a:cs typeface="+mn-cs"/>
                        </a:rPr>
                        <a:t>User</a:t>
                      </a:r>
                    </a:p>
                    <a:p>
                      <a:pPr>
                        <a:buNone/>
                      </a:pPr>
                      <a:endParaRPr lang="en-US" sz="1600" b="0" dirty="0"/>
                    </a:p>
                  </a:txBody>
                  <a:tcPr anchor="ctr">
                    <a:solidFill>
                      <a:schemeClr val="bg1"/>
                    </a:solidFill>
                  </a:tcPr>
                </a:tc>
                <a:tc gridSpan="3">
                  <a:txBody>
                    <a:bodyPr/>
                    <a:lstStyle/>
                    <a:p>
                      <a:pPr>
                        <a:buNone/>
                      </a:pPr>
                      <a:r>
                        <a:rPr lang="en-US" sz="1600" b="1" dirty="0"/>
                        <a:t>Description: </a:t>
                      </a:r>
                    </a:p>
                    <a:p>
                      <a:pPr>
                        <a:buNone/>
                      </a:pPr>
                      <a:r>
                        <a:rPr lang="en-US" altLang="zh-CN" sz="1600" b="0" i="0" kern="1200" dirty="0">
                          <a:solidFill>
                            <a:schemeClr val="tx1"/>
                          </a:solidFill>
                          <a:effectLst/>
                          <a:latin typeface="+mn-lt"/>
                          <a:ea typeface="+mn-ea"/>
                          <a:cs typeface="+mn-cs"/>
                        </a:rPr>
                        <a:t> Stores fundamental user information for authentication and profile management. Serves as the base model for all platform users.</a:t>
                      </a:r>
                      <a:endParaRPr lang="en-US" sz="1600" b="1" dirty="0"/>
                    </a:p>
                    <a:p>
                      <a:pPr>
                        <a:buNone/>
                      </a:pPr>
                      <a:r>
                        <a:rPr lang="en-US" sz="1600" b="1" dirty="0"/>
                        <a:t>Usage in App:</a:t>
                      </a:r>
                      <a:r>
                        <a:rPr lang="en-US" sz="1600" dirty="0"/>
                        <a:t> </a:t>
                      </a:r>
                    </a:p>
                    <a:p>
                      <a:r>
                        <a:rPr lang="en-US" altLang="zh-CN" sz="1600" b="0" i="0" kern="1200" dirty="0">
                          <a:solidFill>
                            <a:schemeClr val="tx1"/>
                          </a:solidFill>
                          <a:effectLst/>
                          <a:latin typeface="+mn-lt"/>
                          <a:ea typeface="+mn-ea"/>
                          <a:cs typeface="+mn-cs"/>
                        </a:rPr>
                        <a:t>Handles user registration, login authentication, profile display, and role management. Used throughout the platform to identify students and tutors, track credits, and manage account settings.</a:t>
                      </a:r>
                    </a:p>
                  </a:txBody>
                  <a:tcPr anchor="ctr">
                    <a:solidFill>
                      <a:schemeClr val="bg1"/>
                    </a:solidFill>
                  </a:tcPr>
                </a:tc>
                <a:tc hMerge="1">
                  <a:txBody>
                    <a:bodyPr/>
                    <a:lstStyle/>
                    <a:p>
                      <a:endParaRPr lang="en-US"/>
                    </a:p>
                  </a:txBody>
                  <a:tcPr/>
                </a:tc>
                <a:tc hMerge="1">
                  <a:txBody>
                    <a:bodyPr/>
                    <a:lstStyle/>
                    <a:p>
                      <a:pPr>
                        <a:buNone/>
                      </a:pPr>
                      <a:endParaRPr lang="en-US" b="1" dirty="0"/>
                    </a:p>
                  </a:txBody>
                  <a:tcPr anchor="ctr"/>
                </a:tc>
                <a:extLst>
                  <a:ext uri="{0D108BD9-81ED-4DB2-BD59-A6C34878D82A}">
                    <a16:rowId xmlns:a16="http://schemas.microsoft.com/office/drawing/2014/main" val="2947018476"/>
                  </a:ext>
                </a:extLst>
              </a:tr>
              <a:tr h="182880">
                <a:tc>
                  <a:txBody>
                    <a:bodyPr/>
                    <a:lstStyle/>
                    <a:p>
                      <a:pPr>
                        <a:buNone/>
                      </a:pPr>
                      <a:r>
                        <a:rPr lang="en-US" sz="1600" b="1" dirty="0"/>
                        <a:t>Attribute</a:t>
                      </a:r>
                    </a:p>
                  </a:txBody>
                  <a:tcPr anchor="ctr">
                    <a:solidFill>
                      <a:schemeClr val="bg1"/>
                    </a:solidFill>
                  </a:tcPr>
                </a:tc>
                <a:tc>
                  <a:txBody>
                    <a:bodyPr/>
                    <a:lstStyle/>
                    <a:p>
                      <a:pPr>
                        <a:buNone/>
                      </a:pPr>
                      <a:r>
                        <a:rPr lang="en-US" sz="1600" b="1" dirty="0"/>
                        <a:t>Type</a:t>
                      </a:r>
                    </a:p>
                  </a:txBody>
                  <a:tcPr anchor="ctr">
                    <a:solidFill>
                      <a:schemeClr val="bg1"/>
                    </a:solidFill>
                  </a:tcPr>
                </a:tc>
                <a:tc>
                  <a:txBody>
                    <a:bodyPr/>
                    <a:lstStyle/>
                    <a:p>
                      <a:pPr>
                        <a:buNone/>
                      </a:pPr>
                      <a:r>
                        <a:rPr lang="en-US" sz="1600" b="1" dirty="0"/>
                        <a:t>Sample Value</a:t>
                      </a:r>
                    </a:p>
                  </a:txBody>
                  <a:tcPr anchor="ctr">
                    <a:solidFill>
                      <a:schemeClr val="bg1"/>
                    </a:solidFill>
                  </a:tcPr>
                </a:tc>
                <a:tc>
                  <a:txBody>
                    <a:bodyPr/>
                    <a:lstStyle/>
                    <a:p>
                      <a:pPr>
                        <a:buNone/>
                      </a:pPr>
                      <a:r>
                        <a:rPr lang="en-US" sz="1600" b="1" dirty="0"/>
                        <a:t>Description</a:t>
                      </a:r>
                    </a:p>
                  </a:txBody>
                  <a:tcPr anchor="ctr">
                    <a:solidFill>
                      <a:schemeClr val="bg1"/>
                    </a:solidFill>
                  </a:tcPr>
                </a:tc>
                <a:extLst>
                  <a:ext uri="{0D108BD9-81ED-4DB2-BD59-A6C34878D82A}">
                    <a16:rowId xmlns:a16="http://schemas.microsoft.com/office/drawing/2014/main" val="70020745"/>
                  </a:ext>
                </a:extLst>
              </a:tr>
              <a:tr h="0">
                <a:tc>
                  <a:txBody>
                    <a:bodyPr/>
                    <a:lstStyle/>
                    <a:p>
                      <a:r>
                        <a:rPr lang="en-US" sz="1600">
                          <a:effectLst/>
                        </a:rPr>
                        <a:t>createdAt</a:t>
                      </a:r>
                    </a:p>
                  </a:txBody>
                  <a:tcPr marL="63500" marR="63500" marT="31750" marB="31750" anchor="ctr">
                    <a:solidFill>
                      <a:schemeClr val="bg1"/>
                    </a:solidFill>
                  </a:tcPr>
                </a:tc>
                <a:tc>
                  <a:txBody>
                    <a:bodyPr/>
                    <a:lstStyle/>
                    <a:p>
                      <a:r>
                        <a:rPr lang="en-US" sz="1600">
                          <a:effectLst/>
                        </a:rPr>
                        <a:t>Date</a:t>
                      </a:r>
                    </a:p>
                  </a:txBody>
                  <a:tcPr marL="63500" marR="63500" marT="31750" marB="31750" anchor="ctr">
                    <a:solidFill>
                      <a:schemeClr val="bg1"/>
                    </a:solidFill>
                  </a:tcPr>
                </a:tc>
                <a:tc>
                  <a:txBody>
                    <a:bodyPr/>
                    <a:lstStyle/>
                    <a:p>
                      <a:r>
                        <a:rPr lang="en-US" sz="1600">
                          <a:effectLst/>
                        </a:rPr>
                        <a:t>2025-10-01T10:30:00Z</a:t>
                      </a:r>
                    </a:p>
                  </a:txBody>
                  <a:tcPr marL="63500" marR="63500" marT="31750" marB="31750" anchor="ctr">
                    <a:solidFill>
                      <a:schemeClr val="bg1"/>
                    </a:solidFill>
                  </a:tcPr>
                </a:tc>
                <a:tc>
                  <a:txBody>
                    <a:bodyPr/>
                    <a:lstStyle/>
                    <a:p>
                      <a:r>
                        <a:rPr lang="en-US" sz="1600">
                          <a:effectLst/>
                        </a:rPr>
                        <a:t>Timestamp of account creation, auto-generated.</a:t>
                      </a:r>
                    </a:p>
                  </a:txBody>
                  <a:tcPr marL="63500" marR="63500" marT="31750" marB="31750" anchor="ctr">
                    <a:solidFill>
                      <a:schemeClr val="bg1"/>
                    </a:solidFill>
                  </a:tcPr>
                </a:tc>
                <a:extLst>
                  <a:ext uri="{0D108BD9-81ED-4DB2-BD59-A6C34878D82A}">
                    <a16:rowId xmlns:a16="http://schemas.microsoft.com/office/drawing/2014/main" val="2707098043"/>
                  </a:ext>
                </a:extLst>
              </a:tr>
              <a:tr h="0">
                <a:tc>
                  <a:txBody>
                    <a:bodyPr/>
                    <a:lstStyle/>
                    <a:p>
                      <a:r>
                        <a:rPr lang="en-US" sz="1600">
                          <a:effectLst/>
                        </a:rPr>
                        <a:t>updatedAt</a:t>
                      </a:r>
                    </a:p>
                  </a:txBody>
                  <a:tcPr marL="63500" marR="63500" marT="31750" marB="31750" anchor="ctr">
                    <a:solidFill>
                      <a:schemeClr val="bg1"/>
                    </a:solidFill>
                  </a:tcPr>
                </a:tc>
                <a:tc>
                  <a:txBody>
                    <a:bodyPr/>
                    <a:lstStyle/>
                    <a:p>
                      <a:r>
                        <a:rPr lang="en-US" sz="1600">
                          <a:effectLst/>
                        </a:rPr>
                        <a:t>Date</a:t>
                      </a:r>
                    </a:p>
                  </a:txBody>
                  <a:tcPr marL="63500" marR="63500" marT="31750" marB="31750" anchor="ctr">
                    <a:solidFill>
                      <a:schemeClr val="bg1"/>
                    </a:solidFill>
                  </a:tcPr>
                </a:tc>
                <a:tc>
                  <a:txBody>
                    <a:bodyPr/>
                    <a:lstStyle/>
                    <a:p>
                      <a:r>
                        <a:rPr lang="en-US" sz="1600">
                          <a:effectLst/>
                        </a:rPr>
                        <a:t>2025-11-15T14:20:00Z</a:t>
                      </a:r>
                    </a:p>
                  </a:txBody>
                  <a:tcPr marL="63500" marR="63500" marT="31750" marB="31750" anchor="ctr">
                    <a:solidFill>
                      <a:schemeClr val="bg1"/>
                    </a:solidFill>
                  </a:tcPr>
                </a:tc>
                <a:tc>
                  <a:txBody>
                    <a:bodyPr/>
                    <a:lstStyle/>
                    <a:p>
                      <a:r>
                        <a:rPr lang="en-US" sz="1600" dirty="0">
                          <a:effectLst/>
                        </a:rPr>
                        <a:t>Timestamp of last profile update, auto-updated.</a:t>
                      </a:r>
                    </a:p>
                  </a:txBody>
                  <a:tcPr marL="63500" marR="63500" marT="31750" marB="31750" anchor="ctr">
                    <a:solidFill>
                      <a:schemeClr val="bg1"/>
                    </a:solidFill>
                  </a:tcPr>
                </a:tc>
                <a:extLst>
                  <a:ext uri="{0D108BD9-81ED-4DB2-BD59-A6C34878D82A}">
                    <a16:rowId xmlns:a16="http://schemas.microsoft.com/office/drawing/2014/main" val="1840665485"/>
                  </a:ext>
                </a:extLst>
              </a:tr>
            </a:tbl>
          </a:graphicData>
        </a:graphic>
      </p:graphicFrame>
      <p:sp>
        <p:nvSpPr>
          <p:cNvPr id="4" name="文本框 3">
            <a:extLst>
              <a:ext uri="{FF2B5EF4-FFF2-40B4-BE49-F238E27FC236}">
                <a16:creationId xmlns:a16="http://schemas.microsoft.com/office/drawing/2014/main" id="{34C78FCF-5082-0D2B-36D1-1BD0BB725DE2}"/>
              </a:ext>
            </a:extLst>
          </p:cNvPr>
          <p:cNvSpPr txBox="1"/>
          <p:nvPr/>
        </p:nvSpPr>
        <p:spPr>
          <a:xfrm>
            <a:off x="241300" y="4520717"/>
            <a:ext cx="6096000" cy="1354217"/>
          </a:xfrm>
          <a:prstGeom prst="rect">
            <a:avLst/>
          </a:prstGeom>
          <a:noFill/>
        </p:spPr>
        <p:txBody>
          <a:bodyPr wrap="square">
            <a:spAutoFit/>
          </a:bodyPr>
          <a:lstStyle/>
          <a:p>
            <a:pPr algn="l">
              <a:spcAft>
                <a:spcPts val="1200"/>
              </a:spcAft>
              <a:buNone/>
            </a:pPr>
            <a:r>
              <a:rPr lang="en-US" altLang="zh-CN" b="1" i="0" dirty="0">
                <a:effectLst/>
                <a:latin typeface="-apple-system"/>
              </a:rPr>
              <a:t>Relationships:</a:t>
            </a:r>
            <a:endParaRPr lang="en-US" altLang="zh-CN" b="0" i="0" dirty="0">
              <a:effectLst/>
              <a:latin typeface="-apple-system"/>
            </a:endParaRPr>
          </a:p>
          <a:p>
            <a:pPr algn="l">
              <a:buFont typeface="Arial" panose="020B0604020202020204" pitchFamily="34" charset="0"/>
              <a:buChar char="•"/>
            </a:pPr>
            <a:r>
              <a:rPr lang="en-US" altLang="zh-CN" b="0" i="0" dirty="0">
                <a:effectLst/>
                <a:latin typeface="-apple-system"/>
              </a:rPr>
              <a:t>One-to-One with Tutor (if user has tutor role)</a:t>
            </a:r>
          </a:p>
          <a:p>
            <a:pPr algn="l">
              <a:buFont typeface="Arial" panose="020B0604020202020204" pitchFamily="34" charset="0"/>
              <a:buChar char="•"/>
            </a:pPr>
            <a:r>
              <a:rPr lang="en-US" altLang="zh-CN" b="0" i="0" dirty="0">
                <a:effectLst/>
                <a:latin typeface="-apple-system"/>
              </a:rPr>
              <a:t>One-to-Many with Booking (as student or tutor)</a:t>
            </a:r>
          </a:p>
          <a:p>
            <a:pPr algn="l">
              <a:buFont typeface="Arial" panose="020B0604020202020204" pitchFamily="34" charset="0"/>
              <a:buChar char="•"/>
            </a:pPr>
            <a:r>
              <a:rPr lang="en-US" altLang="zh-CN" b="0" i="0" dirty="0">
                <a:effectLst/>
                <a:latin typeface="-apple-system"/>
              </a:rPr>
              <a:t>One-to-Many with Review (as student or tutor)</a:t>
            </a:r>
          </a:p>
        </p:txBody>
      </p:sp>
    </p:spTree>
    <p:extLst>
      <p:ext uri="{BB962C8B-B14F-4D97-AF65-F5344CB8AC3E}">
        <p14:creationId xmlns:p14="http://schemas.microsoft.com/office/powerpoint/2010/main" val="38097566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7C5CF-F6DB-307E-144A-C7116BAF6E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15B505-D1D6-47FC-8946-E59E132722D1}"/>
              </a:ext>
            </a:extLst>
          </p:cNvPr>
          <p:cNvSpPr>
            <a:spLocks noGrp="1"/>
          </p:cNvSpPr>
          <p:nvPr>
            <p:ph type="title"/>
          </p:nvPr>
        </p:nvSpPr>
        <p:spPr>
          <a:xfrm>
            <a:off x="710063" y="0"/>
            <a:ext cx="10515600" cy="1325563"/>
          </a:xfrm>
        </p:spPr>
        <p:txBody>
          <a:bodyPr/>
          <a:lstStyle/>
          <a:p>
            <a:pPr lvl="0"/>
            <a:r>
              <a:rPr lang="en-US" b="1" dirty="0"/>
              <a:t>Data Modeling - </a:t>
            </a:r>
            <a:r>
              <a:rPr lang="en-US" altLang="zh-CN" b="1" dirty="0"/>
              <a:t>Tutor</a:t>
            </a:r>
            <a:endParaRPr lang="en-US" dirty="0"/>
          </a:p>
        </p:txBody>
      </p:sp>
      <p:graphicFrame>
        <p:nvGraphicFramePr>
          <p:cNvPr id="6" name="Table 5">
            <a:extLst>
              <a:ext uri="{FF2B5EF4-FFF2-40B4-BE49-F238E27FC236}">
                <a16:creationId xmlns:a16="http://schemas.microsoft.com/office/drawing/2014/main" id="{142B4369-32C3-6CA7-E6AC-1BFDFB234EDB}"/>
              </a:ext>
            </a:extLst>
          </p:cNvPr>
          <p:cNvGraphicFramePr>
            <a:graphicFrameLocks noGrp="1"/>
          </p:cNvGraphicFramePr>
          <p:nvPr>
            <p:extLst>
              <p:ext uri="{D42A27DB-BD31-4B8C-83A1-F6EECF244321}">
                <p14:modId xmlns:p14="http://schemas.microsoft.com/office/powerpoint/2010/main" val="128659132"/>
              </p:ext>
            </p:extLst>
          </p:nvPr>
        </p:nvGraphicFramePr>
        <p:xfrm>
          <a:off x="260350" y="1080628"/>
          <a:ext cx="11874501" cy="5196840"/>
        </p:xfrm>
        <a:graphic>
          <a:graphicData uri="http://schemas.openxmlformats.org/drawingml/2006/table">
            <a:tbl>
              <a:tblPr>
                <a:tableStyleId>{5940675A-B579-460E-94D1-54222C63F5DA}</a:tableStyleId>
              </a:tblPr>
              <a:tblGrid>
                <a:gridCol w="2889250">
                  <a:extLst>
                    <a:ext uri="{9D8B030D-6E8A-4147-A177-3AD203B41FA5}">
                      <a16:colId xmlns:a16="http://schemas.microsoft.com/office/drawing/2014/main" val="402914341"/>
                    </a:ext>
                  </a:extLst>
                </a:gridCol>
                <a:gridCol w="1619250">
                  <a:extLst>
                    <a:ext uri="{9D8B030D-6E8A-4147-A177-3AD203B41FA5}">
                      <a16:colId xmlns:a16="http://schemas.microsoft.com/office/drawing/2014/main" val="2214403198"/>
                    </a:ext>
                  </a:extLst>
                </a:gridCol>
                <a:gridCol w="2382484">
                  <a:extLst>
                    <a:ext uri="{9D8B030D-6E8A-4147-A177-3AD203B41FA5}">
                      <a16:colId xmlns:a16="http://schemas.microsoft.com/office/drawing/2014/main" val="4128410810"/>
                    </a:ext>
                  </a:extLst>
                </a:gridCol>
                <a:gridCol w="4983517">
                  <a:extLst>
                    <a:ext uri="{9D8B030D-6E8A-4147-A177-3AD203B41FA5}">
                      <a16:colId xmlns:a16="http://schemas.microsoft.com/office/drawing/2014/main" val="1825415284"/>
                    </a:ext>
                  </a:extLst>
                </a:gridCol>
              </a:tblGrid>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Table: </a:t>
                      </a:r>
                      <a:r>
                        <a:rPr lang="en-US" altLang="zh-CN" sz="1600" b="1" i="0" kern="1200" dirty="0">
                          <a:solidFill>
                            <a:schemeClr val="tx1"/>
                          </a:solidFill>
                          <a:effectLst/>
                          <a:latin typeface="+mn-lt"/>
                          <a:ea typeface="+mn-ea"/>
                          <a:cs typeface="+mn-cs"/>
                        </a:rPr>
                        <a:t>Tutor</a:t>
                      </a:r>
                    </a:p>
                    <a:p>
                      <a:pPr>
                        <a:buNone/>
                      </a:pPr>
                      <a:endParaRPr lang="en-US" sz="1600" b="0" dirty="0"/>
                    </a:p>
                  </a:txBody>
                  <a:tcPr anchor="ctr">
                    <a:solidFill>
                      <a:schemeClr val="bg1"/>
                    </a:solidFill>
                  </a:tcPr>
                </a:tc>
                <a:tc gridSpan="3">
                  <a:txBody>
                    <a:bodyPr/>
                    <a:lstStyle/>
                    <a:p>
                      <a:pPr>
                        <a:buNone/>
                      </a:pPr>
                      <a:r>
                        <a:rPr lang="en-US" sz="1600" b="1" dirty="0"/>
                        <a:t>Description: </a:t>
                      </a:r>
                    </a:p>
                    <a:p>
                      <a:pPr>
                        <a:buNone/>
                      </a:pPr>
                      <a:r>
                        <a:rPr lang="en-US" altLang="zh-CN" sz="1600" b="0" i="0" kern="1200" dirty="0">
                          <a:solidFill>
                            <a:schemeClr val="tx1"/>
                          </a:solidFill>
                          <a:effectLst/>
                          <a:latin typeface="+mn-lt"/>
                          <a:ea typeface="+mn-ea"/>
                          <a:cs typeface="+mn-cs"/>
                        </a:rPr>
                        <a:t>Profile for users offering tutoring services. Contains specialized information about teaching capabilities, availability, and performance metrics.</a:t>
                      </a:r>
                    </a:p>
                    <a:p>
                      <a:pPr>
                        <a:buNone/>
                      </a:pPr>
                      <a:r>
                        <a:rPr lang="en-US" sz="1600" b="1" dirty="0"/>
                        <a:t>Usage in App:</a:t>
                      </a:r>
                      <a:r>
                        <a:rPr lang="en-US" sz="1600" dirty="0"/>
                        <a:t> </a:t>
                      </a:r>
                    </a:p>
                    <a:p>
                      <a:r>
                        <a:rPr lang="en-US" altLang="zh-CN" sz="1600" b="0" i="0" kern="1200" dirty="0">
                          <a:solidFill>
                            <a:schemeClr val="tx1"/>
                          </a:solidFill>
                          <a:effectLst/>
                          <a:latin typeface="+mn-lt"/>
                          <a:ea typeface="+mn-ea"/>
                          <a:cs typeface="+mn-cs"/>
                        </a:rPr>
                        <a:t>Manages tutor-specific data displayed on tutor profiles, search results, and AI matching system. Tracks session statistics and ratings for quality assurance.</a:t>
                      </a:r>
                    </a:p>
                  </a:txBody>
                  <a:tcPr anchor="ctr">
                    <a:solidFill>
                      <a:schemeClr val="bg1"/>
                    </a:solidFill>
                  </a:tcPr>
                </a:tc>
                <a:tc hMerge="1">
                  <a:txBody>
                    <a:bodyPr/>
                    <a:lstStyle/>
                    <a:p>
                      <a:endParaRPr lang="en-US"/>
                    </a:p>
                  </a:txBody>
                  <a:tcPr/>
                </a:tc>
                <a:tc hMerge="1">
                  <a:txBody>
                    <a:bodyPr/>
                    <a:lstStyle/>
                    <a:p>
                      <a:pPr>
                        <a:buNone/>
                      </a:pPr>
                      <a:endParaRPr lang="en-US" b="1" dirty="0"/>
                    </a:p>
                  </a:txBody>
                  <a:tcPr anchor="ctr"/>
                </a:tc>
                <a:extLst>
                  <a:ext uri="{0D108BD9-81ED-4DB2-BD59-A6C34878D82A}">
                    <a16:rowId xmlns:a16="http://schemas.microsoft.com/office/drawing/2014/main" val="2947018476"/>
                  </a:ext>
                </a:extLst>
              </a:tr>
              <a:tr h="182880">
                <a:tc>
                  <a:txBody>
                    <a:bodyPr/>
                    <a:lstStyle/>
                    <a:p>
                      <a:pPr>
                        <a:buNone/>
                      </a:pPr>
                      <a:r>
                        <a:rPr lang="en-US" sz="1600" b="1" dirty="0"/>
                        <a:t>Attribute</a:t>
                      </a:r>
                    </a:p>
                  </a:txBody>
                  <a:tcPr anchor="ctr">
                    <a:solidFill>
                      <a:schemeClr val="bg1"/>
                    </a:solidFill>
                  </a:tcPr>
                </a:tc>
                <a:tc>
                  <a:txBody>
                    <a:bodyPr/>
                    <a:lstStyle/>
                    <a:p>
                      <a:pPr>
                        <a:buNone/>
                      </a:pPr>
                      <a:r>
                        <a:rPr lang="en-US" sz="1600" b="1" dirty="0"/>
                        <a:t>Type</a:t>
                      </a:r>
                    </a:p>
                  </a:txBody>
                  <a:tcPr anchor="ctr">
                    <a:solidFill>
                      <a:schemeClr val="bg1"/>
                    </a:solidFill>
                  </a:tcPr>
                </a:tc>
                <a:tc>
                  <a:txBody>
                    <a:bodyPr/>
                    <a:lstStyle/>
                    <a:p>
                      <a:pPr>
                        <a:buNone/>
                      </a:pPr>
                      <a:r>
                        <a:rPr lang="en-US" sz="1600" b="1" dirty="0"/>
                        <a:t>Sample Value</a:t>
                      </a:r>
                    </a:p>
                  </a:txBody>
                  <a:tcPr anchor="ctr">
                    <a:solidFill>
                      <a:schemeClr val="bg1"/>
                    </a:solidFill>
                  </a:tcPr>
                </a:tc>
                <a:tc>
                  <a:txBody>
                    <a:bodyPr/>
                    <a:lstStyle/>
                    <a:p>
                      <a:pPr>
                        <a:buNone/>
                      </a:pPr>
                      <a:r>
                        <a:rPr lang="en-US" sz="1600" b="1" dirty="0"/>
                        <a:t>Description</a:t>
                      </a:r>
                    </a:p>
                  </a:txBody>
                  <a:tcPr anchor="ctr">
                    <a:solidFill>
                      <a:schemeClr val="bg1"/>
                    </a:solidFill>
                  </a:tcPr>
                </a:tc>
                <a:extLst>
                  <a:ext uri="{0D108BD9-81ED-4DB2-BD59-A6C34878D82A}">
                    <a16:rowId xmlns:a16="http://schemas.microsoft.com/office/drawing/2014/main" val="70020745"/>
                  </a:ext>
                </a:extLst>
              </a:tr>
              <a:tr h="0">
                <a:tc>
                  <a:txBody>
                    <a:bodyPr/>
                    <a:lstStyle/>
                    <a:p>
                      <a:r>
                        <a:rPr lang="en-US" sz="1600">
                          <a:effectLst/>
                        </a:rPr>
                        <a:t>_id</a:t>
                      </a:r>
                    </a:p>
                  </a:txBody>
                  <a:tcPr marL="63500" marR="63500" marT="31750" marB="31750" anchor="ctr">
                    <a:solidFill>
                      <a:schemeClr val="bg1"/>
                    </a:solidFill>
                  </a:tcPr>
                </a:tc>
                <a:tc>
                  <a:txBody>
                    <a:bodyPr/>
                    <a:lstStyle/>
                    <a:p>
                      <a:r>
                        <a:rPr lang="en-US" sz="1600">
                          <a:effectLst/>
                        </a:rPr>
                        <a:t>ObjectId</a:t>
                      </a:r>
                    </a:p>
                  </a:txBody>
                  <a:tcPr marL="63500" marR="63500" marT="31750" marB="31750" anchor="ctr">
                    <a:solidFill>
                      <a:schemeClr val="bg1"/>
                    </a:solidFill>
                  </a:tcPr>
                </a:tc>
                <a:tc>
                  <a:txBody>
                    <a:bodyPr/>
                    <a:lstStyle/>
                    <a:p>
                      <a:r>
                        <a:rPr lang="en-US" sz="1600">
                          <a:effectLst/>
                        </a:rPr>
                        <a:t>tutor_001</a:t>
                      </a:r>
                    </a:p>
                  </a:txBody>
                  <a:tcPr marL="63500" marR="63500" marT="31750" marB="31750" anchor="ctr">
                    <a:solidFill>
                      <a:schemeClr val="bg1"/>
                    </a:solidFill>
                  </a:tcPr>
                </a:tc>
                <a:tc>
                  <a:txBody>
                    <a:bodyPr/>
                    <a:lstStyle/>
                    <a:p>
                      <a:r>
                        <a:rPr lang="en-US" sz="1600">
                          <a:effectLst/>
                        </a:rPr>
                        <a:t>Unique identifier for tutor profile.</a:t>
                      </a:r>
                    </a:p>
                  </a:txBody>
                  <a:tcPr marL="63500" marR="63500" marT="31750" marB="31750" anchor="ctr">
                    <a:solidFill>
                      <a:schemeClr val="bg1"/>
                    </a:solidFill>
                  </a:tcPr>
                </a:tc>
                <a:extLst>
                  <a:ext uri="{0D108BD9-81ED-4DB2-BD59-A6C34878D82A}">
                    <a16:rowId xmlns:a16="http://schemas.microsoft.com/office/drawing/2014/main" val="2707098043"/>
                  </a:ext>
                </a:extLst>
              </a:tr>
              <a:tr h="0">
                <a:tc>
                  <a:txBody>
                    <a:bodyPr/>
                    <a:lstStyle/>
                    <a:p>
                      <a:r>
                        <a:rPr lang="en-US" sz="1600">
                          <a:effectLst/>
                        </a:rPr>
                        <a:t>userId</a:t>
                      </a:r>
                    </a:p>
                  </a:txBody>
                  <a:tcPr marL="63500" marR="63500" marT="31750" marB="31750" anchor="ctr">
                    <a:solidFill>
                      <a:schemeClr val="bg1"/>
                    </a:solidFill>
                  </a:tcPr>
                </a:tc>
                <a:tc>
                  <a:txBody>
                    <a:bodyPr/>
                    <a:lstStyle/>
                    <a:p>
                      <a:r>
                        <a:rPr lang="en-US" sz="1600">
                          <a:effectLst/>
                        </a:rPr>
                        <a:t>ObjectId (ref: 'User')</a:t>
                      </a:r>
                    </a:p>
                  </a:txBody>
                  <a:tcPr marL="63500" marR="63500" marT="31750" marB="31750" anchor="ctr">
                    <a:solidFill>
                      <a:schemeClr val="bg1"/>
                    </a:solidFill>
                  </a:tcPr>
                </a:tc>
                <a:tc>
                  <a:txBody>
                    <a:bodyPr/>
                    <a:lstStyle/>
                    <a:p>
                      <a:r>
                        <a:rPr lang="en-US" sz="1600">
                          <a:effectLst/>
                        </a:rPr>
                        <a:t>user_010</a:t>
                      </a:r>
                    </a:p>
                  </a:txBody>
                  <a:tcPr marL="63500" marR="63500" marT="31750" marB="31750" anchor="ctr">
                    <a:solidFill>
                      <a:schemeClr val="bg1"/>
                    </a:solidFill>
                  </a:tcPr>
                </a:tc>
                <a:tc>
                  <a:txBody>
                    <a:bodyPr/>
                    <a:lstStyle/>
                    <a:p>
                      <a:r>
                        <a:rPr lang="en-US" sz="1600">
                          <a:effectLst/>
                        </a:rPr>
                        <a:t>Reference to associated User model. Enables one-to-one relationship.</a:t>
                      </a:r>
                    </a:p>
                  </a:txBody>
                  <a:tcPr marL="63500" marR="63500" marT="31750" marB="31750" anchor="ctr">
                    <a:solidFill>
                      <a:schemeClr val="bg1"/>
                    </a:solidFill>
                  </a:tcPr>
                </a:tc>
                <a:extLst>
                  <a:ext uri="{0D108BD9-81ED-4DB2-BD59-A6C34878D82A}">
                    <a16:rowId xmlns:a16="http://schemas.microsoft.com/office/drawing/2014/main" val="1840665485"/>
                  </a:ext>
                </a:extLst>
              </a:tr>
              <a:tr h="0">
                <a:tc>
                  <a:txBody>
                    <a:bodyPr/>
                    <a:lstStyle/>
                    <a:p>
                      <a:r>
                        <a:rPr lang="en-US" sz="1600">
                          <a:effectLst/>
                        </a:rPr>
                        <a:t>bio</a:t>
                      </a:r>
                    </a:p>
                  </a:txBody>
                  <a:tcPr marL="63500" marR="63500" marT="31750" marB="31750" anchor="ctr">
                    <a:solidFill>
                      <a:schemeClr val="bg1"/>
                    </a:solidFill>
                  </a:tcPr>
                </a:tc>
                <a:tc>
                  <a:txBody>
                    <a:bodyPr/>
                    <a:lstStyle/>
                    <a:p>
                      <a:r>
                        <a:rPr lang="en-US" sz="1600">
                          <a:effectLst/>
                        </a:rPr>
                        <a:t>String</a:t>
                      </a:r>
                    </a:p>
                  </a:txBody>
                  <a:tcPr marL="63500" marR="63500" marT="31750" marB="31750" anchor="ctr">
                    <a:solidFill>
                      <a:schemeClr val="bg1"/>
                    </a:solidFill>
                  </a:tcPr>
                </a:tc>
                <a:tc>
                  <a:txBody>
                    <a:bodyPr/>
                    <a:lstStyle/>
                    <a:p>
                      <a:r>
                        <a:rPr lang="en-US" sz="1600">
                          <a:effectLst/>
                        </a:rPr>
                        <a:t>AI and Machine Learning specialist. Passionate about data science...</a:t>
                      </a:r>
                    </a:p>
                  </a:txBody>
                  <a:tcPr marL="63500" marR="63500" marT="31750" marB="31750" anchor="ctr">
                    <a:solidFill>
                      <a:schemeClr val="bg1"/>
                    </a:solidFill>
                  </a:tcPr>
                </a:tc>
                <a:tc>
                  <a:txBody>
                    <a:bodyPr/>
                    <a:lstStyle/>
                    <a:p>
                      <a:r>
                        <a:rPr lang="en-US" sz="1600">
                          <a:effectLst/>
                        </a:rPr>
                        <a:t>Personal introduction displayed on tutor profile. Maximum 500 characters.</a:t>
                      </a:r>
                    </a:p>
                  </a:txBody>
                  <a:tcPr marL="63500" marR="63500" marT="31750" marB="31750" anchor="ctr">
                    <a:solidFill>
                      <a:schemeClr val="bg1"/>
                    </a:solidFill>
                  </a:tcPr>
                </a:tc>
                <a:extLst>
                  <a:ext uri="{0D108BD9-81ED-4DB2-BD59-A6C34878D82A}">
                    <a16:rowId xmlns:a16="http://schemas.microsoft.com/office/drawing/2014/main" val="4200220290"/>
                  </a:ext>
                </a:extLst>
              </a:tr>
              <a:tr h="0">
                <a:tc>
                  <a:txBody>
                    <a:bodyPr/>
                    <a:lstStyle/>
                    <a:p>
                      <a:r>
                        <a:rPr lang="en-US" sz="1600">
                          <a:effectLst/>
                        </a:rPr>
                        <a:t>subjects</a:t>
                      </a:r>
                    </a:p>
                  </a:txBody>
                  <a:tcPr marL="63500" marR="63500" marT="31750" marB="31750" anchor="ctr">
                    <a:solidFill>
                      <a:schemeClr val="bg1"/>
                    </a:solidFill>
                  </a:tcPr>
                </a:tc>
                <a:tc>
                  <a:txBody>
                    <a:bodyPr/>
                    <a:lstStyle/>
                    <a:p>
                      <a:r>
                        <a:rPr lang="en-US" sz="1600">
                          <a:effectLst/>
                        </a:rPr>
                        <a:t>Array[Object]</a:t>
                      </a:r>
                    </a:p>
                  </a:txBody>
                  <a:tcPr marL="63500" marR="63500" marT="31750" marB="31750" anchor="ctr">
                    <a:solidFill>
                      <a:schemeClr val="bg1"/>
                    </a:solidFill>
                  </a:tcPr>
                </a:tc>
                <a:tc>
                  <a:txBody>
                    <a:bodyPr/>
                    <a:lstStyle/>
                    <a:p>
                      <a:r>
                        <a:rPr lang="en-US" sz="1600" dirty="0">
                          <a:effectLst/>
                        </a:rPr>
                        <a:t>[{code: 'IOT', name: 'Internet of Things', grade: 'A'}]</a:t>
                      </a:r>
                    </a:p>
                  </a:txBody>
                  <a:tcPr marL="63500" marR="63500" marT="31750" marB="31750" anchor="ctr">
                    <a:solidFill>
                      <a:schemeClr val="bg1"/>
                    </a:solidFill>
                  </a:tcPr>
                </a:tc>
                <a:tc>
                  <a:txBody>
                    <a:bodyPr/>
                    <a:lstStyle/>
                    <a:p>
                      <a:r>
                        <a:rPr lang="en-US" sz="1600">
                          <a:effectLst/>
                        </a:rPr>
                        <a:t>Array of subjects the tutor can teach with their achieved grades.</a:t>
                      </a:r>
                    </a:p>
                  </a:txBody>
                  <a:tcPr marL="63500" marR="63500" marT="31750" marB="31750" anchor="ctr">
                    <a:solidFill>
                      <a:schemeClr val="bg1"/>
                    </a:solidFill>
                  </a:tcPr>
                </a:tc>
                <a:extLst>
                  <a:ext uri="{0D108BD9-81ED-4DB2-BD59-A6C34878D82A}">
                    <a16:rowId xmlns:a16="http://schemas.microsoft.com/office/drawing/2014/main" val="533489075"/>
                  </a:ext>
                </a:extLst>
              </a:tr>
              <a:tr h="0">
                <a:tc>
                  <a:txBody>
                    <a:bodyPr/>
                    <a:lstStyle/>
                    <a:p>
                      <a:r>
                        <a:rPr lang="en-US" sz="1600">
                          <a:effectLst/>
                        </a:rPr>
                        <a:t>hourlyRate</a:t>
                      </a:r>
                    </a:p>
                  </a:txBody>
                  <a:tcPr marL="63500" marR="63500" marT="31750" marB="31750" anchor="ctr">
                    <a:solidFill>
                      <a:schemeClr val="bg1"/>
                    </a:solidFill>
                  </a:tcPr>
                </a:tc>
                <a:tc>
                  <a:txBody>
                    <a:bodyPr/>
                    <a:lstStyle/>
                    <a:p>
                      <a:r>
                        <a:rPr lang="en-US" sz="1600">
                          <a:effectLst/>
                        </a:rPr>
                        <a:t>Number</a:t>
                      </a:r>
                    </a:p>
                  </a:txBody>
                  <a:tcPr marL="63500" marR="63500" marT="31750" marB="31750" anchor="ctr">
                    <a:solidFill>
                      <a:schemeClr val="bg1"/>
                    </a:solidFill>
                  </a:tcPr>
                </a:tc>
                <a:tc>
                  <a:txBody>
                    <a:bodyPr/>
                    <a:lstStyle/>
                    <a:p>
                      <a:r>
                        <a:rPr lang="en-US" altLang="zh-CN" sz="1600">
                          <a:effectLst/>
                        </a:rPr>
                        <a:t>45</a:t>
                      </a:r>
                    </a:p>
                  </a:txBody>
                  <a:tcPr marL="63500" marR="63500" marT="31750" marB="31750" anchor="ctr">
                    <a:solidFill>
                      <a:schemeClr val="bg1"/>
                    </a:solidFill>
                  </a:tcPr>
                </a:tc>
                <a:tc>
                  <a:txBody>
                    <a:bodyPr/>
                    <a:lstStyle/>
                    <a:p>
                      <a:r>
                        <a:rPr lang="en-US" sz="1600">
                          <a:effectLst/>
                        </a:rPr>
                        <a:t>Credits charged per hour of tutoring. Range: 20-60 credits.</a:t>
                      </a:r>
                    </a:p>
                  </a:txBody>
                  <a:tcPr marL="63500" marR="63500" marT="31750" marB="31750" anchor="ctr">
                    <a:solidFill>
                      <a:schemeClr val="bg1"/>
                    </a:solidFill>
                  </a:tcPr>
                </a:tc>
                <a:extLst>
                  <a:ext uri="{0D108BD9-81ED-4DB2-BD59-A6C34878D82A}">
                    <a16:rowId xmlns:a16="http://schemas.microsoft.com/office/drawing/2014/main" val="895377019"/>
                  </a:ext>
                </a:extLst>
              </a:tr>
              <a:tr h="0">
                <a:tc>
                  <a:txBody>
                    <a:bodyPr/>
                    <a:lstStyle/>
                    <a:p>
                      <a:r>
                        <a:rPr lang="en-US" sz="1600">
                          <a:effectLst/>
                        </a:rPr>
                        <a:t>availableSlots</a:t>
                      </a:r>
                    </a:p>
                  </a:txBody>
                  <a:tcPr marL="63500" marR="63500" marT="31750" marB="31750" anchor="ctr">
                    <a:solidFill>
                      <a:schemeClr val="bg1"/>
                    </a:solidFill>
                  </a:tcPr>
                </a:tc>
                <a:tc>
                  <a:txBody>
                    <a:bodyPr/>
                    <a:lstStyle/>
                    <a:p>
                      <a:r>
                        <a:rPr lang="en-US" sz="1600">
                          <a:effectLst/>
                        </a:rPr>
                        <a:t>Array[Object]</a:t>
                      </a:r>
                    </a:p>
                  </a:txBody>
                  <a:tcPr marL="63500" marR="63500" marT="31750" marB="31750" anchor="ctr">
                    <a:solidFill>
                      <a:schemeClr val="bg1"/>
                    </a:solidFill>
                  </a:tcPr>
                </a:tc>
                <a:tc>
                  <a:txBody>
                    <a:bodyPr/>
                    <a:lstStyle/>
                    <a:p>
                      <a:r>
                        <a:rPr lang="en-US" sz="1600">
                          <a:effectLst/>
                        </a:rPr>
                        <a:t>[{day: 'Tuesday', startTime: '19:00', endTime: '22:00'}]</a:t>
                      </a:r>
                    </a:p>
                  </a:txBody>
                  <a:tcPr marL="63500" marR="63500" marT="31750" marB="31750" anchor="ctr">
                    <a:solidFill>
                      <a:schemeClr val="bg1"/>
                    </a:solidFill>
                  </a:tcPr>
                </a:tc>
                <a:tc>
                  <a:txBody>
                    <a:bodyPr/>
                    <a:lstStyle/>
                    <a:p>
                      <a:r>
                        <a:rPr lang="en-US" sz="1600" dirty="0">
                          <a:effectLst/>
                        </a:rPr>
                        <a:t>Weekly availability schedule for booking matching and filtering.</a:t>
                      </a:r>
                    </a:p>
                  </a:txBody>
                  <a:tcPr marL="63500" marR="63500" marT="31750" marB="31750" anchor="ctr">
                    <a:solidFill>
                      <a:schemeClr val="bg1"/>
                    </a:solidFill>
                  </a:tcPr>
                </a:tc>
                <a:extLst>
                  <a:ext uri="{0D108BD9-81ED-4DB2-BD59-A6C34878D82A}">
                    <a16:rowId xmlns:a16="http://schemas.microsoft.com/office/drawing/2014/main" val="884729469"/>
                  </a:ext>
                </a:extLst>
              </a:tr>
            </a:tbl>
          </a:graphicData>
        </a:graphic>
      </p:graphicFrame>
    </p:spTree>
    <p:extLst>
      <p:ext uri="{BB962C8B-B14F-4D97-AF65-F5344CB8AC3E}">
        <p14:creationId xmlns:p14="http://schemas.microsoft.com/office/powerpoint/2010/main" val="11001796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15800-56E5-7996-33FA-EC98E7FE61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59DB40-961C-8344-8E1B-63E7619DDC4D}"/>
              </a:ext>
            </a:extLst>
          </p:cNvPr>
          <p:cNvSpPr>
            <a:spLocks noGrp="1"/>
          </p:cNvSpPr>
          <p:nvPr>
            <p:ph type="title"/>
          </p:nvPr>
        </p:nvSpPr>
        <p:spPr>
          <a:xfrm>
            <a:off x="710063" y="0"/>
            <a:ext cx="10515600" cy="1325563"/>
          </a:xfrm>
        </p:spPr>
        <p:txBody>
          <a:bodyPr/>
          <a:lstStyle/>
          <a:p>
            <a:pPr lvl="0"/>
            <a:r>
              <a:rPr lang="en-US" b="1" dirty="0"/>
              <a:t>Data Modeling - </a:t>
            </a:r>
            <a:r>
              <a:rPr lang="en-US" altLang="zh-CN" b="1" dirty="0"/>
              <a:t>Tutor</a:t>
            </a:r>
            <a:endParaRPr lang="en-US" dirty="0"/>
          </a:p>
        </p:txBody>
      </p:sp>
      <p:graphicFrame>
        <p:nvGraphicFramePr>
          <p:cNvPr id="6" name="Table 5">
            <a:extLst>
              <a:ext uri="{FF2B5EF4-FFF2-40B4-BE49-F238E27FC236}">
                <a16:creationId xmlns:a16="http://schemas.microsoft.com/office/drawing/2014/main" id="{F085E484-C03B-5832-C7E7-DDC31DEE9D70}"/>
              </a:ext>
            </a:extLst>
          </p:cNvPr>
          <p:cNvGraphicFramePr>
            <a:graphicFrameLocks noGrp="1"/>
          </p:cNvGraphicFramePr>
          <p:nvPr>
            <p:extLst>
              <p:ext uri="{D42A27DB-BD31-4B8C-83A1-F6EECF244321}">
                <p14:modId xmlns:p14="http://schemas.microsoft.com/office/powerpoint/2010/main" val="502590901"/>
              </p:ext>
            </p:extLst>
          </p:nvPr>
        </p:nvGraphicFramePr>
        <p:xfrm>
          <a:off x="260350" y="1080628"/>
          <a:ext cx="11874501" cy="4709160"/>
        </p:xfrm>
        <a:graphic>
          <a:graphicData uri="http://schemas.openxmlformats.org/drawingml/2006/table">
            <a:tbl>
              <a:tblPr>
                <a:tableStyleId>{5940675A-B579-460E-94D1-54222C63F5DA}</a:tableStyleId>
              </a:tblPr>
              <a:tblGrid>
                <a:gridCol w="2889250">
                  <a:extLst>
                    <a:ext uri="{9D8B030D-6E8A-4147-A177-3AD203B41FA5}">
                      <a16:colId xmlns:a16="http://schemas.microsoft.com/office/drawing/2014/main" val="402914341"/>
                    </a:ext>
                  </a:extLst>
                </a:gridCol>
                <a:gridCol w="1619250">
                  <a:extLst>
                    <a:ext uri="{9D8B030D-6E8A-4147-A177-3AD203B41FA5}">
                      <a16:colId xmlns:a16="http://schemas.microsoft.com/office/drawing/2014/main" val="2214403198"/>
                    </a:ext>
                  </a:extLst>
                </a:gridCol>
                <a:gridCol w="2382484">
                  <a:extLst>
                    <a:ext uri="{9D8B030D-6E8A-4147-A177-3AD203B41FA5}">
                      <a16:colId xmlns:a16="http://schemas.microsoft.com/office/drawing/2014/main" val="4128410810"/>
                    </a:ext>
                  </a:extLst>
                </a:gridCol>
                <a:gridCol w="4983517">
                  <a:extLst>
                    <a:ext uri="{9D8B030D-6E8A-4147-A177-3AD203B41FA5}">
                      <a16:colId xmlns:a16="http://schemas.microsoft.com/office/drawing/2014/main" val="1825415284"/>
                    </a:ext>
                  </a:extLst>
                </a:gridCol>
              </a:tblGrid>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Table: </a:t>
                      </a:r>
                      <a:r>
                        <a:rPr lang="en-US" altLang="zh-CN" sz="1600" b="1" i="0" kern="1200" dirty="0">
                          <a:solidFill>
                            <a:schemeClr val="tx1"/>
                          </a:solidFill>
                          <a:effectLst/>
                          <a:latin typeface="+mn-lt"/>
                          <a:ea typeface="+mn-ea"/>
                          <a:cs typeface="+mn-cs"/>
                        </a:rPr>
                        <a:t>Tutor</a:t>
                      </a:r>
                    </a:p>
                    <a:p>
                      <a:pPr>
                        <a:buNone/>
                      </a:pPr>
                      <a:endParaRPr lang="en-US" sz="1600" b="0" dirty="0"/>
                    </a:p>
                  </a:txBody>
                  <a:tcPr anchor="ctr">
                    <a:solidFill>
                      <a:schemeClr val="bg1"/>
                    </a:solidFill>
                  </a:tcPr>
                </a:tc>
                <a:tc gridSpan="3">
                  <a:txBody>
                    <a:bodyPr/>
                    <a:lstStyle/>
                    <a:p>
                      <a:pPr>
                        <a:buNone/>
                      </a:pPr>
                      <a:r>
                        <a:rPr lang="en-US" sz="1600" b="1" dirty="0"/>
                        <a:t>Description: </a:t>
                      </a:r>
                    </a:p>
                    <a:p>
                      <a:pPr>
                        <a:buNone/>
                      </a:pPr>
                      <a:r>
                        <a:rPr lang="en-US" altLang="zh-CN" sz="1600" b="0" i="0" kern="1200" dirty="0">
                          <a:solidFill>
                            <a:schemeClr val="tx1"/>
                          </a:solidFill>
                          <a:effectLst/>
                          <a:latin typeface="+mn-lt"/>
                          <a:ea typeface="+mn-ea"/>
                          <a:cs typeface="+mn-cs"/>
                        </a:rPr>
                        <a:t>Profile for users offering tutoring services. Contains specialized information about teaching capabilities, availability, and performance metrics.</a:t>
                      </a:r>
                    </a:p>
                    <a:p>
                      <a:pPr>
                        <a:buNone/>
                      </a:pPr>
                      <a:r>
                        <a:rPr lang="en-US" sz="1600" b="1" dirty="0"/>
                        <a:t>Usage in App:</a:t>
                      </a:r>
                      <a:r>
                        <a:rPr lang="en-US" sz="1600" dirty="0"/>
                        <a:t> </a:t>
                      </a:r>
                    </a:p>
                    <a:p>
                      <a:r>
                        <a:rPr lang="en-US" altLang="zh-CN" sz="1600" b="0" i="0" kern="1200" dirty="0">
                          <a:solidFill>
                            <a:schemeClr val="tx1"/>
                          </a:solidFill>
                          <a:effectLst/>
                          <a:latin typeface="+mn-lt"/>
                          <a:ea typeface="+mn-ea"/>
                          <a:cs typeface="+mn-cs"/>
                        </a:rPr>
                        <a:t>Manages tutor-specific data displayed on tutor profiles, search results, and AI matching system. Tracks session statistics and ratings for quality assurance.</a:t>
                      </a:r>
                    </a:p>
                  </a:txBody>
                  <a:tcPr anchor="ctr">
                    <a:solidFill>
                      <a:schemeClr val="bg1"/>
                    </a:solidFill>
                  </a:tcPr>
                </a:tc>
                <a:tc hMerge="1">
                  <a:txBody>
                    <a:bodyPr/>
                    <a:lstStyle/>
                    <a:p>
                      <a:endParaRPr lang="en-US"/>
                    </a:p>
                  </a:txBody>
                  <a:tcPr/>
                </a:tc>
                <a:tc hMerge="1">
                  <a:txBody>
                    <a:bodyPr/>
                    <a:lstStyle/>
                    <a:p>
                      <a:pPr>
                        <a:buNone/>
                      </a:pPr>
                      <a:endParaRPr lang="en-US" b="1" dirty="0"/>
                    </a:p>
                  </a:txBody>
                  <a:tcPr anchor="ctr"/>
                </a:tc>
                <a:extLst>
                  <a:ext uri="{0D108BD9-81ED-4DB2-BD59-A6C34878D82A}">
                    <a16:rowId xmlns:a16="http://schemas.microsoft.com/office/drawing/2014/main" val="2947018476"/>
                  </a:ext>
                </a:extLst>
              </a:tr>
              <a:tr h="182880">
                <a:tc>
                  <a:txBody>
                    <a:bodyPr/>
                    <a:lstStyle/>
                    <a:p>
                      <a:pPr>
                        <a:buNone/>
                      </a:pPr>
                      <a:r>
                        <a:rPr lang="en-US" sz="1600" b="1" dirty="0"/>
                        <a:t>Attribute</a:t>
                      </a:r>
                    </a:p>
                  </a:txBody>
                  <a:tcPr anchor="ctr">
                    <a:solidFill>
                      <a:schemeClr val="bg1"/>
                    </a:solidFill>
                  </a:tcPr>
                </a:tc>
                <a:tc>
                  <a:txBody>
                    <a:bodyPr/>
                    <a:lstStyle/>
                    <a:p>
                      <a:pPr>
                        <a:buNone/>
                      </a:pPr>
                      <a:r>
                        <a:rPr lang="en-US" sz="1600" b="1" dirty="0"/>
                        <a:t>Type</a:t>
                      </a:r>
                    </a:p>
                  </a:txBody>
                  <a:tcPr anchor="ctr">
                    <a:solidFill>
                      <a:schemeClr val="bg1"/>
                    </a:solidFill>
                  </a:tcPr>
                </a:tc>
                <a:tc>
                  <a:txBody>
                    <a:bodyPr/>
                    <a:lstStyle/>
                    <a:p>
                      <a:pPr>
                        <a:buNone/>
                      </a:pPr>
                      <a:r>
                        <a:rPr lang="en-US" sz="1600" b="1" dirty="0"/>
                        <a:t>Sample Value</a:t>
                      </a:r>
                    </a:p>
                  </a:txBody>
                  <a:tcPr anchor="ctr">
                    <a:solidFill>
                      <a:schemeClr val="bg1"/>
                    </a:solidFill>
                  </a:tcPr>
                </a:tc>
                <a:tc>
                  <a:txBody>
                    <a:bodyPr/>
                    <a:lstStyle/>
                    <a:p>
                      <a:pPr>
                        <a:buNone/>
                      </a:pPr>
                      <a:r>
                        <a:rPr lang="en-US" sz="1600" b="1" dirty="0"/>
                        <a:t>Description</a:t>
                      </a:r>
                    </a:p>
                  </a:txBody>
                  <a:tcPr anchor="ctr">
                    <a:solidFill>
                      <a:schemeClr val="bg1"/>
                    </a:solidFill>
                  </a:tcPr>
                </a:tc>
                <a:extLst>
                  <a:ext uri="{0D108BD9-81ED-4DB2-BD59-A6C34878D82A}">
                    <a16:rowId xmlns:a16="http://schemas.microsoft.com/office/drawing/2014/main" val="70020745"/>
                  </a:ext>
                </a:extLst>
              </a:tr>
              <a:tr h="0">
                <a:tc>
                  <a:txBody>
                    <a:bodyPr/>
                    <a:lstStyle/>
                    <a:p>
                      <a:r>
                        <a:rPr lang="en-US" sz="1600">
                          <a:effectLst/>
                        </a:rPr>
                        <a:t>preferredLocations</a:t>
                      </a:r>
                    </a:p>
                  </a:txBody>
                  <a:tcPr marL="63500" marR="63500" marT="31750" marB="31750" anchor="ctr">
                    <a:solidFill>
                      <a:schemeClr val="bg1"/>
                    </a:solidFill>
                  </a:tcPr>
                </a:tc>
                <a:tc>
                  <a:txBody>
                    <a:bodyPr/>
                    <a:lstStyle/>
                    <a:p>
                      <a:r>
                        <a:rPr lang="en-US" sz="1600">
                          <a:effectLst/>
                        </a:rPr>
                        <a:t>Array[String]</a:t>
                      </a:r>
                    </a:p>
                  </a:txBody>
                  <a:tcPr marL="63500" marR="63500" marT="31750" marB="31750" anchor="ctr">
                    <a:solidFill>
                      <a:schemeClr val="bg1"/>
                    </a:solidFill>
                  </a:tcPr>
                </a:tc>
                <a:tc>
                  <a:txBody>
                    <a:bodyPr/>
                    <a:lstStyle/>
                    <a:p>
                      <a:r>
                        <a:rPr lang="en-US" sz="1600">
                          <a:effectLst/>
                        </a:rPr>
                        <a:t>['Online', 'TP IT Lab', 'IIT-pixel X']</a:t>
                      </a:r>
                    </a:p>
                  </a:txBody>
                  <a:tcPr marL="63500" marR="63500" marT="31750" marB="31750" anchor="ctr">
                    <a:solidFill>
                      <a:schemeClr val="bg1"/>
                    </a:solidFill>
                  </a:tcPr>
                </a:tc>
                <a:tc>
                  <a:txBody>
                    <a:bodyPr/>
                    <a:lstStyle/>
                    <a:p>
                      <a:r>
                        <a:rPr lang="en-US" sz="1600">
                          <a:effectLst/>
                        </a:rPr>
                        <a:t>Locations where tutor is willing to conduct sessions.</a:t>
                      </a:r>
                    </a:p>
                  </a:txBody>
                  <a:tcPr marL="63500" marR="63500" marT="31750" marB="31750" anchor="ctr">
                    <a:solidFill>
                      <a:schemeClr val="bg1"/>
                    </a:solidFill>
                  </a:tcPr>
                </a:tc>
                <a:extLst>
                  <a:ext uri="{0D108BD9-81ED-4DB2-BD59-A6C34878D82A}">
                    <a16:rowId xmlns:a16="http://schemas.microsoft.com/office/drawing/2014/main" val="2707098043"/>
                  </a:ext>
                </a:extLst>
              </a:tr>
              <a:tr h="0">
                <a:tc>
                  <a:txBody>
                    <a:bodyPr/>
                    <a:lstStyle/>
                    <a:p>
                      <a:r>
                        <a:rPr lang="en-US" sz="1600">
                          <a:effectLst/>
                        </a:rPr>
                        <a:t>totalSessions</a:t>
                      </a:r>
                    </a:p>
                  </a:txBody>
                  <a:tcPr marL="63500" marR="63500" marT="31750" marB="31750" anchor="ctr">
                    <a:solidFill>
                      <a:schemeClr val="bg1"/>
                    </a:solidFill>
                  </a:tcPr>
                </a:tc>
                <a:tc>
                  <a:txBody>
                    <a:bodyPr/>
                    <a:lstStyle/>
                    <a:p>
                      <a:r>
                        <a:rPr lang="en-US" sz="1600">
                          <a:effectLst/>
                        </a:rPr>
                        <a:t>Number</a:t>
                      </a:r>
                    </a:p>
                  </a:txBody>
                  <a:tcPr marL="63500" marR="63500" marT="31750" marB="31750" anchor="ctr">
                    <a:solidFill>
                      <a:schemeClr val="bg1"/>
                    </a:solidFill>
                  </a:tcPr>
                </a:tc>
                <a:tc>
                  <a:txBody>
                    <a:bodyPr/>
                    <a:lstStyle/>
                    <a:p>
                      <a:r>
                        <a:rPr lang="en-US" altLang="zh-CN" sz="1600">
                          <a:effectLst/>
                        </a:rPr>
                        <a:t>75</a:t>
                      </a:r>
                    </a:p>
                  </a:txBody>
                  <a:tcPr marL="63500" marR="63500" marT="31750" marB="31750" anchor="ctr">
                    <a:solidFill>
                      <a:schemeClr val="bg1"/>
                    </a:solidFill>
                  </a:tcPr>
                </a:tc>
                <a:tc>
                  <a:txBody>
                    <a:bodyPr/>
                    <a:lstStyle/>
                    <a:p>
                      <a:r>
                        <a:rPr lang="en-US" sz="1600">
                          <a:effectLst/>
                        </a:rPr>
                        <a:t>Lifetime count of all sessions (completed and ongoing).</a:t>
                      </a:r>
                    </a:p>
                  </a:txBody>
                  <a:tcPr marL="63500" marR="63500" marT="31750" marB="31750" anchor="ctr">
                    <a:solidFill>
                      <a:schemeClr val="bg1"/>
                    </a:solidFill>
                  </a:tcPr>
                </a:tc>
                <a:extLst>
                  <a:ext uri="{0D108BD9-81ED-4DB2-BD59-A6C34878D82A}">
                    <a16:rowId xmlns:a16="http://schemas.microsoft.com/office/drawing/2014/main" val="1840665485"/>
                  </a:ext>
                </a:extLst>
              </a:tr>
              <a:tr h="0">
                <a:tc>
                  <a:txBody>
                    <a:bodyPr/>
                    <a:lstStyle/>
                    <a:p>
                      <a:r>
                        <a:rPr lang="en-US" sz="1600">
                          <a:effectLst/>
                        </a:rPr>
                        <a:t>completedSessions</a:t>
                      </a:r>
                    </a:p>
                  </a:txBody>
                  <a:tcPr marL="63500" marR="63500" marT="31750" marB="31750" anchor="ctr">
                    <a:solidFill>
                      <a:schemeClr val="bg1"/>
                    </a:solidFill>
                  </a:tcPr>
                </a:tc>
                <a:tc>
                  <a:txBody>
                    <a:bodyPr/>
                    <a:lstStyle/>
                    <a:p>
                      <a:r>
                        <a:rPr lang="en-US" sz="1600">
                          <a:effectLst/>
                        </a:rPr>
                        <a:t>Number</a:t>
                      </a:r>
                    </a:p>
                  </a:txBody>
                  <a:tcPr marL="63500" marR="63500" marT="31750" marB="31750" anchor="ctr">
                    <a:solidFill>
                      <a:schemeClr val="bg1"/>
                    </a:solidFill>
                  </a:tcPr>
                </a:tc>
                <a:tc>
                  <a:txBody>
                    <a:bodyPr/>
                    <a:lstStyle/>
                    <a:p>
                      <a:r>
                        <a:rPr lang="en-US" altLang="zh-CN" sz="1600">
                          <a:effectLst/>
                        </a:rPr>
                        <a:t>73</a:t>
                      </a:r>
                    </a:p>
                  </a:txBody>
                  <a:tcPr marL="63500" marR="63500" marT="31750" marB="31750" anchor="ctr">
                    <a:solidFill>
                      <a:schemeClr val="bg1"/>
                    </a:solidFill>
                  </a:tcPr>
                </a:tc>
                <a:tc>
                  <a:txBody>
                    <a:bodyPr/>
                    <a:lstStyle/>
                    <a:p>
                      <a:r>
                        <a:rPr lang="en-US" sz="1600">
                          <a:effectLst/>
                        </a:rPr>
                        <a:t>Number of successfully completed sessions, used for reliability metrics.</a:t>
                      </a:r>
                    </a:p>
                  </a:txBody>
                  <a:tcPr marL="63500" marR="63500" marT="31750" marB="31750" anchor="ctr">
                    <a:solidFill>
                      <a:schemeClr val="bg1"/>
                    </a:solidFill>
                  </a:tcPr>
                </a:tc>
                <a:extLst>
                  <a:ext uri="{0D108BD9-81ED-4DB2-BD59-A6C34878D82A}">
                    <a16:rowId xmlns:a16="http://schemas.microsoft.com/office/drawing/2014/main" val="4200220290"/>
                  </a:ext>
                </a:extLst>
              </a:tr>
              <a:tr h="0">
                <a:tc>
                  <a:txBody>
                    <a:bodyPr/>
                    <a:lstStyle/>
                    <a:p>
                      <a:r>
                        <a:rPr lang="en-US" sz="1600">
                          <a:effectLst/>
                        </a:rPr>
                        <a:t>averageRating</a:t>
                      </a:r>
                    </a:p>
                  </a:txBody>
                  <a:tcPr marL="63500" marR="63500" marT="31750" marB="31750" anchor="ctr">
                    <a:solidFill>
                      <a:schemeClr val="bg1"/>
                    </a:solidFill>
                  </a:tcPr>
                </a:tc>
                <a:tc>
                  <a:txBody>
                    <a:bodyPr/>
                    <a:lstStyle/>
                    <a:p>
                      <a:r>
                        <a:rPr lang="en-US" sz="1600">
                          <a:effectLst/>
                        </a:rPr>
                        <a:t>Number</a:t>
                      </a:r>
                    </a:p>
                  </a:txBody>
                  <a:tcPr marL="63500" marR="63500" marT="31750" marB="31750" anchor="ctr">
                    <a:solidFill>
                      <a:schemeClr val="bg1"/>
                    </a:solidFill>
                  </a:tcPr>
                </a:tc>
                <a:tc>
                  <a:txBody>
                    <a:bodyPr/>
                    <a:lstStyle/>
                    <a:p>
                      <a:r>
                        <a:rPr lang="en-US" altLang="zh-CN" sz="1600">
                          <a:effectLst/>
                        </a:rPr>
                        <a:t>4.95</a:t>
                      </a:r>
                    </a:p>
                  </a:txBody>
                  <a:tcPr marL="63500" marR="63500" marT="31750" marB="31750" anchor="ctr">
                    <a:solidFill>
                      <a:schemeClr val="bg1"/>
                    </a:solidFill>
                  </a:tcPr>
                </a:tc>
                <a:tc>
                  <a:txBody>
                    <a:bodyPr/>
                    <a:lstStyle/>
                    <a:p>
                      <a:r>
                        <a:rPr lang="en-US" sz="1600">
                          <a:effectLst/>
                        </a:rPr>
                        <a:t>Calculated average from all reviews (1-5 scale). Auto-updated via middleware.</a:t>
                      </a:r>
                    </a:p>
                  </a:txBody>
                  <a:tcPr marL="63500" marR="63500" marT="31750" marB="31750" anchor="ctr">
                    <a:solidFill>
                      <a:schemeClr val="bg1"/>
                    </a:solidFill>
                  </a:tcPr>
                </a:tc>
                <a:extLst>
                  <a:ext uri="{0D108BD9-81ED-4DB2-BD59-A6C34878D82A}">
                    <a16:rowId xmlns:a16="http://schemas.microsoft.com/office/drawing/2014/main" val="533489075"/>
                  </a:ext>
                </a:extLst>
              </a:tr>
              <a:tr h="0">
                <a:tc>
                  <a:txBody>
                    <a:bodyPr/>
                    <a:lstStyle/>
                    <a:p>
                      <a:r>
                        <a:rPr lang="en-US" sz="1600">
                          <a:effectLst/>
                        </a:rPr>
                        <a:t>totalReviews</a:t>
                      </a:r>
                    </a:p>
                  </a:txBody>
                  <a:tcPr marL="63500" marR="63500" marT="31750" marB="31750" anchor="ctr">
                    <a:solidFill>
                      <a:schemeClr val="bg1"/>
                    </a:solidFill>
                  </a:tcPr>
                </a:tc>
                <a:tc>
                  <a:txBody>
                    <a:bodyPr/>
                    <a:lstStyle/>
                    <a:p>
                      <a:r>
                        <a:rPr lang="en-US" sz="1600">
                          <a:effectLst/>
                        </a:rPr>
                        <a:t>Number</a:t>
                      </a:r>
                    </a:p>
                  </a:txBody>
                  <a:tcPr marL="63500" marR="63500" marT="31750" marB="31750" anchor="ctr">
                    <a:solidFill>
                      <a:schemeClr val="bg1"/>
                    </a:solidFill>
                  </a:tcPr>
                </a:tc>
                <a:tc>
                  <a:txBody>
                    <a:bodyPr/>
                    <a:lstStyle/>
                    <a:p>
                      <a:r>
                        <a:rPr lang="en-US" altLang="zh-CN" sz="1600">
                          <a:effectLst/>
                        </a:rPr>
                        <a:t>32</a:t>
                      </a:r>
                    </a:p>
                  </a:txBody>
                  <a:tcPr marL="63500" marR="63500" marT="31750" marB="31750" anchor="ctr">
                    <a:solidFill>
                      <a:schemeClr val="bg1"/>
                    </a:solidFill>
                  </a:tcPr>
                </a:tc>
                <a:tc>
                  <a:txBody>
                    <a:bodyPr/>
                    <a:lstStyle/>
                    <a:p>
                      <a:r>
                        <a:rPr lang="en-US" sz="1600" dirty="0">
                          <a:effectLst/>
                        </a:rPr>
                        <a:t>Count of reviews received, displayed alongside rating.</a:t>
                      </a:r>
                    </a:p>
                  </a:txBody>
                  <a:tcPr marL="63500" marR="63500" marT="31750" marB="31750" anchor="ctr">
                    <a:solidFill>
                      <a:schemeClr val="bg1"/>
                    </a:solidFill>
                  </a:tcPr>
                </a:tc>
                <a:extLst>
                  <a:ext uri="{0D108BD9-81ED-4DB2-BD59-A6C34878D82A}">
                    <a16:rowId xmlns:a16="http://schemas.microsoft.com/office/drawing/2014/main" val="895377019"/>
                  </a:ext>
                </a:extLst>
              </a:tr>
              <a:tr h="0">
                <a:tc>
                  <a:txBody>
                    <a:bodyPr/>
                    <a:lstStyle/>
                    <a:p>
                      <a:r>
                        <a:rPr lang="en-US" sz="1600">
                          <a:effectLst/>
                        </a:rPr>
                        <a:t>responseTime</a:t>
                      </a:r>
                    </a:p>
                  </a:txBody>
                  <a:tcPr marL="63500" marR="63500" marT="31750" marB="31750" anchor="ctr">
                    <a:solidFill>
                      <a:schemeClr val="bg1"/>
                    </a:solidFill>
                  </a:tcPr>
                </a:tc>
                <a:tc>
                  <a:txBody>
                    <a:bodyPr/>
                    <a:lstStyle/>
                    <a:p>
                      <a:r>
                        <a:rPr lang="en-US" sz="1600">
                          <a:effectLst/>
                        </a:rPr>
                        <a:t>Number</a:t>
                      </a:r>
                    </a:p>
                  </a:txBody>
                  <a:tcPr marL="63500" marR="63500" marT="31750" marB="31750" anchor="ctr">
                    <a:solidFill>
                      <a:schemeClr val="bg1"/>
                    </a:solidFill>
                  </a:tcPr>
                </a:tc>
                <a:tc>
                  <a:txBody>
                    <a:bodyPr/>
                    <a:lstStyle/>
                    <a:p>
                      <a:r>
                        <a:rPr lang="en-US" altLang="zh-CN" sz="1600" dirty="0">
                          <a:effectLst/>
                        </a:rPr>
                        <a:t>45</a:t>
                      </a:r>
                    </a:p>
                  </a:txBody>
                  <a:tcPr marL="63500" marR="63500" marT="31750" marB="31750" anchor="ctr">
                    <a:solidFill>
                      <a:schemeClr val="bg1"/>
                    </a:solidFill>
                  </a:tcPr>
                </a:tc>
                <a:tc>
                  <a:txBody>
                    <a:bodyPr/>
                    <a:lstStyle/>
                    <a:p>
                      <a:r>
                        <a:rPr lang="en-US" sz="1600" dirty="0">
                          <a:effectLst/>
                        </a:rPr>
                        <a:t>Average minutes to respond to booking requests. Lower is better.</a:t>
                      </a:r>
                    </a:p>
                  </a:txBody>
                  <a:tcPr marL="63500" marR="63500" marT="31750" marB="31750" anchor="ctr">
                    <a:solidFill>
                      <a:schemeClr val="bg1"/>
                    </a:solidFill>
                  </a:tcPr>
                </a:tc>
                <a:extLst>
                  <a:ext uri="{0D108BD9-81ED-4DB2-BD59-A6C34878D82A}">
                    <a16:rowId xmlns:a16="http://schemas.microsoft.com/office/drawing/2014/main" val="884729469"/>
                  </a:ext>
                </a:extLst>
              </a:tr>
            </a:tbl>
          </a:graphicData>
        </a:graphic>
      </p:graphicFrame>
    </p:spTree>
    <p:extLst>
      <p:ext uri="{BB962C8B-B14F-4D97-AF65-F5344CB8AC3E}">
        <p14:creationId xmlns:p14="http://schemas.microsoft.com/office/powerpoint/2010/main" val="9708988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343E2-1B5B-6C9F-279A-8F33F57D0D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24FD57-8EDF-285D-E8C7-0F38D3DD1F42}"/>
              </a:ext>
            </a:extLst>
          </p:cNvPr>
          <p:cNvSpPr>
            <a:spLocks noGrp="1"/>
          </p:cNvSpPr>
          <p:nvPr>
            <p:ph type="title"/>
          </p:nvPr>
        </p:nvSpPr>
        <p:spPr>
          <a:xfrm>
            <a:off x="710063" y="0"/>
            <a:ext cx="10515600" cy="1325563"/>
          </a:xfrm>
        </p:spPr>
        <p:txBody>
          <a:bodyPr/>
          <a:lstStyle/>
          <a:p>
            <a:pPr lvl="0"/>
            <a:r>
              <a:rPr lang="en-US" b="1" dirty="0"/>
              <a:t>Data Modeling - </a:t>
            </a:r>
            <a:r>
              <a:rPr lang="en-US" altLang="zh-CN" b="1" dirty="0"/>
              <a:t>Tutor</a:t>
            </a:r>
            <a:endParaRPr lang="en-US" dirty="0"/>
          </a:p>
        </p:txBody>
      </p:sp>
      <p:graphicFrame>
        <p:nvGraphicFramePr>
          <p:cNvPr id="6" name="Table 5">
            <a:extLst>
              <a:ext uri="{FF2B5EF4-FFF2-40B4-BE49-F238E27FC236}">
                <a16:creationId xmlns:a16="http://schemas.microsoft.com/office/drawing/2014/main" id="{3C2A853B-EEC8-CE48-A973-1F40C1E579E6}"/>
              </a:ext>
            </a:extLst>
          </p:cNvPr>
          <p:cNvGraphicFramePr>
            <a:graphicFrameLocks noGrp="1"/>
          </p:cNvGraphicFramePr>
          <p:nvPr>
            <p:extLst>
              <p:ext uri="{D42A27DB-BD31-4B8C-83A1-F6EECF244321}">
                <p14:modId xmlns:p14="http://schemas.microsoft.com/office/powerpoint/2010/main" val="3383648988"/>
              </p:ext>
            </p:extLst>
          </p:nvPr>
        </p:nvGraphicFramePr>
        <p:xfrm>
          <a:off x="260350" y="1080628"/>
          <a:ext cx="11874501" cy="2811780"/>
        </p:xfrm>
        <a:graphic>
          <a:graphicData uri="http://schemas.openxmlformats.org/drawingml/2006/table">
            <a:tbl>
              <a:tblPr>
                <a:tableStyleId>{5940675A-B579-460E-94D1-54222C63F5DA}</a:tableStyleId>
              </a:tblPr>
              <a:tblGrid>
                <a:gridCol w="2889250">
                  <a:extLst>
                    <a:ext uri="{9D8B030D-6E8A-4147-A177-3AD203B41FA5}">
                      <a16:colId xmlns:a16="http://schemas.microsoft.com/office/drawing/2014/main" val="402914341"/>
                    </a:ext>
                  </a:extLst>
                </a:gridCol>
                <a:gridCol w="1619250">
                  <a:extLst>
                    <a:ext uri="{9D8B030D-6E8A-4147-A177-3AD203B41FA5}">
                      <a16:colId xmlns:a16="http://schemas.microsoft.com/office/drawing/2014/main" val="2214403198"/>
                    </a:ext>
                  </a:extLst>
                </a:gridCol>
                <a:gridCol w="2382484">
                  <a:extLst>
                    <a:ext uri="{9D8B030D-6E8A-4147-A177-3AD203B41FA5}">
                      <a16:colId xmlns:a16="http://schemas.microsoft.com/office/drawing/2014/main" val="4128410810"/>
                    </a:ext>
                  </a:extLst>
                </a:gridCol>
                <a:gridCol w="4983517">
                  <a:extLst>
                    <a:ext uri="{9D8B030D-6E8A-4147-A177-3AD203B41FA5}">
                      <a16:colId xmlns:a16="http://schemas.microsoft.com/office/drawing/2014/main" val="1825415284"/>
                    </a:ext>
                  </a:extLst>
                </a:gridCol>
              </a:tblGrid>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Table: </a:t>
                      </a:r>
                      <a:r>
                        <a:rPr lang="en-US" altLang="zh-CN" sz="1600" b="1" i="0" kern="1200" dirty="0">
                          <a:solidFill>
                            <a:schemeClr val="tx1"/>
                          </a:solidFill>
                          <a:effectLst/>
                          <a:latin typeface="+mn-lt"/>
                          <a:ea typeface="+mn-ea"/>
                          <a:cs typeface="+mn-cs"/>
                        </a:rPr>
                        <a:t>Tutor</a:t>
                      </a:r>
                    </a:p>
                    <a:p>
                      <a:pPr>
                        <a:buNone/>
                      </a:pPr>
                      <a:endParaRPr lang="en-US" sz="1600" b="0" dirty="0"/>
                    </a:p>
                  </a:txBody>
                  <a:tcPr anchor="ctr">
                    <a:solidFill>
                      <a:schemeClr val="bg1"/>
                    </a:solidFill>
                  </a:tcPr>
                </a:tc>
                <a:tc gridSpan="3">
                  <a:txBody>
                    <a:bodyPr/>
                    <a:lstStyle/>
                    <a:p>
                      <a:pPr>
                        <a:buNone/>
                      </a:pPr>
                      <a:r>
                        <a:rPr lang="en-US" sz="1600" b="1" dirty="0"/>
                        <a:t>Description: </a:t>
                      </a:r>
                    </a:p>
                    <a:p>
                      <a:pPr>
                        <a:buNone/>
                      </a:pPr>
                      <a:r>
                        <a:rPr lang="en-US" altLang="zh-CN" sz="1600" b="0" i="0" kern="1200" dirty="0">
                          <a:solidFill>
                            <a:schemeClr val="tx1"/>
                          </a:solidFill>
                          <a:effectLst/>
                          <a:latin typeface="+mn-lt"/>
                          <a:ea typeface="+mn-ea"/>
                          <a:cs typeface="+mn-cs"/>
                        </a:rPr>
                        <a:t>Profile for users offering tutoring services. Contains specialized information about teaching capabilities, availability, and performance metrics.</a:t>
                      </a:r>
                    </a:p>
                    <a:p>
                      <a:pPr>
                        <a:buNone/>
                      </a:pPr>
                      <a:r>
                        <a:rPr lang="en-US" sz="1600" b="1" dirty="0"/>
                        <a:t>Usage in App:</a:t>
                      </a:r>
                      <a:r>
                        <a:rPr lang="en-US" sz="1600" dirty="0"/>
                        <a:t> </a:t>
                      </a:r>
                    </a:p>
                    <a:p>
                      <a:r>
                        <a:rPr lang="en-US" altLang="zh-CN" sz="1600" b="0" i="0" kern="1200" dirty="0">
                          <a:solidFill>
                            <a:schemeClr val="tx1"/>
                          </a:solidFill>
                          <a:effectLst/>
                          <a:latin typeface="+mn-lt"/>
                          <a:ea typeface="+mn-ea"/>
                          <a:cs typeface="+mn-cs"/>
                        </a:rPr>
                        <a:t>Manages tutor-specific data displayed on tutor profiles, search results, and AI matching system. Tracks session statistics and ratings for quality assurance.</a:t>
                      </a:r>
                    </a:p>
                  </a:txBody>
                  <a:tcPr anchor="ctr">
                    <a:solidFill>
                      <a:schemeClr val="bg1"/>
                    </a:solidFill>
                  </a:tcPr>
                </a:tc>
                <a:tc hMerge="1">
                  <a:txBody>
                    <a:bodyPr/>
                    <a:lstStyle/>
                    <a:p>
                      <a:endParaRPr lang="en-US"/>
                    </a:p>
                  </a:txBody>
                  <a:tcPr/>
                </a:tc>
                <a:tc hMerge="1">
                  <a:txBody>
                    <a:bodyPr/>
                    <a:lstStyle/>
                    <a:p>
                      <a:pPr>
                        <a:buNone/>
                      </a:pPr>
                      <a:endParaRPr lang="en-US" b="1" dirty="0"/>
                    </a:p>
                  </a:txBody>
                  <a:tcPr anchor="ctr"/>
                </a:tc>
                <a:extLst>
                  <a:ext uri="{0D108BD9-81ED-4DB2-BD59-A6C34878D82A}">
                    <a16:rowId xmlns:a16="http://schemas.microsoft.com/office/drawing/2014/main" val="2947018476"/>
                  </a:ext>
                </a:extLst>
              </a:tr>
              <a:tr h="182880">
                <a:tc>
                  <a:txBody>
                    <a:bodyPr/>
                    <a:lstStyle/>
                    <a:p>
                      <a:pPr>
                        <a:buNone/>
                      </a:pPr>
                      <a:r>
                        <a:rPr lang="en-US" sz="1600" b="1" dirty="0"/>
                        <a:t>Attribute</a:t>
                      </a:r>
                    </a:p>
                  </a:txBody>
                  <a:tcPr anchor="ctr">
                    <a:solidFill>
                      <a:schemeClr val="bg1"/>
                    </a:solidFill>
                  </a:tcPr>
                </a:tc>
                <a:tc>
                  <a:txBody>
                    <a:bodyPr/>
                    <a:lstStyle/>
                    <a:p>
                      <a:pPr>
                        <a:buNone/>
                      </a:pPr>
                      <a:r>
                        <a:rPr lang="en-US" sz="1600" b="1" dirty="0"/>
                        <a:t>Type</a:t>
                      </a:r>
                    </a:p>
                  </a:txBody>
                  <a:tcPr anchor="ctr">
                    <a:solidFill>
                      <a:schemeClr val="bg1"/>
                    </a:solidFill>
                  </a:tcPr>
                </a:tc>
                <a:tc>
                  <a:txBody>
                    <a:bodyPr/>
                    <a:lstStyle/>
                    <a:p>
                      <a:pPr>
                        <a:buNone/>
                      </a:pPr>
                      <a:r>
                        <a:rPr lang="en-US" sz="1600" b="1" dirty="0"/>
                        <a:t>Sample Value</a:t>
                      </a:r>
                    </a:p>
                  </a:txBody>
                  <a:tcPr anchor="ctr">
                    <a:solidFill>
                      <a:schemeClr val="bg1"/>
                    </a:solidFill>
                  </a:tcPr>
                </a:tc>
                <a:tc>
                  <a:txBody>
                    <a:bodyPr/>
                    <a:lstStyle/>
                    <a:p>
                      <a:pPr>
                        <a:buNone/>
                      </a:pPr>
                      <a:r>
                        <a:rPr lang="en-US" sz="1600" b="1" dirty="0"/>
                        <a:t>Description</a:t>
                      </a:r>
                    </a:p>
                  </a:txBody>
                  <a:tcPr anchor="ctr">
                    <a:solidFill>
                      <a:schemeClr val="bg1"/>
                    </a:solidFill>
                  </a:tcPr>
                </a:tc>
                <a:extLst>
                  <a:ext uri="{0D108BD9-81ED-4DB2-BD59-A6C34878D82A}">
                    <a16:rowId xmlns:a16="http://schemas.microsoft.com/office/drawing/2014/main" val="70020745"/>
                  </a:ext>
                </a:extLst>
              </a:tr>
              <a:tr h="0">
                <a:tc>
                  <a:txBody>
                    <a:bodyPr/>
                    <a:lstStyle/>
                    <a:p>
                      <a:r>
                        <a:rPr lang="en-US" sz="1600">
                          <a:effectLst/>
                        </a:rPr>
                        <a:t>isAvailable</a:t>
                      </a:r>
                    </a:p>
                  </a:txBody>
                  <a:tcPr marL="63500" marR="63500" marT="31750" marB="31750" anchor="ctr">
                    <a:solidFill>
                      <a:schemeClr val="bg1"/>
                    </a:solidFill>
                  </a:tcPr>
                </a:tc>
                <a:tc>
                  <a:txBody>
                    <a:bodyPr/>
                    <a:lstStyle/>
                    <a:p>
                      <a:r>
                        <a:rPr lang="en-US" sz="1600">
                          <a:effectLst/>
                        </a:rPr>
                        <a:t>Boolean</a:t>
                      </a:r>
                    </a:p>
                  </a:txBody>
                  <a:tcPr marL="63500" marR="63500" marT="31750" marB="31750" anchor="ctr">
                    <a:solidFill>
                      <a:schemeClr val="bg1"/>
                    </a:solidFill>
                  </a:tcPr>
                </a:tc>
                <a:tc>
                  <a:txBody>
                    <a:bodyPr/>
                    <a:lstStyle/>
                    <a:p>
                      <a:r>
                        <a:rPr lang="en-US" sz="1600">
                          <a:effectLst/>
                        </a:rPr>
                        <a:t>true</a:t>
                      </a:r>
                    </a:p>
                  </a:txBody>
                  <a:tcPr marL="63500" marR="63500" marT="31750" marB="31750" anchor="ctr">
                    <a:solidFill>
                      <a:schemeClr val="bg1"/>
                    </a:solidFill>
                  </a:tcPr>
                </a:tc>
                <a:tc>
                  <a:txBody>
                    <a:bodyPr/>
                    <a:lstStyle/>
                    <a:p>
                      <a:r>
                        <a:rPr lang="en-US" sz="1600">
                          <a:effectLst/>
                        </a:rPr>
                        <a:t>Whether tutor is currently accepting new bookings.</a:t>
                      </a:r>
                    </a:p>
                  </a:txBody>
                  <a:tcPr marL="63500" marR="63500" marT="31750" marB="31750" anchor="ctr">
                    <a:solidFill>
                      <a:schemeClr val="bg1"/>
                    </a:solidFill>
                  </a:tcPr>
                </a:tc>
                <a:extLst>
                  <a:ext uri="{0D108BD9-81ED-4DB2-BD59-A6C34878D82A}">
                    <a16:rowId xmlns:a16="http://schemas.microsoft.com/office/drawing/2014/main" val="2707098043"/>
                  </a:ext>
                </a:extLst>
              </a:tr>
              <a:tr h="0">
                <a:tc>
                  <a:txBody>
                    <a:bodyPr/>
                    <a:lstStyle/>
                    <a:p>
                      <a:r>
                        <a:rPr lang="en-US" sz="1600">
                          <a:effectLst/>
                        </a:rPr>
                        <a:t>createdAt</a:t>
                      </a:r>
                    </a:p>
                  </a:txBody>
                  <a:tcPr marL="63500" marR="63500" marT="31750" marB="31750" anchor="ctr">
                    <a:solidFill>
                      <a:schemeClr val="bg1"/>
                    </a:solidFill>
                  </a:tcPr>
                </a:tc>
                <a:tc>
                  <a:txBody>
                    <a:bodyPr/>
                    <a:lstStyle/>
                    <a:p>
                      <a:r>
                        <a:rPr lang="en-US" sz="1600">
                          <a:effectLst/>
                        </a:rPr>
                        <a:t>Date</a:t>
                      </a:r>
                    </a:p>
                  </a:txBody>
                  <a:tcPr marL="63500" marR="63500" marT="31750" marB="31750" anchor="ctr">
                    <a:solidFill>
                      <a:schemeClr val="bg1"/>
                    </a:solidFill>
                  </a:tcPr>
                </a:tc>
                <a:tc>
                  <a:txBody>
                    <a:bodyPr/>
                    <a:lstStyle/>
                    <a:p>
                      <a:r>
                        <a:rPr lang="en-US" sz="1600">
                          <a:effectLst/>
                        </a:rPr>
                        <a:t>2025-09-15T08:00:00Z</a:t>
                      </a:r>
                    </a:p>
                  </a:txBody>
                  <a:tcPr marL="63500" marR="63500" marT="31750" marB="31750" anchor="ctr">
                    <a:solidFill>
                      <a:schemeClr val="bg1"/>
                    </a:solidFill>
                  </a:tcPr>
                </a:tc>
                <a:tc>
                  <a:txBody>
                    <a:bodyPr/>
                    <a:lstStyle/>
                    <a:p>
                      <a:r>
                        <a:rPr lang="en-US" sz="1600">
                          <a:effectLst/>
                        </a:rPr>
                        <a:t>Timestamp when tutor profile was created.</a:t>
                      </a:r>
                    </a:p>
                  </a:txBody>
                  <a:tcPr marL="63500" marR="63500" marT="31750" marB="31750" anchor="ctr">
                    <a:solidFill>
                      <a:schemeClr val="bg1"/>
                    </a:solidFill>
                  </a:tcPr>
                </a:tc>
                <a:extLst>
                  <a:ext uri="{0D108BD9-81ED-4DB2-BD59-A6C34878D82A}">
                    <a16:rowId xmlns:a16="http://schemas.microsoft.com/office/drawing/2014/main" val="1840665485"/>
                  </a:ext>
                </a:extLst>
              </a:tr>
              <a:tr h="0">
                <a:tc>
                  <a:txBody>
                    <a:bodyPr/>
                    <a:lstStyle/>
                    <a:p>
                      <a:r>
                        <a:rPr lang="en-US" sz="1600">
                          <a:effectLst/>
                        </a:rPr>
                        <a:t>updatedAt</a:t>
                      </a:r>
                    </a:p>
                  </a:txBody>
                  <a:tcPr marL="63500" marR="63500" marT="31750" marB="31750" anchor="ctr">
                    <a:solidFill>
                      <a:schemeClr val="bg1"/>
                    </a:solidFill>
                  </a:tcPr>
                </a:tc>
                <a:tc>
                  <a:txBody>
                    <a:bodyPr/>
                    <a:lstStyle/>
                    <a:p>
                      <a:r>
                        <a:rPr lang="en-US" sz="1600">
                          <a:effectLst/>
                        </a:rPr>
                        <a:t>Date</a:t>
                      </a:r>
                    </a:p>
                  </a:txBody>
                  <a:tcPr marL="63500" marR="63500" marT="31750" marB="31750" anchor="ctr">
                    <a:solidFill>
                      <a:schemeClr val="bg1"/>
                    </a:solidFill>
                  </a:tcPr>
                </a:tc>
                <a:tc>
                  <a:txBody>
                    <a:bodyPr/>
                    <a:lstStyle/>
                    <a:p>
                      <a:r>
                        <a:rPr lang="en-US" sz="1600">
                          <a:effectLst/>
                        </a:rPr>
                        <a:t>2025-11-18T16:45:00Z</a:t>
                      </a:r>
                    </a:p>
                  </a:txBody>
                  <a:tcPr marL="63500" marR="63500" marT="31750" marB="31750" anchor="ctr">
                    <a:solidFill>
                      <a:schemeClr val="bg1"/>
                    </a:solidFill>
                  </a:tcPr>
                </a:tc>
                <a:tc>
                  <a:txBody>
                    <a:bodyPr/>
                    <a:lstStyle/>
                    <a:p>
                      <a:r>
                        <a:rPr lang="en-US" sz="1600" dirty="0">
                          <a:effectLst/>
                        </a:rPr>
                        <a:t>Timestamp of last tutor profile update.</a:t>
                      </a:r>
                    </a:p>
                  </a:txBody>
                  <a:tcPr marL="63500" marR="63500" marT="31750" marB="31750" anchor="ctr">
                    <a:solidFill>
                      <a:schemeClr val="bg1"/>
                    </a:solidFill>
                  </a:tcPr>
                </a:tc>
                <a:extLst>
                  <a:ext uri="{0D108BD9-81ED-4DB2-BD59-A6C34878D82A}">
                    <a16:rowId xmlns:a16="http://schemas.microsoft.com/office/drawing/2014/main" val="4200220290"/>
                  </a:ext>
                </a:extLst>
              </a:tr>
            </a:tbl>
          </a:graphicData>
        </a:graphic>
      </p:graphicFrame>
      <p:sp>
        <p:nvSpPr>
          <p:cNvPr id="4" name="文本框 3">
            <a:extLst>
              <a:ext uri="{FF2B5EF4-FFF2-40B4-BE49-F238E27FC236}">
                <a16:creationId xmlns:a16="http://schemas.microsoft.com/office/drawing/2014/main" id="{F0FD8795-16B8-B4F3-75D5-0E768061F35E}"/>
              </a:ext>
            </a:extLst>
          </p:cNvPr>
          <p:cNvSpPr txBox="1"/>
          <p:nvPr/>
        </p:nvSpPr>
        <p:spPr>
          <a:xfrm>
            <a:off x="260350" y="4536242"/>
            <a:ext cx="3663950" cy="1354217"/>
          </a:xfrm>
          <a:prstGeom prst="rect">
            <a:avLst/>
          </a:prstGeom>
          <a:noFill/>
        </p:spPr>
        <p:txBody>
          <a:bodyPr wrap="square">
            <a:spAutoFit/>
          </a:bodyPr>
          <a:lstStyle/>
          <a:p>
            <a:pPr algn="l">
              <a:spcAft>
                <a:spcPts val="1200"/>
              </a:spcAft>
              <a:buNone/>
            </a:pPr>
            <a:r>
              <a:rPr lang="en-US" altLang="zh-CN" b="1" i="0" dirty="0">
                <a:effectLst/>
                <a:latin typeface="-apple-system"/>
              </a:rPr>
              <a:t>Relationships:</a:t>
            </a:r>
            <a:endParaRPr lang="en-US" altLang="zh-CN" b="0" i="0" dirty="0">
              <a:effectLst/>
              <a:latin typeface="-apple-system"/>
            </a:endParaRPr>
          </a:p>
          <a:p>
            <a:pPr algn="l">
              <a:buFont typeface="Arial" panose="020B0604020202020204" pitchFamily="34" charset="0"/>
              <a:buChar char="•"/>
            </a:pPr>
            <a:r>
              <a:rPr lang="en-US" altLang="zh-CN" b="0" i="0" dirty="0">
                <a:effectLst/>
                <a:latin typeface="-apple-system"/>
              </a:rPr>
              <a:t>One-to-One with User (via </a:t>
            </a:r>
            <a:r>
              <a:rPr lang="en-US" altLang="zh-CN" b="0" i="0" dirty="0" err="1">
                <a:effectLst/>
                <a:latin typeface="-apple-system"/>
              </a:rPr>
              <a:t>userId</a:t>
            </a:r>
            <a:r>
              <a:rPr lang="en-US" altLang="zh-CN" b="0" i="0" dirty="0">
                <a:effectLst/>
                <a:latin typeface="-apple-system"/>
              </a:rPr>
              <a:t>)</a:t>
            </a:r>
          </a:p>
          <a:p>
            <a:pPr algn="l">
              <a:buFont typeface="Arial" panose="020B0604020202020204" pitchFamily="34" charset="0"/>
              <a:buChar char="•"/>
            </a:pPr>
            <a:r>
              <a:rPr lang="en-US" altLang="zh-CN" b="0" i="0" dirty="0">
                <a:effectLst/>
                <a:latin typeface="-apple-system"/>
              </a:rPr>
              <a:t>One-to-Many with Booking</a:t>
            </a:r>
          </a:p>
          <a:p>
            <a:pPr algn="l">
              <a:buFont typeface="Arial" panose="020B0604020202020204" pitchFamily="34" charset="0"/>
              <a:buChar char="•"/>
            </a:pPr>
            <a:r>
              <a:rPr lang="en-US" altLang="zh-CN" b="0" i="0" dirty="0">
                <a:effectLst/>
                <a:latin typeface="-apple-system"/>
              </a:rPr>
              <a:t>One-to-Many with Review</a:t>
            </a:r>
          </a:p>
        </p:txBody>
      </p:sp>
      <p:sp>
        <p:nvSpPr>
          <p:cNvPr id="11" name="文本框 10">
            <a:extLst>
              <a:ext uri="{FF2B5EF4-FFF2-40B4-BE49-F238E27FC236}">
                <a16:creationId xmlns:a16="http://schemas.microsoft.com/office/drawing/2014/main" id="{002035BE-F3BB-1597-2437-8D05D8AAF57B}"/>
              </a:ext>
            </a:extLst>
          </p:cNvPr>
          <p:cNvSpPr txBox="1"/>
          <p:nvPr/>
        </p:nvSpPr>
        <p:spPr>
          <a:xfrm>
            <a:off x="5461000" y="4536242"/>
            <a:ext cx="5842000" cy="1631216"/>
          </a:xfrm>
          <a:prstGeom prst="rect">
            <a:avLst/>
          </a:prstGeom>
          <a:noFill/>
        </p:spPr>
        <p:txBody>
          <a:bodyPr wrap="square">
            <a:spAutoFit/>
          </a:bodyPr>
          <a:lstStyle/>
          <a:p>
            <a:pPr algn="l">
              <a:spcAft>
                <a:spcPts val="1200"/>
              </a:spcAft>
              <a:buNone/>
            </a:pPr>
            <a:r>
              <a:rPr lang="en-US" altLang="zh-CN" b="1" i="0" dirty="0">
                <a:effectLst/>
                <a:latin typeface="-apple-system"/>
              </a:rPr>
              <a:t>Logics:</a:t>
            </a:r>
            <a:endParaRPr lang="en-US" altLang="zh-CN" b="0" i="0" dirty="0">
              <a:effectLst/>
              <a:latin typeface="-apple-system"/>
            </a:endParaRPr>
          </a:p>
          <a:p>
            <a:pPr>
              <a:buFont typeface="Arial" panose="020B0604020202020204" pitchFamily="34" charset="0"/>
              <a:buChar char="•"/>
            </a:pPr>
            <a:r>
              <a:rPr lang="en-US" altLang="zh-CN" dirty="0" err="1">
                <a:latin typeface="-apple-system"/>
              </a:rPr>
              <a:t>averageRating</a:t>
            </a:r>
            <a:r>
              <a:rPr lang="en-US" altLang="zh-CN" dirty="0">
                <a:latin typeface="-apple-system"/>
              </a:rPr>
              <a:t> auto-calculated via Mongoose middleware when new reviews added</a:t>
            </a:r>
          </a:p>
          <a:p>
            <a:pPr>
              <a:buFont typeface="Arial" panose="020B0604020202020204" pitchFamily="34" charset="0"/>
              <a:buChar char="•"/>
            </a:pPr>
            <a:r>
              <a:rPr lang="en-US" altLang="zh-CN" dirty="0" err="1">
                <a:latin typeface="-apple-system"/>
              </a:rPr>
              <a:t>totalSessions</a:t>
            </a:r>
            <a:r>
              <a:rPr lang="en-US" altLang="zh-CN" dirty="0">
                <a:latin typeface="-apple-system"/>
              </a:rPr>
              <a:t> increments when booking status changes to 'completed'</a:t>
            </a:r>
            <a:endParaRPr lang="en-US" altLang="zh-CN" b="0" i="0" dirty="0">
              <a:effectLst/>
              <a:latin typeface="-apple-system"/>
            </a:endParaRPr>
          </a:p>
        </p:txBody>
      </p:sp>
    </p:spTree>
    <p:extLst>
      <p:ext uri="{BB962C8B-B14F-4D97-AF65-F5344CB8AC3E}">
        <p14:creationId xmlns:p14="http://schemas.microsoft.com/office/powerpoint/2010/main" val="9694799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E6CE6-42DF-4CCB-2B39-14A1407619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45D490-F459-99BB-E0C7-E3DA9060A817}"/>
              </a:ext>
            </a:extLst>
          </p:cNvPr>
          <p:cNvSpPr>
            <a:spLocks noGrp="1"/>
          </p:cNvSpPr>
          <p:nvPr>
            <p:ph type="title"/>
          </p:nvPr>
        </p:nvSpPr>
        <p:spPr>
          <a:xfrm>
            <a:off x="710063" y="0"/>
            <a:ext cx="10515600" cy="1325563"/>
          </a:xfrm>
        </p:spPr>
        <p:txBody>
          <a:bodyPr/>
          <a:lstStyle/>
          <a:p>
            <a:pPr lvl="0"/>
            <a:r>
              <a:rPr lang="en-US" b="1" dirty="0"/>
              <a:t>Data Modeling - </a:t>
            </a:r>
            <a:r>
              <a:rPr lang="en-US" altLang="zh-CN" b="1" dirty="0"/>
              <a:t>Booking</a:t>
            </a:r>
            <a:endParaRPr lang="en-US" dirty="0"/>
          </a:p>
        </p:txBody>
      </p:sp>
      <p:graphicFrame>
        <p:nvGraphicFramePr>
          <p:cNvPr id="6" name="Table 5">
            <a:extLst>
              <a:ext uri="{FF2B5EF4-FFF2-40B4-BE49-F238E27FC236}">
                <a16:creationId xmlns:a16="http://schemas.microsoft.com/office/drawing/2014/main" id="{B8B6C1FF-E483-8AC8-F458-BBFC36CC7333}"/>
              </a:ext>
            </a:extLst>
          </p:cNvPr>
          <p:cNvGraphicFramePr>
            <a:graphicFrameLocks noGrp="1"/>
          </p:cNvGraphicFramePr>
          <p:nvPr>
            <p:extLst>
              <p:ext uri="{D42A27DB-BD31-4B8C-83A1-F6EECF244321}">
                <p14:modId xmlns:p14="http://schemas.microsoft.com/office/powerpoint/2010/main" val="749431008"/>
              </p:ext>
            </p:extLst>
          </p:nvPr>
        </p:nvGraphicFramePr>
        <p:xfrm>
          <a:off x="260350" y="1080628"/>
          <a:ext cx="11874501" cy="5046980"/>
        </p:xfrm>
        <a:graphic>
          <a:graphicData uri="http://schemas.openxmlformats.org/drawingml/2006/table">
            <a:tbl>
              <a:tblPr>
                <a:tableStyleId>{5940675A-B579-460E-94D1-54222C63F5DA}</a:tableStyleId>
              </a:tblPr>
              <a:tblGrid>
                <a:gridCol w="2889250">
                  <a:extLst>
                    <a:ext uri="{9D8B030D-6E8A-4147-A177-3AD203B41FA5}">
                      <a16:colId xmlns:a16="http://schemas.microsoft.com/office/drawing/2014/main" val="402914341"/>
                    </a:ext>
                  </a:extLst>
                </a:gridCol>
                <a:gridCol w="1619250">
                  <a:extLst>
                    <a:ext uri="{9D8B030D-6E8A-4147-A177-3AD203B41FA5}">
                      <a16:colId xmlns:a16="http://schemas.microsoft.com/office/drawing/2014/main" val="2214403198"/>
                    </a:ext>
                  </a:extLst>
                </a:gridCol>
                <a:gridCol w="2382484">
                  <a:extLst>
                    <a:ext uri="{9D8B030D-6E8A-4147-A177-3AD203B41FA5}">
                      <a16:colId xmlns:a16="http://schemas.microsoft.com/office/drawing/2014/main" val="4128410810"/>
                    </a:ext>
                  </a:extLst>
                </a:gridCol>
                <a:gridCol w="4983517">
                  <a:extLst>
                    <a:ext uri="{9D8B030D-6E8A-4147-A177-3AD203B41FA5}">
                      <a16:colId xmlns:a16="http://schemas.microsoft.com/office/drawing/2014/main" val="1825415284"/>
                    </a:ext>
                  </a:extLst>
                </a:gridCol>
              </a:tblGrid>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Table: </a:t>
                      </a:r>
                      <a:r>
                        <a:rPr lang="en-US" altLang="zh-CN" sz="1600" b="1" i="0" kern="1200" dirty="0">
                          <a:solidFill>
                            <a:schemeClr val="tx1"/>
                          </a:solidFill>
                          <a:effectLst/>
                          <a:latin typeface="+mn-lt"/>
                          <a:ea typeface="+mn-ea"/>
                          <a:cs typeface="+mn-cs"/>
                        </a:rPr>
                        <a:t>Booking</a:t>
                      </a:r>
                    </a:p>
                    <a:p>
                      <a:pPr>
                        <a:buNone/>
                      </a:pPr>
                      <a:endParaRPr lang="en-US" sz="1600" b="0" dirty="0"/>
                    </a:p>
                  </a:txBody>
                  <a:tcPr anchor="ctr">
                    <a:solidFill>
                      <a:schemeClr val="bg1"/>
                    </a:solidFill>
                  </a:tcPr>
                </a:tc>
                <a:tc gridSpan="3">
                  <a:txBody>
                    <a:bodyPr/>
                    <a:lstStyle/>
                    <a:p>
                      <a:pPr>
                        <a:buNone/>
                      </a:pPr>
                      <a:r>
                        <a:rPr lang="en-US" sz="1600" b="1" dirty="0"/>
                        <a:t>Description: </a:t>
                      </a:r>
                    </a:p>
                    <a:p>
                      <a:pPr>
                        <a:buNone/>
                      </a:pPr>
                      <a:r>
                        <a:rPr lang="en-US" altLang="zh-CN" sz="1600" b="0" i="0" kern="1200" dirty="0">
                          <a:solidFill>
                            <a:schemeClr val="tx1"/>
                          </a:solidFill>
                          <a:effectLst/>
                          <a:latin typeface="+mn-lt"/>
                          <a:ea typeface="+mn-ea"/>
                          <a:cs typeface="+mn-cs"/>
                        </a:rPr>
                        <a:t>Manages tutoring session requests, schedules, and status tracking throughout the booking lifecycle from creation to completion.</a:t>
                      </a:r>
                    </a:p>
                    <a:p>
                      <a:pPr>
                        <a:buNone/>
                      </a:pPr>
                      <a:r>
                        <a:rPr lang="en-US" sz="1600" b="1" dirty="0"/>
                        <a:t>Usage in App:</a:t>
                      </a:r>
                      <a:r>
                        <a:rPr lang="en-US" sz="1600" dirty="0"/>
                        <a:t> </a:t>
                      </a:r>
                    </a:p>
                    <a:p>
                      <a:r>
                        <a:rPr lang="en-US" altLang="zh-CN" sz="1600" b="0" i="0" kern="1200" dirty="0">
                          <a:solidFill>
                            <a:schemeClr val="tx1"/>
                          </a:solidFill>
                          <a:effectLst/>
                          <a:latin typeface="+mn-lt"/>
                          <a:ea typeface="+mn-ea"/>
                          <a:cs typeface="+mn-cs"/>
                        </a:rPr>
                        <a:t>Central model for booking workflow. Handles session creation, confirmation, scheduling, video room generation, and status management. Displayed in My Bookings, Sessions, and Dashboard.</a:t>
                      </a:r>
                    </a:p>
                  </a:txBody>
                  <a:tcPr anchor="ctr">
                    <a:solidFill>
                      <a:schemeClr val="bg1"/>
                    </a:solidFill>
                  </a:tcPr>
                </a:tc>
                <a:tc hMerge="1">
                  <a:txBody>
                    <a:bodyPr/>
                    <a:lstStyle/>
                    <a:p>
                      <a:endParaRPr lang="en-US"/>
                    </a:p>
                  </a:txBody>
                  <a:tcPr/>
                </a:tc>
                <a:tc hMerge="1">
                  <a:txBody>
                    <a:bodyPr/>
                    <a:lstStyle/>
                    <a:p>
                      <a:pPr>
                        <a:buNone/>
                      </a:pPr>
                      <a:endParaRPr lang="en-US" b="1" dirty="0"/>
                    </a:p>
                  </a:txBody>
                  <a:tcPr anchor="ctr"/>
                </a:tc>
                <a:extLst>
                  <a:ext uri="{0D108BD9-81ED-4DB2-BD59-A6C34878D82A}">
                    <a16:rowId xmlns:a16="http://schemas.microsoft.com/office/drawing/2014/main" val="2947018476"/>
                  </a:ext>
                </a:extLst>
              </a:tr>
              <a:tr h="182880">
                <a:tc>
                  <a:txBody>
                    <a:bodyPr/>
                    <a:lstStyle/>
                    <a:p>
                      <a:pPr>
                        <a:buNone/>
                      </a:pPr>
                      <a:r>
                        <a:rPr lang="en-US" sz="1600" b="1" dirty="0"/>
                        <a:t>Attribute</a:t>
                      </a:r>
                    </a:p>
                  </a:txBody>
                  <a:tcPr anchor="ctr">
                    <a:solidFill>
                      <a:schemeClr val="bg1"/>
                    </a:solidFill>
                  </a:tcPr>
                </a:tc>
                <a:tc>
                  <a:txBody>
                    <a:bodyPr/>
                    <a:lstStyle/>
                    <a:p>
                      <a:pPr>
                        <a:buNone/>
                      </a:pPr>
                      <a:r>
                        <a:rPr lang="en-US" sz="1600" b="1" dirty="0"/>
                        <a:t>Type</a:t>
                      </a:r>
                    </a:p>
                  </a:txBody>
                  <a:tcPr anchor="ctr">
                    <a:solidFill>
                      <a:schemeClr val="bg1"/>
                    </a:solidFill>
                  </a:tcPr>
                </a:tc>
                <a:tc>
                  <a:txBody>
                    <a:bodyPr/>
                    <a:lstStyle/>
                    <a:p>
                      <a:pPr>
                        <a:buNone/>
                      </a:pPr>
                      <a:r>
                        <a:rPr lang="en-US" sz="1600" b="1" dirty="0"/>
                        <a:t>Sample Value</a:t>
                      </a:r>
                    </a:p>
                  </a:txBody>
                  <a:tcPr anchor="ctr">
                    <a:solidFill>
                      <a:schemeClr val="bg1"/>
                    </a:solidFill>
                  </a:tcPr>
                </a:tc>
                <a:tc>
                  <a:txBody>
                    <a:bodyPr/>
                    <a:lstStyle/>
                    <a:p>
                      <a:pPr>
                        <a:buNone/>
                      </a:pPr>
                      <a:r>
                        <a:rPr lang="en-US" sz="1600" b="1" dirty="0"/>
                        <a:t>Description</a:t>
                      </a:r>
                    </a:p>
                  </a:txBody>
                  <a:tcPr anchor="ctr">
                    <a:solidFill>
                      <a:schemeClr val="bg1"/>
                    </a:solidFill>
                  </a:tcPr>
                </a:tc>
                <a:extLst>
                  <a:ext uri="{0D108BD9-81ED-4DB2-BD59-A6C34878D82A}">
                    <a16:rowId xmlns:a16="http://schemas.microsoft.com/office/drawing/2014/main" val="70020745"/>
                  </a:ext>
                </a:extLst>
              </a:tr>
              <a:tr h="0">
                <a:tc>
                  <a:txBody>
                    <a:bodyPr/>
                    <a:lstStyle/>
                    <a:p>
                      <a:r>
                        <a:rPr lang="en-US" sz="1600">
                          <a:effectLst/>
                        </a:rPr>
                        <a:t>_id</a:t>
                      </a:r>
                    </a:p>
                  </a:txBody>
                  <a:tcPr marL="63500" marR="63500" marT="31750" marB="31750" anchor="ctr">
                    <a:solidFill>
                      <a:schemeClr val="bg1"/>
                    </a:solidFill>
                  </a:tcPr>
                </a:tc>
                <a:tc>
                  <a:txBody>
                    <a:bodyPr/>
                    <a:lstStyle/>
                    <a:p>
                      <a:r>
                        <a:rPr lang="en-US" sz="1600">
                          <a:effectLst/>
                        </a:rPr>
                        <a:t>ObjectId</a:t>
                      </a:r>
                    </a:p>
                  </a:txBody>
                  <a:tcPr marL="63500" marR="63500" marT="31750" marB="31750" anchor="ctr">
                    <a:solidFill>
                      <a:schemeClr val="bg1"/>
                    </a:solidFill>
                  </a:tcPr>
                </a:tc>
                <a:tc>
                  <a:txBody>
                    <a:bodyPr/>
                    <a:lstStyle/>
                    <a:p>
                      <a:r>
                        <a:rPr lang="en-US" sz="1600">
                          <a:effectLst/>
                        </a:rPr>
                        <a:t>booking_001</a:t>
                      </a:r>
                    </a:p>
                  </a:txBody>
                  <a:tcPr marL="63500" marR="63500" marT="31750" marB="31750" anchor="ctr">
                    <a:solidFill>
                      <a:schemeClr val="bg1"/>
                    </a:solidFill>
                  </a:tcPr>
                </a:tc>
                <a:tc>
                  <a:txBody>
                    <a:bodyPr/>
                    <a:lstStyle/>
                    <a:p>
                      <a:r>
                        <a:rPr lang="en-US" sz="1600">
                          <a:effectLst/>
                        </a:rPr>
                        <a:t>Unique identifier for each booking.</a:t>
                      </a:r>
                    </a:p>
                  </a:txBody>
                  <a:tcPr marL="63500" marR="63500" marT="31750" marB="31750" anchor="ctr">
                    <a:solidFill>
                      <a:schemeClr val="bg1"/>
                    </a:solidFill>
                  </a:tcPr>
                </a:tc>
                <a:extLst>
                  <a:ext uri="{0D108BD9-81ED-4DB2-BD59-A6C34878D82A}">
                    <a16:rowId xmlns:a16="http://schemas.microsoft.com/office/drawing/2014/main" val="2707098043"/>
                  </a:ext>
                </a:extLst>
              </a:tr>
              <a:tr h="0">
                <a:tc>
                  <a:txBody>
                    <a:bodyPr/>
                    <a:lstStyle/>
                    <a:p>
                      <a:r>
                        <a:rPr lang="en-US" sz="1600">
                          <a:effectLst/>
                        </a:rPr>
                        <a:t>studentId</a:t>
                      </a:r>
                    </a:p>
                  </a:txBody>
                  <a:tcPr marL="63500" marR="63500" marT="31750" marB="31750" anchor="ctr">
                    <a:solidFill>
                      <a:schemeClr val="bg1"/>
                    </a:solidFill>
                  </a:tcPr>
                </a:tc>
                <a:tc>
                  <a:txBody>
                    <a:bodyPr/>
                    <a:lstStyle/>
                    <a:p>
                      <a:r>
                        <a:rPr lang="en-US" sz="1600">
                          <a:effectLst/>
                        </a:rPr>
                        <a:t>ObjectId (ref: 'User')</a:t>
                      </a:r>
                    </a:p>
                  </a:txBody>
                  <a:tcPr marL="63500" marR="63500" marT="31750" marB="31750" anchor="ctr">
                    <a:solidFill>
                      <a:schemeClr val="bg1"/>
                    </a:solidFill>
                  </a:tcPr>
                </a:tc>
                <a:tc>
                  <a:txBody>
                    <a:bodyPr/>
                    <a:lstStyle/>
                    <a:p>
                      <a:r>
                        <a:rPr lang="en-US" sz="1600">
                          <a:effectLst/>
                        </a:rPr>
                        <a:t>user_001</a:t>
                      </a:r>
                    </a:p>
                  </a:txBody>
                  <a:tcPr marL="63500" marR="63500" marT="31750" marB="31750" anchor="ctr">
                    <a:solidFill>
                      <a:schemeClr val="bg1"/>
                    </a:solidFill>
                  </a:tcPr>
                </a:tc>
                <a:tc>
                  <a:txBody>
                    <a:bodyPr/>
                    <a:lstStyle/>
                    <a:p>
                      <a:r>
                        <a:rPr lang="en-US" sz="1600" dirty="0">
                          <a:effectLst/>
                        </a:rPr>
                        <a:t>Reference to User model of the student making the booking.</a:t>
                      </a:r>
                    </a:p>
                  </a:txBody>
                  <a:tcPr marL="63500" marR="63500" marT="31750" marB="31750" anchor="ctr">
                    <a:solidFill>
                      <a:schemeClr val="bg1"/>
                    </a:solidFill>
                  </a:tcPr>
                </a:tc>
                <a:extLst>
                  <a:ext uri="{0D108BD9-81ED-4DB2-BD59-A6C34878D82A}">
                    <a16:rowId xmlns:a16="http://schemas.microsoft.com/office/drawing/2014/main" val="1840665485"/>
                  </a:ext>
                </a:extLst>
              </a:tr>
              <a:tr h="0">
                <a:tc>
                  <a:txBody>
                    <a:bodyPr/>
                    <a:lstStyle/>
                    <a:p>
                      <a:r>
                        <a:rPr lang="en-US" sz="1600">
                          <a:effectLst/>
                        </a:rPr>
                        <a:t>tutorId</a:t>
                      </a:r>
                    </a:p>
                  </a:txBody>
                  <a:tcPr marL="63500" marR="63500" marT="31750" marB="31750" anchor="ctr">
                    <a:solidFill>
                      <a:schemeClr val="bg1"/>
                    </a:solidFill>
                  </a:tcPr>
                </a:tc>
                <a:tc>
                  <a:txBody>
                    <a:bodyPr/>
                    <a:lstStyle/>
                    <a:p>
                      <a:r>
                        <a:rPr lang="en-US" sz="1600">
                          <a:effectLst/>
                        </a:rPr>
                        <a:t>ObjectId (ref: 'Tutor')</a:t>
                      </a:r>
                    </a:p>
                  </a:txBody>
                  <a:tcPr marL="63500" marR="63500" marT="31750" marB="31750" anchor="ctr">
                    <a:solidFill>
                      <a:schemeClr val="bg1"/>
                    </a:solidFill>
                  </a:tcPr>
                </a:tc>
                <a:tc>
                  <a:txBody>
                    <a:bodyPr/>
                    <a:lstStyle/>
                    <a:p>
                      <a:r>
                        <a:rPr lang="en-US" sz="1600">
                          <a:effectLst/>
                        </a:rPr>
                        <a:t>tutor_001</a:t>
                      </a:r>
                    </a:p>
                  </a:txBody>
                  <a:tcPr marL="63500" marR="63500" marT="31750" marB="31750" anchor="ctr">
                    <a:solidFill>
                      <a:schemeClr val="bg1"/>
                    </a:solidFill>
                  </a:tcPr>
                </a:tc>
                <a:tc>
                  <a:txBody>
                    <a:bodyPr/>
                    <a:lstStyle/>
                    <a:p>
                      <a:r>
                        <a:rPr lang="en-US" sz="1600">
                          <a:effectLst/>
                        </a:rPr>
                        <a:t>Reference to Tutor model of the tutor being booked.</a:t>
                      </a:r>
                    </a:p>
                  </a:txBody>
                  <a:tcPr marL="63500" marR="63500" marT="31750" marB="31750" anchor="ctr">
                    <a:solidFill>
                      <a:schemeClr val="bg1"/>
                    </a:solidFill>
                  </a:tcPr>
                </a:tc>
                <a:extLst>
                  <a:ext uri="{0D108BD9-81ED-4DB2-BD59-A6C34878D82A}">
                    <a16:rowId xmlns:a16="http://schemas.microsoft.com/office/drawing/2014/main" val="4200220290"/>
                  </a:ext>
                </a:extLst>
              </a:tr>
              <a:tr h="0">
                <a:tc>
                  <a:txBody>
                    <a:bodyPr/>
                    <a:lstStyle/>
                    <a:p>
                      <a:r>
                        <a:rPr lang="en-US" sz="1600">
                          <a:effectLst/>
                        </a:rPr>
                        <a:t>subject</a:t>
                      </a:r>
                    </a:p>
                  </a:txBody>
                  <a:tcPr marL="63500" marR="63500" marT="31750" marB="31750" anchor="ctr">
                    <a:solidFill>
                      <a:schemeClr val="bg1"/>
                    </a:solidFill>
                  </a:tcPr>
                </a:tc>
                <a:tc>
                  <a:txBody>
                    <a:bodyPr/>
                    <a:lstStyle/>
                    <a:p>
                      <a:r>
                        <a:rPr lang="en-US" sz="1600">
                          <a:effectLst/>
                        </a:rPr>
                        <a:t>String</a:t>
                      </a:r>
                    </a:p>
                  </a:txBody>
                  <a:tcPr marL="63500" marR="63500" marT="31750" marB="31750" anchor="ctr">
                    <a:solidFill>
                      <a:schemeClr val="bg1"/>
                    </a:solidFill>
                  </a:tcPr>
                </a:tc>
                <a:tc>
                  <a:txBody>
                    <a:bodyPr/>
                    <a:lstStyle/>
                    <a:p>
                      <a:r>
                        <a:rPr lang="en-US" sz="1600">
                          <a:effectLst/>
                        </a:rPr>
                        <a:t>DBAV</a:t>
                      </a:r>
                    </a:p>
                  </a:txBody>
                  <a:tcPr marL="63500" marR="63500" marT="31750" marB="31750" anchor="ctr">
                    <a:solidFill>
                      <a:schemeClr val="bg1"/>
                    </a:solidFill>
                  </a:tcPr>
                </a:tc>
                <a:tc>
                  <a:txBody>
                    <a:bodyPr/>
                    <a:lstStyle/>
                    <a:p>
                      <a:r>
                        <a:rPr lang="en-US" sz="1600" dirty="0">
                          <a:effectLst/>
                        </a:rPr>
                        <a:t>Course code or subject name for the session. Required field.</a:t>
                      </a:r>
                    </a:p>
                  </a:txBody>
                  <a:tcPr marL="63500" marR="63500" marT="31750" marB="31750" anchor="ctr">
                    <a:solidFill>
                      <a:schemeClr val="bg1"/>
                    </a:solidFill>
                  </a:tcPr>
                </a:tc>
                <a:extLst>
                  <a:ext uri="{0D108BD9-81ED-4DB2-BD59-A6C34878D82A}">
                    <a16:rowId xmlns:a16="http://schemas.microsoft.com/office/drawing/2014/main" val="533489075"/>
                  </a:ext>
                </a:extLst>
              </a:tr>
              <a:tr h="0">
                <a:tc>
                  <a:txBody>
                    <a:bodyPr/>
                    <a:lstStyle/>
                    <a:p>
                      <a:r>
                        <a:rPr lang="en-US" sz="1600">
                          <a:effectLst/>
                        </a:rPr>
                        <a:t>date</a:t>
                      </a:r>
                    </a:p>
                  </a:txBody>
                  <a:tcPr marL="63500" marR="63500" marT="31750" marB="31750" anchor="ctr">
                    <a:solidFill>
                      <a:schemeClr val="bg1"/>
                    </a:solidFill>
                  </a:tcPr>
                </a:tc>
                <a:tc>
                  <a:txBody>
                    <a:bodyPr/>
                    <a:lstStyle/>
                    <a:p>
                      <a:r>
                        <a:rPr lang="en-US" sz="1600">
                          <a:effectLst/>
                        </a:rPr>
                        <a:t>Date</a:t>
                      </a:r>
                    </a:p>
                  </a:txBody>
                  <a:tcPr marL="63500" marR="63500" marT="31750" marB="31750" anchor="ctr">
                    <a:solidFill>
                      <a:schemeClr val="bg1"/>
                    </a:solidFill>
                  </a:tcPr>
                </a:tc>
                <a:tc>
                  <a:txBody>
                    <a:bodyPr/>
                    <a:lstStyle/>
                    <a:p>
                      <a:r>
                        <a:rPr lang="en-US" sz="1600">
                          <a:effectLst/>
                        </a:rPr>
                        <a:t>2025-11-15T14:00:00Z</a:t>
                      </a:r>
                    </a:p>
                  </a:txBody>
                  <a:tcPr marL="63500" marR="63500" marT="31750" marB="31750" anchor="ctr">
                    <a:solidFill>
                      <a:schemeClr val="bg1"/>
                    </a:solidFill>
                  </a:tcPr>
                </a:tc>
                <a:tc>
                  <a:txBody>
                    <a:bodyPr/>
                    <a:lstStyle/>
                    <a:p>
                      <a:r>
                        <a:rPr lang="en-US" sz="1600">
                          <a:effectLst/>
                        </a:rPr>
                        <a:t>Session start date and time. Used for scheduling and reminders.</a:t>
                      </a:r>
                    </a:p>
                  </a:txBody>
                  <a:tcPr marL="63500" marR="63500" marT="31750" marB="31750" anchor="ctr">
                    <a:solidFill>
                      <a:schemeClr val="bg1"/>
                    </a:solidFill>
                  </a:tcPr>
                </a:tc>
                <a:extLst>
                  <a:ext uri="{0D108BD9-81ED-4DB2-BD59-A6C34878D82A}">
                    <a16:rowId xmlns:a16="http://schemas.microsoft.com/office/drawing/2014/main" val="895377019"/>
                  </a:ext>
                </a:extLst>
              </a:tr>
              <a:tr h="0">
                <a:tc>
                  <a:txBody>
                    <a:bodyPr/>
                    <a:lstStyle/>
                    <a:p>
                      <a:r>
                        <a:rPr lang="en-US" sz="1600">
                          <a:effectLst/>
                        </a:rPr>
                        <a:t>timeSlot</a:t>
                      </a:r>
                    </a:p>
                  </a:txBody>
                  <a:tcPr marL="63500" marR="63500" marT="31750" marB="31750" anchor="ctr">
                    <a:solidFill>
                      <a:schemeClr val="bg1"/>
                    </a:solidFill>
                  </a:tcPr>
                </a:tc>
                <a:tc>
                  <a:txBody>
                    <a:bodyPr/>
                    <a:lstStyle/>
                    <a:p>
                      <a:r>
                        <a:rPr lang="en-US" sz="1600" dirty="0">
                          <a:effectLst/>
                        </a:rPr>
                        <a:t>String</a:t>
                      </a:r>
                    </a:p>
                  </a:txBody>
                  <a:tcPr marL="63500" marR="63500" marT="31750" marB="31750" anchor="ctr">
                    <a:solidFill>
                      <a:schemeClr val="bg1"/>
                    </a:solidFill>
                  </a:tcPr>
                </a:tc>
                <a:tc>
                  <a:txBody>
                    <a:bodyPr/>
                    <a:lstStyle/>
                    <a:p>
                      <a:r>
                        <a:rPr lang="en-US" altLang="zh-CN" sz="1600" dirty="0">
                          <a:effectLst/>
                        </a:rPr>
                        <a:t>14:00-15:00</a:t>
                      </a:r>
                    </a:p>
                  </a:txBody>
                  <a:tcPr marL="63500" marR="63500" marT="31750" marB="31750" anchor="ctr">
                    <a:solidFill>
                      <a:schemeClr val="bg1"/>
                    </a:solidFill>
                  </a:tcPr>
                </a:tc>
                <a:tc>
                  <a:txBody>
                    <a:bodyPr/>
                    <a:lstStyle/>
                    <a:p>
                      <a:r>
                        <a:rPr lang="en-US" sz="1600" dirty="0">
                          <a:effectLst/>
                        </a:rPr>
                        <a:t>Human-readable time range displayed in booking cards.</a:t>
                      </a:r>
                    </a:p>
                  </a:txBody>
                  <a:tcPr marL="63500" marR="63500" marT="31750" marB="31750" anchor="ctr">
                    <a:solidFill>
                      <a:schemeClr val="bg1"/>
                    </a:solidFill>
                  </a:tcPr>
                </a:tc>
                <a:extLst>
                  <a:ext uri="{0D108BD9-81ED-4DB2-BD59-A6C34878D82A}">
                    <a16:rowId xmlns:a16="http://schemas.microsoft.com/office/drawing/2014/main" val="884729469"/>
                  </a:ext>
                </a:extLst>
              </a:tr>
              <a:tr h="0">
                <a:tc>
                  <a:txBody>
                    <a:bodyPr/>
                    <a:lstStyle/>
                    <a:p>
                      <a:r>
                        <a:rPr lang="en-US" dirty="0">
                          <a:effectLst/>
                        </a:rPr>
                        <a:t>duration</a:t>
                      </a:r>
                    </a:p>
                  </a:txBody>
                  <a:tcPr marL="63500" marR="63500" marT="31750" marB="31750" anchor="ctr">
                    <a:solidFill>
                      <a:schemeClr val="bg1"/>
                    </a:solidFill>
                  </a:tcPr>
                </a:tc>
                <a:tc>
                  <a:txBody>
                    <a:bodyPr/>
                    <a:lstStyle/>
                    <a:p>
                      <a:r>
                        <a:rPr lang="en-US">
                          <a:effectLst/>
                        </a:rPr>
                        <a:t>Number</a:t>
                      </a:r>
                    </a:p>
                  </a:txBody>
                  <a:tcPr marL="63500" marR="63500" marT="31750" marB="31750" anchor="ctr">
                    <a:solidFill>
                      <a:schemeClr val="bg1"/>
                    </a:solidFill>
                  </a:tcPr>
                </a:tc>
                <a:tc>
                  <a:txBody>
                    <a:bodyPr/>
                    <a:lstStyle/>
                    <a:p>
                      <a:r>
                        <a:rPr lang="en-US" altLang="zh-CN">
                          <a:effectLst/>
                        </a:rPr>
                        <a:t>1</a:t>
                      </a:r>
                    </a:p>
                  </a:txBody>
                  <a:tcPr marL="63500" marR="63500" marT="31750" marB="31750" anchor="ctr">
                    <a:solidFill>
                      <a:schemeClr val="bg1"/>
                    </a:solidFill>
                  </a:tcPr>
                </a:tc>
                <a:tc>
                  <a:txBody>
                    <a:bodyPr/>
                    <a:lstStyle/>
                    <a:p>
                      <a:r>
                        <a:rPr lang="en-US" dirty="0">
                          <a:effectLst/>
                        </a:rPr>
                        <a:t>Session length in hours (0.5, 1, 1.5, 2, or 3).</a:t>
                      </a:r>
                    </a:p>
                  </a:txBody>
                  <a:tcPr marL="63500" marR="63500" marT="31750" marB="31750" anchor="ctr">
                    <a:solidFill>
                      <a:schemeClr val="bg1"/>
                    </a:solidFill>
                  </a:tcPr>
                </a:tc>
                <a:extLst>
                  <a:ext uri="{0D108BD9-81ED-4DB2-BD59-A6C34878D82A}">
                    <a16:rowId xmlns:a16="http://schemas.microsoft.com/office/drawing/2014/main" val="2174622589"/>
                  </a:ext>
                </a:extLst>
              </a:tr>
            </a:tbl>
          </a:graphicData>
        </a:graphic>
      </p:graphicFrame>
    </p:spTree>
    <p:extLst>
      <p:ext uri="{BB962C8B-B14F-4D97-AF65-F5344CB8AC3E}">
        <p14:creationId xmlns:p14="http://schemas.microsoft.com/office/powerpoint/2010/main" val="23888284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569D3-88C2-7438-B0DF-6638C82722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C36C3C-AFF1-6927-51AF-C23B8903C549}"/>
              </a:ext>
            </a:extLst>
          </p:cNvPr>
          <p:cNvSpPr>
            <a:spLocks noGrp="1"/>
          </p:cNvSpPr>
          <p:nvPr>
            <p:ph type="title"/>
          </p:nvPr>
        </p:nvSpPr>
        <p:spPr>
          <a:xfrm>
            <a:off x="710063" y="0"/>
            <a:ext cx="10515600" cy="1325563"/>
          </a:xfrm>
        </p:spPr>
        <p:txBody>
          <a:bodyPr/>
          <a:lstStyle/>
          <a:p>
            <a:pPr lvl="0"/>
            <a:r>
              <a:rPr lang="en-US" b="1" dirty="0"/>
              <a:t>Data Modeling - </a:t>
            </a:r>
            <a:r>
              <a:rPr lang="en-US" altLang="zh-CN" b="1" dirty="0"/>
              <a:t>Booking</a:t>
            </a:r>
            <a:endParaRPr lang="en-US" dirty="0"/>
          </a:p>
        </p:txBody>
      </p:sp>
      <p:graphicFrame>
        <p:nvGraphicFramePr>
          <p:cNvPr id="6" name="Table 5">
            <a:extLst>
              <a:ext uri="{FF2B5EF4-FFF2-40B4-BE49-F238E27FC236}">
                <a16:creationId xmlns:a16="http://schemas.microsoft.com/office/drawing/2014/main" id="{5F0F09B9-A043-B109-945E-953FFAEE2AFA}"/>
              </a:ext>
            </a:extLst>
          </p:cNvPr>
          <p:cNvGraphicFramePr>
            <a:graphicFrameLocks noGrp="1"/>
          </p:cNvGraphicFramePr>
          <p:nvPr>
            <p:extLst>
              <p:ext uri="{D42A27DB-BD31-4B8C-83A1-F6EECF244321}">
                <p14:modId xmlns:p14="http://schemas.microsoft.com/office/powerpoint/2010/main" val="3011045455"/>
              </p:ext>
            </p:extLst>
          </p:nvPr>
        </p:nvGraphicFramePr>
        <p:xfrm>
          <a:off x="260350" y="1080628"/>
          <a:ext cx="11874501" cy="5260340"/>
        </p:xfrm>
        <a:graphic>
          <a:graphicData uri="http://schemas.openxmlformats.org/drawingml/2006/table">
            <a:tbl>
              <a:tblPr>
                <a:tableStyleId>{5940675A-B579-460E-94D1-54222C63F5DA}</a:tableStyleId>
              </a:tblPr>
              <a:tblGrid>
                <a:gridCol w="2889250">
                  <a:extLst>
                    <a:ext uri="{9D8B030D-6E8A-4147-A177-3AD203B41FA5}">
                      <a16:colId xmlns:a16="http://schemas.microsoft.com/office/drawing/2014/main" val="402914341"/>
                    </a:ext>
                  </a:extLst>
                </a:gridCol>
                <a:gridCol w="1619250">
                  <a:extLst>
                    <a:ext uri="{9D8B030D-6E8A-4147-A177-3AD203B41FA5}">
                      <a16:colId xmlns:a16="http://schemas.microsoft.com/office/drawing/2014/main" val="2214403198"/>
                    </a:ext>
                  </a:extLst>
                </a:gridCol>
                <a:gridCol w="2382484">
                  <a:extLst>
                    <a:ext uri="{9D8B030D-6E8A-4147-A177-3AD203B41FA5}">
                      <a16:colId xmlns:a16="http://schemas.microsoft.com/office/drawing/2014/main" val="4128410810"/>
                    </a:ext>
                  </a:extLst>
                </a:gridCol>
                <a:gridCol w="4983517">
                  <a:extLst>
                    <a:ext uri="{9D8B030D-6E8A-4147-A177-3AD203B41FA5}">
                      <a16:colId xmlns:a16="http://schemas.microsoft.com/office/drawing/2014/main" val="1825415284"/>
                    </a:ext>
                  </a:extLst>
                </a:gridCol>
              </a:tblGrid>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Table: </a:t>
                      </a:r>
                      <a:r>
                        <a:rPr lang="en-US" altLang="zh-CN" sz="1600" b="1" i="0" kern="1200" dirty="0">
                          <a:solidFill>
                            <a:schemeClr val="tx1"/>
                          </a:solidFill>
                          <a:effectLst/>
                          <a:latin typeface="+mn-lt"/>
                          <a:ea typeface="+mn-ea"/>
                          <a:cs typeface="+mn-cs"/>
                        </a:rPr>
                        <a:t>Booking</a:t>
                      </a:r>
                    </a:p>
                    <a:p>
                      <a:pPr>
                        <a:buNone/>
                      </a:pPr>
                      <a:endParaRPr lang="en-US" sz="1600" b="0" dirty="0"/>
                    </a:p>
                  </a:txBody>
                  <a:tcPr anchor="ctr">
                    <a:solidFill>
                      <a:schemeClr val="bg1"/>
                    </a:solidFill>
                  </a:tcPr>
                </a:tc>
                <a:tc gridSpan="3">
                  <a:txBody>
                    <a:bodyPr/>
                    <a:lstStyle/>
                    <a:p>
                      <a:pPr>
                        <a:buNone/>
                      </a:pPr>
                      <a:r>
                        <a:rPr lang="en-US" sz="1600" b="1" dirty="0"/>
                        <a:t>Description: </a:t>
                      </a:r>
                    </a:p>
                    <a:p>
                      <a:pPr>
                        <a:buNone/>
                      </a:pPr>
                      <a:r>
                        <a:rPr lang="en-US" altLang="zh-CN" sz="1600" b="0" i="0" kern="1200" dirty="0">
                          <a:solidFill>
                            <a:schemeClr val="tx1"/>
                          </a:solidFill>
                          <a:effectLst/>
                          <a:latin typeface="+mn-lt"/>
                          <a:ea typeface="+mn-ea"/>
                          <a:cs typeface="+mn-cs"/>
                        </a:rPr>
                        <a:t>Manages tutoring session requests, schedules, and status tracking throughout the booking lifecycle from creation to completion.</a:t>
                      </a:r>
                    </a:p>
                    <a:p>
                      <a:pPr>
                        <a:buNone/>
                      </a:pPr>
                      <a:r>
                        <a:rPr lang="en-US" sz="1600" b="1" dirty="0"/>
                        <a:t>Usage in App:</a:t>
                      </a:r>
                      <a:r>
                        <a:rPr lang="en-US" sz="1600" dirty="0"/>
                        <a:t> </a:t>
                      </a:r>
                    </a:p>
                    <a:p>
                      <a:r>
                        <a:rPr lang="en-US" altLang="zh-CN" sz="1600" b="0" i="0" kern="1200" dirty="0">
                          <a:solidFill>
                            <a:schemeClr val="tx1"/>
                          </a:solidFill>
                          <a:effectLst/>
                          <a:latin typeface="+mn-lt"/>
                          <a:ea typeface="+mn-ea"/>
                          <a:cs typeface="+mn-cs"/>
                        </a:rPr>
                        <a:t>Central model for booking workflow. Handles session creation, confirmation, scheduling, video room generation, and status management. Displayed in My Bookings, Sessions, and Dashboard.</a:t>
                      </a:r>
                    </a:p>
                  </a:txBody>
                  <a:tcPr anchor="ctr">
                    <a:solidFill>
                      <a:schemeClr val="bg1"/>
                    </a:solidFill>
                  </a:tcPr>
                </a:tc>
                <a:tc hMerge="1">
                  <a:txBody>
                    <a:bodyPr/>
                    <a:lstStyle/>
                    <a:p>
                      <a:endParaRPr lang="en-US"/>
                    </a:p>
                  </a:txBody>
                  <a:tcPr/>
                </a:tc>
                <a:tc hMerge="1">
                  <a:txBody>
                    <a:bodyPr/>
                    <a:lstStyle/>
                    <a:p>
                      <a:pPr>
                        <a:buNone/>
                      </a:pPr>
                      <a:endParaRPr lang="en-US" b="1" dirty="0"/>
                    </a:p>
                  </a:txBody>
                  <a:tcPr anchor="ctr"/>
                </a:tc>
                <a:extLst>
                  <a:ext uri="{0D108BD9-81ED-4DB2-BD59-A6C34878D82A}">
                    <a16:rowId xmlns:a16="http://schemas.microsoft.com/office/drawing/2014/main" val="2947018476"/>
                  </a:ext>
                </a:extLst>
              </a:tr>
              <a:tr h="182880">
                <a:tc>
                  <a:txBody>
                    <a:bodyPr/>
                    <a:lstStyle/>
                    <a:p>
                      <a:pPr>
                        <a:buNone/>
                      </a:pPr>
                      <a:r>
                        <a:rPr lang="en-US" sz="1600" b="1" dirty="0"/>
                        <a:t>Attribute</a:t>
                      </a:r>
                    </a:p>
                  </a:txBody>
                  <a:tcPr anchor="ctr">
                    <a:solidFill>
                      <a:schemeClr val="bg1"/>
                    </a:solidFill>
                  </a:tcPr>
                </a:tc>
                <a:tc>
                  <a:txBody>
                    <a:bodyPr/>
                    <a:lstStyle/>
                    <a:p>
                      <a:pPr>
                        <a:buNone/>
                      </a:pPr>
                      <a:r>
                        <a:rPr lang="en-US" sz="1600" b="1" dirty="0"/>
                        <a:t>Type</a:t>
                      </a:r>
                    </a:p>
                  </a:txBody>
                  <a:tcPr anchor="ctr">
                    <a:solidFill>
                      <a:schemeClr val="bg1"/>
                    </a:solidFill>
                  </a:tcPr>
                </a:tc>
                <a:tc>
                  <a:txBody>
                    <a:bodyPr/>
                    <a:lstStyle/>
                    <a:p>
                      <a:pPr>
                        <a:buNone/>
                      </a:pPr>
                      <a:r>
                        <a:rPr lang="en-US" sz="1600" b="1" dirty="0"/>
                        <a:t>Sample Value</a:t>
                      </a:r>
                    </a:p>
                  </a:txBody>
                  <a:tcPr anchor="ctr">
                    <a:solidFill>
                      <a:schemeClr val="bg1"/>
                    </a:solidFill>
                  </a:tcPr>
                </a:tc>
                <a:tc>
                  <a:txBody>
                    <a:bodyPr/>
                    <a:lstStyle/>
                    <a:p>
                      <a:pPr>
                        <a:buNone/>
                      </a:pPr>
                      <a:r>
                        <a:rPr lang="en-US" sz="1600" b="1" dirty="0"/>
                        <a:t>Description</a:t>
                      </a:r>
                    </a:p>
                  </a:txBody>
                  <a:tcPr anchor="ctr">
                    <a:solidFill>
                      <a:schemeClr val="bg1"/>
                    </a:solidFill>
                  </a:tcPr>
                </a:tc>
                <a:extLst>
                  <a:ext uri="{0D108BD9-81ED-4DB2-BD59-A6C34878D82A}">
                    <a16:rowId xmlns:a16="http://schemas.microsoft.com/office/drawing/2014/main" val="70020745"/>
                  </a:ext>
                </a:extLst>
              </a:tr>
              <a:tr h="0">
                <a:tc>
                  <a:txBody>
                    <a:bodyPr/>
                    <a:lstStyle/>
                    <a:p>
                      <a:r>
                        <a:rPr lang="en-US" sz="1600">
                          <a:effectLst/>
                        </a:rPr>
                        <a:t>location</a:t>
                      </a:r>
                    </a:p>
                  </a:txBody>
                  <a:tcPr marL="63500" marR="63500" marT="31750" marB="31750" anchor="ctr">
                    <a:solidFill>
                      <a:schemeClr val="bg1"/>
                    </a:solidFill>
                  </a:tcPr>
                </a:tc>
                <a:tc>
                  <a:txBody>
                    <a:bodyPr/>
                    <a:lstStyle/>
                    <a:p>
                      <a:r>
                        <a:rPr lang="en-US" sz="1600">
                          <a:effectLst/>
                        </a:rPr>
                        <a:t>String</a:t>
                      </a:r>
                    </a:p>
                  </a:txBody>
                  <a:tcPr marL="63500" marR="63500" marT="31750" marB="31750" anchor="ctr">
                    <a:solidFill>
                      <a:schemeClr val="bg1"/>
                    </a:solidFill>
                  </a:tcPr>
                </a:tc>
                <a:tc>
                  <a:txBody>
                    <a:bodyPr/>
                    <a:lstStyle/>
                    <a:p>
                      <a:r>
                        <a:rPr lang="en-US" sz="1600">
                          <a:effectLst/>
                        </a:rPr>
                        <a:t>TP Library</a:t>
                      </a:r>
                    </a:p>
                  </a:txBody>
                  <a:tcPr marL="63500" marR="63500" marT="31750" marB="31750" anchor="ctr">
                    <a:solidFill>
                      <a:schemeClr val="bg1"/>
                    </a:solidFill>
                  </a:tcPr>
                </a:tc>
                <a:tc>
                  <a:txBody>
                    <a:bodyPr/>
                    <a:lstStyle/>
                    <a:p>
                      <a:r>
                        <a:rPr lang="en-US" sz="1600">
                          <a:effectLst/>
                        </a:rPr>
                        <a:t>Venue for session. Can be 'Online' or physical location.</a:t>
                      </a:r>
                    </a:p>
                  </a:txBody>
                  <a:tcPr marL="63500" marR="63500" marT="31750" marB="31750" anchor="ctr">
                    <a:solidFill>
                      <a:schemeClr val="bg1"/>
                    </a:solidFill>
                  </a:tcPr>
                </a:tc>
                <a:extLst>
                  <a:ext uri="{0D108BD9-81ED-4DB2-BD59-A6C34878D82A}">
                    <a16:rowId xmlns:a16="http://schemas.microsoft.com/office/drawing/2014/main" val="2707098043"/>
                  </a:ext>
                </a:extLst>
              </a:tr>
              <a:tr h="0">
                <a:tc>
                  <a:txBody>
                    <a:bodyPr/>
                    <a:lstStyle/>
                    <a:p>
                      <a:r>
                        <a:rPr lang="en-US" sz="1600">
                          <a:effectLst/>
                        </a:rPr>
                        <a:t>sessionType</a:t>
                      </a:r>
                    </a:p>
                  </a:txBody>
                  <a:tcPr marL="63500" marR="63500" marT="31750" marB="31750" anchor="ctr">
                    <a:solidFill>
                      <a:schemeClr val="bg1"/>
                    </a:solidFill>
                  </a:tcPr>
                </a:tc>
                <a:tc>
                  <a:txBody>
                    <a:bodyPr/>
                    <a:lstStyle/>
                    <a:p>
                      <a:r>
                        <a:rPr lang="en-US" sz="1600">
                          <a:effectLst/>
                        </a:rPr>
                        <a:t>String</a:t>
                      </a:r>
                    </a:p>
                  </a:txBody>
                  <a:tcPr marL="63500" marR="63500" marT="31750" marB="31750" anchor="ctr">
                    <a:solidFill>
                      <a:schemeClr val="bg1"/>
                    </a:solidFill>
                  </a:tcPr>
                </a:tc>
                <a:tc>
                  <a:txBody>
                    <a:bodyPr/>
                    <a:lstStyle/>
                    <a:p>
                      <a:r>
                        <a:rPr lang="en-US" sz="1600">
                          <a:effectLst/>
                        </a:rPr>
                        <a:t>online</a:t>
                      </a:r>
                    </a:p>
                  </a:txBody>
                  <a:tcPr marL="63500" marR="63500" marT="31750" marB="31750" anchor="ctr">
                    <a:solidFill>
                      <a:schemeClr val="bg1"/>
                    </a:solidFill>
                  </a:tcPr>
                </a:tc>
                <a:tc>
                  <a:txBody>
                    <a:bodyPr/>
                    <a:lstStyle/>
                    <a:p>
                      <a:r>
                        <a:rPr lang="en-US" sz="1600">
                          <a:effectLst/>
                        </a:rPr>
                        <a:t>Type of session: 'online' or 'offline'. Determines if video room is created.</a:t>
                      </a:r>
                    </a:p>
                  </a:txBody>
                  <a:tcPr marL="63500" marR="63500" marT="31750" marB="31750" anchor="ctr">
                    <a:solidFill>
                      <a:schemeClr val="bg1"/>
                    </a:solidFill>
                  </a:tcPr>
                </a:tc>
                <a:extLst>
                  <a:ext uri="{0D108BD9-81ED-4DB2-BD59-A6C34878D82A}">
                    <a16:rowId xmlns:a16="http://schemas.microsoft.com/office/drawing/2014/main" val="1840665485"/>
                  </a:ext>
                </a:extLst>
              </a:tr>
              <a:tr h="0">
                <a:tc>
                  <a:txBody>
                    <a:bodyPr/>
                    <a:lstStyle/>
                    <a:p>
                      <a:r>
                        <a:rPr lang="en-US" sz="1600">
                          <a:effectLst/>
                        </a:rPr>
                        <a:t>meetingRoomId</a:t>
                      </a:r>
                    </a:p>
                  </a:txBody>
                  <a:tcPr marL="63500" marR="63500" marT="31750" marB="31750" anchor="ctr">
                    <a:solidFill>
                      <a:schemeClr val="bg1"/>
                    </a:solidFill>
                  </a:tcPr>
                </a:tc>
                <a:tc>
                  <a:txBody>
                    <a:bodyPr/>
                    <a:lstStyle/>
                    <a:p>
                      <a:r>
                        <a:rPr lang="en-US" sz="1600">
                          <a:effectLst/>
                        </a:rPr>
                        <a:t>String</a:t>
                      </a:r>
                    </a:p>
                  </a:txBody>
                  <a:tcPr marL="63500" marR="63500" marT="31750" marB="31750" anchor="ctr">
                    <a:solidFill>
                      <a:schemeClr val="bg1"/>
                    </a:solidFill>
                  </a:tcPr>
                </a:tc>
                <a:tc>
                  <a:txBody>
                    <a:bodyPr/>
                    <a:lstStyle/>
                    <a:p>
                      <a:r>
                        <a:rPr lang="en-US" sz="1600" dirty="0">
                          <a:effectLst/>
                        </a:rPr>
                        <a:t>tutoring-booking001-1699438401913</a:t>
                      </a:r>
                    </a:p>
                  </a:txBody>
                  <a:tcPr marL="63500" marR="63500" marT="31750" marB="31750" anchor="ctr">
                    <a:solidFill>
                      <a:schemeClr val="bg1"/>
                    </a:solidFill>
                  </a:tcPr>
                </a:tc>
                <a:tc>
                  <a:txBody>
                    <a:bodyPr/>
                    <a:lstStyle/>
                    <a:p>
                      <a:r>
                        <a:rPr lang="en-US" sz="1600">
                          <a:effectLst/>
                        </a:rPr>
                        <a:t>Auto-generated Jitsi room ID for online sessions. Format: tutoring-{bookingId}-{timestamp}.</a:t>
                      </a:r>
                    </a:p>
                  </a:txBody>
                  <a:tcPr marL="63500" marR="63500" marT="31750" marB="31750" anchor="ctr">
                    <a:solidFill>
                      <a:schemeClr val="bg1"/>
                    </a:solidFill>
                  </a:tcPr>
                </a:tc>
                <a:extLst>
                  <a:ext uri="{0D108BD9-81ED-4DB2-BD59-A6C34878D82A}">
                    <a16:rowId xmlns:a16="http://schemas.microsoft.com/office/drawing/2014/main" val="4200220290"/>
                  </a:ext>
                </a:extLst>
              </a:tr>
              <a:tr h="0">
                <a:tc>
                  <a:txBody>
                    <a:bodyPr/>
                    <a:lstStyle/>
                    <a:p>
                      <a:r>
                        <a:rPr lang="en-US" sz="1600">
                          <a:effectLst/>
                        </a:rPr>
                        <a:t>status</a:t>
                      </a:r>
                    </a:p>
                  </a:txBody>
                  <a:tcPr marL="63500" marR="63500" marT="31750" marB="31750" anchor="ctr">
                    <a:solidFill>
                      <a:schemeClr val="bg1"/>
                    </a:solidFill>
                  </a:tcPr>
                </a:tc>
                <a:tc>
                  <a:txBody>
                    <a:bodyPr/>
                    <a:lstStyle/>
                    <a:p>
                      <a:r>
                        <a:rPr lang="en-US" sz="1600">
                          <a:effectLst/>
                        </a:rPr>
                        <a:t>String</a:t>
                      </a:r>
                    </a:p>
                  </a:txBody>
                  <a:tcPr marL="63500" marR="63500" marT="31750" marB="31750" anchor="ctr">
                    <a:solidFill>
                      <a:schemeClr val="bg1"/>
                    </a:solidFill>
                  </a:tcPr>
                </a:tc>
                <a:tc>
                  <a:txBody>
                    <a:bodyPr/>
                    <a:lstStyle/>
                    <a:p>
                      <a:r>
                        <a:rPr lang="en-US" sz="1600">
                          <a:effectLst/>
                        </a:rPr>
                        <a:t>confirmed</a:t>
                      </a:r>
                    </a:p>
                  </a:txBody>
                  <a:tcPr marL="63500" marR="63500" marT="31750" marB="31750" anchor="ctr">
                    <a:solidFill>
                      <a:schemeClr val="bg1"/>
                    </a:solidFill>
                  </a:tcPr>
                </a:tc>
                <a:tc>
                  <a:txBody>
                    <a:bodyPr/>
                    <a:lstStyle/>
                    <a:p>
                      <a:r>
                        <a:rPr lang="en-US" sz="1600">
                          <a:effectLst/>
                        </a:rPr>
                        <a:t>Booking state: 'pending', 'confirmed', 'completed', or 'cancelled'.</a:t>
                      </a:r>
                    </a:p>
                  </a:txBody>
                  <a:tcPr marL="63500" marR="63500" marT="31750" marB="31750" anchor="ctr">
                    <a:solidFill>
                      <a:schemeClr val="bg1"/>
                    </a:solidFill>
                  </a:tcPr>
                </a:tc>
                <a:extLst>
                  <a:ext uri="{0D108BD9-81ED-4DB2-BD59-A6C34878D82A}">
                    <a16:rowId xmlns:a16="http://schemas.microsoft.com/office/drawing/2014/main" val="533489075"/>
                  </a:ext>
                </a:extLst>
              </a:tr>
              <a:tr h="0">
                <a:tc>
                  <a:txBody>
                    <a:bodyPr/>
                    <a:lstStyle/>
                    <a:p>
                      <a:r>
                        <a:rPr lang="en-US" sz="1600">
                          <a:effectLst/>
                        </a:rPr>
                        <a:t>cost</a:t>
                      </a:r>
                    </a:p>
                  </a:txBody>
                  <a:tcPr marL="63500" marR="63500" marT="31750" marB="31750" anchor="ctr">
                    <a:solidFill>
                      <a:schemeClr val="bg1"/>
                    </a:solidFill>
                  </a:tcPr>
                </a:tc>
                <a:tc>
                  <a:txBody>
                    <a:bodyPr/>
                    <a:lstStyle/>
                    <a:p>
                      <a:r>
                        <a:rPr lang="en-US" sz="1600">
                          <a:effectLst/>
                        </a:rPr>
                        <a:t>Number</a:t>
                      </a:r>
                    </a:p>
                  </a:txBody>
                  <a:tcPr marL="63500" marR="63500" marT="31750" marB="31750" anchor="ctr">
                    <a:solidFill>
                      <a:schemeClr val="bg1"/>
                    </a:solidFill>
                  </a:tcPr>
                </a:tc>
                <a:tc>
                  <a:txBody>
                    <a:bodyPr/>
                    <a:lstStyle/>
                    <a:p>
                      <a:r>
                        <a:rPr lang="en-US" altLang="zh-CN" sz="1600">
                          <a:effectLst/>
                        </a:rPr>
                        <a:t>45</a:t>
                      </a:r>
                    </a:p>
                  </a:txBody>
                  <a:tcPr marL="63500" marR="63500" marT="31750" marB="31750" anchor="ctr">
                    <a:solidFill>
                      <a:schemeClr val="bg1"/>
                    </a:solidFill>
                  </a:tcPr>
                </a:tc>
                <a:tc>
                  <a:txBody>
                    <a:bodyPr/>
                    <a:lstStyle/>
                    <a:p>
                      <a:r>
                        <a:rPr lang="en-US" sz="1600">
                          <a:effectLst/>
                        </a:rPr>
                        <a:t>Total credits charged. Calculated as: hourlyRate × duration.</a:t>
                      </a:r>
                    </a:p>
                  </a:txBody>
                  <a:tcPr marL="63500" marR="63500" marT="31750" marB="31750" anchor="ctr">
                    <a:solidFill>
                      <a:schemeClr val="bg1"/>
                    </a:solidFill>
                  </a:tcPr>
                </a:tc>
                <a:extLst>
                  <a:ext uri="{0D108BD9-81ED-4DB2-BD59-A6C34878D82A}">
                    <a16:rowId xmlns:a16="http://schemas.microsoft.com/office/drawing/2014/main" val="895377019"/>
                  </a:ext>
                </a:extLst>
              </a:tr>
              <a:tr h="0">
                <a:tc>
                  <a:txBody>
                    <a:bodyPr/>
                    <a:lstStyle/>
                    <a:p>
                      <a:r>
                        <a:rPr lang="en-US" sz="1600">
                          <a:effectLst/>
                        </a:rPr>
                        <a:t>notes</a:t>
                      </a:r>
                    </a:p>
                  </a:txBody>
                  <a:tcPr marL="63500" marR="63500" marT="31750" marB="31750" anchor="ctr">
                    <a:solidFill>
                      <a:schemeClr val="bg1"/>
                    </a:solidFill>
                  </a:tcPr>
                </a:tc>
                <a:tc>
                  <a:txBody>
                    <a:bodyPr/>
                    <a:lstStyle/>
                    <a:p>
                      <a:r>
                        <a:rPr lang="en-US" sz="1600">
                          <a:effectLst/>
                        </a:rPr>
                        <a:t>String</a:t>
                      </a:r>
                    </a:p>
                  </a:txBody>
                  <a:tcPr marL="63500" marR="63500" marT="31750" marB="31750" anchor="ctr">
                    <a:solidFill>
                      <a:schemeClr val="bg1"/>
                    </a:solidFill>
                  </a:tcPr>
                </a:tc>
                <a:tc>
                  <a:txBody>
                    <a:bodyPr/>
                    <a:lstStyle/>
                    <a:p>
                      <a:r>
                        <a:rPr lang="en-US" sz="1600">
                          <a:effectLst/>
                        </a:rPr>
                        <a:t>Help with database optimization</a:t>
                      </a:r>
                    </a:p>
                  </a:txBody>
                  <a:tcPr marL="63500" marR="63500" marT="31750" marB="31750" anchor="ctr">
                    <a:solidFill>
                      <a:schemeClr val="bg1"/>
                    </a:solidFill>
                  </a:tcPr>
                </a:tc>
                <a:tc>
                  <a:txBody>
                    <a:bodyPr/>
                    <a:lstStyle/>
                    <a:p>
                      <a:r>
                        <a:rPr lang="en-US" sz="1600">
                          <a:effectLst/>
                        </a:rPr>
                        <a:t>Student's learning goals or specific questions for the session.</a:t>
                      </a:r>
                    </a:p>
                  </a:txBody>
                  <a:tcPr marL="63500" marR="63500" marT="31750" marB="31750" anchor="ctr">
                    <a:solidFill>
                      <a:schemeClr val="bg1"/>
                    </a:solidFill>
                  </a:tcPr>
                </a:tc>
                <a:extLst>
                  <a:ext uri="{0D108BD9-81ED-4DB2-BD59-A6C34878D82A}">
                    <a16:rowId xmlns:a16="http://schemas.microsoft.com/office/drawing/2014/main" val="884729469"/>
                  </a:ext>
                </a:extLst>
              </a:tr>
              <a:tr h="0">
                <a:tc>
                  <a:txBody>
                    <a:bodyPr/>
                    <a:lstStyle/>
                    <a:p>
                      <a:r>
                        <a:rPr lang="en-US" sz="1600">
                          <a:effectLst/>
                        </a:rPr>
                        <a:t>hasReview</a:t>
                      </a:r>
                    </a:p>
                  </a:txBody>
                  <a:tcPr marL="63500" marR="63500" marT="31750" marB="31750" anchor="ctr">
                    <a:solidFill>
                      <a:schemeClr val="bg1"/>
                    </a:solidFill>
                  </a:tcPr>
                </a:tc>
                <a:tc>
                  <a:txBody>
                    <a:bodyPr/>
                    <a:lstStyle/>
                    <a:p>
                      <a:r>
                        <a:rPr lang="en-US" sz="1600">
                          <a:effectLst/>
                        </a:rPr>
                        <a:t>Boolean</a:t>
                      </a:r>
                    </a:p>
                  </a:txBody>
                  <a:tcPr marL="63500" marR="63500" marT="31750" marB="31750" anchor="ctr">
                    <a:solidFill>
                      <a:schemeClr val="bg1"/>
                    </a:solidFill>
                  </a:tcPr>
                </a:tc>
                <a:tc>
                  <a:txBody>
                    <a:bodyPr/>
                    <a:lstStyle/>
                    <a:p>
                      <a:r>
                        <a:rPr lang="en-US" sz="1600">
                          <a:effectLst/>
                        </a:rPr>
                        <a:t>true</a:t>
                      </a:r>
                    </a:p>
                  </a:txBody>
                  <a:tcPr marL="63500" marR="63500" marT="31750" marB="31750" anchor="ctr">
                    <a:solidFill>
                      <a:schemeClr val="bg1"/>
                    </a:solidFill>
                  </a:tcPr>
                </a:tc>
                <a:tc>
                  <a:txBody>
                    <a:bodyPr/>
                    <a:lstStyle/>
                    <a:p>
                      <a:r>
                        <a:rPr lang="en-US" sz="1600" dirty="0">
                          <a:effectLst/>
                        </a:rPr>
                        <a:t>Quick flag indicating if student has left a review. Used for filtering.</a:t>
                      </a:r>
                    </a:p>
                  </a:txBody>
                  <a:tcPr marL="63500" marR="63500" marT="31750" marB="31750" anchor="ctr">
                    <a:solidFill>
                      <a:schemeClr val="bg1"/>
                    </a:solidFill>
                  </a:tcPr>
                </a:tc>
                <a:extLst>
                  <a:ext uri="{0D108BD9-81ED-4DB2-BD59-A6C34878D82A}">
                    <a16:rowId xmlns:a16="http://schemas.microsoft.com/office/drawing/2014/main" val="2174622589"/>
                  </a:ext>
                </a:extLst>
              </a:tr>
            </a:tbl>
          </a:graphicData>
        </a:graphic>
      </p:graphicFrame>
    </p:spTree>
    <p:extLst>
      <p:ext uri="{BB962C8B-B14F-4D97-AF65-F5344CB8AC3E}">
        <p14:creationId xmlns:p14="http://schemas.microsoft.com/office/powerpoint/2010/main" val="14415167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E4DD2-C2DC-499E-E129-291434A337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205821-ADFD-9B34-6C0A-B4EF8EDFCF02}"/>
              </a:ext>
            </a:extLst>
          </p:cNvPr>
          <p:cNvSpPr>
            <a:spLocks noGrp="1"/>
          </p:cNvSpPr>
          <p:nvPr>
            <p:ph type="title"/>
          </p:nvPr>
        </p:nvSpPr>
        <p:spPr>
          <a:xfrm>
            <a:off x="710063" y="0"/>
            <a:ext cx="10515600" cy="1325563"/>
          </a:xfrm>
        </p:spPr>
        <p:txBody>
          <a:bodyPr/>
          <a:lstStyle/>
          <a:p>
            <a:pPr lvl="0"/>
            <a:r>
              <a:rPr lang="en-US" b="1" dirty="0"/>
              <a:t>Data Modeling - </a:t>
            </a:r>
            <a:r>
              <a:rPr lang="en-US" altLang="zh-CN" b="1" dirty="0"/>
              <a:t>Booking</a:t>
            </a:r>
            <a:endParaRPr lang="en-US" dirty="0"/>
          </a:p>
        </p:txBody>
      </p:sp>
      <p:graphicFrame>
        <p:nvGraphicFramePr>
          <p:cNvPr id="6" name="Table 5">
            <a:extLst>
              <a:ext uri="{FF2B5EF4-FFF2-40B4-BE49-F238E27FC236}">
                <a16:creationId xmlns:a16="http://schemas.microsoft.com/office/drawing/2014/main" id="{11143293-9412-4014-07E9-B3939EC73D96}"/>
              </a:ext>
            </a:extLst>
          </p:cNvPr>
          <p:cNvGraphicFramePr>
            <a:graphicFrameLocks noGrp="1"/>
          </p:cNvGraphicFramePr>
          <p:nvPr>
            <p:extLst>
              <p:ext uri="{D42A27DB-BD31-4B8C-83A1-F6EECF244321}">
                <p14:modId xmlns:p14="http://schemas.microsoft.com/office/powerpoint/2010/main" val="2715878567"/>
              </p:ext>
            </p:extLst>
          </p:nvPr>
        </p:nvGraphicFramePr>
        <p:xfrm>
          <a:off x="260350" y="1080628"/>
          <a:ext cx="11874501" cy="2811780"/>
        </p:xfrm>
        <a:graphic>
          <a:graphicData uri="http://schemas.openxmlformats.org/drawingml/2006/table">
            <a:tbl>
              <a:tblPr>
                <a:tableStyleId>{5940675A-B579-460E-94D1-54222C63F5DA}</a:tableStyleId>
              </a:tblPr>
              <a:tblGrid>
                <a:gridCol w="2889250">
                  <a:extLst>
                    <a:ext uri="{9D8B030D-6E8A-4147-A177-3AD203B41FA5}">
                      <a16:colId xmlns:a16="http://schemas.microsoft.com/office/drawing/2014/main" val="402914341"/>
                    </a:ext>
                  </a:extLst>
                </a:gridCol>
                <a:gridCol w="1619250">
                  <a:extLst>
                    <a:ext uri="{9D8B030D-6E8A-4147-A177-3AD203B41FA5}">
                      <a16:colId xmlns:a16="http://schemas.microsoft.com/office/drawing/2014/main" val="2214403198"/>
                    </a:ext>
                  </a:extLst>
                </a:gridCol>
                <a:gridCol w="2382484">
                  <a:extLst>
                    <a:ext uri="{9D8B030D-6E8A-4147-A177-3AD203B41FA5}">
                      <a16:colId xmlns:a16="http://schemas.microsoft.com/office/drawing/2014/main" val="4128410810"/>
                    </a:ext>
                  </a:extLst>
                </a:gridCol>
                <a:gridCol w="4983517">
                  <a:extLst>
                    <a:ext uri="{9D8B030D-6E8A-4147-A177-3AD203B41FA5}">
                      <a16:colId xmlns:a16="http://schemas.microsoft.com/office/drawing/2014/main" val="1825415284"/>
                    </a:ext>
                  </a:extLst>
                </a:gridCol>
              </a:tblGrid>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Table: </a:t>
                      </a:r>
                      <a:r>
                        <a:rPr lang="en-US" altLang="zh-CN" sz="1600" b="1" i="0" kern="1200" dirty="0">
                          <a:solidFill>
                            <a:schemeClr val="tx1"/>
                          </a:solidFill>
                          <a:effectLst/>
                          <a:latin typeface="+mn-lt"/>
                          <a:ea typeface="+mn-ea"/>
                          <a:cs typeface="+mn-cs"/>
                        </a:rPr>
                        <a:t>Booking</a:t>
                      </a:r>
                    </a:p>
                    <a:p>
                      <a:pPr>
                        <a:buNone/>
                      </a:pPr>
                      <a:endParaRPr lang="en-US" sz="1600" b="0" dirty="0"/>
                    </a:p>
                  </a:txBody>
                  <a:tcPr anchor="ctr">
                    <a:solidFill>
                      <a:schemeClr val="bg1"/>
                    </a:solidFill>
                  </a:tcPr>
                </a:tc>
                <a:tc gridSpan="3">
                  <a:txBody>
                    <a:bodyPr/>
                    <a:lstStyle/>
                    <a:p>
                      <a:pPr>
                        <a:buNone/>
                      </a:pPr>
                      <a:r>
                        <a:rPr lang="en-US" sz="1600" b="1" dirty="0"/>
                        <a:t>Description: </a:t>
                      </a:r>
                    </a:p>
                    <a:p>
                      <a:pPr>
                        <a:buNone/>
                      </a:pPr>
                      <a:r>
                        <a:rPr lang="en-US" altLang="zh-CN" sz="1600" b="0" i="0" kern="1200" dirty="0">
                          <a:solidFill>
                            <a:schemeClr val="tx1"/>
                          </a:solidFill>
                          <a:effectLst/>
                          <a:latin typeface="+mn-lt"/>
                          <a:ea typeface="+mn-ea"/>
                          <a:cs typeface="+mn-cs"/>
                        </a:rPr>
                        <a:t>Manages tutoring session requests, schedules, and status tracking throughout the booking lifecycle from creation to completion.</a:t>
                      </a:r>
                    </a:p>
                    <a:p>
                      <a:pPr>
                        <a:buNone/>
                      </a:pPr>
                      <a:r>
                        <a:rPr lang="en-US" sz="1600" b="1" dirty="0"/>
                        <a:t>Usage in App:</a:t>
                      </a:r>
                      <a:r>
                        <a:rPr lang="en-US" sz="1600" dirty="0"/>
                        <a:t> </a:t>
                      </a:r>
                    </a:p>
                    <a:p>
                      <a:r>
                        <a:rPr lang="en-US" altLang="zh-CN" sz="1600" b="0" i="0" kern="1200" dirty="0">
                          <a:solidFill>
                            <a:schemeClr val="tx1"/>
                          </a:solidFill>
                          <a:effectLst/>
                          <a:latin typeface="+mn-lt"/>
                          <a:ea typeface="+mn-ea"/>
                          <a:cs typeface="+mn-cs"/>
                        </a:rPr>
                        <a:t>Central model for booking workflow. Handles session creation, confirmation, scheduling, video room generation, and status management. Displayed in My Bookings, Sessions, and Dashboard.</a:t>
                      </a:r>
                    </a:p>
                  </a:txBody>
                  <a:tcPr anchor="ctr">
                    <a:solidFill>
                      <a:schemeClr val="bg1"/>
                    </a:solidFill>
                  </a:tcPr>
                </a:tc>
                <a:tc hMerge="1">
                  <a:txBody>
                    <a:bodyPr/>
                    <a:lstStyle/>
                    <a:p>
                      <a:endParaRPr lang="en-US"/>
                    </a:p>
                  </a:txBody>
                  <a:tcPr/>
                </a:tc>
                <a:tc hMerge="1">
                  <a:txBody>
                    <a:bodyPr/>
                    <a:lstStyle/>
                    <a:p>
                      <a:pPr>
                        <a:buNone/>
                      </a:pPr>
                      <a:endParaRPr lang="en-US" b="1" dirty="0"/>
                    </a:p>
                  </a:txBody>
                  <a:tcPr anchor="ctr"/>
                </a:tc>
                <a:extLst>
                  <a:ext uri="{0D108BD9-81ED-4DB2-BD59-A6C34878D82A}">
                    <a16:rowId xmlns:a16="http://schemas.microsoft.com/office/drawing/2014/main" val="2947018476"/>
                  </a:ext>
                </a:extLst>
              </a:tr>
              <a:tr h="182880">
                <a:tc>
                  <a:txBody>
                    <a:bodyPr/>
                    <a:lstStyle/>
                    <a:p>
                      <a:pPr>
                        <a:buNone/>
                      </a:pPr>
                      <a:r>
                        <a:rPr lang="en-US" sz="1600" b="1" dirty="0"/>
                        <a:t>Attribute</a:t>
                      </a:r>
                    </a:p>
                  </a:txBody>
                  <a:tcPr anchor="ctr">
                    <a:solidFill>
                      <a:schemeClr val="bg1"/>
                    </a:solidFill>
                  </a:tcPr>
                </a:tc>
                <a:tc>
                  <a:txBody>
                    <a:bodyPr/>
                    <a:lstStyle/>
                    <a:p>
                      <a:pPr>
                        <a:buNone/>
                      </a:pPr>
                      <a:r>
                        <a:rPr lang="en-US" sz="1600" b="1" dirty="0"/>
                        <a:t>Type</a:t>
                      </a:r>
                    </a:p>
                  </a:txBody>
                  <a:tcPr anchor="ctr">
                    <a:solidFill>
                      <a:schemeClr val="bg1"/>
                    </a:solidFill>
                  </a:tcPr>
                </a:tc>
                <a:tc>
                  <a:txBody>
                    <a:bodyPr/>
                    <a:lstStyle/>
                    <a:p>
                      <a:pPr>
                        <a:buNone/>
                      </a:pPr>
                      <a:r>
                        <a:rPr lang="en-US" sz="1600" b="1" dirty="0"/>
                        <a:t>Sample Value</a:t>
                      </a:r>
                    </a:p>
                  </a:txBody>
                  <a:tcPr anchor="ctr">
                    <a:solidFill>
                      <a:schemeClr val="bg1"/>
                    </a:solidFill>
                  </a:tcPr>
                </a:tc>
                <a:tc>
                  <a:txBody>
                    <a:bodyPr/>
                    <a:lstStyle/>
                    <a:p>
                      <a:pPr>
                        <a:buNone/>
                      </a:pPr>
                      <a:r>
                        <a:rPr lang="en-US" sz="1600" b="1" dirty="0"/>
                        <a:t>Description</a:t>
                      </a:r>
                    </a:p>
                  </a:txBody>
                  <a:tcPr anchor="ctr">
                    <a:solidFill>
                      <a:schemeClr val="bg1"/>
                    </a:solidFill>
                  </a:tcPr>
                </a:tc>
                <a:extLst>
                  <a:ext uri="{0D108BD9-81ED-4DB2-BD59-A6C34878D82A}">
                    <a16:rowId xmlns:a16="http://schemas.microsoft.com/office/drawing/2014/main" val="70020745"/>
                  </a:ext>
                </a:extLst>
              </a:tr>
              <a:tr h="0">
                <a:tc>
                  <a:txBody>
                    <a:bodyPr/>
                    <a:lstStyle/>
                    <a:p>
                      <a:r>
                        <a:rPr lang="en-US" sz="1600" dirty="0" err="1">
                          <a:effectLst/>
                        </a:rPr>
                        <a:t>cancellationReason</a:t>
                      </a:r>
                      <a:endParaRPr lang="en-US" sz="1600" dirty="0">
                        <a:effectLst/>
                      </a:endParaRPr>
                    </a:p>
                  </a:txBody>
                  <a:tcPr marL="63500" marR="63500" marT="31750" marB="31750" anchor="ctr">
                    <a:solidFill>
                      <a:schemeClr val="bg1"/>
                    </a:solidFill>
                  </a:tcPr>
                </a:tc>
                <a:tc>
                  <a:txBody>
                    <a:bodyPr/>
                    <a:lstStyle/>
                    <a:p>
                      <a:r>
                        <a:rPr lang="en-US" sz="1600" dirty="0">
                          <a:effectLst/>
                        </a:rPr>
                        <a:t>String</a:t>
                      </a:r>
                    </a:p>
                  </a:txBody>
                  <a:tcPr marL="63500" marR="63500" marT="31750" marB="31750" anchor="ctr">
                    <a:solidFill>
                      <a:schemeClr val="bg1"/>
                    </a:solidFill>
                  </a:tcPr>
                </a:tc>
                <a:tc>
                  <a:txBody>
                    <a:bodyPr/>
                    <a:lstStyle/>
                    <a:p>
                      <a:r>
                        <a:rPr lang="en-US" sz="1600" dirty="0">
                          <a:effectLst/>
                        </a:rPr>
                        <a:t>Schedule conflict</a:t>
                      </a:r>
                    </a:p>
                  </a:txBody>
                  <a:tcPr marL="63500" marR="63500" marT="31750" marB="31750" anchor="ctr">
                    <a:solidFill>
                      <a:schemeClr val="bg1"/>
                    </a:solidFill>
                  </a:tcPr>
                </a:tc>
                <a:tc>
                  <a:txBody>
                    <a:bodyPr/>
                    <a:lstStyle/>
                    <a:p>
                      <a:r>
                        <a:rPr lang="en-US" sz="1600" dirty="0">
                          <a:effectLst/>
                        </a:rPr>
                        <a:t>Reason provided if booking is cancelled. Optional field.</a:t>
                      </a:r>
                    </a:p>
                  </a:txBody>
                  <a:tcPr marL="63500" marR="63500" marT="31750" marB="31750" anchor="ctr">
                    <a:solidFill>
                      <a:schemeClr val="bg1"/>
                    </a:solidFill>
                  </a:tcPr>
                </a:tc>
                <a:extLst>
                  <a:ext uri="{0D108BD9-81ED-4DB2-BD59-A6C34878D82A}">
                    <a16:rowId xmlns:a16="http://schemas.microsoft.com/office/drawing/2014/main" val="2707098043"/>
                  </a:ext>
                </a:extLst>
              </a:tr>
              <a:tr h="0">
                <a:tc>
                  <a:txBody>
                    <a:bodyPr/>
                    <a:lstStyle/>
                    <a:p>
                      <a:r>
                        <a:rPr lang="en-US" sz="1600">
                          <a:effectLst/>
                        </a:rPr>
                        <a:t>createdAt</a:t>
                      </a:r>
                    </a:p>
                  </a:txBody>
                  <a:tcPr marL="63500" marR="63500" marT="31750" marB="31750" anchor="ctr">
                    <a:solidFill>
                      <a:schemeClr val="bg1"/>
                    </a:solidFill>
                  </a:tcPr>
                </a:tc>
                <a:tc>
                  <a:txBody>
                    <a:bodyPr/>
                    <a:lstStyle/>
                    <a:p>
                      <a:r>
                        <a:rPr lang="en-US" sz="1600">
                          <a:effectLst/>
                        </a:rPr>
                        <a:t>Date</a:t>
                      </a:r>
                    </a:p>
                  </a:txBody>
                  <a:tcPr marL="63500" marR="63500" marT="31750" marB="31750" anchor="ctr">
                    <a:solidFill>
                      <a:schemeClr val="bg1"/>
                    </a:solidFill>
                  </a:tcPr>
                </a:tc>
                <a:tc>
                  <a:txBody>
                    <a:bodyPr/>
                    <a:lstStyle/>
                    <a:p>
                      <a:r>
                        <a:rPr lang="en-US" sz="1600">
                          <a:effectLst/>
                        </a:rPr>
                        <a:t>2025-11-10T10:00:00Z</a:t>
                      </a:r>
                    </a:p>
                  </a:txBody>
                  <a:tcPr marL="63500" marR="63500" marT="31750" marB="31750" anchor="ctr">
                    <a:solidFill>
                      <a:schemeClr val="bg1"/>
                    </a:solidFill>
                  </a:tcPr>
                </a:tc>
                <a:tc>
                  <a:txBody>
                    <a:bodyPr/>
                    <a:lstStyle/>
                    <a:p>
                      <a:r>
                        <a:rPr lang="en-US" sz="1600" dirty="0">
                          <a:effectLst/>
                        </a:rPr>
                        <a:t>Timestamp when booking was created.</a:t>
                      </a:r>
                    </a:p>
                  </a:txBody>
                  <a:tcPr marL="63500" marR="63500" marT="31750" marB="31750" anchor="ctr">
                    <a:solidFill>
                      <a:schemeClr val="bg1"/>
                    </a:solidFill>
                  </a:tcPr>
                </a:tc>
                <a:extLst>
                  <a:ext uri="{0D108BD9-81ED-4DB2-BD59-A6C34878D82A}">
                    <a16:rowId xmlns:a16="http://schemas.microsoft.com/office/drawing/2014/main" val="1840665485"/>
                  </a:ext>
                </a:extLst>
              </a:tr>
              <a:tr h="0">
                <a:tc>
                  <a:txBody>
                    <a:bodyPr/>
                    <a:lstStyle/>
                    <a:p>
                      <a:r>
                        <a:rPr lang="en-US" sz="1600">
                          <a:effectLst/>
                        </a:rPr>
                        <a:t>updatedAt</a:t>
                      </a:r>
                    </a:p>
                  </a:txBody>
                  <a:tcPr marL="63500" marR="63500" marT="31750" marB="31750" anchor="ctr">
                    <a:solidFill>
                      <a:schemeClr val="bg1"/>
                    </a:solidFill>
                  </a:tcPr>
                </a:tc>
                <a:tc>
                  <a:txBody>
                    <a:bodyPr/>
                    <a:lstStyle/>
                    <a:p>
                      <a:r>
                        <a:rPr lang="en-US" sz="1600">
                          <a:effectLst/>
                        </a:rPr>
                        <a:t>Date</a:t>
                      </a:r>
                    </a:p>
                  </a:txBody>
                  <a:tcPr marL="63500" marR="63500" marT="31750" marB="31750" anchor="ctr">
                    <a:solidFill>
                      <a:schemeClr val="bg1"/>
                    </a:solidFill>
                  </a:tcPr>
                </a:tc>
                <a:tc>
                  <a:txBody>
                    <a:bodyPr/>
                    <a:lstStyle/>
                    <a:p>
                      <a:r>
                        <a:rPr lang="en-US" sz="1600">
                          <a:effectLst/>
                        </a:rPr>
                        <a:t>2025-11-15T15:30:00Z</a:t>
                      </a:r>
                    </a:p>
                  </a:txBody>
                  <a:tcPr marL="63500" marR="63500" marT="31750" marB="31750" anchor="ctr">
                    <a:solidFill>
                      <a:schemeClr val="bg1"/>
                    </a:solidFill>
                  </a:tcPr>
                </a:tc>
                <a:tc>
                  <a:txBody>
                    <a:bodyPr/>
                    <a:lstStyle/>
                    <a:p>
                      <a:r>
                        <a:rPr lang="en-US" sz="1600" dirty="0">
                          <a:effectLst/>
                        </a:rPr>
                        <a:t>Timestamp of last booking update (status change, etc.).</a:t>
                      </a:r>
                    </a:p>
                  </a:txBody>
                  <a:tcPr marL="63500" marR="63500" marT="31750" marB="31750" anchor="ctr">
                    <a:solidFill>
                      <a:schemeClr val="bg1"/>
                    </a:solidFill>
                  </a:tcPr>
                </a:tc>
                <a:extLst>
                  <a:ext uri="{0D108BD9-81ED-4DB2-BD59-A6C34878D82A}">
                    <a16:rowId xmlns:a16="http://schemas.microsoft.com/office/drawing/2014/main" val="4200220290"/>
                  </a:ext>
                </a:extLst>
              </a:tr>
            </a:tbl>
          </a:graphicData>
        </a:graphic>
      </p:graphicFrame>
      <p:sp>
        <p:nvSpPr>
          <p:cNvPr id="4" name="文本框 3">
            <a:extLst>
              <a:ext uri="{FF2B5EF4-FFF2-40B4-BE49-F238E27FC236}">
                <a16:creationId xmlns:a16="http://schemas.microsoft.com/office/drawing/2014/main" id="{0667C770-E8BC-9011-CB45-FEC0BCE7E2EF}"/>
              </a:ext>
            </a:extLst>
          </p:cNvPr>
          <p:cNvSpPr txBox="1"/>
          <p:nvPr/>
        </p:nvSpPr>
        <p:spPr>
          <a:xfrm>
            <a:off x="260350" y="4423155"/>
            <a:ext cx="6096000" cy="1354217"/>
          </a:xfrm>
          <a:prstGeom prst="rect">
            <a:avLst/>
          </a:prstGeom>
          <a:noFill/>
        </p:spPr>
        <p:txBody>
          <a:bodyPr wrap="square">
            <a:spAutoFit/>
          </a:bodyPr>
          <a:lstStyle/>
          <a:p>
            <a:pPr algn="l">
              <a:spcAft>
                <a:spcPts val="1200"/>
              </a:spcAft>
              <a:buNone/>
            </a:pPr>
            <a:r>
              <a:rPr lang="en-US" altLang="zh-CN" b="1" i="0" dirty="0">
                <a:effectLst/>
                <a:latin typeface="-apple-system"/>
              </a:rPr>
              <a:t>Relationships:</a:t>
            </a:r>
            <a:endParaRPr lang="en-US" altLang="zh-CN" b="0" i="0" dirty="0">
              <a:effectLst/>
              <a:latin typeface="-apple-system"/>
            </a:endParaRPr>
          </a:p>
          <a:p>
            <a:pPr algn="l">
              <a:buFont typeface="Arial" panose="020B0604020202020204" pitchFamily="34" charset="0"/>
              <a:buChar char="•"/>
            </a:pPr>
            <a:r>
              <a:rPr lang="en-US" altLang="zh-CN" b="0" i="0" dirty="0">
                <a:effectLst/>
                <a:latin typeface="-apple-system"/>
              </a:rPr>
              <a:t>Many-to-One with User (student)</a:t>
            </a:r>
          </a:p>
          <a:p>
            <a:pPr algn="l">
              <a:buFont typeface="Arial" panose="020B0604020202020204" pitchFamily="34" charset="0"/>
              <a:buChar char="•"/>
            </a:pPr>
            <a:r>
              <a:rPr lang="en-US" altLang="zh-CN" b="0" i="0" dirty="0">
                <a:effectLst/>
                <a:latin typeface="-apple-system"/>
              </a:rPr>
              <a:t>Many-to-One with Tutor</a:t>
            </a:r>
          </a:p>
          <a:p>
            <a:pPr algn="l">
              <a:buFont typeface="Arial" panose="020B0604020202020204" pitchFamily="34" charset="0"/>
              <a:buChar char="•"/>
            </a:pPr>
            <a:r>
              <a:rPr lang="en-US" altLang="zh-CN" b="0" i="0" dirty="0">
                <a:effectLst/>
                <a:latin typeface="-apple-system"/>
              </a:rPr>
              <a:t>One-to-One with Review</a:t>
            </a:r>
          </a:p>
        </p:txBody>
      </p:sp>
    </p:spTree>
    <p:extLst>
      <p:ext uri="{BB962C8B-B14F-4D97-AF65-F5344CB8AC3E}">
        <p14:creationId xmlns:p14="http://schemas.microsoft.com/office/powerpoint/2010/main" val="15400331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0B9AA-BD9B-7069-75D8-B8C198AAA7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23D785-E832-C7FC-C22B-15A87C571CA5}"/>
              </a:ext>
            </a:extLst>
          </p:cNvPr>
          <p:cNvSpPr>
            <a:spLocks noGrp="1"/>
          </p:cNvSpPr>
          <p:nvPr>
            <p:ph type="title"/>
          </p:nvPr>
        </p:nvSpPr>
        <p:spPr>
          <a:xfrm>
            <a:off x="710063" y="0"/>
            <a:ext cx="10515600" cy="1325563"/>
          </a:xfrm>
        </p:spPr>
        <p:txBody>
          <a:bodyPr/>
          <a:lstStyle/>
          <a:p>
            <a:r>
              <a:rPr lang="en-US" b="1" dirty="0"/>
              <a:t>Data Modeling - </a:t>
            </a:r>
            <a:r>
              <a:rPr lang="en-US" altLang="zh-CN" b="1" dirty="0"/>
              <a:t>Review</a:t>
            </a:r>
            <a:endParaRPr lang="en-US" dirty="0"/>
          </a:p>
        </p:txBody>
      </p:sp>
      <p:graphicFrame>
        <p:nvGraphicFramePr>
          <p:cNvPr id="6" name="Table 5">
            <a:extLst>
              <a:ext uri="{FF2B5EF4-FFF2-40B4-BE49-F238E27FC236}">
                <a16:creationId xmlns:a16="http://schemas.microsoft.com/office/drawing/2014/main" id="{3243B98D-2064-F829-3A62-F8EE30704EFE}"/>
              </a:ext>
            </a:extLst>
          </p:cNvPr>
          <p:cNvGraphicFramePr>
            <a:graphicFrameLocks noGrp="1"/>
          </p:cNvGraphicFramePr>
          <p:nvPr>
            <p:extLst>
              <p:ext uri="{D42A27DB-BD31-4B8C-83A1-F6EECF244321}">
                <p14:modId xmlns:p14="http://schemas.microsoft.com/office/powerpoint/2010/main" val="968621944"/>
              </p:ext>
            </p:extLst>
          </p:nvPr>
        </p:nvGraphicFramePr>
        <p:xfrm>
          <a:off x="260350" y="1080628"/>
          <a:ext cx="11874501" cy="5504180"/>
        </p:xfrm>
        <a:graphic>
          <a:graphicData uri="http://schemas.openxmlformats.org/drawingml/2006/table">
            <a:tbl>
              <a:tblPr>
                <a:tableStyleId>{5940675A-B579-460E-94D1-54222C63F5DA}</a:tableStyleId>
              </a:tblPr>
              <a:tblGrid>
                <a:gridCol w="2889250">
                  <a:extLst>
                    <a:ext uri="{9D8B030D-6E8A-4147-A177-3AD203B41FA5}">
                      <a16:colId xmlns:a16="http://schemas.microsoft.com/office/drawing/2014/main" val="402914341"/>
                    </a:ext>
                  </a:extLst>
                </a:gridCol>
                <a:gridCol w="1619250">
                  <a:extLst>
                    <a:ext uri="{9D8B030D-6E8A-4147-A177-3AD203B41FA5}">
                      <a16:colId xmlns:a16="http://schemas.microsoft.com/office/drawing/2014/main" val="2214403198"/>
                    </a:ext>
                  </a:extLst>
                </a:gridCol>
                <a:gridCol w="2622550">
                  <a:extLst>
                    <a:ext uri="{9D8B030D-6E8A-4147-A177-3AD203B41FA5}">
                      <a16:colId xmlns:a16="http://schemas.microsoft.com/office/drawing/2014/main" val="4128410810"/>
                    </a:ext>
                  </a:extLst>
                </a:gridCol>
                <a:gridCol w="4743451">
                  <a:extLst>
                    <a:ext uri="{9D8B030D-6E8A-4147-A177-3AD203B41FA5}">
                      <a16:colId xmlns:a16="http://schemas.microsoft.com/office/drawing/2014/main" val="1825415284"/>
                    </a:ext>
                  </a:extLst>
                </a:gridCol>
              </a:tblGrid>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Table: </a:t>
                      </a:r>
                      <a:r>
                        <a:rPr lang="en-US" altLang="zh-CN" sz="1600" b="1" i="0" kern="1200" dirty="0">
                          <a:solidFill>
                            <a:schemeClr val="tx1"/>
                          </a:solidFill>
                          <a:effectLst/>
                          <a:latin typeface="+mn-lt"/>
                          <a:ea typeface="+mn-ea"/>
                          <a:cs typeface="+mn-cs"/>
                        </a:rPr>
                        <a:t>Review</a:t>
                      </a:r>
                    </a:p>
                    <a:p>
                      <a:pPr>
                        <a:buNone/>
                      </a:pPr>
                      <a:endParaRPr lang="en-US" sz="1600" b="0" dirty="0"/>
                    </a:p>
                  </a:txBody>
                  <a:tcPr anchor="ctr">
                    <a:solidFill>
                      <a:schemeClr val="bg1"/>
                    </a:solidFill>
                  </a:tcPr>
                </a:tc>
                <a:tc gridSpan="3">
                  <a:txBody>
                    <a:bodyPr/>
                    <a:lstStyle/>
                    <a:p>
                      <a:pPr>
                        <a:buNone/>
                      </a:pPr>
                      <a:r>
                        <a:rPr lang="en-US" sz="1600" b="1" dirty="0"/>
                        <a:t>Description: </a:t>
                      </a:r>
                    </a:p>
                    <a:p>
                      <a:pPr>
                        <a:buNone/>
                      </a:pPr>
                      <a:r>
                        <a:rPr lang="en-US" altLang="zh-CN" sz="1600" b="0" i="0" kern="1200" dirty="0">
                          <a:solidFill>
                            <a:schemeClr val="tx1"/>
                          </a:solidFill>
                          <a:effectLst/>
                          <a:latin typeface="+mn-lt"/>
                          <a:ea typeface="+mn-ea"/>
                          <a:cs typeface="+mn-cs"/>
                        </a:rPr>
                        <a:t>Enables quality assurance through student feedback on completed tutoring sessions. Supports rating, comments, tags, and tutor responses.</a:t>
                      </a:r>
                    </a:p>
                    <a:p>
                      <a:pPr>
                        <a:buNone/>
                      </a:pPr>
                      <a:r>
                        <a:rPr lang="en-US" sz="1600" b="1" dirty="0"/>
                        <a:t>Usage in App:</a:t>
                      </a:r>
                      <a:r>
                        <a:rPr lang="en-US" sz="1600" dirty="0"/>
                        <a:t> </a:t>
                      </a:r>
                    </a:p>
                    <a:p>
                      <a:r>
                        <a:rPr lang="en-US" altLang="zh-CN" sz="1600" b="0" i="0" kern="1200" dirty="0">
                          <a:solidFill>
                            <a:schemeClr val="tx1"/>
                          </a:solidFill>
                          <a:effectLst/>
                          <a:latin typeface="+mn-lt"/>
                          <a:ea typeface="+mn-ea"/>
                          <a:cs typeface="+mn-cs"/>
                        </a:rPr>
                        <a:t>Displayed on tutor profiles, review pages, and influences </a:t>
                      </a:r>
                      <a:r>
                        <a:rPr lang="en-US" altLang="zh-CN" sz="1600" b="0" i="0" kern="1200" dirty="0" err="1">
                          <a:solidFill>
                            <a:schemeClr val="tx1"/>
                          </a:solidFill>
                          <a:effectLst/>
                          <a:latin typeface="+mn-lt"/>
                          <a:ea typeface="+mn-ea"/>
                          <a:cs typeface="+mn-cs"/>
                        </a:rPr>
                        <a:t>averageRating</a:t>
                      </a:r>
                      <a:r>
                        <a:rPr lang="en-US" altLang="zh-CN" sz="1600" b="0" i="0" kern="1200" dirty="0">
                          <a:solidFill>
                            <a:schemeClr val="tx1"/>
                          </a:solidFill>
                          <a:effectLst/>
                          <a:latin typeface="+mn-lt"/>
                          <a:ea typeface="+mn-ea"/>
                          <a:cs typeface="+mn-cs"/>
                        </a:rPr>
                        <a:t> calculations. Verified reviews build trust and help students make informed decisions.</a:t>
                      </a:r>
                    </a:p>
                  </a:txBody>
                  <a:tcPr anchor="ctr">
                    <a:solidFill>
                      <a:schemeClr val="bg1"/>
                    </a:solidFill>
                  </a:tcPr>
                </a:tc>
                <a:tc hMerge="1">
                  <a:txBody>
                    <a:bodyPr/>
                    <a:lstStyle/>
                    <a:p>
                      <a:endParaRPr lang="en-US"/>
                    </a:p>
                  </a:txBody>
                  <a:tcPr/>
                </a:tc>
                <a:tc hMerge="1">
                  <a:txBody>
                    <a:bodyPr/>
                    <a:lstStyle/>
                    <a:p>
                      <a:pPr>
                        <a:buNone/>
                      </a:pPr>
                      <a:endParaRPr lang="en-US" b="1" dirty="0"/>
                    </a:p>
                  </a:txBody>
                  <a:tcPr anchor="ctr"/>
                </a:tc>
                <a:extLst>
                  <a:ext uri="{0D108BD9-81ED-4DB2-BD59-A6C34878D82A}">
                    <a16:rowId xmlns:a16="http://schemas.microsoft.com/office/drawing/2014/main" val="2947018476"/>
                  </a:ext>
                </a:extLst>
              </a:tr>
              <a:tr h="182880">
                <a:tc>
                  <a:txBody>
                    <a:bodyPr/>
                    <a:lstStyle/>
                    <a:p>
                      <a:pPr>
                        <a:buNone/>
                      </a:pPr>
                      <a:r>
                        <a:rPr lang="en-US" sz="1600" b="1" dirty="0"/>
                        <a:t>Attribute</a:t>
                      </a:r>
                    </a:p>
                  </a:txBody>
                  <a:tcPr anchor="ctr">
                    <a:solidFill>
                      <a:schemeClr val="bg1"/>
                    </a:solidFill>
                  </a:tcPr>
                </a:tc>
                <a:tc>
                  <a:txBody>
                    <a:bodyPr/>
                    <a:lstStyle/>
                    <a:p>
                      <a:pPr>
                        <a:buNone/>
                      </a:pPr>
                      <a:r>
                        <a:rPr lang="en-US" sz="1600" b="1" dirty="0"/>
                        <a:t>Type</a:t>
                      </a:r>
                    </a:p>
                  </a:txBody>
                  <a:tcPr anchor="ctr">
                    <a:solidFill>
                      <a:schemeClr val="bg1"/>
                    </a:solidFill>
                  </a:tcPr>
                </a:tc>
                <a:tc>
                  <a:txBody>
                    <a:bodyPr/>
                    <a:lstStyle/>
                    <a:p>
                      <a:pPr>
                        <a:buNone/>
                      </a:pPr>
                      <a:r>
                        <a:rPr lang="en-US" sz="1600" b="1" dirty="0"/>
                        <a:t>Sample Value</a:t>
                      </a:r>
                    </a:p>
                  </a:txBody>
                  <a:tcPr anchor="ctr">
                    <a:solidFill>
                      <a:schemeClr val="bg1"/>
                    </a:solidFill>
                  </a:tcPr>
                </a:tc>
                <a:tc>
                  <a:txBody>
                    <a:bodyPr/>
                    <a:lstStyle/>
                    <a:p>
                      <a:pPr>
                        <a:buNone/>
                      </a:pPr>
                      <a:r>
                        <a:rPr lang="en-US" sz="1600" b="1" dirty="0"/>
                        <a:t>Description</a:t>
                      </a:r>
                    </a:p>
                  </a:txBody>
                  <a:tcPr anchor="ctr">
                    <a:solidFill>
                      <a:schemeClr val="bg1"/>
                    </a:solidFill>
                  </a:tcPr>
                </a:tc>
                <a:extLst>
                  <a:ext uri="{0D108BD9-81ED-4DB2-BD59-A6C34878D82A}">
                    <a16:rowId xmlns:a16="http://schemas.microsoft.com/office/drawing/2014/main" val="70020745"/>
                  </a:ext>
                </a:extLst>
              </a:tr>
              <a:tr h="0">
                <a:tc>
                  <a:txBody>
                    <a:bodyPr/>
                    <a:lstStyle/>
                    <a:p>
                      <a:r>
                        <a:rPr lang="en-US" sz="1600">
                          <a:effectLst/>
                        </a:rPr>
                        <a:t>_id</a:t>
                      </a:r>
                    </a:p>
                  </a:txBody>
                  <a:tcPr marL="63500" marR="63500" marT="31750" marB="31750" anchor="ctr">
                    <a:solidFill>
                      <a:schemeClr val="bg1"/>
                    </a:solidFill>
                  </a:tcPr>
                </a:tc>
                <a:tc>
                  <a:txBody>
                    <a:bodyPr/>
                    <a:lstStyle/>
                    <a:p>
                      <a:r>
                        <a:rPr lang="en-US" sz="1600">
                          <a:effectLst/>
                        </a:rPr>
                        <a:t>ObjectId</a:t>
                      </a:r>
                    </a:p>
                  </a:txBody>
                  <a:tcPr marL="63500" marR="63500" marT="31750" marB="31750" anchor="ctr">
                    <a:solidFill>
                      <a:schemeClr val="bg1"/>
                    </a:solidFill>
                  </a:tcPr>
                </a:tc>
                <a:tc>
                  <a:txBody>
                    <a:bodyPr/>
                    <a:lstStyle/>
                    <a:p>
                      <a:r>
                        <a:rPr lang="en-US" sz="1600">
                          <a:effectLst/>
                        </a:rPr>
                        <a:t>review_001</a:t>
                      </a:r>
                    </a:p>
                  </a:txBody>
                  <a:tcPr marL="63500" marR="63500" marT="31750" marB="31750" anchor="ctr">
                    <a:solidFill>
                      <a:schemeClr val="bg1"/>
                    </a:solidFill>
                  </a:tcPr>
                </a:tc>
                <a:tc>
                  <a:txBody>
                    <a:bodyPr/>
                    <a:lstStyle/>
                    <a:p>
                      <a:r>
                        <a:rPr lang="en-US" sz="1600">
                          <a:effectLst/>
                        </a:rPr>
                        <a:t>Unique identifier for each review.</a:t>
                      </a:r>
                    </a:p>
                  </a:txBody>
                  <a:tcPr marL="63500" marR="63500" marT="31750" marB="31750" anchor="ctr">
                    <a:solidFill>
                      <a:schemeClr val="bg1"/>
                    </a:solidFill>
                  </a:tcPr>
                </a:tc>
                <a:extLst>
                  <a:ext uri="{0D108BD9-81ED-4DB2-BD59-A6C34878D82A}">
                    <a16:rowId xmlns:a16="http://schemas.microsoft.com/office/drawing/2014/main" val="2707098043"/>
                  </a:ext>
                </a:extLst>
              </a:tr>
              <a:tr h="0">
                <a:tc>
                  <a:txBody>
                    <a:bodyPr/>
                    <a:lstStyle/>
                    <a:p>
                      <a:r>
                        <a:rPr lang="en-US" sz="1600">
                          <a:effectLst/>
                        </a:rPr>
                        <a:t>bookingId</a:t>
                      </a:r>
                    </a:p>
                  </a:txBody>
                  <a:tcPr marL="63500" marR="63500" marT="31750" marB="31750" anchor="ctr">
                    <a:solidFill>
                      <a:schemeClr val="bg1"/>
                    </a:solidFill>
                  </a:tcPr>
                </a:tc>
                <a:tc>
                  <a:txBody>
                    <a:bodyPr/>
                    <a:lstStyle/>
                    <a:p>
                      <a:r>
                        <a:rPr lang="en-US" sz="1600">
                          <a:effectLst/>
                        </a:rPr>
                        <a:t>ObjectId (ref: 'Booking')</a:t>
                      </a:r>
                    </a:p>
                  </a:txBody>
                  <a:tcPr marL="63500" marR="63500" marT="31750" marB="31750" anchor="ctr">
                    <a:solidFill>
                      <a:schemeClr val="bg1"/>
                    </a:solidFill>
                  </a:tcPr>
                </a:tc>
                <a:tc>
                  <a:txBody>
                    <a:bodyPr/>
                    <a:lstStyle/>
                    <a:p>
                      <a:r>
                        <a:rPr lang="en-US" sz="1600">
                          <a:effectLst/>
                        </a:rPr>
                        <a:t>booking_001</a:t>
                      </a:r>
                    </a:p>
                  </a:txBody>
                  <a:tcPr marL="63500" marR="63500" marT="31750" marB="31750" anchor="ctr">
                    <a:solidFill>
                      <a:schemeClr val="bg1"/>
                    </a:solidFill>
                  </a:tcPr>
                </a:tc>
                <a:tc>
                  <a:txBody>
                    <a:bodyPr/>
                    <a:lstStyle/>
                    <a:p>
                      <a:r>
                        <a:rPr lang="en-US" sz="1600">
                          <a:effectLst/>
                        </a:rPr>
                        <a:t>Reference to the booking being reviewed. Ensures one review per booking (unique index).</a:t>
                      </a:r>
                    </a:p>
                  </a:txBody>
                  <a:tcPr marL="63500" marR="63500" marT="31750" marB="31750" anchor="ctr">
                    <a:solidFill>
                      <a:schemeClr val="bg1"/>
                    </a:solidFill>
                  </a:tcPr>
                </a:tc>
                <a:extLst>
                  <a:ext uri="{0D108BD9-81ED-4DB2-BD59-A6C34878D82A}">
                    <a16:rowId xmlns:a16="http://schemas.microsoft.com/office/drawing/2014/main" val="1840665485"/>
                  </a:ext>
                </a:extLst>
              </a:tr>
              <a:tr h="0">
                <a:tc>
                  <a:txBody>
                    <a:bodyPr/>
                    <a:lstStyle/>
                    <a:p>
                      <a:r>
                        <a:rPr lang="en-US" sz="1600">
                          <a:effectLst/>
                        </a:rPr>
                        <a:t>tutorId</a:t>
                      </a:r>
                    </a:p>
                  </a:txBody>
                  <a:tcPr marL="63500" marR="63500" marT="31750" marB="31750" anchor="ctr">
                    <a:solidFill>
                      <a:schemeClr val="bg1"/>
                    </a:solidFill>
                  </a:tcPr>
                </a:tc>
                <a:tc>
                  <a:txBody>
                    <a:bodyPr/>
                    <a:lstStyle/>
                    <a:p>
                      <a:r>
                        <a:rPr lang="en-US" sz="1600">
                          <a:effectLst/>
                        </a:rPr>
                        <a:t>ObjectId (ref: 'User')</a:t>
                      </a:r>
                    </a:p>
                  </a:txBody>
                  <a:tcPr marL="63500" marR="63500" marT="31750" marB="31750" anchor="ctr">
                    <a:solidFill>
                      <a:schemeClr val="bg1"/>
                    </a:solidFill>
                  </a:tcPr>
                </a:tc>
                <a:tc>
                  <a:txBody>
                    <a:bodyPr/>
                    <a:lstStyle/>
                    <a:p>
                      <a:r>
                        <a:rPr lang="en-US" sz="1600">
                          <a:effectLst/>
                        </a:rPr>
                        <a:t>user_002</a:t>
                      </a:r>
                    </a:p>
                  </a:txBody>
                  <a:tcPr marL="63500" marR="63500" marT="31750" marB="31750" anchor="ctr">
                    <a:solidFill>
                      <a:schemeClr val="bg1"/>
                    </a:solidFill>
                  </a:tcPr>
                </a:tc>
                <a:tc>
                  <a:txBody>
                    <a:bodyPr/>
                    <a:lstStyle/>
                    <a:p>
                      <a:r>
                        <a:rPr lang="en-US" sz="1600">
                          <a:effectLst/>
                        </a:rPr>
                        <a:t>Reference to the tutor being reviewed. Used for aggregating tutor ratings.</a:t>
                      </a:r>
                    </a:p>
                  </a:txBody>
                  <a:tcPr marL="63500" marR="63500" marT="31750" marB="31750" anchor="ctr">
                    <a:solidFill>
                      <a:schemeClr val="bg1"/>
                    </a:solidFill>
                  </a:tcPr>
                </a:tc>
                <a:extLst>
                  <a:ext uri="{0D108BD9-81ED-4DB2-BD59-A6C34878D82A}">
                    <a16:rowId xmlns:a16="http://schemas.microsoft.com/office/drawing/2014/main" val="4200220290"/>
                  </a:ext>
                </a:extLst>
              </a:tr>
              <a:tr h="0">
                <a:tc>
                  <a:txBody>
                    <a:bodyPr/>
                    <a:lstStyle/>
                    <a:p>
                      <a:r>
                        <a:rPr lang="en-US" sz="1600">
                          <a:effectLst/>
                        </a:rPr>
                        <a:t>studentId</a:t>
                      </a:r>
                    </a:p>
                  </a:txBody>
                  <a:tcPr marL="63500" marR="63500" marT="31750" marB="31750" anchor="ctr">
                    <a:solidFill>
                      <a:schemeClr val="bg1"/>
                    </a:solidFill>
                  </a:tcPr>
                </a:tc>
                <a:tc>
                  <a:txBody>
                    <a:bodyPr/>
                    <a:lstStyle/>
                    <a:p>
                      <a:r>
                        <a:rPr lang="en-US" sz="1600">
                          <a:effectLst/>
                        </a:rPr>
                        <a:t>ObjectId (ref: 'User')</a:t>
                      </a:r>
                    </a:p>
                  </a:txBody>
                  <a:tcPr marL="63500" marR="63500" marT="31750" marB="31750" anchor="ctr">
                    <a:solidFill>
                      <a:schemeClr val="bg1"/>
                    </a:solidFill>
                  </a:tcPr>
                </a:tc>
                <a:tc>
                  <a:txBody>
                    <a:bodyPr/>
                    <a:lstStyle/>
                    <a:p>
                      <a:r>
                        <a:rPr lang="en-US" sz="1600">
                          <a:effectLst/>
                        </a:rPr>
                        <a:t>user_001</a:t>
                      </a:r>
                    </a:p>
                  </a:txBody>
                  <a:tcPr marL="63500" marR="63500" marT="31750" marB="31750" anchor="ctr">
                    <a:solidFill>
                      <a:schemeClr val="bg1"/>
                    </a:solidFill>
                  </a:tcPr>
                </a:tc>
                <a:tc>
                  <a:txBody>
                    <a:bodyPr/>
                    <a:lstStyle/>
                    <a:p>
                      <a:r>
                        <a:rPr lang="en-US" sz="1600" dirty="0">
                          <a:effectLst/>
                        </a:rPr>
                        <a:t>Reference to the student who wrote the review.</a:t>
                      </a:r>
                    </a:p>
                  </a:txBody>
                  <a:tcPr marL="63500" marR="63500" marT="31750" marB="31750" anchor="ctr">
                    <a:solidFill>
                      <a:schemeClr val="bg1"/>
                    </a:solidFill>
                  </a:tcPr>
                </a:tc>
                <a:extLst>
                  <a:ext uri="{0D108BD9-81ED-4DB2-BD59-A6C34878D82A}">
                    <a16:rowId xmlns:a16="http://schemas.microsoft.com/office/drawing/2014/main" val="533489075"/>
                  </a:ext>
                </a:extLst>
              </a:tr>
              <a:tr h="0">
                <a:tc>
                  <a:txBody>
                    <a:bodyPr/>
                    <a:lstStyle/>
                    <a:p>
                      <a:r>
                        <a:rPr lang="en-US" sz="1600">
                          <a:effectLst/>
                        </a:rPr>
                        <a:t>rating</a:t>
                      </a:r>
                    </a:p>
                  </a:txBody>
                  <a:tcPr marL="63500" marR="63500" marT="31750" marB="31750" anchor="ctr">
                    <a:solidFill>
                      <a:schemeClr val="bg1"/>
                    </a:solidFill>
                  </a:tcPr>
                </a:tc>
                <a:tc>
                  <a:txBody>
                    <a:bodyPr/>
                    <a:lstStyle/>
                    <a:p>
                      <a:r>
                        <a:rPr lang="en-US" sz="1600">
                          <a:effectLst/>
                        </a:rPr>
                        <a:t>Number</a:t>
                      </a:r>
                    </a:p>
                  </a:txBody>
                  <a:tcPr marL="63500" marR="63500" marT="31750" marB="31750" anchor="ctr">
                    <a:solidFill>
                      <a:schemeClr val="bg1"/>
                    </a:solidFill>
                  </a:tcPr>
                </a:tc>
                <a:tc>
                  <a:txBody>
                    <a:bodyPr/>
                    <a:lstStyle/>
                    <a:p>
                      <a:r>
                        <a:rPr lang="en-US" altLang="zh-CN" sz="1600">
                          <a:effectLst/>
                        </a:rPr>
                        <a:t>5</a:t>
                      </a:r>
                    </a:p>
                  </a:txBody>
                  <a:tcPr marL="63500" marR="63500" marT="31750" marB="31750" anchor="ctr">
                    <a:solidFill>
                      <a:schemeClr val="bg1"/>
                    </a:solidFill>
                  </a:tcPr>
                </a:tc>
                <a:tc>
                  <a:txBody>
                    <a:bodyPr/>
                    <a:lstStyle/>
                    <a:p>
                      <a:r>
                        <a:rPr lang="en-US" sz="1600">
                          <a:effectLst/>
                        </a:rPr>
                        <a:t>Star rating from 1 to 5. Required field.</a:t>
                      </a:r>
                    </a:p>
                  </a:txBody>
                  <a:tcPr marL="63500" marR="63500" marT="31750" marB="31750" anchor="ctr">
                    <a:solidFill>
                      <a:schemeClr val="bg1"/>
                    </a:solidFill>
                  </a:tcPr>
                </a:tc>
                <a:extLst>
                  <a:ext uri="{0D108BD9-81ED-4DB2-BD59-A6C34878D82A}">
                    <a16:rowId xmlns:a16="http://schemas.microsoft.com/office/drawing/2014/main" val="895377019"/>
                  </a:ext>
                </a:extLst>
              </a:tr>
              <a:tr h="0">
                <a:tc>
                  <a:txBody>
                    <a:bodyPr/>
                    <a:lstStyle/>
                    <a:p>
                      <a:r>
                        <a:rPr lang="en-US" sz="1600">
                          <a:effectLst/>
                        </a:rPr>
                        <a:t>comment</a:t>
                      </a:r>
                    </a:p>
                  </a:txBody>
                  <a:tcPr marL="63500" marR="63500" marT="31750" marB="31750" anchor="ctr">
                    <a:solidFill>
                      <a:schemeClr val="bg1"/>
                    </a:solidFill>
                  </a:tcPr>
                </a:tc>
                <a:tc>
                  <a:txBody>
                    <a:bodyPr/>
                    <a:lstStyle/>
                    <a:p>
                      <a:r>
                        <a:rPr lang="en-US" sz="1600">
                          <a:effectLst/>
                        </a:rPr>
                        <a:t>String</a:t>
                      </a:r>
                    </a:p>
                  </a:txBody>
                  <a:tcPr marL="63500" marR="63500" marT="31750" marB="31750" anchor="ctr">
                    <a:solidFill>
                      <a:schemeClr val="bg1"/>
                    </a:solidFill>
                  </a:tcPr>
                </a:tc>
                <a:tc>
                  <a:txBody>
                    <a:bodyPr/>
                    <a:lstStyle/>
                    <a:p>
                      <a:r>
                        <a:rPr lang="en-US" sz="1600">
                          <a:effectLst/>
                        </a:rPr>
                        <a:t>Excellent tutor! Bob explained database optimization concepts very clearly...</a:t>
                      </a:r>
                    </a:p>
                  </a:txBody>
                  <a:tcPr marL="63500" marR="63500" marT="31750" marB="31750" anchor="ctr">
                    <a:solidFill>
                      <a:schemeClr val="bg1"/>
                    </a:solidFill>
                  </a:tcPr>
                </a:tc>
                <a:tc>
                  <a:txBody>
                    <a:bodyPr/>
                    <a:lstStyle/>
                    <a:p>
                      <a:r>
                        <a:rPr lang="en-US" sz="1600">
                          <a:effectLst/>
                        </a:rPr>
                        <a:t>Written feedback. Length: 10-1000 characters.</a:t>
                      </a:r>
                    </a:p>
                  </a:txBody>
                  <a:tcPr marL="63500" marR="63500" marT="31750" marB="31750" anchor="ctr">
                    <a:solidFill>
                      <a:schemeClr val="bg1"/>
                    </a:solidFill>
                  </a:tcPr>
                </a:tc>
                <a:extLst>
                  <a:ext uri="{0D108BD9-81ED-4DB2-BD59-A6C34878D82A}">
                    <a16:rowId xmlns:a16="http://schemas.microsoft.com/office/drawing/2014/main" val="884729469"/>
                  </a:ext>
                </a:extLst>
              </a:tr>
              <a:tr h="0">
                <a:tc>
                  <a:txBody>
                    <a:bodyPr/>
                    <a:lstStyle/>
                    <a:p>
                      <a:r>
                        <a:rPr lang="en-US" sz="1600">
                          <a:effectLst/>
                        </a:rPr>
                        <a:t>tags</a:t>
                      </a:r>
                    </a:p>
                  </a:txBody>
                  <a:tcPr marL="63500" marR="63500" marT="31750" marB="31750" anchor="ctr">
                    <a:solidFill>
                      <a:schemeClr val="bg1"/>
                    </a:solidFill>
                  </a:tcPr>
                </a:tc>
                <a:tc>
                  <a:txBody>
                    <a:bodyPr/>
                    <a:lstStyle/>
                    <a:p>
                      <a:r>
                        <a:rPr lang="en-US" sz="1600">
                          <a:effectLst/>
                        </a:rPr>
                        <a:t>Array[String]</a:t>
                      </a:r>
                    </a:p>
                  </a:txBody>
                  <a:tcPr marL="63500" marR="63500" marT="31750" marB="31750" anchor="ctr">
                    <a:solidFill>
                      <a:schemeClr val="bg1"/>
                    </a:solidFill>
                  </a:tcPr>
                </a:tc>
                <a:tc>
                  <a:txBody>
                    <a:bodyPr/>
                    <a:lstStyle/>
                    <a:p>
                      <a:r>
                        <a:rPr lang="en-US" sz="1600">
                          <a:effectLst/>
                        </a:rPr>
                        <a:t>['Clear Explanations', 'Patient', 'Knowledgeable']</a:t>
                      </a:r>
                    </a:p>
                  </a:txBody>
                  <a:tcPr marL="63500" marR="63500" marT="31750" marB="31750" anchor="ctr">
                    <a:solidFill>
                      <a:schemeClr val="bg1"/>
                    </a:solidFill>
                  </a:tcPr>
                </a:tc>
                <a:tc>
                  <a:txBody>
                    <a:bodyPr/>
                    <a:lstStyle/>
                    <a:p>
                      <a:r>
                        <a:rPr lang="en-US" sz="1600" dirty="0">
                          <a:effectLst/>
                        </a:rPr>
                        <a:t>Predefined tags describing teaching style and strengths.</a:t>
                      </a:r>
                    </a:p>
                  </a:txBody>
                  <a:tcPr marL="63500" marR="63500" marT="31750" marB="31750" anchor="ctr">
                    <a:solidFill>
                      <a:schemeClr val="bg1"/>
                    </a:solidFill>
                  </a:tcPr>
                </a:tc>
                <a:extLst>
                  <a:ext uri="{0D108BD9-81ED-4DB2-BD59-A6C34878D82A}">
                    <a16:rowId xmlns:a16="http://schemas.microsoft.com/office/drawing/2014/main" val="2174622589"/>
                  </a:ext>
                </a:extLst>
              </a:tr>
            </a:tbl>
          </a:graphicData>
        </a:graphic>
      </p:graphicFrame>
    </p:spTree>
    <p:extLst>
      <p:ext uri="{BB962C8B-B14F-4D97-AF65-F5344CB8AC3E}">
        <p14:creationId xmlns:p14="http://schemas.microsoft.com/office/powerpoint/2010/main" val="15683648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C4F18-77E7-CC71-2461-D0AF41EF7E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C3D8DF-5979-4C78-5FAE-2A0FE4B5E393}"/>
              </a:ext>
            </a:extLst>
          </p:cNvPr>
          <p:cNvSpPr>
            <a:spLocks noGrp="1"/>
          </p:cNvSpPr>
          <p:nvPr>
            <p:ph type="title"/>
          </p:nvPr>
        </p:nvSpPr>
        <p:spPr>
          <a:xfrm>
            <a:off x="710063" y="0"/>
            <a:ext cx="10515600" cy="1325563"/>
          </a:xfrm>
        </p:spPr>
        <p:txBody>
          <a:bodyPr/>
          <a:lstStyle/>
          <a:p>
            <a:r>
              <a:rPr lang="en-US" b="1" dirty="0"/>
              <a:t>Data Modeling - </a:t>
            </a:r>
            <a:r>
              <a:rPr lang="en-US" altLang="zh-CN" b="1" dirty="0"/>
              <a:t>Review</a:t>
            </a:r>
            <a:endParaRPr lang="en-US" dirty="0"/>
          </a:p>
        </p:txBody>
      </p:sp>
      <p:graphicFrame>
        <p:nvGraphicFramePr>
          <p:cNvPr id="6" name="Table 5">
            <a:extLst>
              <a:ext uri="{FF2B5EF4-FFF2-40B4-BE49-F238E27FC236}">
                <a16:creationId xmlns:a16="http://schemas.microsoft.com/office/drawing/2014/main" id="{9B2F3282-EFB1-108D-7111-5FD3055DFC83}"/>
              </a:ext>
            </a:extLst>
          </p:cNvPr>
          <p:cNvGraphicFramePr>
            <a:graphicFrameLocks noGrp="1"/>
          </p:cNvGraphicFramePr>
          <p:nvPr>
            <p:extLst>
              <p:ext uri="{D42A27DB-BD31-4B8C-83A1-F6EECF244321}">
                <p14:modId xmlns:p14="http://schemas.microsoft.com/office/powerpoint/2010/main" val="1499165009"/>
              </p:ext>
            </p:extLst>
          </p:nvPr>
        </p:nvGraphicFramePr>
        <p:xfrm>
          <a:off x="260350" y="1080628"/>
          <a:ext cx="11874501" cy="5260340"/>
        </p:xfrm>
        <a:graphic>
          <a:graphicData uri="http://schemas.openxmlformats.org/drawingml/2006/table">
            <a:tbl>
              <a:tblPr>
                <a:tableStyleId>{5940675A-B579-460E-94D1-54222C63F5DA}</a:tableStyleId>
              </a:tblPr>
              <a:tblGrid>
                <a:gridCol w="2889250">
                  <a:extLst>
                    <a:ext uri="{9D8B030D-6E8A-4147-A177-3AD203B41FA5}">
                      <a16:colId xmlns:a16="http://schemas.microsoft.com/office/drawing/2014/main" val="402914341"/>
                    </a:ext>
                  </a:extLst>
                </a:gridCol>
                <a:gridCol w="1619250">
                  <a:extLst>
                    <a:ext uri="{9D8B030D-6E8A-4147-A177-3AD203B41FA5}">
                      <a16:colId xmlns:a16="http://schemas.microsoft.com/office/drawing/2014/main" val="2214403198"/>
                    </a:ext>
                  </a:extLst>
                </a:gridCol>
                <a:gridCol w="2622550">
                  <a:extLst>
                    <a:ext uri="{9D8B030D-6E8A-4147-A177-3AD203B41FA5}">
                      <a16:colId xmlns:a16="http://schemas.microsoft.com/office/drawing/2014/main" val="4128410810"/>
                    </a:ext>
                  </a:extLst>
                </a:gridCol>
                <a:gridCol w="4743451">
                  <a:extLst>
                    <a:ext uri="{9D8B030D-6E8A-4147-A177-3AD203B41FA5}">
                      <a16:colId xmlns:a16="http://schemas.microsoft.com/office/drawing/2014/main" val="1825415284"/>
                    </a:ext>
                  </a:extLst>
                </a:gridCol>
              </a:tblGrid>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Table: </a:t>
                      </a:r>
                      <a:r>
                        <a:rPr lang="en-US" altLang="zh-CN" sz="1600" b="1" i="0" kern="1200" dirty="0">
                          <a:solidFill>
                            <a:schemeClr val="tx1"/>
                          </a:solidFill>
                          <a:effectLst/>
                          <a:latin typeface="+mn-lt"/>
                          <a:ea typeface="+mn-ea"/>
                          <a:cs typeface="+mn-cs"/>
                        </a:rPr>
                        <a:t>Review</a:t>
                      </a:r>
                    </a:p>
                    <a:p>
                      <a:pPr>
                        <a:buNone/>
                      </a:pPr>
                      <a:endParaRPr lang="en-US" sz="1600" b="0" dirty="0"/>
                    </a:p>
                  </a:txBody>
                  <a:tcPr anchor="ctr">
                    <a:solidFill>
                      <a:schemeClr val="bg1"/>
                    </a:solidFill>
                  </a:tcPr>
                </a:tc>
                <a:tc gridSpan="3">
                  <a:txBody>
                    <a:bodyPr/>
                    <a:lstStyle/>
                    <a:p>
                      <a:pPr>
                        <a:buNone/>
                      </a:pPr>
                      <a:r>
                        <a:rPr lang="en-US" sz="1600" b="1" dirty="0"/>
                        <a:t>Description: </a:t>
                      </a:r>
                    </a:p>
                    <a:p>
                      <a:pPr>
                        <a:buNone/>
                      </a:pPr>
                      <a:r>
                        <a:rPr lang="en-US" altLang="zh-CN" sz="1600" b="0" i="0" kern="1200" dirty="0">
                          <a:solidFill>
                            <a:schemeClr val="tx1"/>
                          </a:solidFill>
                          <a:effectLst/>
                          <a:latin typeface="+mn-lt"/>
                          <a:ea typeface="+mn-ea"/>
                          <a:cs typeface="+mn-cs"/>
                        </a:rPr>
                        <a:t>Enables quality assurance through student feedback on completed tutoring sessions. Supports rating, comments, tags, and tutor responses.</a:t>
                      </a:r>
                    </a:p>
                    <a:p>
                      <a:pPr>
                        <a:buNone/>
                      </a:pPr>
                      <a:r>
                        <a:rPr lang="en-US" sz="1600" b="1" dirty="0"/>
                        <a:t>Usage in App:</a:t>
                      </a:r>
                      <a:r>
                        <a:rPr lang="en-US" sz="1600" dirty="0"/>
                        <a:t> </a:t>
                      </a:r>
                    </a:p>
                    <a:p>
                      <a:r>
                        <a:rPr lang="en-US" altLang="zh-CN" sz="1600" b="0" i="0" kern="1200" dirty="0">
                          <a:solidFill>
                            <a:schemeClr val="tx1"/>
                          </a:solidFill>
                          <a:effectLst/>
                          <a:latin typeface="+mn-lt"/>
                          <a:ea typeface="+mn-ea"/>
                          <a:cs typeface="+mn-cs"/>
                        </a:rPr>
                        <a:t>Displayed on tutor profiles, review pages, and influences </a:t>
                      </a:r>
                      <a:r>
                        <a:rPr lang="en-US" altLang="zh-CN" sz="1600" b="0" i="0" kern="1200" dirty="0" err="1">
                          <a:solidFill>
                            <a:schemeClr val="tx1"/>
                          </a:solidFill>
                          <a:effectLst/>
                          <a:latin typeface="+mn-lt"/>
                          <a:ea typeface="+mn-ea"/>
                          <a:cs typeface="+mn-cs"/>
                        </a:rPr>
                        <a:t>averageRating</a:t>
                      </a:r>
                      <a:r>
                        <a:rPr lang="en-US" altLang="zh-CN" sz="1600" b="0" i="0" kern="1200" dirty="0">
                          <a:solidFill>
                            <a:schemeClr val="tx1"/>
                          </a:solidFill>
                          <a:effectLst/>
                          <a:latin typeface="+mn-lt"/>
                          <a:ea typeface="+mn-ea"/>
                          <a:cs typeface="+mn-cs"/>
                        </a:rPr>
                        <a:t> calculations. Verified reviews build trust and help students make informed decisions.</a:t>
                      </a:r>
                    </a:p>
                  </a:txBody>
                  <a:tcPr anchor="ctr">
                    <a:solidFill>
                      <a:schemeClr val="bg1"/>
                    </a:solidFill>
                  </a:tcPr>
                </a:tc>
                <a:tc hMerge="1">
                  <a:txBody>
                    <a:bodyPr/>
                    <a:lstStyle/>
                    <a:p>
                      <a:endParaRPr lang="en-US"/>
                    </a:p>
                  </a:txBody>
                  <a:tcPr/>
                </a:tc>
                <a:tc hMerge="1">
                  <a:txBody>
                    <a:bodyPr/>
                    <a:lstStyle/>
                    <a:p>
                      <a:pPr>
                        <a:buNone/>
                      </a:pPr>
                      <a:endParaRPr lang="en-US" b="1" dirty="0"/>
                    </a:p>
                  </a:txBody>
                  <a:tcPr anchor="ctr"/>
                </a:tc>
                <a:extLst>
                  <a:ext uri="{0D108BD9-81ED-4DB2-BD59-A6C34878D82A}">
                    <a16:rowId xmlns:a16="http://schemas.microsoft.com/office/drawing/2014/main" val="2947018476"/>
                  </a:ext>
                </a:extLst>
              </a:tr>
              <a:tr h="182880">
                <a:tc>
                  <a:txBody>
                    <a:bodyPr/>
                    <a:lstStyle/>
                    <a:p>
                      <a:pPr>
                        <a:buNone/>
                      </a:pPr>
                      <a:r>
                        <a:rPr lang="en-US" sz="1600" b="1" dirty="0"/>
                        <a:t>Attribute</a:t>
                      </a:r>
                    </a:p>
                  </a:txBody>
                  <a:tcPr anchor="ctr">
                    <a:solidFill>
                      <a:schemeClr val="bg1"/>
                    </a:solidFill>
                  </a:tcPr>
                </a:tc>
                <a:tc>
                  <a:txBody>
                    <a:bodyPr/>
                    <a:lstStyle/>
                    <a:p>
                      <a:pPr>
                        <a:buNone/>
                      </a:pPr>
                      <a:r>
                        <a:rPr lang="en-US" sz="1600" b="1" dirty="0"/>
                        <a:t>Type</a:t>
                      </a:r>
                    </a:p>
                  </a:txBody>
                  <a:tcPr anchor="ctr">
                    <a:solidFill>
                      <a:schemeClr val="bg1"/>
                    </a:solidFill>
                  </a:tcPr>
                </a:tc>
                <a:tc>
                  <a:txBody>
                    <a:bodyPr/>
                    <a:lstStyle/>
                    <a:p>
                      <a:pPr>
                        <a:buNone/>
                      </a:pPr>
                      <a:r>
                        <a:rPr lang="en-US" sz="1600" b="1" dirty="0"/>
                        <a:t>Sample Value</a:t>
                      </a:r>
                    </a:p>
                  </a:txBody>
                  <a:tcPr anchor="ctr">
                    <a:solidFill>
                      <a:schemeClr val="bg1"/>
                    </a:solidFill>
                  </a:tcPr>
                </a:tc>
                <a:tc>
                  <a:txBody>
                    <a:bodyPr/>
                    <a:lstStyle/>
                    <a:p>
                      <a:pPr>
                        <a:buNone/>
                      </a:pPr>
                      <a:r>
                        <a:rPr lang="en-US" sz="1600" b="1" dirty="0"/>
                        <a:t>Description</a:t>
                      </a:r>
                    </a:p>
                  </a:txBody>
                  <a:tcPr anchor="ctr">
                    <a:solidFill>
                      <a:schemeClr val="bg1"/>
                    </a:solidFill>
                  </a:tcPr>
                </a:tc>
                <a:extLst>
                  <a:ext uri="{0D108BD9-81ED-4DB2-BD59-A6C34878D82A}">
                    <a16:rowId xmlns:a16="http://schemas.microsoft.com/office/drawing/2014/main" val="70020745"/>
                  </a:ext>
                </a:extLst>
              </a:tr>
              <a:tr h="0">
                <a:tc>
                  <a:txBody>
                    <a:bodyPr/>
                    <a:lstStyle/>
                    <a:p>
                      <a:r>
                        <a:rPr lang="en-US" sz="1600">
                          <a:effectLst/>
                        </a:rPr>
                        <a:t>isAnonymous</a:t>
                      </a:r>
                    </a:p>
                  </a:txBody>
                  <a:tcPr marL="63500" marR="63500" marT="31750" marB="31750" anchor="ctr">
                    <a:solidFill>
                      <a:schemeClr val="bg1"/>
                    </a:solidFill>
                  </a:tcPr>
                </a:tc>
                <a:tc>
                  <a:txBody>
                    <a:bodyPr/>
                    <a:lstStyle/>
                    <a:p>
                      <a:r>
                        <a:rPr lang="en-US" sz="1600">
                          <a:effectLst/>
                        </a:rPr>
                        <a:t>Boolean</a:t>
                      </a:r>
                    </a:p>
                  </a:txBody>
                  <a:tcPr marL="63500" marR="63500" marT="31750" marB="31750" anchor="ctr">
                    <a:solidFill>
                      <a:schemeClr val="bg1"/>
                    </a:solidFill>
                  </a:tcPr>
                </a:tc>
                <a:tc>
                  <a:txBody>
                    <a:bodyPr/>
                    <a:lstStyle/>
                    <a:p>
                      <a:r>
                        <a:rPr lang="en-US" sz="1600">
                          <a:effectLst/>
                        </a:rPr>
                        <a:t>false</a:t>
                      </a:r>
                    </a:p>
                  </a:txBody>
                  <a:tcPr marL="63500" marR="63500" marT="31750" marB="31750" anchor="ctr">
                    <a:solidFill>
                      <a:schemeClr val="bg1"/>
                    </a:solidFill>
                  </a:tcPr>
                </a:tc>
                <a:tc>
                  <a:txBody>
                    <a:bodyPr/>
                    <a:lstStyle/>
                    <a:p>
                      <a:r>
                        <a:rPr lang="en-US" sz="1600">
                          <a:effectLst/>
                        </a:rPr>
                        <a:t>If true, student identity is hidden on public review display.</a:t>
                      </a:r>
                    </a:p>
                  </a:txBody>
                  <a:tcPr marL="63500" marR="63500" marT="31750" marB="31750" anchor="ctr">
                    <a:solidFill>
                      <a:schemeClr val="bg1"/>
                    </a:solidFill>
                  </a:tcPr>
                </a:tc>
                <a:extLst>
                  <a:ext uri="{0D108BD9-81ED-4DB2-BD59-A6C34878D82A}">
                    <a16:rowId xmlns:a16="http://schemas.microsoft.com/office/drawing/2014/main" val="2707098043"/>
                  </a:ext>
                </a:extLst>
              </a:tr>
              <a:tr h="0">
                <a:tc>
                  <a:txBody>
                    <a:bodyPr/>
                    <a:lstStyle/>
                    <a:p>
                      <a:r>
                        <a:rPr lang="en-US" sz="1600">
                          <a:effectLst/>
                        </a:rPr>
                        <a:t>isVerified</a:t>
                      </a:r>
                    </a:p>
                  </a:txBody>
                  <a:tcPr marL="63500" marR="63500" marT="31750" marB="31750" anchor="ctr">
                    <a:solidFill>
                      <a:schemeClr val="bg1"/>
                    </a:solidFill>
                  </a:tcPr>
                </a:tc>
                <a:tc>
                  <a:txBody>
                    <a:bodyPr/>
                    <a:lstStyle/>
                    <a:p>
                      <a:r>
                        <a:rPr lang="en-US" sz="1600">
                          <a:effectLst/>
                        </a:rPr>
                        <a:t>Boolean</a:t>
                      </a:r>
                    </a:p>
                  </a:txBody>
                  <a:tcPr marL="63500" marR="63500" marT="31750" marB="31750" anchor="ctr">
                    <a:solidFill>
                      <a:schemeClr val="bg1"/>
                    </a:solidFill>
                  </a:tcPr>
                </a:tc>
                <a:tc>
                  <a:txBody>
                    <a:bodyPr/>
                    <a:lstStyle/>
                    <a:p>
                      <a:r>
                        <a:rPr lang="en-US" sz="1600">
                          <a:effectLst/>
                        </a:rPr>
                        <a:t>true</a:t>
                      </a:r>
                    </a:p>
                  </a:txBody>
                  <a:tcPr marL="63500" marR="63500" marT="31750" marB="31750" anchor="ctr">
                    <a:solidFill>
                      <a:schemeClr val="bg1"/>
                    </a:solidFill>
                  </a:tcPr>
                </a:tc>
                <a:tc>
                  <a:txBody>
                    <a:bodyPr/>
                    <a:lstStyle/>
                    <a:p>
                      <a:r>
                        <a:rPr lang="en-US" sz="1600">
                          <a:effectLst/>
                        </a:rPr>
                        <a:t>True if booking exists and is completed. Verified badge shows on reviews.</a:t>
                      </a:r>
                    </a:p>
                  </a:txBody>
                  <a:tcPr marL="63500" marR="63500" marT="31750" marB="31750" anchor="ctr">
                    <a:solidFill>
                      <a:schemeClr val="bg1"/>
                    </a:solidFill>
                  </a:tcPr>
                </a:tc>
                <a:extLst>
                  <a:ext uri="{0D108BD9-81ED-4DB2-BD59-A6C34878D82A}">
                    <a16:rowId xmlns:a16="http://schemas.microsoft.com/office/drawing/2014/main" val="1840665485"/>
                  </a:ext>
                </a:extLst>
              </a:tr>
              <a:tr h="0">
                <a:tc>
                  <a:txBody>
                    <a:bodyPr/>
                    <a:lstStyle/>
                    <a:p>
                      <a:r>
                        <a:rPr lang="en-US" sz="1600">
                          <a:effectLst/>
                        </a:rPr>
                        <a:t>helpfulCount</a:t>
                      </a:r>
                    </a:p>
                  </a:txBody>
                  <a:tcPr marL="63500" marR="63500" marT="31750" marB="31750" anchor="ctr">
                    <a:solidFill>
                      <a:schemeClr val="bg1"/>
                    </a:solidFill>
                  </a:tcPr>
                </a:tc>
                <a:tc>
                  <a:txBody>
                    <a:bodyPr/>
                    <a:lstStyle/>
                    <a:p>
                      <a:r>
                        <a:rPr lang="en-US" sz="1600">
                          <a:effectLst/>
                        </a:rPr>
                        <a:t>Number</a:t>
                      </a:r>
                    </a:p>
                  </a:txBody>
                  <a:tcPr marL="63500" marR="63500" marT="31750" marB="31750" anchor="ctr">
                    <a:solidFill>
                      <a:schemeClr val="bg1"/>
                    </a:solidFill>
                  </a:tcPr>
                </a:tc>
                <a:tc>
                  <a:txBody>
                    <a:bodyPr/>
                    <a:lstStyle/>
                    <a:p>
                      <a:r>
                        <a:rPr lang="en-US" altLang="zh-CN" sz="1600" dirty="0">
                          <a:effectLst/>
                        </a:rPr>
                        <a:t>3</a:t>
                      </a:r>
                    </a:p>
                  </a:txBody>
                  <a:tcPr marL="63500" marR="63500" marT="31750" marB="31750" anchor="ctr">
                    <a:solidFill>
                      <a:schemeClr val="bg1"/>
                    </a:solidFill>
                  </a:tcPr>
                </a:tc>
                <a:tc>
                  <a:txBody>
                    <a:bodyPr/>
                    <a:lstStyle/>
                    <a:p>
                      <a:r>
                        <a:rPr lang="en-US" sz="1600">
                          <a:effectLst/>
                        </a:rPr>
                        <a:t>Number of upvotes from other students finding the review helpful.</a:t>
                      </a:r>
                    </a:p>
                  </a:txBody>
                  <a:tcPr marL="63500" marR="63500" marT="31750" marB="31750" anchor="ctr">
                    <a:solidFill>
                      <a:schemeClr val="bg1"/>
                    </a:solidFill>
                  </a:tcPr>
                </a:tc>
                <a:extLst>
                  <a:ext uri="{0D108BD9-81ED-4DB2-BD59-A6C34878D82A}">
                    <a16:rowId xmlns:a16="http://schemas.microsoft.com/office/drawing/2014/main" val="4200220290"/>
                  </a:ext>
                </a:extLst>
              </a:tr>
              <a:tr h="0">
                <a:tc>
                  <a:txBody>
                    <a:bodyPr/>
                    <a:lstStyle/>
                    <a:p>
                      <a:r>
                        <a:rPr lang="en-US" sz="1600">
                          <a:effectLst/>
                        </a:rPr>
                        <a:t>tutorResponse</a:t>
                      </a:r>
                    </a:p>
                  </a:txBody>
                  <a:tcPr marL="63500" marR="63500" marT="31750" marB="31750" anchor="ctr">
                    <a:solidFill>
                      <a:schemeClr val="bg1"/>
                    </a:solidFill>
                  </a:tcPr>
                </a:tc>
                <a:tc>
                  <a:txBody>
                    <a:bodyPr/>
                    <a:lstStyle/>
                    <a:p>
                      <a:r>
                        <a:rPr lang="en-US" sz="1600">
                          <a:effectLst/>
                        </a:rPr>
                        <a:t>String</a:t>
                      </a:r>
                    </a:p>
                  </a:txBody>
                  <a:tcPr marL="63500" marR="63500" marT="31750" marB="31750" anchor="ctr">
                    <a:solidFill>
                      <a:schemeClr val="bg1"/>
                    </a:solidFill>
                  </a:tcPr>
                </a:tc>
                <a:tc>
                  <a:txBody>
                    <a:bodyPr/>
                    <a:lstStyle/>
                    <a:p>
                      <a:r>
                        <a:rPr lang="en-US" sz="1600">
                          <a:effectLst/>
                        </a:rPr>
                        <a:t>Thank you Alice! It was great working with you...</a:t>
                      </a:r>
                    </a:p>
                  </a:txBody>
                  <a:tcPr marL="63500" marR="63500" marT="31750" marB="31750" anchor="ctr">
                    <a:solidFill>
                      <a:schemeClr val="bg1"/>
                    </a:solidFill>
                  </a:tcPr>
                </a:tc>
                <a:tc>
                  <a:txBody>
                    <a:bodyPr/>
                    <a:lstStyle/>
                    <a:p>
                      <a:r>
                        <a:rPr lang="en-US" sz="1600">
                          <a:effectLst/>
                        </a:rPr>
                        <a:t>Tutor's reply to the review. Optional field.</a:t>
                      </a:r>
                    </a:p>
                  </a:txBody>
                  <a:tcPr marL="63500" marR="63500" marT="31750" marB="31750" anchor="ctr">
                    <a:solidFill>
                      <a:schemeClr val="bg1"/>
                    </a:solidFill>
                  </a:tcPr>
                </a:tc>
                <a:extLst>
                  <a:ext uri="{0D108BD9-81ED-4DB2-BD59-A6C34878D82A}">
                    <a16:rowId xmlns:a16="http://schemas.microsoft.com/office/drawing/2014/main" val="533489075"/>
                  </a:ext>
                </a:extLst>
              </a:tr>
              <a:tr h="0">
                <a:tc>
                  <a:txBody>
                    <a:bodyPr/>
                    <a:lstStyle/>
                    <a:p>
                      <a:r>
                        <a:rPr lang="en-US" sz="1600">
                          <a:effectLst/>
                        </a:rPr>
                        <a:t>tutorResponseDate</a:t>
                      </a:r>
                    </a:p>
                  </a:txBody>
                  <a:tcPr marL="63500" marR="63500" marT="31750" marB="31750" anchor="ctr">
                    <a:solidFill>
                      <a:schemeClr val="bg1"/>
                    </a:solidFill>
                  </a:tcPr>
                </a:tc>
                <a:tc>
                  <a:txBody>
                    <a:bodyPr/>
                    <a:lstStyle/>
                    <a:p>
                      <a:r>
                        <a:rPr lang="en-US" sz="1600">
                          <a:effectLst/>
                        </a:rPr>
                        <a:t>Date</a:t>
                      </a:r>
                    </a:p>
                  </a:txBody>
                  <a:tcPr marL="63500" marR="63500" marT="31750" marB="31750" anchor="ctr">
                    <a:solidFill>
                      <a:schemeClr val="bg1"/>
                    </a:solidFill>
                  </a:tcPr>
                </a:tc>
                <a:tc>
                  <a:txBody>
                    <a:bodyPr/>
                    <a:lstStyle/>
                    <a:p>
                      <a:r>
                        <a:rPr lang="en-US" sz="1600">
                          <a:effectLst/>
                        </a:rPr>
                        <a:t>2025-10-21T10:00:00Z</a:t>
                      </a:r>
                    </a:p>
                  </a:txBody>
                  <a:tcPr marL="63500" marR="63500" marT="31750" marB="31750" anchor="ctr">
                    <a:solidFill>
                      <a:schemeClr val="bg1"/>
                    </a:solidFill>
                  </a:tcPr>
                </a:tc>
                <a:tc>
                  <a:txBody>
                    <a:bodyPr/>
                    <a:lstStyle/>
                    <a:p>
                      <a:r>
                        <a:rPr lang="en-US" sz="1600">
                          <a:effectLst/>
                        </a:rPr>
                        <a:t>Timestamp when tutor responded to review.</a:t>
                      </a:r>
                    </a:p>
                  </a:txBody>
                  <a:tcPr marL="63500" marR="63500" marT="31750" marB="31750" anchor="ctr">
                    <a:solidFill>
                      <a:schemeClr val="bg1"/>
                    </a:solidFill>
                  </a:tcPr>
                </a:tc>
                <a:extLst>
                  <a:ext uri="{0D108BD9-81ED-4DB2-BD59-A6C34878D82A}">
                    <a16:rowId xmlns:a16="http://schemas.microsoft.com/office/drawing/2014/main" val="895377019"/>
                  </a:ext>
                </a:extLst>
              </a:tr>
              <a:tr h="0">
                <a:tc>
                  <a:txBody>
                    <a:bodyPr/>
                    <a:lstStyle/>
                    <a:p>
                      <a:r>
                        <a:rPr lang="en-US" sz="1600">
                          <a:effectLst/>
                        </a:rPr>
                        <a:t>createdAt</a:t>
                      </a:r>
                    </a:p>
                  </a:txBody>
                  <a:tcPr marL="63500" marR="63500" marT="31750" marB="31750" anchor="ctr">
                    <a:solidFill>
                      <a:schemeClr val="bg1"/>
                    </a:solidFill>
                  </a:tcPr>
                </a:tc>
                <a:tc>
                  <a:txBody>
                    <a:bodyPr/>
                    <a:lstStyle/>
                    <a:p>
                      <a:r>
                        <a:rPr lang="en-US" sz="1600">
                          <a:effectLst/>
                        </a:rPr>
                        <a:t>Date</a:t>
                      </a:r>
                    </a:p>
                  </a:txBody>
                  <a:tcPr marL="63500" marR="63500" marT="31750" marB="31750" anchor="ctr">
                    <a:solidFill>
                      <a:schemeClr val="bg1"/>
                    </a:solidFill>
                  </a:tcPr>
                </a:tc>
                <a:tc>
                  <a:txBody>
                    <a:bodyPr/>
                    <a:lstStyle/>
                    <a:p>
                      <a:r>
                        <a:rPr lang="en-US" sz="1600">
                          <a:effectLst/>
                        </a:rPr>
                        <a:t>2025-10-15T16:00:00Z</a:t>
                      </a:r>
                    </a:p>
                  </a:txBody>
                  <a:tcPr marL="63500" marR="63500" marT="31750" marB="31750" anchor="ctr">
                    <a:solidFill>
                      <a:schemeClr val="bg1"/>
                    </a:solidFill>
                  </a:tcPr>
                </a:tc>
                <a:tc>
                  <a:txBody>
                    <a:bodyPr/>
                    <a:lstStyle/>
                    <a:p>
                      <a:r>
                        <a:rPr lang="en-US" sz="1600">
                          <a:effectLst/>
                        </a:rPr>
                        <a:t>Timestamp when review was submitted.</a:t>
                      </a:r>
                    </a:p>
                  </a:txBody>
                  <a:tcPr marL="63500" marR="63500" marT="31750" marB="31750" anchor="ctr">
                    <a:solidFill>
                      <a:schemeClr val="bg1"/>
                    </a:solidFill>
                  </a:tcPr>
                </a:tc>
                <a:extLst>
                  <a:ext uri="{0D108BD9-81ED-4DB2-BD59-A6C34878D82A}">
                    <a16:rowId xmlns:a16="http://schemas.microsoft.com/office/drawing/2014/main" val="884729469"/>
                  </a:ext>
                </a:extLst>
              </a:tr>
              <a:tr h="0">
                <a:tc>
                  <a:txBody>
                    <a:bodyPr/>
                    <a:lstStyle/>
                    <a:p>
                      <a:r>
                        <a:rPr lang="en-US" sz="1600">
                          <a:effectLst/>
                        </a:rPr>
                        <a:t>updatedAt</a:t>
                      </a:r>
                    </a:p>
                  </a:txBody>
                  <a:tcPr marL="63500" marR="63500" marT="31750" marB="31750" anchor="ctr">
                    <a:solidFill>
                      <a:schemeClr val="bg1"/>
                    </a:solidFill>
                  </a:tcPr>
                </a:tc>
                <a:tc>
                  <a:txBody>
                    <a:bodyPr/>
                    <a:lstStyle/>
                    <a:p>
                      <a:r>
                        <a:rPr lang="en-US" sz="1600">
                          <a:effectLst/>
                        </a:rPr>
                        <a:t>Date</a:t>
                      </a:r>
                    </a:p>
                  </a:txBody>
                  <a:tcPr marL="63500" marR="63500" marT="31750" marB="31750" anchor="ctr">
                    <a:solidFill>
                      <a:schemeClr val="bg1"/>
                    </a:solidFill>
                  </a:tcPr>
                </a:tc>
                <a:tc>
                  <a:txBody>
                    <a:bodyPr/>
                    <a:lstStyle/>
                    <a:p>
                      <a:r>
                        <a:rPr lang="en-US" sz="1600">
                          <a:effectLst/>
                        </a:rPr>
                        <a:t>2025-10-21T10:05:00Z</a:t>
                      </a:r>
                    </a:p>
                  </a:txBody>
                  <a:tcPr marL="63500" marR="63500" marT="31750" marB="31750" anchor="ctr">
                    <a:solidFill>
                      <a:schemeClr val="bg1"/>
                    </a:solidFill>
                  </a:tcPr>
                </a:tc>
                <a:tc>
                  <a:txBody>
                    <a:bodyPr/>
                    <a:lstStyle/>
                    <a:p>
                      <a:r>
                        <a:rPr lang="en-US" sz="1600" dirty="0">
                          <a:effectLst/>
                        </a:rPr>
                        <a:t>Timestamp of last review update (e.g., tutor response added).</a:t>
                      </a:r>
                    </a:p>
                  </a:txBody>
                  <a:tcPr marL="63500" marR="63500" marT="31750" marB="31750" anchor="ctr">
                    <a:solidFill>
                      <a:schemeClr val="bg1"/>
                    </a:solidFill>
                  </a:tcPr>
                </a:tc>
                <a:extLst>
                  <a:ext uri="{0D108BD9-81ED-4DB2-BD59-A6C34878D82A}">
                    <a16:rowId xmlns:a16="http://schemas.microsoft.com/office/drawing/2014/main" val="2174622589"/>
                  </a:ext>
                </a:extLst>
              </a:tr>
            </a:tbl>
          </a:graphicData>
        </a:graphic>
      </p:graphicFrame>
    </p:spTree>
    <p:extLst>
      <p:ext uri="{BB962C8B-B14F-4D97-AF65-F5344CB8AC3E}">
        <p14:creationId xmlns:p14="http://schemas.microsoft.com/office/powerpoint/2010/main" val="34566339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1E31C-1E70-E69B-9BFC-AC260099C3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F43A36-982E-C9D0-9BD9-A0CE9913B62E}"/>
              </a:ext>
            </a:extLst>
          </p:cNvPr>
          <p:cNvSpPr>
            <a:spLocks noGrp="1"/>
          </p:cNvSpPr>
          <p:nvPr>
            <p:ph type="title"/>
          </p:nvPr>
        </p:nvSpPr>
        <p:spPr>
          <a:xfrm>
            <a:off x="710063" y="0"/>
            <a:ext cx="10515600" cy="1325563"/>
          </a:xfrm>
        </p:spPr>
        <p:txBody>
          <a:bodyPr/>
          <a:lstStyle/>
          <a:p>
            <a:r>
              <a:rPr lang="en-US" b="1" dirty="0"/>
              <a:t>Data Modeling - </a:t>
            </a:r>
            <a:r>
              <a:rPr lang="en-US" altLang="zh-CN" b="1" dirty="0"/>
              <a:t>Review</a:t>
            </a:r>
            <a:endParaRPr lang="en-US" dirty="0"/>
          </a:p>
        </p:txBody>
      </p:sp>
      <p:sp>
        <p:nvSpPr>
          <p:cNvPr id="3" name="文本框 2">
            <a:extLst>
              <a:ext uri="{FF2B5EF4-FFF2-40B4-BE49-F238E27FC236}">
                <a16:creationId xmlns:a16="http://schemas.microsoft.com/office/drawing/2014/main" id="{0CE8EB19-6B45-41D4-1722-2B92F758F35C}"/>
              </a:ext>
            </a:extLst>
          </p:cNvPr>
          <p:cNvSpPr txBox="1"/>
          <p:nvPr/>
        </p:nvSpPr>
        <p:spPr>
          <a:xfrm>
            <a:off x="330200" y="1520785"/>
            <a:ext cx="4984750" cy="1908215"/>
          </a:xfrm>
          <a:prstGeom prst="rect">
            <a:avLst/>
          </a:prstGeom>
          <a:noFill/>
        </p:spPr>
        <p:txBody>
          <a:bodyPr wrap="square">
            <a:spAutoFit/>
          </a:bodyPr>
          <a:lstStyle/>
          <a:p>
            <a:pPr algn="l">
              <a:spcAft>
                <a:spcPts val="1200"/>
              </a:spcAft>
              <a:buNone/>
            </a:pPr>
            <a:r>
              <a:rPr lang="en-US" altLang="zh-CN" b="1" i="0" dirty="0">
                <a:effectLst/>
                <a:latin typeface="-apple-system"/>
              </a:rPr>
              <a:t>Relationships:</a:t>
            </a:r>
            <a:endParaRPr lang="en-US" altLang="zh-CN" b="0" i="0" dirty="0">
              <a:effectLst/>
              <a:latin typeface="-apple-system"/>
            </a:endParaRPr>
          </a:p>
          <a:p>
            <a:pPr>
              <a:buFont typeface="Arial" panose="020B0604020202020204" pitchFamily="34" charset="0"/>
              <a:buChar char="•"/>
            </a:pPr>
            <a:r>
              <a:rPr lang="en-US" altLang="zh-CN" dirty="0">
                <a:latin typeface="-apple-system"/>
              </a:rPr>
              <a:t>One-to-One with Booking (via </a:t>
            </a:r>
            <a:r>
              <a:rPr lang="en-US" altLang="zh-CN" dirty="0" err="1">
                <a:latin typeface="-apple-system"/>
              </a:rPr>
              <a:t>bookingId</a:t>
            </a:r>
            <a:r>
              <a:rPr lang="en-US" altLang="zh-CN" dirty="0">
                <a:latin typeface="-apple-system"/>
              </a:rPr>
              <a:t>)</a:t>
            </a:r>
          </a:p>
          <a:p>
            <a:pPr>
              <a:buFont typeface="Arial" panose="020B0604020202020204" pitchFamily="34" charset="0"/>
              <a:buChar char="•"/>
            </a:pPr>
            <a:endParaRPr lang="en-US" altLang="zh-CN" dirty="0">
              <a:latin typeface="-apple-system"/>
            </a:endParaRPr>
          </a:p>
          <a:p>
            <a:pPr>
              <a:buFont typeface="Arial" panose="020B0604020202020204" pitchFamily="34" charset="0"/>
              <a:buChar char="•"/>
            </a:pPr>
            <a:r>
              <a:rPr lang="en-US" altLang="zh-CN" dirty="0">
                <a:latin typeface="-apple-system"/>
              </a:rPr>
              <a:t>Many-to-One with User as tutor</a:t>
            </a:r>
          </a:p>
          <a:p>
            <a:pPr>
              <a:buFont typeface="Arial" panose="020B0604020202020204" pitchFamily="34" charset="0"/>
              <a:buChar char="•"/>
            </a:pPr>
            <a:endParaRPr lang="en-US" altLang="zh-CN" dirty="0">
              <a:latin typeface="-apple-system"/>
            </a:endParaRPr>
          </a:p>
          <a:p>
            <a:pPr>
              <a:buFont typeface="Arial" panose="020B0604020202020204" pitchFamily="34" charset="0"/>
              <a:buChar char="•"/>
            </a:pPr>
            <a:r>
              <a:rPr lang="en-US" altLang="zh-CN" dirty="0">
                <a:latin typeface="-apple-system"/>
              </a:rPr>
              <a:t>Many-to-One with User as student</a:t>
            </a:r>
            <a:endParaRPr lang="en-US" altLang="zh-CN" b="0" i="0" dirty="0">
              <a:effectLst/>
              <a:latin typeface="-apple-system"/>
            </a:endParaRPr>
          </a:p>
        </p:txBody>
      </p:sp>
      <p:sp>
        <p:nvSpPr>
          <p:cNvPr id="5" name="文本框 4">
            <a:extLst>
              <a:ext uri="{FF2B5EF4-FFF2-40B4-BE49-F238E27FC236}">
                <a16:creationId xmlns:a16="http://schemas.microsoft.com/office/drawing/2014/main" id="{59B8D26C-6717-C9B1-0AC6-91D8103ED24C}"/>
              </a:ext>
            </a:extLst>
          </p:cNvPr>
          <p:cNvSpPr txBox="1"/>
          <p:nvPr/>
        </p:nvSpPr>
        <p:spPr>
          <a:xfrm>
            <a:off x="5060950" y="1520785"/>
            <a:ext cx="6388100" cy="2462213"/>
          </a:xfrm>
          <a:prstGeom prst="rect">
            <a:avLst/>
          </a:prstGeom>
          <a:noFill/>
        </p:spPr>
        <p:txBody>
          <a:bodyPr wrap="square">
            <a:spAutoFit/>
          </a:bodyPr>
          <a:lstStyle/>
          <a:p>
            <a:pPr algn="l">
              <a:spcAft>
                <a:spcPts val="1200"/>
              </a:spcAft>
              <a:buNone/>
            </a:pPr>
            <a:r>
              <a:rPr lang="en-US" altLang="zh-CN" b="1" i="0" dirty="0">
                <a:effectLst/>
                <a:latin typeface="-apple-system"/>
              </a:rPr>
              <a:t>Logics:</a:t>
            </a:r>
            <a:endParaRPr lang="en-US" altLang="zh-CN" b="0" i="0" dirty="0">
              <a:effectLst/>
              <a:latin typeface="-apple-system"/>
            </a:endParaRPr>
          </a:p>
          <a:p>
            <a:pPr>
              <a:buFont typeface="Arial" panose="020B0604020202020204" pitchFamily="34" charset="0"/>
              <a:buChar char="•"/>
            </a:pPr>
            <a:r>
              <a:rPr lang="en-US" altLang="zh-CN" dirty="0">
                <a:latin typeface="-apple-system"/>
              </a:rPr>
              <a:t>A review can only be created if </a:t>
            </a:r>
            <a:r>
              <a:rPr lang="en-US" altLang="zh-CN" dirty="0" err="1">
                <a:latin typeface="-apple-system"/>
              </a:rPr>
              <a:t>booking.status</a:t>
            </a:r>
            <a:r>
              <a:rPr lang="en-US" altLang="zh-CN" dirty="0">
                <a:latin typeface="-apple-system"/>
              </a:rPr>
              <a:t> === "completed".</a:t>
            </a:r>
          </a:p>
          <a:p>
            <a:pPr>
              <a:buFont typeface="Arial" panose="020B0604020202020204" pitchFamily="34" charset="0"/>
              <a:buChar char="•"/>
            </a:pPr>
            <a:endParaRPr lang="en-US" altLang="zh-CN" dirty="0">
              <a:latin typeface="-apple-system"/>
            </a:endParaRPr>
          </a:p>
          <a:p>
            <a:pPr>
              <a:buFont typeface="Arial" panose="020B0604020202020204" pitchFamily="34" charset="0"/>
              <a:buChar char="•"/>
            </a:pPr>
            <a:r>
              <a:rPr lang="en-US" altLang="zh-CN" dirty="0" err="1">
                <a:latin typeface="-apple-system"/>
              </a:rPr>
              <a:t>isVerified</a:t>
            </a:r>
            <a:r>
              <a:rPr lang="en-US" altLang="zh-CN" dirty="0">
                <a:latin typeface="-apple-system"/>
              </a:rPr>
              <a:t> becomes true when the booking exists and is completed.</a:t>
            </a:r>
          </a:p>
          <a:p>
            <a:pPr>
              <a:buFont typeface="Arial" panose="020B0604020202020204" pitchFamily="34" charset="0"/>
              <a:buChar char="•"/>
            </a:pPr>
            <a:endParaRPr lang="en-US" altLang="zh-CN" dirty="0">
              <a:latin typeface="-apple-system"/>
            </a:endParaRPr>
          </a:p>
          <a:p>
            <a:pPr>
              <a:buFont typeface="Arial" panose="020B0604020202020204" pitchFamily="34" charset="0"/>
              <a:buChar char="•"/>
            </a:pPr>
            <a:r>
              <a:rPr lang="en-US" altLang="zh-CN" dirty="0">
                <a:latin typeface="-apple-system"/>
              </a:rPr>
              <a:t>Creating a review triggers Tutor </a:t>
            </a:r>
            <a:r>
              <a:rPr lang="en-US" altLang="zh-CN" dirty="0" err="1">
                <a:latin typeface="-apple-system"/>
              </a:rPr>
              <a:t>averageRating</a:t>
            </a:r>
            <a:r>
              <a:rPr lang="en-US" altLang="zh-CN" dirty="0">
                <a:latin typeface="-apple-system"/>
              </a:rPr>
              <a:t> recalculation through middleware.</a:t>
            </a:r>
            <a:endParaRPr lang="en-US" altLang="zh-CN" b="0" i="0" dirty="0">
              <a:effectLst/>
              <a:latin typeface="-apple-system"/>
            </a:endParaRPr>
          </a:p>
        </p:txBody>
      </p:sp>
    </p:spTree>
    <p:extLst>
      <p:ext uri="{BB962C8B-B14F-4D97-AF65-F5344CB8AC3E}">
        <p14:creationId xmlns:p14="http://schemas.microsoft.com/office/powerpoint/2010/main" val="33455145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502EC-6414-9759-523E-CCD345FAF0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E0D997-BAC6-11FF-4ED8-D67505C3E526}"/>
              </a:ext>
            </a:extLst>
          </p:cNvPr>
          <p:cNvSpPr>
            <a:spLocks noGrp="1"/>
          </p:cNvSpPr>
          <p:nvPr>
            <p:ph type="title"/>
          </p:nvPr>
        </p:nvSpPr>
        <p:spPr>
          <a:xfrm>
            <a:off x="710063" y="0"/>
            <a:ext cx="10515600" cy="1325563"/>
          </a:xfrm>
        </p:spPr>
        <p:txBody>
          <a:bodyPr/>
          <a:lstStyle/>
          <a:p>
            <a:r>
              <a:rPr lang="en-US" b="1" dirty="0"/>
              <a:t>Data Modeling - </a:t>
            </a:r>
            <a:r>
              <a:rPr lang="en-US" altLang="zh-CN" b="1" dirty="0"/>
              <a:t>Subject</a:t>
            </a:r>
            <a:endParaRPr lang="en-US" dirty="0"/>
          </a:p>
        </p:txBody>
      </p:sp>
      <p:graphicFrame>
        <p:nvGraphicFramePr>
          <p:cNvPr id="6" name="Table 5">
            <a:extLst>
              <a:ext uri="{FF2B5EF4-FFF2-40B4-BE49-F238E27FC236}">
                <a16:creationId xmlns:a16="http://schemas.microsoft.com/office/drawing/2014/main" id="{8ABE8405-E09C-6AED-335D-FD3EBAC56F16}"/>
              </a:ext>
            </a:extLst>
          </p:cNvPr>
          <p:cNvGraphicFramePr>
            <a:graphicFrameLocks noGrp="1"/>
          </p:cNvGraphicFramePr>
          <p:nvPr>
            <p:extLst>
              <p:ext uri="{D42A27DB-BD31-4B8C-83A1-F6EECF244321}">
                <p14:modId xmlns:p14="http://schemas.microsoft.com/office/powerpoint/2010/main" val="1182972601"/>
              </p:ext>
            </p:extLst>
          </p:nvPr>
        </p:nvGraphicFramePr>
        <p:xfrm>
          <a:off x="260350" y="1080628"/>
          <a:ext cx="11874501" cy="5504180"/>
        </p:xfrm>
        <a:graphic>
          <a:graphicData uri="http://schemas.openxmlformats.org/drawingml/2006/table">
            <a:tbl>
              <a:tblPr>
                <a:tableStyleId>{5940675A-B579-460E-94D1-54222C63F5DA}</a:tableStyleId>
              </a:tblPr>
              <a:tblGrid>
                <a:gridCol w="2889250">
                  <a:extLst>
                    <a:ext uri="{9D8B030D-6E8A-4147-A177-3AD203B41FA5}">
                      <a16:colId xmlns:a16="http://schemas.microsoft.com/office/drawing/2014/main" val="402914341"/>
                    </a:ext>
                  </a:extLst>
                </a:gridCol>
                <a:gridCol w="1619250">
                  <a:extLst>
                    <a:ext uri="{9D8B030D-6E8A-4147-A177-3AD203B41FA5}">
                      <a16:colId xmlns:a16="http://schemas.microsoft.com/office/drawing/2014/main" val="2214403198"/>
                    </a:ext>
                  </a:extLst>
                </a:gridCol>
                <a:gridCol w="2622550">
                  <a:extLst>
                    <a:ext uri="{9D8B030D-6E8A-4147-A177-3AD203B41FA5}">
                      <a16:colId xmlns:a16="http://schemas.microsoft.com/office/drawing/2014/main" val="4128410810"/>
                    </a:ext>
                  </a:extLst>
                </a:gridCol>
                <a:gridCol w="4743451">
                  <a:extLst>
                    <a:ext uri="{9D8B030D-6E8A-4147-A177-3AD203B41FA5}">
                      <a16:colId xmlns:a16="http://schemas.microsoft.com/office/drawing/2014/main" val="1825415284"/>
                    </a:ext>
                  </a:extLst>
                </a:gridCol>
              </a:tblGrid>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Table: </a:t>
                      </a:r>
                      <a:r>
                        <a:rPr lang="en-US" altLang="zh-CN" sz="1600" b="1" i="0" kern="1200" dirty="0">
                          <a:solidFill>
                            <a:schemeClr val="tx1"/>
                          </a:solidFill>
                          <a:effectLst/>
                          <a:latin typeface="+mn-lt"/>
                          <a:ea typeface="+mn-ea"/>
                          <a:cs typeface="+mn-cs"/>
                        </a:rPr>
                        <a:t>Subject</a:t>
                      </a:r>
                    </a:p>
                    <a:p>
                      <a:pPr>
                        <a:buNone/>
                      </a:pPr>
                      <a:endParaRPr lang="en-US" sz="1600" b="0" dirty="0"/>
                    </a:p>
                  </a:txBody>
                  <a:tcPr anchor="ctr">
                    <a:solidFill>
                      <a:schemeClr val="bg1"/>
                    </a:solidFill>
                  </a:tcPr>
                </a:tc>
                <a:tc gridSpan="3">
                  <a:txBody>
                    <a:bodyPr/>
                    <a:lstStyle/>
                    <a:p>
                      <a:pPr>
                        <a:buNone/>
                      </a:pPr>
                      <a:r>
                        <a:rPr lang="en-US" sz="1600" b="1" dirty="0"/>
                        <a:t>Description: </a:t>
                      </a:r>
                    </a:p>
                    <a:p>
                      <a:pPr>
                        <a:buNone/>
                      </a:pPr>
                      <a:r>
                        <a:rPr lang="en-US" altLang="zh-CN" sz="1600" b="0" i="0" kern="1200" dirty="0">
                          <a:solidFill>
                            <a:schemeClr val="tx1"/>
                          </a:solidFill>
                          <a:effectLst/>
                          <a:latin typeface="+mn-lt"/>
                          <a:ea typeface="+mn-ea"/>
                          <a:cs typeface="+mn-cs"/>
                        </a:rPr>
                        <a:t>Centralized catalog of available subjects for tutoring with metadata for categorization, prerequisites, and demand tracking.</a:t>
                      </a:r>
                    </a:p>
                    <a:p>
                      <a:pPr>
                        <a:buNone/>
                      </a:pPr>
                      <a:r>
                        <a:rPr lang="en-US" sz="1600" b="1" dirty="0"/>
                        <a:t>Usage in App:</a:t>
                      </a:r>
                      <a:r>
                        <a:rPr lang="en-US" sz="1600" dirty="0"/>
                        <a:t> </a:t>
                      </a:r>
                    </a:p>
                    <a:p>
                      <a:r>
                        <a:rPr lang="en-US" altLang="zh-CN" sz="1600" b="0" i="0" kern="1200" dirty="0">
                          <a:solidFill>
                            <a:schemeClr val="tx1"/>
                          </a:solidFill>
                          <a:effectLst/>
                          <a:latin typeface="+mn-lt"/>
                          <a:ea typeface="+mn-ea"/>
                          <a:cs typeface="+mn-cs"/>
                        </a:rPr>
                        <a:t>Referenced by Tutor profiles (subjects taught) and Bookings (session subject). Used in search filters, AI matching, and analytics to track popular subjects.</a:t>
                      </a:r>
                    </a:p>
                  </a:txBody>
                  <a:tcPr anchor="ctr">
                    <a:solidFill>
                      <a:schemeClr val="bg1"/>
                    </a:solidFill>
                  </a:tcPr>
                </a:tc>
                <a:tc hMerge="1">
                  <a:txBody>
                    <a:bodyPr/>
                    <a:lstStyle/>
                    <a:p>
                      <a:endParaRPr lang="en-US"/>
                    </a:p>
                  </a:txBody>
                  <a:tcPr/>
                </a:tc>
                <a:tc hMerge="1">
                  <a:txBody>
                    <a:bodyPr/>
                    <a:lstStyle/>
                    <a:p>
                      <a:pPr>
                        <a:buNone/>
                      </a:pPr>
                      <a:endParaRPr lang="en-US" b="1" dirty="0"/>
                    </a:p>
                  </a:txBody>
                  <a:tcPr anchor="ctr"/>
                </a:tc>
                <a:extLst>
                  <a:ext uri="{0D108BD9-81ED-4DB2-BD59-A6C34878D82A}">
                    <a16:rowId xmlns:a16="http://schemas.microsoft.com/office/drawing/2014/main" val="2947018476"/>
                  </a:ext>
                </a:extLst>
              </a:tr>
              <a:tr h="182880">
                <a:tc>
                  <a:txBody>
                    <a:bodyPr/>
                    <a:lstStyle/>
                    <a:p>
                      <a:pPr>
                        <a:buNone/>
                      </a:pPr>
                      <a:r>
                        <a:rPr lang="en-US" sz="1600" b="1" dirty="0"/>
                        <a:t>Attribute</a:t>
                      </a:r>
                    </a:p>
                  </a:txBody>
                  <a:tcPr anchor="ctr">
                    <a:solidFill>
                      <a:schemeClr val="bg1"/>
                    </a:solidFill>
                  </a:tcPr>
                </a:tc>
                <a:tc>
                  <a:txBody>
                    <a:bodyPr/>
                    <a:lstStyle/>
                    <a:p>
                      <a:pPr>
                        <a:buNone/>
                      </a:pPr>
                      <a:r>
                        <a:rPr lang="en-US" sz="1600" b="1" dirty="0"/>
                        <a:t>Type</a:t>
                      </a:r>
                    </a:p>
                  </a:txBody>
                  <a:tcPr anchor="ctr">
                    <a:solidFill>
                      <a:schemeClr val="bg1"/>
                    </a:solidFill>
                  </a:tcPr>
                </a:tc>
                <a:tc>
                  <a:txBody>
                    <a:bodyPr/>
                    <a:lstStyle/>
                    <a:p>
                      <a:pPr>
                        <a:buNone/>
                      </a:pPr>
                      <a:r>
                        <a:rPr lang="en-US" sz="1600" b="1" dirty="0"/>
                        <a:t>Sample Value</a:t>
                      </a:r>
                    </a:p>
                  </a:txBody>
                  <a:tcPr anchor="ctr">
                    <a:solidFill>
                      <a:schemeClr val="bg1"/>
                    </a:solidFill>
                  </a:tcPr>
                </a:tc>
                <a:tc>
                  <a:txBody>
                    <a:bodyPr/>
                    <a:lstStyle/>
                    <a:p>
                      <a:pPr>
                        <a:buNone/>
                      </a:pPr>
                      <a:r>
                        <a:rPr lang="en-US" sz="1600" b="1" dirty="0"/>
                        <a:t>Description</a:t>
                      </a:r>
                    </a:p>
                  </a:txBody>
                  <a:tcPr anchor="ctr">
                    <a:solidFill>
                      <a:schemeClr val="bg1"/>
                    </a:solidFill>
                  </a:tcPr>
                </a:tc>
                <a:extLst>
                  <a:ext uri="{0D108BD9-81ED-4DB2-BD59-A6C34878D82A}">
                    <a16:rowId xmlns:a16="http://schemas.microsoft.com/office/drawing/2014/main" val="70020745"/>
                  </a:ext>
                </a:extLst>
              </a:tr>
              <a:tr h="0">
                <a:tc>
                  <a:txBody>
                    <a:bodyPr/>
                    <a:lstStyle/>
                    <a:p>
                      <a:r>
                        <a:rPr lang="en-US" sz="1600">
                          <a:effectLst/>
                        </a:rPr>
                        <a:t>_id</a:t>
                      </a:r>
                    </a:p>
                  </a:txBody>
                  <a:tcPr marL="63500" marR="63500" marT="31750" marB="31750" anchor="ctr">
                    <a:solidFill>
                      <a:schemeClr val="bg1"/>
                    </a:solidFill>
                  </a:tcPr>
                </a:tc>
                <a:tc>
                  <a:txBody>
                    <a:bodyPr/>
                    <a:lstStyle/>
                    <a:p>
                      <a:r>
                        <a:rPr lang="en-US" sz="1600">
                          <a:effectLst/>
                        </a:rPr>
                        <a:t>ObjectId</a:t>
                      </a:r>
                    </a:p>
                  </a:txBody>
                  <a:tcPr marL="63500" marR="63500" marT="31750" marB="31750" anchor="ctr">
                    <a:solidFill>
                      <a:schemeClr val="bg1"/>
                    </a:solidFill>
                  </a:tcPr>
                </a:tc>
                <a:tc>
                  <a:txBody>
                    <a:bodyPr/>
                    <a:lstStyle/>
                    <a:p>
                      <a:r>
                        <a:rPr lang="en-US" sz="1600">
                          <a:effectLst/>
                        </a:rPr>
                        <a:t>subject_001</a:t>
                      </a:r>
                    </a:p>
                  </a:txBody>
                  <a:tcPr marL="63500" marR="63500" marT="31750" marB="31750" anchor="ctr">
                    <a:solidFill>
                      <a:schemeClr val="bg1"/>
                    </a:solidFill>
                  </a:tcPr>
                </a:tc>
                <a:tc>
                  <a:txBody>
                    <a:bodyPr/>
                    <a:lstStyle/>
                    <a:p>
                      <a:r>
                        <a:rPr lang="en-US" sz="1600">
                          <a:effectLst/>
                        </a:rPr>
                        <a:t>Unique identifier for each subject.</a:t>
                      </a:r>
                    </a:p>
                  </a:txBody>
                  <a:tcPr marL="63500" marR="63500" marT="31750" marB="31750" anchor="ctr">
                    <a:solidFill>
                      <a:schemeClr val="bg1"/>
                    </a:solidFill>
                  </a:tcPr>
                </a:tc>
                <a:extLst>
                  <a:ext uri="{0D108BD9-81ED-4DB2-BD59-A6C34878D82A}">
                    <a16:rowId xmlns:a16="http://schemas.microsoft.com/office/drawing/2014/main" val="2707098043"/>
                  </a:ext>
                </a:extLst>
              </a:tr>
              <a:tr h="0">
                <a:tc>
                  <a:txBody>
                    <a:bodyPr/>
                    <a:lstStyle/>
                    <a:p>
                      <a:r>
                        <a:rPr lang="en-US" sz="1600">
                          <a:effectLst/>
                        </a:rPr>
                        <a:t>code</a:t>
                      </a:r>
                    </a:p>
                  </a:txBody>
                  <a:tcPr marL="63500" marR="63500" marT="31750" marB="31750" anchor="ctr">
                    <a:solidFill>
                      <a:schemeClr val="bg1"/>
                    </a:solidFill>
                  </a:tcPr>
                </a:tc>
                <a:tc>
                  <a:txBody>
                    <a:bodyPr/>
                    <a:lstStyle/>
                    <a:p>
                      <a:r>
                        <a:rPr lang="en-US" sz="1600">
                          <a:effectLst/>
                        </a:rPr>
                        <a:t>String</a:t>
                      </a:r>
                    </a:p>
                  </a:txBody>
                  <a:tcPr marL="63500" marR="63500" marT="31750" marB="31750" anchor="ctr">
                    <a:solidFill>
                      <a:schemeClr val="bg1"/>
                    </a:solidFill>
                  </a:tcPr>
                </a:tc>
                <a:tc>
                  <a:txBody>
                    <a:bodyPr/>
                    <a:lstStyle/>
                    <a:p>
                      <a:r>
                        <a:rPr lang="en-US" sz="1600">
                          <a:effectLst/>
                        </a:rPr>
                        <a:t>DBAV</a:t>
                      </a:r>
                    </a:p>
                  </a:txBody>
                  <a:tcPr marL="63500" marR="63500" marT="31750" marB="31750" anchor="ctr">
                    <a:solidFill>
                      <a:schemeClr val="bg1"/>
                    </a:solidFill>
                  </a:tcPr>
                </a:tc>
                <a:tc>
                  <a:txBody>
                    <a:bodyPr/>
                    <a:lstStyle/>
                    <a:p>
                      <a:r>
                        <a:rPr lang="en-US" sz="1600">
                          <a:effectLst/>
                        </a:rPr>
                        <a:t>Short course code. Must be unique. Used in bookings and tutor profiles.</a:t>
                      </a:r>
                    </a:p>
                  </a:txBody>
                  <a:tcPr marL="63500" marR="63500" marT="31750" marB="31750" anchor="ctr">
                    <a:solidFill>
                      <a:schemeClr val="bg1"/>
                    </a:solidFill>
                  </a:tcPr>
                </a:tc>
                <a:extLst>
                  <a:ext uri="{0D108BD9-81ED-4DB2-BD59-A6C34878D82A}">
                    <a16:rowId xmlns:a16="http://schemas.microsoft.com/office/drawing/2014/main" val="1840665485"/>
                  </a:ext>
                </a:extLst>
              </a:tr>
              <a:tr h="0">
                <a:tc>
                  <a:txBody>
                    <a:bodyPr/>
                    <a:lstStyle/>
                    <a:p>
                      <a:r>
                        <a:rPr lang="en-US" sz="1600">
                          <a:effectLst/>
                        </a:rPr>
                        <a:t>name</a:t>
                      </a:r>
                    </a:p>
                  </a:txBody>
                  <a:tcPr marL="63500" marR="63500" marT="31750" marB="31750" anchor="ctr">
                    <a:solidFill>
                      <a:schemeClr val="bg1"/>
                    </a:solidFill>
                  </a:tcPr>
                </a:tc>
                <a:tc>
                  <a:txBody>
                    <a:bodyPr/>
                    <a:lstStyle/>
                    <a:p>
                      <a:r>
                        <a:rPr lang="en-US" sz="1600">
                          <a:effectLst/>
                        </a:rPr>
                        <a:t>String</a:t>
                      </a:r>
                    </a:p>
                  </a:txBody>
                  <a:tcPr marL="63500" marR="63500" marT="31750" marB="31750" anchor="ctr">
                    <a:solidFill>
                      <a:schemeClr val="bg1"/>
                    </a:solidFill>
                  </a:tcPr>
                </a:tc>
                <a:tc>
                  <a:txBody>
                    <a:bodyPr/>
                    <a:lstStyle/>
                    <a:p>
                      <a:r>
                        <a:rPr lang="en-US" sz="1600">
                          <a:effectLst/>
                        </a:rPr>
                        <a:t>Database and Advanced Visualization</a:t>
                      </a:r>
                    </a:p>
                  </a:txBody>
                  <a:tcPr marL="63500" marR="63500" marT="31750" marB="31750" anchor="ctr">
                    <a:solidFill>
                      <a:schemeClr val="bg1"/>
                    </a:solidFill>
                  </a:tcPr>
                </a:tc>
                <a:tc>
                  <a:txBody>
                    <a:bodyPr/>
                    <a:lstStyle/>
                    <a:p>
                      <a:r>
                        <a:rPr lang="en-US" sz="1600">
                          <a:effectLst/>
                        </a:rPr>
                        <a:t>Full subject name displayed in UI.</a:t>
                      </a:r>
                    </a:p>
                  </a:txBody>
                  <a:tcPr marL="63500" marR="63500" marT="31750" marB="31750" anchor="ctr">
                    <a:solidFill>
                      <a:schemeClr val="bg1"/>
                    </a:solidFill>
                  </a:tcPr>
                </a:tc>
                <a:extLst>
                  <a:ext uri="{0D108BD9-81ED-4DB2-BD59-A6C34878D82A}">
                    <a16:rowId xmlns:a16="http://schemas.microsoft.com/office/drawing/2014/main" val="4200220290"/>
                  </a:ext>
                </a:extLst>
              </a:tr>
              <a:tr h="0">
                <a:tc>
                  <a:txBody>
                    <a:bodyPr/>
                    <a:lstStyle/>
                    <a:p>
                      <a:r>
                        <a:rPr lang="en-US" sz="1600">
                          <a:effectLst/>
                        </a:rPr>
                        <a:t>category</a:t>
                      </a:r>
                    </a:p>
                  </a:txBody>
                  <a:tcPr marL="63500" marR="63500" marT="31750" marB="31750" anchor="ctr">
                    <a:solidFill>
                      <a:schemeClr val="bg1"/>
                    </a:solidFill>
                  </a:tcPr>
                </a:tc>
                <a:tc>
                  <a:txBody>
                    <a:bodyPr/>
                    <a:lstStyle/>
                    <a:p>
                      <a:r>
                        <a:rPr lang="en-US" sz="1600">
                          <a:effectLst/>
                        </a:rPr>
                        <a:t>String</a:t>
                      </a:r>
                    </a:p>
                  </a:txBody>
                  <a:tcPr marL="63500" marR="63500" marT="31750" marB="31750" anchor="ctr">
                    <a:solidFill>
                      <a:schemeClr val="bg1"/>
                    </a:solidFill>
                  </a:tcPr>
                </a:tc>
                <a:tc>
                  <a:txBody>
                    <a:bodyPr/>
                    <a:lstStyle/>
                    <a:p>
                      <a:r>
                        <a:rPr lang="en-US" sz="1600">
                          <a:effectLst/>
                        </a:rPr>
                        <a:t>Information Technology</a:t>
                      </a:r>
                    </a:p>
                  </a:txBody>
                  <a:tcPr marL="63500" marR="63500" marT="31750" marB="31750" anchor="ctr">
                    <a:solidFill>
                      <a:schemeClr val="bg1"/>
                    </a:solidFill>
                  </a:tcPr>
                </a:tc>
                <a:tc>
                  <a:txBody>
                    <a:bodyPr/>
                    <a:lstStyle/>
                    <a:p>
                      <a:r>
                        <a:rPr lang="en-US" sz="1600">
                          <a:effectLst/>
                        </a:rPr>
                        <a:t>Subject category for filtering: 'IT', 'Business', 'Engineering', etc.</a:t>
                      </a:r>
                    </a:p>
                  </a:txBody>
                  <a:tcPr marL="63500" marR="63500" marT="31750" marB="31750" anchor="ctr">
                    <a:solidFill>
                      <a:schemeClr val="bg1"/>
                    </a:solidFill>
                  </a:tcPr>
                </a:tc>
                <a:extLst>
                  <a:ext uri="{0D108BD9-81ED-4DB2-BD59-A6C34878D82A}">
                    <a16:rowId xmlns:a16="http://schemas.microsoft.com/office/drawing/2014/main" val="533489075"/>
                  </a:ext>
                </a:extLst>
              </a:tr>
              <a:tr h="0">
                <a:tc>
                  <a:txBody>
                    <a:bodyPr/>
                    <a:lstStyle/>
                    <a:p>
                      <a:r>
                        <a:rPr lang="en-US" sz="1600">
                          <a:effectLst/>
                        </a:rPr>
                        <a:t>yearLevel</a:t>
                      </a:r>
                    </a:p>
                  </a:txBody>
                  <a:tcPr marL="63500" marR="63500" marT="31750" marB="31750" anchor="ctr">
                    <a:solidFill>
                      <a:schemeClr val="bg1"/>
                    </a:solidFill>
                  </a:tcPr>
                </a:tc>
                <a:tc>
                  <a:txBody>
                    <a:bodyPr/>
                    <a:lstStyle/>
                    <a:p>
                      <a:r>
                        <a:rPr lang="en-US" sz="1600">
                          <a:effectLst/>
                        </a:rPr>
                        <a:t>Number</a:t>
                      </a:r>
                    </a:p>
                  </a:txBody>
                  <a:tcPr marL="63500" marR="63500" marT="31750" marB="31750" anchor="ctr">
                    <a:solidFill>
                      <a:schemeClr val="bg1"/>
                    </a:solidFill>
                  </a:tcPr>
                </a:tc>
                <a:tc>
                  <a:txBody>
                    <a:bodyPr/>
                    <a:lstStyle/>
                    <a:p>
                      <a:r>
                        <a:rPr lang="en-US" altLang="zh-CN" sz="1600">
                          <a:effectLst/>
                        </a:rPr>
                        <a:t>2</a:t>
                      </a:r>
                    </a:p>
                  </a:txBody>
                  <a:tcPr marL="63500" marR="63500" marT="31750" marB="31750" anchor="ctr">
                    <a:solidFill>
                      <a:schemeClr val="bg1"/>
                    </a:solidFill>
                  </a:tcPr>
                </a:tc>
                <a:tc>
                  <a:txBody>
                    <a:bodyPr/>
                    <a:lstStyle/>
                    <a:p>
                      <a:r>
                        <a:rPr lang="en-US" sz="1600">
                          <a:effectLst/>
                        </a:rPr>
                        <a:t>Academic year level (1, 2, or 3). Helps match students with appropriate tutors.</a:t>
                      </a:r>
                    </a:p>
                  </a:txBody>
                  <a:tcPr marL="63500" marR="63500" marT="31750" marB="31750" anchor="ctr">
                    <a:solidFill>
                      <a:schemeClr val="bg1"/>
                    </a:solidFill>
                  </a:tcPr>
                </a:tc>
                <a:extLst>
                  <a:ext uri="{0D108BD9-81ED-4DB2-BD59-A6C34878D82A}">
                    <a16:rowId xmlns:a16="http://schemas.microsoft.com/office/drawing/2014/main" val="895377019"/>
                  </a:ext>
                </a:extLst>
              </a:tr>
              <a:tr h="0">
                <a:tc>
                  <a:txBody>
                    <a:bodyPr/>
                    <a:lstStyle/>
                    <a:p>
                      <a:r>
                        <a:rPr lang="en-US" sz="1600">
                          <a:effectLst/>
                        </a:rPr>
                        <a:t>description</a:t>
                      </a:r>
                    </a:p>
                  </a:txBody>
                  <a:tcPr marL="63500" marR="63500" marT="31750" marB="31750" anchor="ctr">
                    <a:solidFill>
                      <a:schemeClr val="bg1"/>
                    </a:solidFill>
                  </a:tcPr>
                </a:tc>
                <a:tc>
                  <a:txBody>
                    <a:bodyPr/>
                    <a:lstStyle/>
                    <a:p>
                      <a:r>
                        <a:rPr lang="en-US" sz="1600">
                          <a:effectLst/>
                        </a:rPr>
                        <a:t>String</a:t>
                      </a:r>
                    </a:p>
                  </a:txBody>
                  <a:tcPr marL="63500" marR="63500" marT="31750" marB="31750" anchor="ctr">
                    <a:solidFill>
                      <a:schemeClr val="bg1"/>
                    </a:solidFill>
                  </a:tcPr>
                </a:tc>
                <a:tc>
                  <a:txBody>
                    <a:bodyPr/>
                    <a:lstStyle/>
                    <a:p>
                      <a:r>
                        <a:rPr lang="en-US" sz="1600">
                          <a:effectLst/>
                        </a:rPr>
                        <a:t>Learn database design, SQL optimization...</a:t>
                      </a:r>
                    </a:p>
                  </a:txBody>
                  <a:tcPr marL="63500" marR="63500" marT="31750" marB="31750" anchor="ctr">
                    <a:solidFill>
                      <a:schemeClr val="bg1"/>
                    </a:solidFill>
                  </a:tcPr>
                </a:tc>
                <a:tc>
                  <a:txBody>
                    <a:bodyPr/>
                    <a:lstStyle/>
                    <a:p>
                      <a:r>
                        <a:rPr lang="en-US" sz="1600">
                          <a:effectLst/>
                        </a:rPr>
                        <a:t>Brief subject overview displayed in search and subject details.</a:t>
                      </a:r>
                    </a:p>
                  </a:txBody>
                  <a:tcPr marL="63500" marR="63500" marT="31750" marB="31750" anchor="ctr">
                    <a:solidFill>
                      <a:schemeClr val="bg1"/>
                    </a:solidFill>
                  </a:tcPr>
                </a:tc>
                <a:extLst>
                  <a:ext uri="{0D108BD9-81ED-4DB2-BD59-A6C34878D82A}">
                    <a16:rowId xmlns:a16="http://schemas.microsoft.com/office/drawing/2014/main" val="884729469"/>
                  </a:ext>
                </a:extLst>
              </a:tr>
              <a:tr h="0">
                <a:tc>
                  <a:txBody>
                    <a:bodyPr/>
                    <a:lstStyle/>
                    <a:p>
                      <a:r>
                        <a:rPr lang="en-US" sz="1600">
                          <a:effectLst/>
                        </a:rPr>
                        <a:t>prerequisites</a:t>
                      </a:r>
                    </a:p>
                  </a:txBody>
                  <a:tcPr marL="63500" marR="63500" marT="31750" marB="31750" anchor="ctr">
                    <a:solidFill>
                      <a:schemeClr val="bg1"/>
                    </a:solidFill>
                  </a:tcPr>
                </a:tc>
                <a:tc>
                  <a:txBody>
                    <a:bodyPr/>
                    <a:lstStyle/>
                    <a:p>
                      <a:r>
                        <a:rPr lang="en-US" sz="1600">
                          <a:effectLst/>
                        </a:rPr>
                        <a:t>Array[String]</a:t>
                      </a:r>
                    </a:p>
                  </a:txBody>
                  <a:tcPr marL="63500" marR="63500" marT="31750" marB="31750" anchor="ctr">
                    <a:solidFill>
                      <a:schemeClr val="bg1"/>
                    </a:solidFill>
                  </a:tcPr>
                </a:tc>
                <a:tc>
                  <a:txBody>
                    <a:bodyPr/>
                    <a:lstStyle/>
                    <a:p>
                      <a:r>
                        <a:rPr lang="en-US" sz="1600">
                          <a:effectLst/>
                        </a:rPr>
                        <a:t>['Intro to Databases']</a:t>
                      </a:r>
                    </a:p>
                  </a:txBody>
                  <a:tcPr marL="63500" marR="63500" marT="31750" marB="31750" anchor="ctr">
                    <a:solidFill>
                      <a:schemeClr val="bg1"/>
                    </a:solidFill>
                  </a:tcPr>
                </a:tc>
                <a:tc>
                  <a:txBody>
                    <a:bodyPr/>
                    <a:lstStyle/>
                    <a:p>
                      <a:r>
                        <a:rPr lang="en-US" sz="1600" dirty="0">
                          <a:effectLst/>
                        </a:rPr>
                        <a:t>List of prerequisite subjects. Helps students understand learning path.</a:t>
                      </a:r>
                    </a:p>
                  </a:txBody>
                  <a:tcPr marL="63500" marR="63500" marT="31750" marB="31750" anchor="ctr">
                    <a:solidFill>
                      <a:schemeClr val="bg1"/>
                    </a:solidFill>
                  </a:tcPr>
                </a:tc>
                <a:extLst>
                  <a:ext uri="{0D108BD9-81ED-4DB2-BD59-A6C34878D82A}">
                    <a16:rowId xmlns:a16="http://schemas.microsoft.com/office/drawing/2014/main" val="2174622589"/>
                  </a:ext>
                </a:extLst>
              </a:tr>
            </a:tbl>
          </a:graphicData>
        </a:graphic>
      </p:graphicFrame>
    </p:spTree>
    <p:extLst>
      <p:ext uri="{BB962C8B-B14F-4D97-AF65-F5344CB8AC3E}">
        <p14:creationId xmlns:p14="http://schemas.microsoft.com/office/powerpoint/2010/main" val="40745710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BF5D1-2272-ABEC-321C-D57C440075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43E7EE-96DB-17FC-C1A5-EF37CAF28865}"/>
              </a:ext>
            </a:extLst>
          </p:cNvPr>
          <p:cNvSpPr>
            <a:spLocks noGrp="1"/>
          </p:cNvSpPr>
          <p:nvPr>
            <p:ph type="title"/>
          </p:nvPr>
        </p:nvSpPr>
        <p:spPr>
          <a:xfrm>
            <a:off x="710063" y="0"/>
            <a:ext cx="10515600" cy="1325563"/>
          </a:xfrm>
        </p:spPr>
        <p:txBody>
          <a:bodyPr/>
          <a:lstStyle/>
          <a:p>
            <a:r>
              <a:rPr lang="en-US" b="1" dirty="0"/>
              <a:t>Data Modeling - </a:t>
            </a:r>
            <a:r>
              <a:rPr lang="en-US" altLang="zh-CN" b="1" dirty="0"/>
              <a:t>Subject</a:t>
            </a:r>
            <a:endParaRPr lang="en-US" dirty="0"/>
          </a:p>
        </p:txBody>
      </p:sp>
      <p:graphicFrame>
        <p:nvGraphicFramePr>
          <p:cNvPr id="6" name="Table 5">
            <a:extLst>
              <a:ext uri="{FF2B5EF4-FFF2-40B4-BE49-F238E27FC236}">
                <a16:creationId xmlns:a16="http://schemas.microsoft.com/office/drawing/2014/main" id="{716F553A-A2CC-E5C5-3F5C-53E638768B75}"/>
              </a:ext>
            </a:extLst>
          </p:cNvPr>
          <p:cNvGraphicFramePr>
            <a:graphicFrameLocks noGrp="1"/>
          </p:cNvGraphicFramePr>
          <p:nvPr>
            <p:extLst>
              <p:ext uri="{D42A27DB-BD31-4B8C-83A1-F6EECF244321}">
                <p14:modId xmlns:p14="http://schemas.microsoft.com/office/powerpoint/2010/main" val="3229368384"/>
              </p:ext>
            </p:extLst>
          </p:nvPr>
        </p:nvGraphicFramePr>
        <p:xfrm>
          <a:off x="260350" y="1080628"/>
          <a:ext cx="11874501" cy="5260340"/>
        </p:xfrm>
        <a:graphic>
          <a:graphicData uri="http://schemas.openxmlformats.org/drawingml/2006/table">
            <a:tbl>
              <a:tblPr>
                <a:tableStyleId>{5940675A-B579-460E-94D1-54222C63F5DA}</a:tableStyleId>
              </a:tblPr>
              <a:tblGrid>
                <a:gridCol w="2889250">
                  <a:extLst>
                    <a:ext uri="{9D8B030D-6E8A-4147-A177-3AD203B41FA5}">
                      <a16:colId xmlns:a16="http://schemas.microsoft.com/office/drawing/2014/main" val="402914341"/>
                    </a:ext>
                  </a:extLst>
                </a:gridCol>
                <a:gridCol w="1619250">
                  <a:extLst>
                    <a:ext uri="{9D8B030D-6E8A-4147-A177-3AD203B41FA5}">
                      <a16:colId xmlns:a16="http://schemas.microsoft.com/office/drawing/2014/main" val="2214403198"/>
                    </a:ext>
                  </a:extLst>
                </a:gridCol>
                <a:gridCol w="2622550">
                  <a:extLst>
                    <a:ext uri="{9D8B030D-6E8A-4147-A177-3AD203B41FA5}">
                      <a16:colId xmlns:a16="http://schemas.microsoft.com/office/drawing/2014/main" val="4128410810"/>
                    </a:ext>
                  </a:extLst>
                </a:gridCol>
                <a:gridCol w="4743451">
                  <a:extLst>
                    <a:ext uri="{9D8B030D-6E8A-4147-A177-3AD203B41FA5}">
                      <a16:colId xmlns:a16="http://schemas.microsoft.com/office/drawing/2014/main" val="1825415284"/>
                    </a:ext>
                  </a:extLst>
                </a:gridCol>
              </a:tblGrid>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Table: </a:t>
                      </a:r>
                      <a:r>
                        <a:rPr lang="en-US" altLang="zh-CN" sz="1600" b="1" i="0" kern="1200" dirty="0">
                          <a:solidFill>
                            <a:schemeClr val="tx1"/>
                          </a:solidFill>
                          <a:effectLst/>
                          <a:latin typeface="+mn-lt"/>
                          <a:ea typeface="+mn-ea"/>
                          <a:cs typeface="+mn-cs"/>
                        </a:rPr>
                        <a:t>Subject</a:t>
                      </a:r>
                    </a:p>
                    <a:p>
                      <a:pPr>
                        <a:buNone/>
                      </a:pPr>
                      <a:endParaRPr lang="en-US" sz="1600" b="0" dirty="0"/>
                    </a:p>
                  </a:txBody>
                  <a:tcPr anchor="ctr">
                    <a:solidFill>
                      <a:schemeClr val="bg1"/>
                    </a:solidFill>
                  </a:tcPr>
                </a:tc>
                <a:tc gridSpan="3">
                  <a:txBody>
                    <a:bodyPr/>
                    <a:lstStyle/>
                    <a:p>
                      <a:pPr>
                        <a:buNone/>
                      </a:pPr>
                      <a:r>
                        <a:rPr lang="en-US" sz="1600" b="1" dirty="0"/>
                        <a:t>Description: </a:t>
                      </a:r>
                    </a:p>
                    <a:p>
                      <a:pPr>
                        <a:buNone/>
                      </a:pPr>
                      <a:r>
                        <a:rPr lang="en-US" altLang="zh-CN" sz="1600" b="0" i="0" kern="1200" dirty="0">
                          <a:solidFill>
                            <a:schemeClr val="tx1"/>
                          </a:solidFill>
                          <a:effectLst/>
                          <a:latin typeface="+mn-lt"/>
                          <a:ea typeface="+mn-ea"/>
                          <a:cs typeface="+mn-cs"/>
                        </a:rPr>
                        <a:t>Centralized catalog of available subjects for tutoring with metadata for categorization, prerequisites, and demand tracking.</a:t>
                      </a:r>
                    </a:p>
                    <a:p>
                      <a:pPr>
                        <a:buNone/>
                      </a:pPr>
                      <a:r>
                        <a:rPr lang="en-US" sz="1600" b="1" dirty="0"/>
                        <a:t>Usage in App:</a:t>
                      </a:r>
                      <a:r>
                        <a:rPr lang="en-US" sz="1600" dirty="0"/>
                        <a:t> </a:t>
                      </a:r>
                    </a:p>
                    <a:p>
                      <a:r>
                        <a:rPr lang="en-US" altLang="zh-CN" sz="1600" b="0" i="0" kern="1200" dirty="0">
                          <a:solidFill>
                            <a:schemeClr val="tx1"/>
                          </a:solidFill>
                          <a:effectLst/>
                          <a:latin typeface="+mn-lt"/>
                          <a:ea typeface="+mn-ea"/>
                          <a:cs typeface="+mn-cs"/>
                        </a:rPr>
                        <a:t>Referenced by Tutor profiles (subjects taught) and Bookings (session subject). Used in search filters, AI matching, and analytics to track popular subjects.</a:t>
                      </a:r>
                    </a:p>
                  </a:txBody>
                  <a:tcPr anchor="ctr">
                    <a:solidFill>
                      <a:schemeClr val="bg1"/>
                    </a:solidFill>
                  </a:tcPr>
                </a:tc>
                <a:tc hMerge="1">
                  <a:txBody>
                    <a:bodyPr/>
                    <a:lstStyle/>
                    <a:p>
                      <a:endParaRPr lang="en-US"/>
                    </a:p>
                  </a:txBody>
                  <a:tcPr/>
                </a:tc>
                <a:tc hMerge="1">
                  <a:txBody>
                    <a:bodyPr/>
                    <a:lstStyle/>
                    <a:p>
                      <a:pPr>
                        <a:buNone/>
                      </a:pPr>
                      <a:endParaRPr lang="en-US" b="1" dirty="0"/>
                    </a:p>
                  </a:txBody>
                  <a:tcPr anchor="ctr"/>
                </a:tc>
                <a:extLst>
                  <a:ext uri="{0D108BD9-81ED-4DB2-BD59-A6C34878D82A}">
                    <a16:rowId xmlns:a16="http://schemas.microsoft.com/office/drawing/2014/main" val="2947018476"/>
                  </a:ext>
                </a:extLst>
              </a:tr>
              <a:tr h="182880">
                <a:tc>
                  <a:txBody>
                    <a:bodyPr/>
                    <a:lstStyle/>
                    <a:p>
                      <a:pPr>
                        <a:buNone/>
                      </a:pPr>
                      <a:r>
                        <a:rPr lang="en-US" sz="1600" b="1" dirty="0"/>
                        <a:t>Attribute</a:t>
                      </a:r>
                    </a:p>
                  </a:txBody>
                  <a:tcPr anchor="ctr">
                    <a:solidFill>
                      <a:schemeClr val="bg1"/>
                    </a:solidFill>
                  </a:tcPr>
                </a:tc>
                <a:tc>
                  <a:txBody>
                    <a:bodyPr/>
                    <a:lstStyle/>
                    <a:p>
                      <a:pPr>
                        <a:buNone/>
                      </a:pPr>
                      <a:r>
                        <a:rPr lang="en-US" sz="1600" b="1" dirty="0"/>
                        <a:t>Type</a:t>
                      </a:r>
                    </a:p>
                  </a:txBody>
                  <a:tcPr anchor="ctr">
                    <a:solidFill>
                      <a:schemeClr val="bg1"/>
                    </a:solidFill>
                  </a:tcPr>
                </a:tc>
                <a:tc>
                  <a:txBody>
                    <a:bodyPr/>
                    <a:lstStyle/>
                    <a:p>
                      <a:pPr>
                        <a:buNone/>
                      </a:pPr>
                      <a:r>
                        <a:rPr lang="en-US" sz="1600" b="1" dirty="0"/>
                        <a:t>Sample Value</a:t>
                      </a:r>
                    </a:p>
                  </a:txBody>
                  <a:tcPr anchor="ctr">
                    <a:solidFill>
                      <a:schemeClr val="bg1"/>
                    </a:solidFill>
                  </a:tcPr>
                </a:tc>
                <a:tc>
                  <a:txBody>
                    <a:bodyPr/>
                    <a:lstStyle/>
                    <a:p>
                      <a:pPr>
                        <a:buNone/>
                      </a:pPr>
                      <a:r>
                        <a:rPr lang="en-US" sz="1600" b="1" dirty="0"/>
                        <a:t>Description</a:t>
                      </a:r>
                    </a:p>
                  </a:txBody>
                  <a:tcPr anchor="ctr">
                    <a:solidFill>
                      <a:schemeClr val="bg1"/>
                    </a:solidFill>
                  </a:tcPr>
                </a:tc>
                <a:extLst>
                  <a:ext uri="{0D108BD9-81ED-4DB2-BD59-A6C34878D82A}">
                    <a16:rowId xmlns:a16="http://schemas.microsoft.com/office/drawing/2014/main" val="70020745"/>
                  </a:ext>
                </a:extLst>
              </a:tr>
              <a:tr h="0">
                <a:tc>
                  <a:txBody>
                    <a:bodyPr/>
                    <a:lstStyle/>
                    <a:p>
                      <a:r>
                        <a:rPr lang="en-US" sz="1600">
                          <a:effectLst/>
                        </a:rPr>
                        <a:t>isActive</a:t>
                      </a:r>
                    </a:p>
                  </a:txBody>
                  <a:tcPr marL="63500" marR="63500" marT="31750" marB="31750" anchor="ctr">
                    <a:solidFill>
                      <a:schemeClr val="bg1"/>
                    </a:solidFill>
                  </a:tcPr>
                </a:tc>
                <a:tc>
                  <a:txBody>
                    <a:bodyPr/>
                    <a:lstStyle/>
                    <a:p>
                      <a:r>
                        <a:rPr lang="en-US" sz="1600" dirty="0">
                          <a:effectLst/>
                        </a:rPr>
                        <a:t>Boolean</a:t>
                      </a:r>
                    </a:p>
                  </a:txBody>
                  <a:tcPr marL="63500" marR="63500" marT="31750" marB="31750" anchor="ctr">
                    <a:solidFill>
                      <a:schemeClr val="bg1"/>
                    </a:solidFill>
                  </a:tcPr>
                </a:tc>
                <a:tc>
                  <a:txBody>
                    <a:bodyPr/>
                    <a:lstStyle/>
                    <a:p>
                      <a:r>
                        <a:rPr lang="en-US" sz="1600">
                          <a:effectLst/>
                        </a:rPr>
                        <a:t>true</a:t>
                      </a:r>
                    </a:p>
                  </a:txBody>
                  <a:tcPr marL="63500" marR="63500" marT="31750" marB="31750" anchor="ctr">
                    <a:solidFill>
                      <a:schemeClr val="bg1"/>
                    </a:solidFill>
                  </a:tcPr>
                </a:tc>
                <a:tc>
                  <a:txBody>
                    <a:bodyPr/>
                    <a:lstStyle/>
                    <a:p>
                      <a:r>
                        <a:rPr lang="en-US" sz="1600">
                          <a:effectLst/>
                        </a:rPr>
                        <a:t>Whether subject is currently offered. Inactive subjects hidden from search.</a:t>
                      </a:r>
                    </a:p>
                  </a:txBody>
                  <a:tcPr marL="63500" marR="63500" marT="31750" marB="31750" anchor="ctr">
                    <a:solidFill>
                      <a:schemeClr val="bg1"/>
                    </a:solidFill>
                  </a:tcPr>
                </a:tc>
                <a:extLst>
                  <a:ext uri="{0D108BD9-81ED-4DB2-BD59-A6C34878D82A}">
                    <a16:rowId xmlns:a16="http://schemas.microsoft.com/office/drawing/2014/main" val="2707098043"/>
                  </a:ext>
                </a:extLst>
              </a:tr>
              <a:tr h="0">
                <a:tc>
                  <a:txBody>
                    <a:bodyPr/>
                    <a:lstStyle/>
                    <a:p>
                      <a:r>
                        <a:rPr lang="en-US" sz="1600">
                          <a:effectLst/>
                        </a:rPr>
                        <a:t>tutorCount</a:t>
                      </a:r>
                    </a:p>
                  </a:txBody>
                  <a:tcPr marL="63500" marR="63500" marT="31750" marB="31750" anchor="ctr">
                    <a:solidFill>
                      <a:schemeClr val="bg1"/>
                    </a:solidFill>
                  </a:tcPr>
                </a:tc>
                <a:tc>
                  <a:txBody>
                    <a:bodyPr/>
                    <a:lstStyle/>
                    <a:p>
                      <a:r>
                        <a:rPr lang="en-US" sz="1600">
                          <a:effectLst/>
                        </a:rPr>
                        <a:t>Number</a:t>
                      </a:r>
                    </a:p>
                  </a:txBody>
                  <a:tcPr marL="63500" marR="63500" marT="31750" marB="31750" anchor="ctr">
                    <a:solidFill>
                      <a:schemeClr val="bg1"/>
                    </a:solidFill>
                  </a:tcPr>
                </a:tc>
                <a:tc>
                  <a:txBody>
                    <a:bodyPr/>
                    <a:lstStyle/>
                    <a:p>
                      <a:r>
                        <a:rPr lang="en-US" altLang="zh-CN" sz="1600">
                          <a:effectLst/>
                        </a:rPr>
                        <a:t>8</a:t>
                      </a:r>
                    </a:p>
                  </a:txBody>
                  <a:tcPr marL="63500" marR="63500" marT="31750" marB="31750" anchor="ctr">
                    <a:solidFill>
                      <a:schemeClr val="bg1"/>
                    </a:solidFill>
                  </a:tcPr>
                </a:tc>
                <a:tc>
                  <a:txBody>
                    <a:bodyPr/>
                    <a:lstStyle/>
                    <a:p>
                      <a:r>
                        <a:rPr lang="en-US" sz="1600">
                          <a:effectLst/>
                        </a:rPr>
                        <a:t>Number of tutors teaching this subject. Updated when tutors add/remove subjects.</a:t>
                      </a:r>
                    </a:p>
                  </a:txBody>
                  <a:tcPr marL="63500" marR="63500" marT="31750" marB="31750" anchor="ctr">
                    <a:solidFill>
                      <a:schemeClr val="bg1"/>
                    </a:solidFill>
                  </a:tcPr>
                </a:tc>
                <a:extLst>
                  <a:ext uri="{0D108BD9-81ED-4DB2-BD59-A6C34878D82A}">
                    <a16:rowId xmlns:a16="http://schemas.microsoft.com/office/drawing/2014/main" val="1840665485"/>
                  </a:ext>
                </a:extLst>
              </a:tr>
              <a:tr h="0">
                <a:tc>
                  <a:txBody>
                    <a:bodyPr/>
                    <a:lstStyle/>
                    <a:p>
                      <a:r>
                        <a:rPr lang="en-US" sz="1600">
                          <a:effectLst/>
                        </a:rPr>
                        <a:t>demandScore</a:t>
                      </a:r>
                    </a:p>
                  </a:txBody>
                  <a:tcPr marL="63500" marR="63500" marT="31750" marB="31750" anchor="ctr">
                    <a:solidFill>
                      <a:schemeClr val="bg1"/>
                    </a:solidFill>
                  </a:tcPr>
                </a:tc>
                <a:tc>
                  <a:txBody>
                    <a:bodyPr/>
                    <a:lstStyle/>
                    <a:p>
                      <a:r>
                        <a:rPr lang="en-US" sz="1600">
                          <a:effectLst/>
                        </a:rPr>
                        <a:t>Number</a:t>
                      </a:r>
                    </a:p>
                  </a:txBody>
                  <a:tcPr marL="63500" marR="63500" marT="31750" marB="31750" anchor="ctr">
                    <a:solidFill>
                      <a:schemeClr val="bg1"/>
                    </a:solidFill>
                  </a:tcPr>
                </a:tc>
                <a:tc>
                  <a:txBody>
                    <a:bodyPr/>
                    <a:lstStyle/>
                    <a:p>
                      <a:r>
                        <a:rPr lang="en-US" altLang="zh-CN" sz="1600">
                          <a:effectLst/>
                        </a:rPr>
                        <a:t>87</a:t>
                      </a:r>
                    </a:p>
                  </a:txBody>
                  <a:tcPr marL="63500" marR="63500" marT="31750" marB="31750" anchor="ctr">
                    <a:solidFill>
                      <a:schemeClr val="bg1"/>
                    </a:solidFill>
                  </a:tcPr>
                </a:tc>
                <a:tc>
                  <a:txBody>
                    <a:bodyPr/>
                    <a:lstStyle/>
                    <a:p>
                      <a:r>
                        <a:rPr lang="en-US" sz="1600">
                          <a:effectLst/>
                        </a:rPr>
                        <a:t>Popularity metric based on recent booking frequency. Updated weekly for AI recommendations.</a:t>
                      </a:r>
                    </a:p>
                  </a:txBody>
                  <a:tcPr marL="63500" marR="63500" marT="31750" marB="31750" anchor="ctr">
                    <a:solidFill>
                      <a:schemeClr val="bg1"/>
                    </a:solidFill>
                  </a:tcPr>
                </a:tc>
                <a:extLst>
                  <a:ext uri="{0D108BD9-81ED-4DB2-BD59-A6C34878D82A}">
                    <a16:rowId xmlns:a16="http://schemas.microsoft.com/office/drawing/2014/main" val="4200220290"/>
                  </a:ext>
                </a:extLst>
              </a:tr>
              <a:tr h="0">
                <a:tc>
                  <a:txBody>
                    <a:bodyPr/>
                    <a:lstStyle/>
                    <a:p>
                      <a:r>
                        <a:rPr lang="en-US" sz="1600">
                          <a:effectLst/>
                        </a:rPr>
                        <a:t>createdAt</a:t>
                      </a:r>
                    </a:p>
                  </a:txBody>
                  <a:tcPr marL="63500" marR="63500" marT="31750" marB="31750" anchor="ctr">
                    <a:solidFill>
                      <a:schemeClr val="bg1"/>
                    </a:solidFill>
                  </a:tcPr>
                </a:tc>
                <a:tc>
                  <a:txBody>
                    <a:bodyPr/>
                    <a:lstStyle/>
                    <a:p>
                      <a:r>
                        <a:rPr lang="en-US" sz="1600">
                          <a:effectLst/>
                        </a:rPr>
                        <a:t>Date</a:t>
                      </a:r>
                    </a:p>
                  </a:txBody>
                  <a:tcPr marL="63500" marR="63500" marT="31750" marB="31750" anchor="ctr">
                    <a:solidFill>
                      <a:schemeClr val="bg1"/>
                    </a:solidFill>
                  </a:tcPr>
                </a:tc>
                <a:tc>
                  <a:txBody>
                    <a:bodyPr/>
                    <a:lstStyle/>
                    <a:p>
                      <a:r>
                        <a:rPr lang="en-US" sz="1600">
                          <a:effectLst/>
                        </a:rPr>
                        <a:t>2025-09-01T00:00:00Z</a:t>
                      </a:r>
                    </a:p>
                  </a:txBody>
                  <a:tcPr marL="63500" marR="63500" marT="31750" marB="31750" anchor="ctr">
                    <a:solidFill>
                      <a:schemeClr val="bg1"/>
                    </a:solidFill>
                  </a:tcPr>
                </a:tc>
                <a:tc>
                  <a:txBody>
                    <a:bodyPr/>
                    <a:lstStyle/>
                    <a:p>
                      <a:r>
                        <a:rPr lang="en-US" sz="1600">
                          <a:effectLst/>
                        </a:rPr>
                        <a:t>Timestamp when subject was added to catalog.</a:t>
                      </a:r>
                    </a:p>
                  </a:txBody>
                  <a:tcPr marL="63500" marR="63500" marT="31750" marB="31750" anchor="ctr">
                    <a:solidFill>
                      <a:schemeClr val="bg1"/>
                    </a:solidFill>
                  </a:tcPr>
                </a:tc>
                <a:extLst>
                  <a:ext uri="{0D108BD9-81ED-4DB2-BD59-A6C34878D82A}">
                    <a16:rowId xmlns:a16="http://schemas.microsoft.com/office/drawing/2014/main" val="533489075"/>
                  </a:ext>
                </a:extLst>
              </a:tr>
              <a:tr h="0">
                <a:tc>
                  <a:txBody>
                    <a:bodyPr/>
                    <a:lstStyle/>
                    <a:p>
                      <a:r>
                        <a:rPr lang="en-US" sz="1600">
                          <a:effectLst/>
                        </a:rPr>
                        <a:t>updatedAt</a:t>
                      </a:r>
                    </a:p>
                  </a:txBody>
                  <a:tcPr marL="63500" marR="63500" marT="31750" marB="31750" anchor="ctr">
                    <a:solidFill>
                      <a:schemeClr val="bg1"/>
                    </a:solidFill>
                  </a:tcPr>
                </a:tc>
                <a:tc>
                  <a:txBody>
                    <a:bodyPr/>
                    <a:lstStyle/>
                    <a:p>
                      <a:r>
                        <a:rPr lang="en-US" sz="1600">
                          <a:effectLst/>
                        </a:rPr>
                        <a:t>Date</a:t>
                      </a:r>
                    </a:p>
                  </a:txBody>
                  <a:tcPr marL="63500" marR="63500" marT="31750" marB="31750" anchor="ctr">
                    <a:solidFill>
                      <a:schemeClr val="bg1"/>
                    </a:solidFill>
                  </a:tcPr>
                </a:tc>
                <a:tc>
                  <a:txBody>
                    <a:bodyPr/>
                    <a:lstStyle/>
                    <a:p>
                      <a:r>
                        <a:rPr lang="en-US" sz="1600">
                          <a:effectLst/>
                        </a:rPr>
                        <a:t>2025-11-18T12:00:00Z</a:t>
                      </a:r>
                    </a:p>
                  </a:txBody>
                  <a:tcPr marL="63500" marR="63500" marT="31750" marB="31750" anchor="ctr">
                    <a:solidFill>
                      <a:schemeClr val="bg1"/>
                    </a:solidFill>
                  </a:tcPr>
                </a:tc>
                <a:tc>
                  <a:txBody>
                    <a:bodyPr/>
                    <a:lstStyle/>
                    <a:p>
                      <a:r>
                        <a:rPr lang="en-US" sz="1600">
                          <a:effectLst/>
                        </a:rPr>
                        <a:t>Timestamp of last subject information update.</a:t>
                      </a:r>
                    </a:p>
                  </a:txBody>
                  <a:tcPr marL="63500" marR="63500" marT="31750" marB="31750" anchor="ctr">
                    <a:solidFill>
                      <a:schemeClr val="bg1"/>
                    </a:solidFill>
                  </a:tcPr>
                </a:tc>
                <a:extLst>
                  <a:ext uri="{0D108BD9-81ED-4DB2-BD59-A6C34878D82A}">
                    <a16:rowId xmlns:a16="http://schemas.microsoft.com/office/drawing/2014/main" val="895377019"/>
                  </a:ext>
                </a:extLst>
              </a:tr>
              <a:tr h="0">
                <a:tc>
                  <a:txBody>
                    <a:bodyPr/>
                    <a:lstStyle/>
                    <a:p>
                      <a:r>
                        <a:rPr lang="en-US" sz="1600">
                          <a:effectLst/>
                        </a:rPr>
                        <a:t>isActive</a:t>
                      </a:r>
                    </a:p>
                  </a:txBody>
                  <a:tcPr marL="63500" marR="63500" marT="31750" marB="31750" anchor="ctr">
                    <a:solidFill>
                      <a:schemeClr val="bg1"/>
                    </a:solidFill>
                  </a:tcPr>
                </a:tc>
                <a:tc>
                  <a:txBody>
                    <a:bodyPr/>
                    <a:lstStyle/>
                    <a:p>
                      <a:r>
                        <a:rPr lang="en-US" sz="1600">
                          <a:effectLst/>
                        </a:rPr>
                        <a:t>Boolean</a:t>
                      </a:r>
                    </a:p>
                  </a:txBody>
                  <a:tcPr marL="63500" marR="63500" marT="31750" marB="31750" anchor="ctr">
                    <a:solidFill>
                      <a:schemeClr val="bg1"/>
                    </a:solidFill>
                  </a:tcPr>
                </a:tc>
                <a:tc>
                  <a:txBody>
                    <a:bodyPr/>
                    <a:lstStyle/>
                    <a:p>
                      <a:r>
                        <a:rPr lang="en-US" sz="1600">
                          <a:effectLst/>
                        </a:rPr>
                        <a:t>true</a:t>
                      </a:r>
                    </a:p>
                  </a:txBody>
                  <a:tcPr marL="63500" marR="63500" marT="31750" marB="31750" anchor="ctr">
                    <a:solidFill>
                      <a:schemeClr val="bg1"/>
                    </a:solidFill>
                  </a:tcPr>
                </a:tc>
                <a:tc>
                  <a:txBody>
                    <a:bodyPr/>
                    <a:lstStyle/>
                    <a:p>
                      <a:r>
                        <a:rPr lang="en-US" sz="1600">
                          <a:effectLst/>
                        </a:rPr>
                        <a:t>Whether subject is currently offered. Inactive subjects hidden from search.</a:t>
                      </a:r>
                    </a:p>
                  </a:txBody>
                  <a:tcPr marL="63500" marR="63500" marT="31750" marB="31750" anchor="ctr">
                    <a:solidFill>
                      <a:schemeClr val="bg1"/>
                    </a:solidFill>
                  </a:tcPr>
                </a:tc>
                <a:extLst>
                  <a:ext uri="{0D108BD9-81ED-4DB2-BD59-A6C34878D82A}">
                    <a16:rowId xmlns:a16="http://schemas.microsoft.com/office/drawing/2014/main" val="884729469"/>
                  </a:ext>
                </a:extLst>
              </a:tr>
              <a:tr h="0">
                <a:tc>
                  <a:txBody>
                    <a:bodyPr/>
                    <a:lstStyle/>
                    <a:p>
                      <a:r>
                        <a:rPr lang="en-US" sz="1600">
                          <a:effectLst/>
                        </a:rPr>
                        <a:t>tutorCount</a:t>
                      </a:r>
                    </a:p>
                  </a:txBody>
                  <a:tcPr marL="63500" marR="63500" marT="31750" marB="31750" anchor="ctr">
                    <a:solidFill>
                      <a:schemeClr val="bg1"/>
                    </a:solidFill>
                  </a:tcPr>
                </a:tc>
                <a:tc>
                  <a:txBody>
                    <a:bodyPr/>
                    <a:lstStyle/>
                    <a:p>
                      <a:r>
                        <a:rPr lang="en-US" sz="1600">
                          <a:effectLst/>
                        </a:rPr>
                        <a:t>Number</a:t>
                      </a:r>
                    </a:p>
                  </a:txBody>
                  <a:tcPr marL="63500" marR="63500" marT="31750" marB="31750" anchor="ctr">
                    <a:solidFill>
                      <a:schemeClr val="bg1"/>
                    </a:solidFill>
                  </a:tcPr>
                </a:tc>
                <a:tc>
                  <a:txBody>
                    <a:bodyPr/>
                    <a:lstStyle/>
                    <a:p>
                      <a:r>
                        <a:rPr lang="en-US" altLang="zh-CN" sz="1600">
                          <a:effectLst/>
                        </a:rPr>
                        <a:t>8</a:t>
                      </a:r>
                    </a:p>
                  </a:txBody>
                  <a:tcPr marL="63500" marR="63500" marT="31750" marB="31750" anchor="ctr">
                    <a:solidFill>
                      <a:schemeClr val="bg1"/>
                    </a:solidFill>
                  </a:tcPr>
                </a:tc>
                <a:tc>
                  <a:txBody>
                    <a:bodyPr/>
                    <a:lstStyle/>
                    <a:p>
                      <a:r>
                        <a:rPr lang="en-US" sz="1600" dirty="0">
                          <a:effectLst/>
                        </a:rPr>
                        <a:t>Number of tutors teaching this subject. Updated when tutors add/remove subjects.</a:t>
                      </a:r>
                    </a:p>
                  </a:txBody>
                  <a:tcPr marL="63500" marR="63500" marT="31750" marB="31750" anchor="ctr">
                    <a:solidFill>
                      <a:schemeClr val="bg1"/>
                    </a:solidFill>
                  </a:tcPr>
                </a:tc>
                <a:extLst>
                  <a:ext uri="{0D108BD9-81ED-4DB2-BD59-A6C34878D82A}">
                    <a16:rowId xmlns:a16="http://schemas.microsoft.com/office/drawing/2014/main" val="2174622589"/>
                  </a:ext>
                </a:extLst>
              </a:tr>
            </a:tbl>
          </a:graphicData>
        </a:graphic>
      </p:graphicFrame>
    </p:spTree>
    <p:extLst>
      <p:ext uri="{BB962C8B-B14F-4D97-AF65-F5344CB8AC3E}">
        <p14:creationId xmlns:p14="http://schemas.microsoft.com/office/powerpoint/2010/main" val="37932685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E380C-90C6-9BD5-88C8-BA4332A81F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D74E33-D068-09F6-AFFB-1700939F76BB}"/>
              </a:ext>
            </a:extLst>
          </p:cNvPr>
          <p:cNvSpPr>
            <a:spLocks noGrp="1"/>
          </p:cNvSpPr>
          <p:nvPr>
            <p:ph type="title"/>
          </p:nvPr>
        </p:nvSpPr>
        <p:spPr>
          <a:xfrm>
            <a:off x="710063" y="0"/>
            <a:ext cx="10515600" cy="1325563"/>
          </a:xfrm>
        </p:spPr>
        <p:txBody>
          <a:bodyPr/>
          <a:lstStyle/>
          <a:p>
            <a:pPr lvl="0"/>
            <a:r>
              <a:rPr lang="en-US" b="1" dirty="0"/>
              <a:t>Data Modeling</a:t>
            </a:r>
            <a:endParaRPr lang="en-US" dirty="0"/>
          </a:p>
        </p:txBody>
      </p:sp>
      <p:pic>
        <p:nvPicPr>
          <p:cNvPr id="5" name="图片 4" descr="图片包含 图示&#10;&#10;AI 生成的内容可能不正确。">
            <a:extLst>
              <a:ext uri="{FF2B5EF4-FFF2-40B4-BE49-F238E27FC236}">
                <a16:creationId xmlns:a16="http://schemas.microsoft.com/office/drawing/2014/main" id="{8CDBAF85-F120-9ECC-C1D0-062EECB612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59222" y="355599"/>
            <a:ext cx="4086578" cy="5791201"/>
          </a:xfrm>
          <a:prstGeom prst="rect">
            <a:avLst/>
          </a:prstGeom>
        </p:spPr>
      </p:pic>
      <p:sp>
        <p:nvSpPr>
          <p:cNvPr id="7" name="文本框 6">
            <a:extLst>
              <a:ext uri="{FF2B5EF4-FFF2-40B4-BE49-F238E27FC236}">
                <a16:creationId xmlns:a16="http://schemas.microsoft.com/office/drawing/2014/main" id="{BE9AA6AD-449B-92F5-5E65-0FBC6A48DD6C}"/>
              </a:ext>
            </a:extLst>
          </p:cNvPr>
          <p:cNvSpPr txBox="1"/>
          <p:nvPr/>
        </p:nvSpPr>
        <p:spPr>
          <a:xfrm>
            <a:off x="618544" y="1162050"/>
            <a:ext cx="3041650" cy="584775"/>
          </a:xfrm>
          <a:prstGeom prst="rect">
            <a:avLst/>
          </a:prstGeom>
          <a:noFill/>
        </p:spPr>
        <p:txBody>
          <a:bodyPr wrap="square" rtlCol="0">
            <a:spAutoFit/>
          </a:bodyPr>
          <a:lstStyle/>
          <a:p>
            <a:r>
              <a:rPr lang="en-US" altLang="zh-CN" sz="3200" b="1" dirty="0"/>
              <a:t>ERD Diagram</a:t>
            </a:r>
            <a:endParaRPr lang="zh-CN" altLang="en-US" sz="3200" b="1" dirty="0"/>
          </a:p>
        </p:txBody>
      </p:sp>
    </p:spTree>
    <p:extLst>
      <p:ext uri="{BB962C8B-B14F-4D97-AF65-F5344CB8AC3E}">
        <p14:creationId xmlns:p14="http://schemas.microsoft.com/office/powerpoint/2010/main" val="26610112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D63F1-7100-3F4A-01D5-121E91BBA867}"/>
              </a:ext>
            </a:extLst>
          </p:cNvPr>
          <p:cNvSpPr>
            <a:spLocks noGrp="1"/>
          </p:cNvSpPr>
          <p:nvPr>
            <p:ph type="title"/>
          </p:nvPr>
        </p:nvSpPr>
        <p:spPr>
          <a:xfrm>
            <a:off x="645694" y="2578935"/>
            <a:ext cx="10515600" cy="1325563"/>
          </a:xfrm>
        </p:spPr>
        <p:txBody>
          <a:bodyPr/>
          <a:lstStyle/>
          <a:p>
            <a:pPr algn="ctr"/>
            <a:r>
              <a:rPr lang="en-US" b="1" dirty="0"/>
              <a:t>The End</a:t>
            </a:r>
          </a:p>
        </p:txBody>
      </p:sp>
    </p:spTree>
    <p:extLst>
      <p:ext uri="{BB962C8B-B14F-4D97-AF65-F5344CB8AC3E}">
        <p14:creationId xmlns:p14="http://schemas.microsoft.com/office/powerpoint/2010/main" val="312713069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10.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Usability Testing&amp;quot;&quot;/&gt;&lt;property id=&quot;20307&quot; value=&quot;256&quot;/&gt;&lt;/object&gt;&lt;object type=&quot;3&quot; unique_id=&quot;10005&quot;&gt;&lt;property id=&quot;20148&quot; value=&quot;5&quot;/&gt;&lt;property id=&quot;20300&quot; value=&quot;Slide 2&quot;/&gt;&lt;property id=&quot;20307&quot; value=&quot;257&quot;/&gt;&lt;/object&gt;&lt;object type=&quot;3&quot; unique_id=&quot;10475&quot;&gt;&lt;property id=&quot;20148&quot; value=&quot;5&quot;/&gt;&lt;property id=&quot;20300&quot; value=&quot;Slide 6 - &amp;quot;Quick Recap | Tenets of Usability&amp;quot;&quot;/&gt;&lt;property id=&quot;20307&quot; value=&quot;268&quot;/&gt;&lt;/object&gt;&lt;object type=&quot;3&quot; unique_id=&quot;10477&quot;&gt;&lt;property id=&quot;20148&quot; value=&quot;5&quot;/&gt;&lt;property id=&quot;20300&quot; value=&quot;Slide 16&quot;/&gt;&lt;property id=&quot;20307&quot; value=&quot;260&quot;/&gt;&lt;/object&gt;&lt;object type=&quot;3&quot; unique_id=&quot;10615&quot;&gt;&lt;property id=&quot;20148&quot; value=&quot;5&quot;/&gt;&lt;property id=&quot;20300&quot; value=&quot;Slide 3&quot;/&gt;&lt;property id=&quot;20307&quot; value=&quot;272&quot;/&gt;&lt;/object&gt;&lt;object type=&quot;3&quot; unique_id=&quot;10616&quot;&gt;&lt;property id=&quot;20148&quot; value=&quot;5&quot;/&gt;&lt;property id=&quot;20300&quot; value=&quot;Slide 4&quot;/&gt;&lt;property id=&quot;20307&quot; value=&quot;273&quot;/&gt;&lt;/object&gt;&lt;object type=&quot;3&quot; unique_id=&quot;11145&quot;&gt;&lt;property id=&quot;20148&quot; value=&quot;5&quot;/&gt;&lt;property id=&quot;20300&quot; value=&quot;Slide 5 - &amp;quot;UXiD Project 2&amp;quot;&quot;/&gt;&lt;property id=&quot;20307&quot; value=&quot;282&quot;/&gt;&lt;/object&gt;&lt;object type=&quot;3&quot; unique_id=&quot;11246&quot;&gt;&lt;property id=&quot;20148&quot; value=&quot;5&quot;/&gt;&lt;property id=&quot;20300&quot; value=&quot;Slide 7&quot;/&gt;&lt;property id=&quot;20307&quot; value=&quot;284&quot;/&gt;&lt;/object&gt;&lt;object type=&quot;3&quot; unique_id=&quot;11247&quot;&gt;&lt;property id=&quot;20148&quot; value=&quot;5&quot;/&gt;&lt;property id=&quot;20300&quot; value=&quot;Slide 8 - &amp;quot;Usability Testing (UT)&amp;quot;&quot;/&gt;&lt;property id=&quot;20307&quot; value=&quot;285&quot;/&gt;&lt;/object&gt;&lt;object type=&quot;3&quot; unique_id=&quot;11369&quot;&gt;&lt;property id=&quot;20148&quot; value=&quot;5&quot;/&gt;&lt;property id=&quot;20300&quot; value=&quot;Slide 9 - &amp;quot;Usability Test Plan&amp;quot;&quot;/&gt;&lt;property id=&quot;20307&quot; value=&quot;286&quot;/&gt;&lt;/object&gt;&lt;object type=&quot;3&quot; unique_id=&quot;11370&quot;&gt;&lt;property id=&quot;20148&quot; value=&quot;5&quot;/&gt;&lt;property id=&quot;20300&quot; value=&quot;Slide 10 - &amp;quot;Content of a Usability Test Plan&amp;quot;&quot;/&gt;&lt;property id=&quot;20307&quot; value=&quot;287&quot;/&gt;&lt;/object&gt;&lt;object type=&quot;3&quot; unique_id=&quot;11474&quot;&gt;&lt;property id=&quot;20148&quot; value=&quot;5&quot;/&gt;&lt;property id=&quot;20300&quot; value=&quot;Slide 11 - &amp;quot;Examples of proceeding of UT&amp;quot;&quot;/&gt;&lt;property id=&quot;20307&quot; value=&quot;288&quot;/&gt;&lt;/object&gt;&lt;object type=&quot;3&quot; unique_id=&quot;11722&quot;&gt;&lt;property id=&quot;20148&quot; value=&quot;5&quot;/&gt;&lt;property id=&quot;20300&quot; value=&quot;Slide 12&quot;/&gt;&lt;property id=&quot;20307&quot; value=&quot;291&quot;/&gt;&lt;/object&gt;&lt;object type=&quot;3&quot; unique_id=&quot;11723&quot;&gt;&lt;property id=&quot;20148&quot; value=&quot;5&quot;/&gt;&lt;property id=&quot;20300&quot; value=&quot;Slide 13 - &amp;quot;Usability Test Plan – Usability Metrics&amp;quot;&quot;/&gt;&lt;property id=&quot;20307&quot; value=&quot;290&quot;/&gt;&lt;/object&gt;&lt;object type=&quot;3&quot; unique_id=&quot;11866&quot;&gt;&lt;property id=&quot;20148&quot; value=&quot;5&quot;/&gt;&lt;property id=&quot;20300&quot; value=&quot;Slide 14 - &amp;quot;An Extreme Example of  a good observation experiment &amp;quot;&quot;/&gt;&lt;property id=&quot;20307&quot; value=&quot;292&quot;/&gt;&lt;/object&gt;&lt;object type=&quot;3&quot; unique_id=&quot;11867&quot;&gt;&lt;property id=&quot;20148&quot; value=&quot;5&quot;/&gt;&lt;property id=&quot;20300&quot; value=&quot;Slide 15&quot;/&gt;&lt;property id=&quot;20307&quot; value=&quot;293&quot;/&gt;&lt;/objec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0c19ae56-3fd1-4134-ad5d-f1df2bf4580a">
      <Terms xmlns="http://schemas.microsoft.com/office/infopath/2007/PartnerControls"/>
    </lcf76f155ced4ddcb4097134ff3c332f>
    <TaxCatchAll xmlns="8c74f92f-9345-451a-8fcd-82ad1ddda40a" xsi:nil="true"/>
    <Description xmlns="0c19ae56-3fd1-4134-ad5d-f1df2bf4580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AAAFB2A4F81AF499435FEF2B8BF6527" ma:contentTypeVersion="20" ma:contentTypeDescription="Create a new document." ma:contentTypeScope="" ma:versionID="8fc89b9a645bf330636a0f3d23764a75">
  <xsd:schema xmlns:xsd="http://www.w3.org/2001/XMLSchema" xmlns:xs="http://www.w3.org/2001/XMLSchema" xmlns:p="http://schemas.microsoft.com/office/2006/metadata/properties" xmlns:ns2="0c19ae56-3fd1-4134-ad5d-f1df2bf4580a" xmlns:ns3="8c74f92f-9345-451a-8fcd-82ad1ddda40a" targetNamespace="http://schemas.microsoft.com/office/2006/metadata/properties" ma:root="true" ma:fieldsID="0733dce4fb5020861a07591fa8b2954d" ns2:_="" ns3:_="">
    <xsd:import namespace="0c19ae56-3fd1-4134-ad5d-f1df2bf4580a"/>
    <xsd:import namespace="8c74f92f-9345-451a-8fcd-82ad1ddda40a"/>
    <xsd:element name="properties">
      <xsd:complexType>
        <xsd:sequence>
          <xsd:element name="documentManagement">
            <xsd:complexType>
              <xsd:all>
                <xsd:element ref="ns2:Description" minOccurs="0"/>
                <xsd:element ref="ns3:SharedWithUsers" minOccurs="0"/>
                <xsd:element ref="ns3:SharedWithDetails" minOccurs="0"/>
                <xsd:element ref="ns2:MediaServiceMetadata" minOccurs="0"/>
                <xsd:element ref="ns2:MediaServiceFastMetadata" minOccurs="0"/>
                <xsd:element ref="ns2:MediaServiceObjectDetectorVersions"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c19ae56-3fd1-4134-ad5d-f1df2bf4580a" elementFormDefault="qualified">
    <xsd:import namespace="http://schemas.microsoft.com/office/2006/documentManagement/types"/>
    <xsd:import namespace="http://schemas.microsoft.com/office/infopath/2007/PartnerControls"/>
    <xsd:element name="Description" ma:index="4" nillable="true" ma:displayName="Description" ma:description="" ma:internalName="Description0" ma:readOnly="false">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description="" ma:hidden="true" ma:internalName="MediaServiceObjectDetectorVersions" ma:readOnly="true">
      <xsd:simpleType>
        <xsd:restriction base="dms:Text"/>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a45bf55a-4f35-4525-96d9-1748649c08ec" ma:termSetId="09814cd3-568e-fe90-9814-8d621ff8fb84" ma:anchorId="fba54fb3-c3e1-fe81-a776-ca4b69148c4d" ma:open="true" ma:isKeyword="false">
      <xsd:complexType>
        <xsd:sequence>
          <xsd:element ref="pc:Terms" minOccurs="0" maxOccurs="1"/>
        </xsd:sequence>
      </xsd:complex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c74f92f-9345-451a-8fcd-82ad1ddda40a" elementFormDefault="qualified">
    <xsd:import namespace="http://schemas.microsoft.com/office/2006/documentManagement/types"/>
    <xsd:import namespace="http://schemas.microsoft.com/office/infopath/2007/PartnerControls"/>
    <xsd:element name="SharedWithUsers" ma:index="5" nillable="true" ma:displayName="Shared With" ma:SearchPeopleOnly="false" ma:SharePointGroup="0" ma:internalName="SharedWithUsers" ma:readOnly="tru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926a618a-99ec-4bae-a069-be77b10f9dbe}" ma:internalName="TaxCatchAll" ma:showField="CatchAllData" ma:web="8c74f92f-9345-451a-8fcd-82ad1ddda40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6"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72F1AD2-7AF3-4F26-A99D-AF95852FCC0C}">
  <ds:schemaRefs>
    <ds:schemaRef ds:uri="http://schemas.microsoft.com/sharepoint/v3/contenttype/forms"/>
  </ds:schemaRefs>
</ds:datastoreItem>
</file>

<file path=customXml/itemProps2.xml><?xml version="1.0" encoding="utf-8"?>
<ds:datastoreItem xmlns:ds="http://schemas.openxmlformats.org/officeDocument/2006/customXml" ds:itemID="{0129C597-3B5F-44AD-AF64-5BD520CA0FB5}">
  <ds:schemaRefs>
    <ds:schemaRef ds:uri="http://schemas.microsoft.com/office/2006/metadata/properties"/>
    <ds:schemaRef ds:uri="http://schemas.microsoft.com/office/infopath/2007/PartnerControls"/>
    <ds:schemaRef ds:uri="361ef433-2f93-47b0-b37f-e8f140c5cb4b"/>
    <ds:schemaRef ds:uri="c44b0262-eb8d-4c37-a737-eb0f5af1596e"/>
    <ds:schemaRef ds:uri="0c19ae56-3fd1-4134-ad5d-f1df2bf4580a"/>
    <ds:schemaRef ds:uri="8c74f92f-9345-451a-8fcd-82ad1ddda40a"/>
  </ds:schemaRefs>
</ds:datastoreItem>
</file>

<file path=customXml/itemProps3.xml><?xml version="1.0" encoding="utf-8"?>
<ds:datastoreItem xmlns:ds="http://schemas.openxmlformats.org/officeDocument/2006/customXml" ds:itemID="{F5985DBB-1056-42CF-AFCA-35AA5425915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c19ae56-3fd1-4134-ad5d-f1df2bf4580a"/>
    <ds:schemaRef ds:uri="8c74f92f-9345-451a-8fcd-82ad1ddda40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14007</TotalTime>
  <Words>8846</Words>
  <Application>Microsoft Office PowerPoint</Application>
  <PresentationFormat>宽屏</PresentationFormat>
  <Paragraphs>852</Paragraphs>
  <Slides>60</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60</vt:i4>
      </vt:variant>
    </vt:vector>
  </HeadingPairs>
  <TitlesOfParts>
    <vt:vector size="66" baseType="lpstr">
      <vt:lpstr>-apple-system</vt:lpstr>
      <vt:lpstr>Arial</vt:lpstr>
      <vt:lpstr>Calibri</vt:lpstr>
      <vt:lpstr>Calibri Light</vt:lpstr>
      <vt:lpstr>Symbol</vt:lpstr>
      <vt:lpstr>Office Theme</vt:lpstr>
      <vt:lpstr>PowerPoint 演示文稿</vt:lpstr>
      <vt:lpstr>Declaration of Originality</vt:lpstr>
      <vt:lpstr>Declaration on the use of Generative AI tools for assignments</vt:lpstr>
      <vt:lpstr>PowerPoint 演示文稿</vt:lpstr>
      <vt:lpstr>Selected Use Case –  Highlight your selected use case below</vt:lpstr>
      <vt:lpstr>Problem Definition/Customer Needs (4%)</vt:lpstr>
      <vt:lpstr>Problem Definition/Customer Needs (4%)</vt:lpstr>
      <vt:lpstr>Problem Definition/Customer Needs (4%)</vt:lpstr>
      <vt:lpstr>Problem Definition/Customer Needs (4%)</vt:lpstr>
      <vt:lpstr>Problem Definition/Customer Needs (4%)</vt:lpstr>
      <vt:lpstr>Problem Definition/Customer Needs (4%)</vt:lpstr>
      <vt:lpstr>Problem Definition/Customer Needs (4%)</vt:lpstr>
      <vt:lpstr>Project Objectives (3%)</vt:lpstr>
      <vt:lpstr>Project Objectives (3%)</vt:lpstr>
      <vt:lpstr>Project Objectives (3%)</vt:lpstr>
      <vt:lpstr>Project Objectives (3%)</vt:lpstr>
      <vt:lpstr>Project Objectives (3%)</vt:lpstr>
      <vt:lpstr>Project Objectives (3%)</vt:lpstr>
      <vt:lpstr>Project Objectives (3%)</vt:lpstr>
      <vt:lpstr>Project Objectives (3%)</vt:lpstr>
      <vt:lpstr>Project Objectives (3%)</vt:lpstr>
      <vt:lpstr>Project Objectives (3%)</vt:lpstr>
      <vt:lpstr>Project Objectives (3%)</vt:lpstr>
      <vt:lpstr>Project Objectives (3%)</vt:lpstr>
      <vt:lpstr>Project Objectives (3%)</vt:lpstr>
      <vt:lpstr>Project Objectives (3%)</vt:lpstr>
      <vt:lpstr>Project Objectives (3%)</vt:lpstr>
      <vt:lpstr>Project Objectives (3%)</vt:lpstr>
      <vt:lpstr>Project Objectives (3%)</vt:lpstr>
      <vt:lpstr>Proposed Features (3%)</vt:lpstr>
      <vt:lpstr>Proposed Features (3%)</vt:lpstr>
      <vt:lpstr>Proposed Features (3%)</vt:lpstr>
      <vt:lpstr>Wireframe (5%)</vt:lpstr>
      <vt:lpstr>Wireframe (5%)</vt:lpstr>
      <vt:lpstr>Wireframe (5%)</vt:lpstr>
      <vt:lpstr>Wireframe (5%)</vt:lpstr>
      <vt:lpstr>Wireframe (5%)</vt:lpstr>
      <vt:lpstr>Wireframe (5%)</vt:lpstr>
      <vt:lpstr>Wireframe (5%)</vt:lpstr>
      <vt:lpstr>Wireframe (5%)</vt:lpstr>
      <vt:lpstr>Wireframe (5%)</vt:lpstr>
      <vt:lpstr>Wireframe (5%)</vt:lpstr>
      <vt:lpstr>User Flow </vt:lpstr>
      <vt:lpstr>Data Modeling (5%)</vt:lpstr>
      <vt:lpstr>Data Modeling - User</vt:lpstr>
      <vt:lpstr>Data Modeling - User</vt:lpstr>
      <vt:lpstr>Data Modeling - User</vt:lpstr>
      <vt:lpstr>Data Modeling - Tutor</vt:lpstr>
      <vt:lpstr>Data Modeling - Tutor</vt:lpstr>
      <vt:lpstr>Data Modeling - Tutor</vt:lpstr>
      <vt:lpstr>Data Modeling - Booking</vt:lpstr>
      <vt:lpstr>Data Modeling - Booking</vt:lpstr>
      <vt:lpstr>Data Modeling - Booking</vt:lpstr>
      <vt:lpstr>Data Modeling - Review</vt:lpstr>
      <vt:lpstr>Data Modeling - Review</vt:lpstr>
      <vt:lpstr>Data Modeling - Review</vt:lpstr>
      <vt:lpstr>Data Modeling - Subject</vt:lpstr>
      <vt:lpstr>Data Modeling - Subject</vt:lpstr>
      <vt:lpstr>Data Modeling</vt:lpstr>
      <vt:lpstr>The End</vt:lpstr>
    </vt:vector>
  </TitlesOfParts>
  <Company>Temasek Polytechnic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Sofwtare Cluster Project Part 1</dc:title>
  <dc:creator>Tan Sio Poh</dc:creator>
  <cp:lastModifiedBy>GENG YUE</cp:lastModifiedBy>
  <cp:revision>316</cp:revision>
  <dcterms:created xsi:type="dcterms:W3CDTF">2016-03-04T00:57:19Z</dcterms:created>
  <dcterms:modified xsi:type="dcterms:W3CDTF">2025-11-18T22:40:49Z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69d7fc4-da81-42e5-b309-526f71322d86_Enabled">
    <vt:lpwstr>true</vt:lpwstr>
  </property>
  <property fmtid="{D5CDD505-2E9C-101B-9397-08002B2CF9AE}" pid="3" name="MSIP_Label_f69d7fc4-da81-42e5-b309-526f71322d86_SiteId">
    <vt:lpwstr>25a99bf0-8e72-472a-ae50-adfbdf0df6f1</vt:lpwstr>
  </property>
  <property fmtid="{D5CDD505-2E9C-101B-9397-08002B2CF9AE}" pid="4" name="MSIP_Label_f69d7fc4-da81-42e5-b309-526f71322d86_Owner">
    <vt:lpwstr>andrewt@TP.EDU.SG</vt:lpwstr>
  </property>
  <property fmtid="{D5CDD505-2E9C-101B-9397-08002B2CF9AE}" pid="5" name="MSIP_Label_f69d7fc4-da81-42e5-b309-526f71322d86_SetDate">
    <vt:lpwstr>2022-10-14T03:08:03Z</vt:lpwstr>
  </property>
  <property fmtid="{D5CDD505-2E9C-101B-9397-08002B2CF9AE}" pid="6" name="MSIP_Label_f69d7fc4-da81-42e5-b309-526f71322d86_Name">
    <vt:lpwstr>Non Sensitive</vt:lpwstr>
  </property>
  <property fmtid="{D5CDD505-2E9C-101B-9397-08002B2CF9AE}" pid="7" name="MSIP_Label_f69d7fc4-da81-42e5-b309-526f71322d86_Application">
    <vt:lpwstr>Microsoft Azure Information Protection</vt:lpwstr>
  </property>
  <property fmtid="{D5CDD505-2E9C-101B-9397-08002B2CF9AE}" pid="8" name="MSIP_Label_f69d7fc4-da81-42e5-b309-526f71322d86_ActionId">
    <vt:lpwstr>96db96d4-fc8e-4957-8f23-6c44ddf72d0d</vt:lpwstr>
  </property>
  <property fmtid="{D5CDD505-2E9C-101B-9397-08002B2CF9AE}" pid="9" name="MSIP_Label_f69d7fc4-da81-42e5-b309-526f71322d86_Parent">
    <vt:lpwstr>4bcb20ed-001a-45f4-b2e7-234c5fc91178</vt:lpwstr>
  </property>
  <property fmtid="{D5CDD505-2E9C-101B-9397-08002B2CF9AE}" pid="10" name="MSIP_Label_f69d7fc4-da81-42e5-b309-526f71322d86_Extended_MSFT_Method">
    <vt:lpwstr>Automatic</vt:lpwstr>
  </property>
  <property fmtid="{D5CDD505-2E9C-101B-9397-08002B2CF9AE}" pid="11" name="MSIP_Label_f69d7fc4-da81-42e5-b309-526f71322d86_Method">
    <vt:lpwstr>Standard</vt:lpwstr>
  </property>
  <property fmtid="{D5CDD505-2E9C-101B-9397-08002B2CF9AE}" pid="12" name="MSIP_Label_f69d7fc4-da81-42e5-b309-526f71322d86_ContentBits">
    <vt:lpwstr>0</vt:lpwstr>
  </property>
  <property fmtid="{D5CDD505-2E9C-101B-9397-08002B2CF9AE}" pid="13" name="ContentTypeId">
    <vt:lpwstr>0x0101006AAAFB2A4F81AF499435FEF2B8BF6527</vt:lpwstr>
  </property>
  <property fmtid="{D5CDD505-2E9C-101B-9397-08002B2CF9AE}" pid="14" name="MediaServiceImageTags">
    <vt:lpwstr/>
  </property>
</Properties>
</file>