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54"/>
  </p:notesMasterIdLst>
  <p:handoutMasterIdLst>
    <p:handoutMasterId r:id="rId55"/>
  </p:handoutMasterIdLst>
  <p:sldIdLst>
    <p:sldId id="292" r:id="rId5"/>
    <p:sldId id="278" r:id="rId6"/>
    <p:sldId id="314" r:id="rId7"/>
    <p:sldId id="315" r:id="rId8"/>
    <p:sldId id="313" r:id="rId9"/>
    <p:sldId id="307" r:id="rId10"/>
    <p:sldId id="330" r:id="rId11"/>
    <p:sldId id="328" r:id="rId12"/>
    <p:sldId id="329" r:id="rId13"/>
    <p:sldId id="331" r:id="rId14"/>
    <p:sldId id="332" r:id="rId15"/>
    <p:sldId id="333" r:id="rId16"/>
    <p:sldId id="316" r:id="rId17"/>
    <p:sldId id="327" r:id="rId18"/>
    <p:sldId id="308" r:id="rId19"/>
    <p:sldId id="317" r:id="rId20"/>
    <p:sldId id="334" r:id="rId21"/>
    <p:sldId id="338" r:id="rId22"/>
    <p:sldId id="337" r:id="rId23"/>
    <p:sldId id="339" r:id="rId24"/>
    <p:sldId id="309" r:id="rId25"/>
    <p:sldId id="340" r:id="rId26"/>
    <p:sldId id="311" r:id="rId27"/>
    <p:sldId id="319" r:id="rId28"/>
    <p:sldId id="341" r:id="rId29"/>
    <p:sldId id="342" r:id="rId30"/>
    <p:sldId id="343" r:id="rId31"/>
    <p:sldId id="349" r:id="rId32"/>
    <p:sldId id="335" r:id="rId33"/>
    <p:sldId id="336" r:id="rId34"/>
    <p:sldId id="310" r:id="rId35"/>
    <p:sldId id="312" r:id="rId36"/>
    <p:sldId id="322" r:id="rId37"/>
    <p:sldId id="344" r:id="rId38"/>
    <p:sldId id="350" r:id="rId39"/>
    <p:sldId id="351" r:id="rId40"/>
    <p:sldId id="324" r:id="rId41"/>
    <p:sldId id="352" r:id="rId42"/>
    <p:sldId id="325" r:id="rId43"/>
    <p:sldId id="353" r:id="rId44"/>
    <p:sldId id="346" r:id="rId45"/>
    <p:sldId id="354" r:id="rId46"/>
    <p:sldId id="326" r:id="rId47"/>
    <p:sldId id="345" r:id="rId48"/>
    <p:sldId id="355" r:id="rId49"/>
    <p:sldId id="356" r:id="rId50"/>
    <p:sldId id="347" r:id="rId51"/>
    <p:sldId id="348" r:id="rId52"/>
    <p:sldId id="323" r:id="rId53"/>
  </p:sldIdLst>
  <p:sldSz cx="12192000" cy="6858000"/>
  <p:notesSz cx="6858000" cy="9144000"/>
  <p:custDataLst>
    <p:tags r:id="rId5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EAC8420-D6DB-453B-9D16-A6E5D3C262C2}">
          <p14:sldIdLst>
            <p14:sldId id="292"/>
            <p14:sldId id="278"/>
            <p14:sldId id="314"/>
            <p14:sldId id="315"/>
            <p14:sldId id="313"/>
            <p14:sldId id="307"/>
            <p14:sldId id="330"/>
            <p14:sldId id="328"/>
            <p14:sldId id="329"/>
            <p14:sldId id="331"/>
            <p14:sldId id="332"/>
            <p14:sldId id="333"/>
            <p14:sldId id="316"/>
            <p14:sldId id="327"/>
          </p14:sldIdLst>
        </p14:section>
        <p14:section name="Project Objectives" id="{6BE68DE1-2AD7-4B6A-9BAF-51DA08DADB5C}">
          <p14:sldIdLst>
            <p14:sldId id="308"/>
            <p14:sldId id="317"/>
            <p14:sldId id="334"/>
            <p14:sldId id="338"/>
            <p14:sldId id="337"/>
            <p14:sldId id="339"/>
          </p14:sldIdLst>
        </p14:section>
        <p14:section name="Proposed Features" id="{FC41167F-BDF8-430D-A7BD-FB5C9F31F18A}">
          <p14:sldIdLst>
            <p14:sldId id="309"/>
            <p14:sldId id="340"/>
            <p14:sldId id="311"/>
            <p14:sldId id="319"/>
            <p14:sldId id="341"/>
            <p14:sldId id="342"/>
            <p14:sldId id="343"/>
            <p14:sldId id="349"/>
            <p14:sldId id="335"/>
            <p14:sldId id="336"/>
            <p14:sldId id="310"/>
            <p14:sldId id="312"/>
            <p14:sldId id="322"/>
            <p14:sldId id="344"/>
            <p14:sldId id="350"/>
            <p14:sldId id="351"/>
            <p14:sldId id="324"/>
            <p14:sldId id="352"/>
            <p14:sldId id="325"/>
            <p14:sldId id="353"/>
            <p14:sldId id="346"/>
            <p14:sldId id="354"/>
            <p14:sldId id="326"/>
            <p14:sldId id="345"/>
            <p14:sldId id="355"/>
            <p14:sldId id="356"/>
            <p14:sldId id="347"/>
            <p14:sldId id="348"/>
            <p14:sldId id="323"/>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5B4C828-EB6F-0E44-9382-2E86C03354A5}" name="Sankara RAJULU (TP)" initials="SR" userId="S::sankara@TP.EDU.SG::90b67e19-7016-40f5-ab67-6559d5fe8b43" providerId="AD"/>
  <p188:author id="{CC59AE2F-3574-9F4F-2F4C-204E8DFAB2CD}" name="Andrew TAN (TP)" initials="A(" userId="S::andrewt@tp.edu.sg::8d23f446-953f-4d3b-930e-ca720e8db7fb" providerId="AD"/>
  <p188:author id="{EBF51C77-9774-58D8-097E-AD8D40AA4809}" name="Zhao Hong LAU (TP)" initials="Z(" userId="S::zhaohong@tp.edu.sg::f195b425-1f12-426c-964c-75b48c020563" providerId="AD"/>
  <p188:author id="{5CAB91CD-DD79-7E8F-42B4-F84A0E5B22AB}" name="Ying Huey FUA (TP)" initials="Y(" userId="S::yinghuey@tp.edu.sg::9e739b7e-414d-4e3b-ac6d-84564ba345a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lena Saleh" initials="SS"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339933"/>
    <a:srgbClr val="FFC000"/>
    <a:srgbClr val="EEEEEE"/>
    <a:srgbClr val="FAD22C"/>
    <a:srgbClr val="1CADE4"/>
    <a:srgbClr val="61C5FF"/>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83DD9D-DD12-4203-B069-AAB82CA156F5}" v="136" dt="2025-11-16T08:33:30.394"/>
    <p1510:client id="{866405BD-7F80-7AF2-311B-7C0E317F4F51}" v="1459" dt="2025-11-15T11:52:25.167"/>
    <p1510:client id="{CAAA0E7A-6DBB-A248-1D95-2F9496285922}" v="6424" dt="2025-11-15T15:15:13.1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74" autoAdjust="0"/>
    <p:restoredTop sz="93910" autoAdjust="0"/>
  </p:normalViewPr>
  <p:slideViewPr>
    <p:cSldViewPr snapToGrid="0">
      <p:cViewPr varScale="1">
        <p:scale>
          <a:sx n="98" d="100"/>
          <a:sy n="98" d="100"/>
        </p:scale>
        <p:origin x="66" y="132"/>
      </p:cViewPr>
      <p:guideLst>
        <p:guide orient="horz" pos="2160"/>
        <p:guide pos="3840"/>
      </p:guideLst>
    </p:cSldViewPr>
  </p:slideViewPr>
  <p:notesTextViewPr>
    <p:cViewPr>
      <p:scale>
        <a:sx n="1" d="1"/>
        <a:sy n="1" d="1"/>
      </p:scale>
      <p:origin x="0" y="0"/>
    </p:cViewPr>
  </p:notesTextViewPr>
  <p:notesViewPr>
    <p:cSldViewPr snapToGrid="0">
      <p:cViewPr varScale="1">
        <p:scale>
          <a:sx n="69" d="100"/>
          <a:sy n="69" d="100"/>
        </p:scale>
        <p:origin x="3264"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C11234-2D62-4BBD-86D3-88BD3B70B2B6}" type="datetimeFigureOut">
              <a:rPr lang="en-SG" smtClean="0"/>
              <a:t>16/11/2025</a:t>
            </a:fld>
            <a:endParaRPr lang="en-SG"/>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EECAF8-34D8-484C-A1FD-90CACC324DCB}" type="slidenum">
              <a:rPr lang="en-SG" smtClean="0"/>
              <a:t>‹#›</a:t>
            </a:fld>
            <a:endParaRPr lang="en-SG"/>
          </a:p>
        </p:txBody>
      </p:sp>
    </p:spTree>
    <p:extLst>
      <p:ext uri="{BB962C8B-B14F-4D97-AF65-F5344CB8AC3E}">
        <p14:creationId xmlns:p14="http://schemas.microsoft.com/office/powerpoint/2010/main" val="2556645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97268A-7AE4-432A-9318-AFE0CD5AF515}" type="datetimeFigureOut">
              <a:rPr lang="en-SG" smtClean="0"/>
              <a:t>16/11/2025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443D8-64E2-477C-8585-147863024541}" type="slidenum">
              <a:rPr lang="en-SG" smtClean="0"/>
              <a:t>‹#›</a:t>
            </a:fld>
            <a:endParaRPr lang="en-SG"/>
          </a:p>
        </p:txBody>
      </p:sp>
    </p:spTree>
    <p:extLst>
      <p:ext uri="{BB962C8B-B14F-4D97-AF65-F5344CB8AC3E}">
        <p14:creationId xmlns:p14="http://schemas.microsoft.com/office/powerpoint/2010/main" val="851762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5048880A-75DD-4838-AFBC-E75FBE476E55}" type="slidenum">
              <a:rPr lang="en-SG" smtClean="0"/>
              <a:t>1</a:t>
            </a:fld>
            <a:endParaRPr lang="en-SG"/>
          </a:p>
        </p:txBody>
      </p:sp>
    </p:spTree>
    <p:extLst>
      <p:ext uri="{BB962C8B-B14F-4D97-AF65-F5344CB8AC3E}">
        <p14:creationId xmlns:p14="http://schemas.microsoft.com/office/powerpoint/2010/main" val="1190466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D8CBB-99C9-0079-ED9C-FF21AD2BE9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97056B35-3E34-E11F-8ABE-A767FB29D8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F26A60A0-3A76-862F-BD49-95CEF91F1B54}"/>
              </a:ext>
            </a:extLst>
          </p:cNvPr>
          <p:cNvSpPr>
            <a:spLocks noGrp="1"/>
          </p:cNvSpPr>
          <p:nvPr>
            <p:ph type="dt" sz="half" idx="10"/>
          </p:nvPr>
        </p:nvSpPr>
        <p:spPr/>
        <p:txBody>
          <a:bodyPr/>
          <a:lstStyle/>
          <a:p>
            <a:fld id="{5586B75A-687E-405C-8A0B-8D00578BA2C3}" type="datetimeFigureOut">
              <a:rPr lang="en-US" smtClean="0"/>
              <a:pPr/>
              <a:t>11/16/2025</a:t>
            </a:fld>
            <a:endParaRPr lang="en-US" dirty="0"/>
          </a:p>
        </p:txBody>
      </p:sp>
      <p:sp>
        <p:nvSpPr>
          <p:cNvPr id="5" name="Footer Placeholder 4">
            <a:extLst>
              <a:ext uri="{FF2B5EF4-FFF2-40B4-BE49-F238E27FC236}">
                <a16:creationId xmlns:a16="http://schemas.microsoft.com/office/drawing/2014/main" id="{61B4C16B-32A2-0C2D-AB68-29C0567462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9C4051F-C2CC-C614-3D42-F9D33BD75BB6}"/>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3243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6EDE9-3DCB-63E8-A03F-02C909C1605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A34ECAB-B272-5233-F6BB-A4F6DDFF7B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0F30663-1A54-EA08-68E3-63A6F7AA077C}"/>
              </a:ext>
            </a:extLst>
          </p:cNvPr>
          <p:cNvSpPr>
            <a:spLocks noGrp="1"/>
          </p:cNvSpPr>
          <p:nvPr>
            <p:ph type="dt" sz="half" idx="10"/>
          </p:nvPr>
        </p:nvSpPr>
        <p:spPr/>
        <p:txBody>
          <a:bodyPr/>
          <a:lstStyle/>
          <a:p>
            <a:fld id="{5586B75A-687E-405C-8A0B-8D00578BA2C3}" type="datetimeFigureOut">
              <a:rPr lang="en-US" smtClean="0"/>
              <a:pPr/>
              <a:t>11/16/2025</a:t>
            </a:fld>
            <a:endParaRPr lang="en-US" dirty="0"/>
          </a:p>
        </p:txBody>
      </p:sp>
      <p:sp>
        <p:nvSpPr>
          <p:cNvPr id="5" name="Footer Placeholder 4">
            <a:extLst>
              <a:ext uri="{FF2B5EF4-FFF2-40B4-BE49-F238E27FC236}">
                <a16:creationId xmlns:a16="http://schemas.microsoft.com/office/drawing/2014/main" id="{BA5CC699-2893-3B03-3D97-FD3C23B061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9BE4E7C-86F9-6D12-49F3-B64424A9493E}"/>
              </a:ext>
            </a:extLst>
          </p:cNvPr>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1666485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D170-3C24-C353-3216-06A2B12A82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BD469EFA-00EA-18C2-3287-DDFF0E9880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494A4D-1D7E-FB6A-32B8-058E2F231603}"/>
              </a:ext>
            </a:extLst>
          </p:cNvPr>
          <p:cNvSpPr>
            <a:spLocks noGrp="1"/>
          </p:cNvSpPr>
          <p:nvPr>
            <p:ph type="dt" sz="half" idx="10"/>
          </p:nvPr>
        </p:nvSpPr>
        <p:spPr/>
        <p:txBody>
          <a:bodyPr/>
          <a:lstStyle/>
          <a:p>
            <a:fld id="{5586B75A-687E-405C-8A0B-8D00578BA2C3}" type="datetimeFigureOut">
              <a:rPr lang="en-US" smtClean="0"/>
              <a:pPr/>
              <a:t>11/16/2025</a:t>
            </a:fld>
            <a:endParaRPr lang="en-US" dirty="0"/>
          </a:p>
        </p:txBody>
      </p:sp>
      <p:sp>
        <p:nvSpPr>
          <p:cNvPr id="5" name="Footer Placeholder 4">
            <a:extLst>
              <a:ext uri="{FF2B5EF4-FFF2-40B4-BE49-F238E27FC236}">
                <a16:creationId xmlns:a16="http://schemas.microsoft.com/office/drawing/2014/main" id="{4880FA97-D6B4-8EEE-9689-C597162154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871227D-F124-5B2E-61AA-8D66C31347FA}"/>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401691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FCCE2-A671-CFC5-8869-92B4CBCB380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85E87A76-02D4-A39B-269E-D832CF645D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DFC8CD5-1192-88B9-1772-AE9CC397A6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1AB33E5E-FEA6-E8E9-D857-418A6B027283}"/>
              </a:ext>
            </a:extLst>
          </p:cNvPr>
          <p:cNvSpPr>
            <a:spLocks noGrp="1"/>
          </p:cNvSpPr>
          <p:nvPr>
            <p:ph type="dt" sz="half" idx="10"/>
          </p:nvPr>
        </p:nvSpPr>
        <p:spPr/>
        <p:txBody>
          <a:bodyPr/>
          <a:lstStyle/>
          <a:p>
            <a:fld id="{5586B75A-687E-405C-8A0B-8D00578BA2C3}" type="datetimeFigureOut">
              <a:rPr lang="en-US" smtClean="0"/>
              <a:pPr/>
              <a:t>11/16/2025</a:t>
            </a:fld>
            <a:endParaRPr lang="en-US" dirty="0"/>
          </a:p>
        </p:txBody>
      </p:sp>
      <p:sp>
        <p:nvSpPr>
          <p:cNvPr id="6" name="Footer Placeholder 5">
            <a:extLst>
              <a:ext uri="{FF2B5EF4-FFF2-40B4-BE49-F238E27FC236}">
                <a16:creationId xmlns:a16="http://schemas.microsoft.com/office/drawing/2014/main" id="{7669E379-0510-B904-110A-B9C868A9502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1F5887-88DF-0149-4E35-013FEB1F2E26}"/>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495503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8C1B1-9150-7531-5BB8-F62AFAC11523}"/>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E35E9F9E-2862-2862-E130-FA02D96037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1CA647-D139-F02C-D9E2-FADE9CACA0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8CC8255F-E4A2-848F-5FA7-B6F5D5B972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B77E57-0076-7663-AC26-6A5F2D5499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88C2E8B1-0BEB-9609-08E0-3E182B08CFAB}"/>
              </a:ext>
            </a:extLst>
          </p:cNvPr>
          <p:cNvSpPr>
            <a:spLocks noGrp="1"/>
          </p:cNvSpPr>
          <p:nvPr>
            <p:ph type="dt" sz="half" idx="10"/>
          </p:nvPr>
        </p:nvSpPr>
        <p:spPr/>
        <p:txBody>
          <a:bodyPr/>
          <a:lstStyle/>
          <a:p>
            <a:fld id="{5586B75A-687E-405C-8A0B-8D00578BA2C3}" type="datetimeFigureOut">
              <a:rPr lang="en-US" smtClean="0"/>
              <a:pPr/>
              <a:t>11/16/2025</a:t>
            </a:fld>
            <a:endParaRPr lang="en-US" dirty="0"/>
          </a:p>
        </p:txBody>
      </p:sp>
      <p:sp>
        <p:nvSpPr>
          <p:cNvPr id="8" name="Footer Placeholder 7">
            <a:extLst>
              <a:ext uri="{FF2B5EF4-FFF2-40B4-BE49-F238E27FC236}">
                <a16:creationId xmlns:a16="http://schemas.microsoft.com/office/drawing/2014/main" id="{7542D176-655D-E3F1-66B0-DD58F03C407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8E702C7-C396-1FC7-1371-CB7EDBB1C92C}"/>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735288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775C8-16C5-25D8-C276-90E082306898}"/>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CA48244B-5070-7AA7-D20D-BE01BC24E18B}"/>
              </a:ext>
            </a:extLst>
          </p:cNvPr>
          <p:cNvSpPr>
            <a:spLocks noGrp="1"/>
          </p:cNvSpPr>
          <p:nvPr>
            <p:ph type="dt" sz="half" idx="10"/>
          </p:nvPr>
        </p:nvSpPr>
        <p:spPr/>
        <p:txBody>
          <a:bodyPr/>
          <a:lstStyle/>
          <a:p>
            <a:fld id="{5049BF6B-4274-4F8F-BAA2-B27082AD9967}" type="datetimeFigureOut">
              <a:rPr lang="en-SG" smtClean="0"/>
              <a:t>16/11/2025</a:t>
            </a:fld>
            <a:endParaRPr lang="en-SG"/>
          </a:p>
        </p:txBody>
      </p:sp>
      <p:sp>
        <p:nvSpPr>
          <p:cNvPr id="4" name="Footer Placeholder 3">
            <a:extLst>
              <a:ext uri="{FF2B5EF4-FFF2-40B4-BE49-F238E27FC236}">
                <a16:creationId xmlns:a16="http://schemas.microsoft.com/office/drawing/2014/main" id="{500CD1BC-48CB-DA2B-F4E9-6A2F309D0D90}"/>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3C90FC4F-D4B0-AD00-369C-A6E1883354FA}"/>
              </a:ext>
            </a:extLst>
          </p:cNvPr>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515972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C8F61D-2519-FCC0-71BF-1003AC9E27D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AD1D330-035E-0B56-9851-3D75CA8D10C1}"/>
              </a:ext>
            </a:extLst>
          </p:cNvPr>
          <p:cNvSpPr>
            <a:spLocks noGrp="1"/>
          </p:cNvSpPr>
          <p:nvPr>
            <p:ph type="sldNum" sz="quarter" idx="12"/>
          </p:nvPr>
        </p:nvSpPr>
        <p:spPr/>
        <p:txBody>
          <a:bodyPr/>
          <a:lstStyle/>
          <a:p>
            <a:fld id="{8E9E4023-6F3A-457B-B0BB-8C1F114B424F}" type="slidenum">
              <a:rPr lang="en-SG" smtClean="0"/>
              <a:t>‹#›</a:t>
            </a:fld>
            <a:endParaRPr lang="en-SG"/>
          </a:p>
        </p:txBody>
      </p:sp>
    </p:spTree>
    <p:extLst>
      <p:ext uri="{BB962C8B-B14F-4D97-AF65-F5344CB8AC3E}">
        <p14:creationId xmlns:p14="http://schemas.microsoft.com/office/powerpoint/2010/main" val="266455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DC0DA-1A25-D2A4-15F2-41F320115B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9871A6BA-84FE-C01C-B267-EBDBC463EE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02A6FA30-08B8-ADE3-801B-9A70CCDAA6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5B672D15-C132-5339-588E-3B12A65633F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CF3BAB7-AFF5-CE42-94B5-1CDB974116F4}"/>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171758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B8CD1-D5A8-08C6-F89B-1EB6D8582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A7FC92A9-4CA1-0048-A864-A0FF1B44FD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43E9A9BA-746F-BFAC-9F4B-65B9636D21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F2A2DDD-9F60-4C73-D325-ADC4EF02EDE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946D2AD-1A5B-FAD9-24C2-04ACF6837809}"/>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51416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28BD-BA1C-B381-53AB-133B423AE64C}"/>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03414821-E238-AF06-2D97-F4581DB5EB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872C2A85-152E-24D0-5C1F-CC695DBA19E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36678C-B078-5524-C312-57E80F651D73}"/>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819209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8850CA-27A8-6E5D-31FA-B76AF87FE2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C22CCB1-1DE7-D21B-0069-C59E1C04E0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2E8FEF77-A8F2-D6FA-A67C-EF0CAD3AD34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5FAE588-A125-A715-15EC-71B890A37851}"/>
              </a:ext>
            </a:extLst>
          </p:cNvPr>
          <p:cNvSpPr>
            <a:spLocks noGrp="1"/>
          </p:cNvSpPr>
          <p:nvPr>
            <p:ph type="sldNum" sz="quarter" idx="12"/>
          </p:nvPr>
        </p:nvSpPr>
        <p:spPr/>
        <p:txBody>
          <a:bodyPr/>
          <a:lstStyle/>
          <a:p>
            <a:fld id="{8E9E4023-6F3A-457B-B0BB-8C1F114B424F}" type="slidenum">
              <a:rPr lang="en-SG" smtClean="0"/>
              <a:pPr/>
              <a:t>‹#›</a:t>
            </a:fld>
            <a:endParaRPr lang="en-SG"/>
          </a:p>
        </p:txBody>
      </p:sp>
    </p:spTree>
    <p:extLst>
      <p:ext uri="{BB962C8B-B14F-4D97-AF65-F5344CB8AC3E}">
        <p14:creationId xmlns:p14="http://schemas.microsoft.com/office/powerpoint/2010/main" val="3624770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12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68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8251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761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2169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FC703B-5018-D00F-D7F5-D563315D7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40C06FC-12F6-1C2F-8C12-BB747800DE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82F88C8-FB2E-B993-F23D-89C299A020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86B75A-687E-405C-8A0B-8D00578BA2C3}" type="datetimeFigureOut">
              <a:rPr lang="en-US" smtClean="0"/>
              <a:pPr/>
              <a:t>11/16/2025</a:t>
            </a:fld>
            <a:endParaRPr lang="en-US" dirty="0"/>
          </a:p>
        </p:txBody>
      </p:sp>
      <p:sp>
        <p:nvSpPr>
          <p:cNvPr id="5" name="Footer Placeholder 4">
            <a:extLst>
              <a:ext uri="{FF2B5EF4-FFF2-40B4-BE49-F238E27FC236}">
                <a16:creationId xmlns:a16="http://schemas.microsoft.com/office/drawing/2014/main" id="{F202E306-5064-BDD0-4094-D57FA2191E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7C841D-A6BA-C9D4-3F4D-F097F37EFD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9E4023-6F3A-457B-B0BB-8C1F114B424F}" type="slidenum">
              <a:rPr lang="en-SG" smtClean="0"/>
              <a:pPr/>
              <a:t>‹#›</a:t>
            </a:fld>
            <a:endParaRPr lang="en-SG"/>
          </a:p>
        </p:txBody>
      </p:sp>
      <p:sp>
        <p:nvSpPr>
          <p:cNvPr id="7" name="Rectangle 6">
            <a:extLst>
              <a:ext uri="{FF2B5EF4-FFF2-40B4-BE49-F238E27FC236}">
                <a16:creationId xmlns:a16="http://schemas.microsoft.com/office/drawing/2014/main" id="{D5FDBE67-2652-6A87-20FD-BC269099CE1A}"/>
              </a:ext>
            </a:extLst>
          </p:cNvPr>
          <p:cNvSpPr/>
          <p:nvPr userDrawn="1"/>
        </p:nvSpPr>
        <p:spPr>
          <a:xfrm>
            <a:off x="914083" y="6341602"/>
            <a:ext cx="10633904" cy="276999"/>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spc="80" dirty="0">
                <a:solidFill>
                  <a:srgbClr val="0070C0"/>
                </a:solidFill>
                <a:latin typeface="Calibri" panose="020F0502020204030204" pitchFamily="34" charset="0"/>
                <a:cs typeface="Calibri" panose="020F0502020204030204" pitchFamily="34" charset="0"/>
              </a:rPr>
              <a:t>[CIT2C20 – FULL STACK WEB DEVELOPMENT] 		</a:t>
            </a:r>
            <a:r>
              <a:rPr lang="en-SG" sz="1200" spc="80" baseline="0" dirty="0">
                <a:solidFill>
                  <a:srgbClr val="0070C0"/>
                </a:solidFill>
                <a:latin typeface="Calibri" panose="020F0502020204030204" pitchFamily="34" charset="0"/>
                <a:cs typeface="Calibri" panose="020F0502020204030204" pitchFamily="34" charset="0"/>
              </a:rPr>
              <a:t>      		      </a:t>
            </a:r>
            <a:r>
              <a:rPr lang="en-US" sz="1200" spc="80" dirty="0">
                <a:solidFill>
                  <a:schemeClr val="bg2">
                    <a:lumMod val="50000"/>
                  </a:schemeClr>
                </a:solidFill>
                <a:latin typeface="Calibri" panose="020F0502020204030204" pitchFamily="34" charset="0"/>
                <a:cs typeface="Calibri" panose="020F0502020204030204" pitchFamily="34" charset="0"/>
              </a:rPr>
              <a:t>TEMASEK POLYTECHNIC I </a:t>
            </a:r>
            <a:r>
              <a:rPr lang="en-US" sz="1200" b="1" spc="80" dirty="0">
                <a:solidFill>
                  <a:schemeClr val="bg2">
                    <a:lumMod val="50000"/>
                  </a:schemeClr>
                </a:solidFill>
                <a:latin typeface="Calibri" panose="020F0502020204030204" pitchFamily="34" charset="0"/>
                <a:cs typeface="Calibri" panose="020F0502020204030204" pitchFamily="34" charset="0"/>
              </a:rPr>
              <a:t>School of Informatics &amp; IT</a:t>
            </a:r>
          </a:p>
        </p:txBody>
      </p:sp>
      <p:sp>
        <p:nvSpPr>
          <p:cNvPr id="8" name="Rectangle 7">
            <a:extLst>
              <a:ext uri="{FF2B5EF4-FFF2-40B4-BE49-F238E27FC236}">
                <a16:creationId xmlns:a16="http://schemas.microsoft.com/office/drawing/2014/main" id="{7BA7BC12-5FAC-7E69-53C8-F966C8C9C568}"/>
              </a:ext>
            </a:extLst>
          </p:cNvPr>
          <p:cNvSpPr/>
          <p:nvPr userDrawn="1"/>
        </p:nvSpPr>
        <p:spPr>
          <a:xfrm>
            <a:off x="0" y="365126"/>
            <a:ext cx="284813" cy="81978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833789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675" r:id="rId12"/>
    <p:sldLayoutId id="2147483680" r:id="rId13"/>
    <p:sldLayoutId id="2147483681" r:id="rId14"/>
    <p:sldLayoutId id="2147483682" r:id="rId15"/>
    <p:sldLayoutId id="2147483683"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hat.openai.com/chat" TargetMode="Externa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doi.org/10.3102/0013189X09339057"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smiletutor.sg/" TargetMode="External"/><Relationship Id="rId2" Type="http://schemas.openxmlformats.org/officeDocument/2006/relationships/hyperlink" Target="https://www.superprof.sg/"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mailto:2404908B@student.tp.edu.sg"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7030D-F9A5-469C-B08C-422CD33EDF0E}"/>
              </a:ext>
            </a:extLst>
          </p:cNvPr>
          <p:cNvSpPr txBox="1"/>
          <p:nvPr/>
        </p:nvSpPr>
        <p:spPr>
          <a:xfrm>
            <a:off x="2510902" y="723121"/>
            <a:ext cx="6889578" cy="2123658"/>
          </a:xfrm>
          <a:prstGeom prst="rect">
            <a:avLst/>
          </a:prstGeom>
          <a:noFill/>
        </p:spPr>
        <p:txBody>
          <a:bodyPr wrap="none" rtlCol="0">
            <a:spAutoFit/>
          </a:bodyPr>
          <a:lstStyle/>
          <a:p>
            <a:pPr algn="ctr"/>
            <a:r>
              <a:rPr lang="en-GB" sz="4400" b="1" dirty="0"/>
              <a:t>Full Stack Web Development</a:t>
            </a:r>
          </a:p>
          <a:p>
            <a:pPr algn="ctr"/>
            <a:r>
              <a:rPr lang="en-GB" sz="4400" b="1" dirty="0"/>
              <a:t>Project Proposal </a:t>
            </a:r>
          </a:p>
          <a:p>
            <a:pPr algn="ctr"/>
            <a:r>
              <a:rPr lang="en-GB" sz="4400" b="1" dirty="0"/>
              <a:t>(20%)</a:t>
            </a:r>
          </a:p>
        </p:txBody>
      </p:sp>
      <p:sp>
        <p:nvSpPr>
          <p:cNvPr id="3" name="TextBox 2">
            <a:extLst>
              <a:ext uri="{FF2B5EF4-FFF2-40B4-BE49-F238E27FC236}">
                <a16:creationId xmlns:a16="http://schemas.microsoft.com/office/drawing/2014/main" id="{5331E56D-DBB6-4920-8873-6BFF4DD931A4}"/>
              </a:ext>
            </a:extLst>
          </p:cNvPr>
          <p:cNvSpPr txBox="1"/>
          <p:nvPr/>
        </p:nvSpPr>
        <p:spPr>
          <a:xfrm>
            <a:off x="4991086" y="2948379"/>
            <a:ext cx="1712456" cy="646331"/>
          </a:xfrm>
          <a:prstGeom prst="rect">
            <a:avLst/>
          </a:prstGeom>
          <a:noFill/>
        </p:spPr>
        <p:txBody>
          <a:bodyPr wrap="none" rtlCol="0">
            <a:spAutoFit/>
          </a:bodyPr>
          <a:lstStyle/>
          <a:p>
            <a:r>
              <a:rPr lang="en-GB" sz="3600" dirty="0"/>
              <a:t>Synapse</a:t>
            </a:r>
          </a:p>
        </p:txBody>
      </p:sp>
      <p:sp>
        <p:nvSpPr>
          <p:cNvPr id="4" name="TextBox 3">
            <a:extLst>
              <a:ext uri="{FF2B5EF4-FFF2-40B4-BE49-F238E27FC236}">
                <a16:creationId xmlns:a16="http://schemas.microsoft.com/office/drawing/2014/main" id="{DD8A0C03-BBA9-4AD2-9755-EAEAF6113563}"/>
              </a:ext>
            </a:extLst>
          </p:cNvPr>
          <p:cNvSpPr txBox="1"/>
          <p:nvPr/>
        </p:nvSpPr>
        <p:spPr>
          <a:xfrm>
            <a:off x="4813762" y="4823683"/>
            <a:ext cx="2067104" cy="369332"/>
          </a:xfrm>
          <a:prstGeom prst="rect">
            <a:avLst/>
          </a:prstGeom>
          <a:noFill/>
        </p:spPr>
        <p:txBody>
          <a:bodyPr wrap="none" rtlCol="0">
            <a:spAutoFit/>
          </a:bodyPr>
          <a:lstStyle/>
          <a:p>
            <a:pPr algn="ctr"/>
            <a:r>
              <a:rPr lang="en-GB" dirty="0"/>
              <a:t>Daniella Han Xue En</a:t>
            </a:r>
          </a:p>
        </p:txBody>
      </p:sp>
      <p:sp>
        <p:nvSpPr>
          <p:cNvPr id="6" name="TextBox 5">
            <a:extLst>
              <a:ext uri="{FF2B5EF4-FFF2-40B4-BE49-F238E27FC236}">
                <a16:creationId xmlns:a16="http://schemas.microsoft.com/office/drawing/2014/main" id="{D8258169-E062-40F0-8371-2EA35A7D9BA1}"/>
              </a:ext>
            </a:extLst>
          </p:cNvPr>
          <p:cNvSpPr txBox="1"/>
          <p:nvPr/>
        </p:nvSpPr>
        <p:spPr>
          <a:xfrm>
            <a:off x="5282896" y="5294615"/>
            <a:ext cx="1128835" cy="369332"/>
          </a:xfrm>
          <a:prstGeom prst="rect">
            <a:avLst/>
          </a:prstGeom>
          <a:noFill/>
        </p:spPr>
        <p:txBody>
          <a:bodyPr wrap="none" rtlCol="0">
            <a:spAutoFit/>
          </a:bodyPr>
          <a:lstStyle/>
          <a:p>
            <a:pPr algn="ctr"/>
            <a:r>
              <a:rPr lang="en-GB" dirty="0"/>
              <a:t>2404908B</a:t>
            </a:r>
          </a:p>
        </p:txBody>
      </p:sp>
      <p:sp>
        <p:nvSpPr>
          <p:cNvPr id="5" name="TextBox 4">
            <a:extLst>
              <a:ext uri="{FF2B5EF4-FFF2-40B4-BE49-F238E27FC236}">
                <a16:creationId xmlns:a16="http://schemas.microsoft.com/office/drawing/2014/main" id="{1B0C6BD1-AE9F-D085-E782-1457F1CA441F}"/>
              </a:ext>
            </a:extLst>
          </p:cNvPr>
          <p:cNvSpPr txBox="1"/>
          <p:nvPr/>
        </p:nvSpPr>
        <p:spPr>
          <a:xfrm>
            <a:off x="5522512" y="5765547"/>
            <a:ext cx="649601" cy="369332"/>
          </a:xfrm>
          <a:prstGeom prst="rect">
            <a:avLst/>
          </a:prstGeom>
          <a:noFill/>
        </p:spPr>
        <p:txBody>
          <a:bodyPr wrap="none" rtlCol="0">
            <a:spAutoFit/>
          </a:bodyPr>
          <a:lstStyle/>
          <a:p>
            <a:pPr algn="ctr"/>
            <a:r>
              <a:rPr lang="en-GB" dirty="0"/>
              <a:t>TC02</a:t>
            </a:r>
          </a:p>
        </p:txBody>
      </p:sp>
    </p:spTree>
    <p:extLst>
      <p:ext uri="{BB962C8B-B14F-4D97-AF65-F5344CB8AC3E}">
        <p14:creationId xmlns:p14="http://schemas.microsoft.com/office/powerpoint/2010/main" val="3181263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F27B9-0D28-49D9-97B5-B24FDEDB25D0}"/>
              </a:ext>
            </a:extLst>
          </p:cNvPr>
          <p:cNvSpPr>
            <a:spLocks noGrp="1"/>
          </p:cNvSpPr>
          <p:nvPr>
            <p:ph type="title"/>
          </p:nvPr>
        </p:nvSpPr>
        <p:spPr/>
        <p:txBody>
          <a:bodyPr/>
          <a:lstStyle/>
          <a:p>
            <a:pPr marL="0" marR="0" algn="ctr">
              <a:lnSpc>
                <a:spcPct val="150000"/>
              </a:lnSpc>
              <a:spcBef>
                <a:spcPts val="0"/>
              </a:spcBef>
              <a:spcAft>
                <a:spcPts val="0"/>
              </a:spcAft>
            </a:pPr>
            <a:r>
              <a:rPr lang="en-GB" sz="36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Declaration of Originality</a:t>
            </a:r>
            <a:endParaRPr lang="en-US" sz="1600" dirty="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3" name="Content Placeholder 2">
            <a:extLst>
              <a:ext uri="{FF2B5EF4-FFF2-40B4-BE49-F238E27FC236}">
                <a16:creationId xmlns:a16="http://schemas.microsoft.com/office/drawing/2014/main" id="{7C877F9F-D62A-45BB-9799-246A29611BAA}"/>
              </a:ext>
            </a:extLst>
          </p:cNvPr>
          <p:cNvSpPr>
            <a:spLocks noGrp="1"/>
          </p:cNvSpPr>
          <p:nvPr>
            <p:ph idx="1"/>
          </p:nvPr>
        </p:nvSpPr>
        <p:spPr/>
        <p:txBody>
          <a:bodyPr>
            <a:normAutofit fontScale="92500" lnSpcReduction="20000"/>
          </a:bodyPr>
          <a:lstStyle/>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I am the originator of this work and </a:t>
            </a:r>
            <a:r>
              <a:rPr lang="en-US" sz="2400" dirty="0">
                <a:solidFill>
                  <a:schemeClr val="tx1"/>
                </a:solidFill>
                <a:effectLst/>
                <a:latin typeface="Arial" panose="020B0604020202020204" pitchFamily="34" charset="0"/>
                <a:ea typeface="Times New Roman" panose="02020603050405020304" pitchFamily="18" charset="0"/>
              </a:rPr>
              <a:t>I have </a:t>
            </a:r>
            <a:r>
              <a:rPr lang="en-GB" sz="2400" dirty="0">
                <a:solidFill>
                  <a:schemeClr val="tx1"/>
                </a:solidFill>
                <a:effectLst/>
                <a:latin typeface="Arial" panose="020B0604020202020204" pitchFamily="34" charset="0"/>
                <a:ea typeface="Times New Roman" panose="02020603050405020304" pitchFamily="18" charset="0"/>
              </a:rPr>
              <a:t>appropriately acknowledged all other original sources used as my references for this work.</a:t>
            </a:r>
          </a:p>
          <a:p>
            <a:pPr marL="0" indent="0" algn="ctr">
              <a:spcBef>
                <a:spcPts val="0"/>
              </a:spcBef>
              <a:buNone/>
            </a:pPr>
            <a:endParaRPr lang="en-US" sz="2400" dirty="0">
              <a:solidFill>
                <a:schemeClr val="tx1"/>
              </a:solidFill>
              <a:effectLst/>
              <a:latin typeface="Arial" panose="020B0604020202020204" pitchFamily="34" charset="0"/>
              <a:ea typeface="Times New Roman" panose="02020603050405020304" pitchFamily="18" charset="0"/>
            </a:endParaRPr>
          </a:p>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I understand that Plagiarism is the act of taking and using the whole or any part of another person’s work, including work generated by AI, and presenting it as my own.</a:t>
            </a:r>
          </a:p>
          <a:p>
            <a:pPr marL="0" indent="0" algn="ctr">
              <a:spcBef>
                <a:spcPts val="0"/>
              </a:spcBef>
              <a:buNone/>
            </a:pPr>
            <a:endParaRPr lang="en-US" sz="2400" dirty="0">
              <a:solidFill>
                <a:schemeClr val="tx1"/>
              </a:solidFill>
              <a:effectLst/>
              <a:latin typeface="Arial" panose="020B0604020202020204" pitchFamily="34" charset="0"/>
              <a:ea typeface="Times New Roman" panose="02020603050405020304" pitchFamily="18" charset="0"/>
            </a:endParaRPr>
          </a:p>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I understand that Plagiarism is an academic offence</a:t>
            </a:r>
            <a:endParaRPr lang="en-US" sz="2400" dirty="0">
              <a:solidFill>
                <a:schemeClr val="tx1"/>
              </a:solidFill>
              <a:effectLst/>
              <a:latin typeface="Arial" panose="020B0604020202020204" pitchFamily="34" charset="0"/>
              <a:ea typeface="Times New Roman" panose="02020603050405020304" pitchFamily="18" charset="0"/>
            </a:endParaRPr>
          </a:p>
          <a:p>
            <a:pPr marL="0" marR="0" indent="0" algn="ctr">
              <a:spcBef>
                <a:spcPts val="0"/>
              </a:spcBef>
              <a:spcAft>
                <a:spcPts val="0"/>
              </a:spcAft>
              <a:buNone/>
            </a:pPr>
            <a:r>
              <a:rPr lang="en-GB" sz="2400" dirty="0">
                <a:solidFill>
                  <a:schemeClr val="tx1"/>
                </a:solidFill>
                <a:effectLst/>
                <a:latin typeface="Arial" panose="020B0604020202020204" pitchFamily="34" charset="0"/>
                <a:ea typeface="Times New Roman" panose="02020603050405020304" pitchFamily="18" charset="0"/>
              </a:rPr>
              <a:t>and if I am found to have committed or abetted the offence of plagiarism in relation to this submitted work, disciplinary action will be enforced.</a:t>
            </a: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Name and Signature of Student: </a:t>
            </a:r>
          </a:p>
          <a:p>
            <a:pPr marL="0" indent="0">
              <a:lnSpc>
                <a:spcPct val="107000"/>
              </a:lnSpc>
              <a:spcAft>
                <a:spcPts val="800"/>
              </a:spcAft>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Daniella </a:t>
            </a:r>
            <a:endParaRPr lang="en-SG"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SG" sz="3600" dirty="0"/>
          </a:p>
        </p:txBody>
      </p:sp>
      <p:pic>
        <p:nvPicPr>
          <p:cNvPr id="5" name="Picture 4" descr="A black text on a white background&#10;&#10;AI-generated content may be incorrect.">
            <a:extLst>
              <a:ext uri="{FF2B5EF4-FFF2-40B4-BE49-F238E27FC236}">
                <a16:creationId xmlns:a16="http://schemas.microsoft.com/office/drawing/2014/main" id="{C4EE3F5B-827F-D6EE-02D3-48B6F7387C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1446" y="5179568"/>
            <a:ext cx="2396246" cy="837398"/>
          </a:xfrm>
          <a:prstGeom prst="rect">
            <a:avLst/>
          </a:prstGeom>
        </p:spPr>
      </p:pic>
    </p:spTree>
    <p:extLst>
      <p:ext uri="{BB962C8B-B14F-4D97-AF65-F5344CB8AC3E}">
        <p14:creationId xmlns:p14="http://schemas.microsoft.com/office/powerpoint/2010/main" val="4241071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F27B9-0D28-49D9-97B5-B24FDEDB25D0}"/>
              </a:ext>
            </a:extLst>
          </p:cNvPr>
          <p:cNvSpPr>
            <a:spLocks noGrp="1"/>
          </p:cNvSpPr>
          <p:nvPr>
            <p:ph type="title"/>
          </p:nvPr>
        </p:nvSpPr>
        <p:spPr/>
        <p:txBody>
          <a:bodyPr>
            <a:noAutofit/>
          </a:bodyPr>
          <a:lstStyle/>
          <a:p>
            <a:pPr marL="0" marR="0" algn="ctr">
              <a:lnSpc>
                <a:spcPct val="150000"/>
              </a:lnSpc>
              <a:spcBef>
                <a:spcPts val="0"/>
              </a:spcBef>
              <a:spcAft>
                <a:spcPts val="0"/>
              </a:spcAft>
            </a:pPr>
            <a:r>
              <a:rPr lang="en-SG" sz="24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Declaration on the use of Generative AI tools for assignments</a:t>
            </a:r>
            <a:endParaRPr lang="en-US" sz="1100" dirty="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59D1921A-1635-F05B-3C5F-1FB1679BB9DC}"/>
              </a:ext>
            </a:extLst>
          </p:cNvPr>
          <p:cNvSpPr>
            <a:spLocks noGrp="1"/>
          </p:cNvSpPr>
          <p:nvPr>
            <p:ph idx="1"/>
          </p:nvPr>
        </p:nvSpPr>
        <p:spPr>
          <a:xfrm>
            <a:off x="959581" y="1499360"/>
            <a:ext cx="10336162" cy="1057410"/>
          </a:xfrm>
        </p:spPr>
        <p:txBody>
          <a:bodyPr>
            <a:normAutofit lnSpcReduction="10000"/>
          </a:bodyPr>
          <a:lstStyle/>
          <a:p>
            <a:pPr marL="0" marR="0" indent="0" algn="just">
              <a:spcBef>
                <a:spcPts val="0"/>
              </a:spcBef>
              <a:spcAft>
                <a:spcPts val="0"/>
              </a:spcAft>
              <a:buNone/>
              <a:tabLst>
                <a:tab pos="228600" algn="l"/>
              </a:tabLst>
            </a:pPr>
            <a:r>
              <a:rPr lang="en-GB" sz="1800" dirty="0">
                <a:solidFill>
                  <a:schemeClr val="tx1"/>
                </a:solidFill>
                <a:effectLst/>
                <a:latin typeface="Arial" panose="020B0604020202020204" pitchFamily="34" charset="0"/>
                <a:ea typeface="Times New Roman" panose="02020603050405020304" pitchFamily="18" charset="0"/>
              </a:rPr>
              <a:t>Describe how you have used Generative AI tools such as </a:t>
            </a:r>
            <a:r>
              <a:rPr lang="en-GB" sz="1800" dirty="0" err="1">
                <a:solidFill>
                  <a:schemeClr val="tx1"/>
                </a:solidFill>
                <a:effectLst/>
                <a:latin typeface="Arial" panose="020B0604020202020204" pitchFamily="34" charset="0"/>
                <a:ea typeface="Times New Roman" panose="02020603050405020304" pitchFamily="18" charset="0"/>
              </a:rPr>
              <a:t>ChatGPT</a:t>
            </a:r>
            <a:r>
              <a:rPr lang="en-GB" sz="1800" dirty="0">
                <a:solidFill>
                  <a:schemeClr val="tx1"/>
                </a:solidFill>
                <a:effectLst/>
                <a:latin typeface="Arial" panose="020B0604020202020204" pitchFamily="34" charset="0"/>
                <a:ea typeface="Times New Roman" panose="02020603050405020304" pitchFamily="18" charset="0"/>
              </a:rPr>
              <a:t> or Dall.E-2 in your assignment. </a:t>
            </a:r>
            <a:endParaRPr lang="en-US" sz="1800" dirty="0">
              <a:solidFill>
                <a:schemeClr val="tx1"/>
              </a:solidFill>
              <a:effectLst/>
              <a:latin typeface="Arial" panose="020B0604020202020204" pitchFamily="34" charset="0"/>
              <a:ea typeface="Times New Roman" panose="02020603050405020304" pitchFamily="18" charset="0"/>
            </a:endParaRPr>
          </a:p>
          <a:p>
            <a:pPr marL="0" marR="0" indent="0" algn="just">
              <a:spcBef>
                <a:spcPts val="0"/>
              </a:spcBef>
              <a:spcAft>
                <a:spcPts val="0"/>
              </a:spcAft>
              <a:buNone/>
              <a:tabLst>
                <a:tab pos="228600" algn="l"/>
              </a:tabLst>
            </a:pPr>
            <a:endParaRPr lang="en-US" sz="1800" dirty="0">
              <a:solidFill>
                <a:schemeClr val="tx1"/>
              </a:solidFill>
              <a:effectLst/>
              <a:latin typeface="Arial" panose="020B0604020202020204" pitchFamily="34" charset="0"/>
              <a:ea typeface="Times New Roman" panose="02020603050405020304" pitchFamily="18" charset="0"/>
            </a:endParaRPr>
          </a:p>
          <a:p>
            <a:pPr marL="0" marR="0" indent="0" algn="just">
              <a:spcBef>
                <a:spcPts val="0"/>
              </a:spcBef>
              <a:spcAft>
                <a:spcPts val="0"/>
              </a:spcAft>
              <a:buNone/>
              <a:tabLst>
                <a:tab pos="228600" algn="l"/>
              </a:tabLst>
            </a:pPr>
            <a:r>
              <a:rPr lang="en-GB" sz="1800" dirty="0">
                <a:solidFill>
                  <a:schemeClr val="tx1"/>
                </a:solidFill>
                <a:effectLst/>
                <a:latin typeface="Arial" panose="020B0604020202020204" pitchFamily="34" charset="0"/>
                <a:ea typeface="Times New Roman" panose="02020603050405020304" pitchFamily="18" charset="0"/>
              </a:rPr>
              <a:t>Show snapshots of the conversations with the AI tool (i.e., the prompts you used and the response you get from the AI tool).  </a:t>
            </a:r>
            <a:endParaRPr lang="en-US" sz="1800" dirty="0">
              <a:solidFill>
                <a:schemeClr val="tx1"/>
              </a:solidFill>
              <a:effectLst/>
              <a:latin typeface="Arial" panose="020B0604020202020204" pitchFamily="34" charset="0"/>
              <a:ea typeface="Times New Roman" panose="02020603050405020304" pitchFamily="18" charset="0"/>
            </a:endParaRPr>
          </a:p>
        </p:txBody>
      </p:sp>
      <p:sp>
        <p:nvSpPr>
          <p:cNvPr id="10" name="TextBox 9">
            <a:extLst>
              <a:ext uri="{FF2B5EF4-FFF2-40B4-BE49-F238E27FC236}">
                <a16:creationId xmlns:a16="http://schemas.microsoft.com/office/drawing/2014/main" id="{9877B34D-A3FD-6731-5308-300BCCC5C733}"/>
              </a:ext>
            </a:extLst>
          </p:cNvPr>
          <p:cNvSpPr txBox="1"/>
          <p:nvPr/>
        </p:nvSpPr>
        <p:spPr>
          <a:xfrm>
            <a:off x="959582" y="2663301"/>
            <a:ext cx="10336161" cy="211288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Tree>
    <p:extLst>
      <p:ext uri="{BB962C8B-B14F-4D97-AF65-F5344CB8AC3E}">
        <p14:creationId xmlns:p14="http://schemas.microsoft.com/office/powerpoint/2010/main" val="116405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91E037A-6BE5-7A11-AEC6-913324BAC69F}"/>
              </a:ext>
            </a:extLst>
          </p:cNvPr>
          <p:cNvSpPr txBox="1">
            <a:spLocks/>
          </p:cNvSpPr>
          <p:nvPr/>
        </p:nvSpPr>
        <p:spPr>
          <a:xfrm>
            <a:off x="959581" y="1184910"/>
            <a:ext cx="10336162" cy="2628758"/>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en-SG" sz="1600" dirty="0">
                <a:solidFill>
                  <a:schemeClr val="tx1"/>
                </a:solidFill>
                <a:latin typeface="Arial" panose="020B0604020202020204" pitchFamily="34" charset="0"/>
                <a:ea typeface="Times New Roman" panose="02020603050405020304" pitchFamily="18" charset="0"/>
              </a:rPr>
              <a:t>The content generated by AI tools are not retrievable except by the user who generated them, so they are considered non-recoverable sources. Although non-recoverable data or quotations in APA Style papers are usually cited as personal communications, with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-generated text there is no person communicating. Quoting text from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 chat is therefore more like sharing the output of an algorithm, with a reference list entry and the corresponding in-text citation.</a:t>
            </a:r>
          </a:p>
          <a:p>
            <a:pPr marL="0" indent="0" algn="just">
              <a:spcBef>
                <a:spcPts val="0"/>
              </a:spcBef>
              <a:buFont typeface="Arial" panose="020B0604020202020204" pitchFamily="34" charset="0"/>
              <a:buNone/>
            </a:pPr>
            <a:endParaRPr lang="en-SG" sz="1600" dirty="0">
              <a:solidFill>
                <a:schemeClr val="tx1"/>
              </a:solidFill>
              <a:latin typeface="Arial" panose="020B0604020202020204" pitchFamily="34" charset="0"/>
              <a:ea typeface="Times New Roman" panose="02020603050405020304" pitchFamily="18" charset="0"/>
            </a:endParaRPr>
          </a:p>
          <a:p>
            <a:pPr marL="0" indent="0" algn="just">
              <a:spcBef>
                <a:spcPts val="0"/>
              </a:spcBef>
              <a:buFont typeface="Arial" panose="020B0604020202020204" pitchFamily="34" charset="0"/>
              <a:buNone/>
            </a:pPr>
            <a:r>
              <a:rPr lang="en-SG" sz="1600" dirty="0">
                <a:solidFill>
                  <a:schemeClr val="tx1"/>
                </a:solidFill>
                <a:latin typeface="Arial" panose="020B0604020202020204" pitchFamily="34" charset="0"/>
                <a:ea typeface="Times New Roman" panose="02020603050405020304" pitchFamily="18" charset="0"/>
              </a:rPr>
              <a:t>According to the official APA Style site,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 references should be cited as:</a:t>
            </a:r>
          </a:p>
          <a:p>
            <a:pPr marL="0" indent="0" algn="just">
              <a:spcBef>
                <a:spcPts val="0"/>
              </a:spcBef>
              <a:buFont typeface="Arial" panose="020B0604020202020204" pitchFamily="34" charset="0"/>
              <a:buNone/>
            </a:pPr>
            <a:endParaRPr lang="en-SG" sz="1600" dirty="0">
              <a:solidFill>
                <a:schemeClr val="tx1"/>
              </a:solidFill>
              <a:latin typeface="Arial" panose="020B0604020202020204" pitchFamily="34" charset="0"/>
              <a:ea typeface="Times New Roman" panose="02020603050405020304" pitchFamily="18" charset="0"/>
            </a:endParaRPr>
          </a:p>
          <a:p>
            <a:pPr marL="0" indent="0" algn="just">
              <a:spcBef>
                <a:spcPts val="0"/>
              </a:spcBef>
              <a:buFont typeface="Arial" panose="020B0604020202020204" pitchFamily="34" charset="0"/>
              <a:buNone/>
            </a:pPr>
            <a:r>
              <a:rPr lang="en-SG" sz="1600" dirty="0">
                <a:solidFill>
                  <a:schemeClr val="tx1"/>
                </a:solidFill>
                <a:latin typeface="Arial" panose="020B0604020202020204" pitchFamily="34" charset="0"/>
                <a:ea typeface="Times New Roman" panose="02020603050405020304" pitchFamily="18" charset="0"/>
              </a:rPr>
              <a:t>E.g.   </a:t>
            </a:r>
            <a:r>
              <a:rPr lang="en-SG" sz="1600" dirty="0" err="1">
                <a:solidFill>
                  <a:schemeClr val="tx1"/>
                </a:solidFill>
                <a:latin typeface="Arial" panose="020B0604020202020204" pitchFamily="34" charset="0"/>
                <a:ea typeface="Times New Roman" panose="02020603050405020304" pitchFamily="18" charset="0"/>
              </a:rPr>
              <a:t>OpenAI</a:t>
            </a:r>
            <a:r>
              <a:rPr lang="en-SG" sz="1600" dirty="0">
                <a:solidFill>
                  <a:schemeClr val="tx1"/>
                </a:solidFill>
                <a:latin typeface="Arial" panose="020B0604020202020204" pitchFamily="34" charset="0"/>
                <a:ea typeface="Times New Roman" panose="02020603050405020304" pitchFamily="18" charset="0"/>
              </a:rPr>
              <a:t>. (2023). </a:t>
            </a:r>
            <a:r>
              <a:rPr lang="en-SG" sz="1600" dirty="0" err="1">
                <a:solidFill>
                  <a:schemeClr val="tx1"/>
                </a:solidFill>
                <a:latin typeface="Arial" panose="020B0604020202020204" pitchFamily="34" charset="0"/>
                <a:ea typeface="Times New Roman" panose="02020603050405020304" pitchFamily="18" charset="0"/>
              </a:rPr>
              <a:t>ChatGPT</a:t>
            </a:r>
            <a:r>
              <a:rPr lang="en-SG" sz="1600" dirty="0">
                <a:solidFill>
                  <a:schemeClr val="tx1"/>
                </a:solidFill>
                <a:latin typeface="Arial" panose="020B0604020202020204" pitchFamily="34" charset="0"/>
                <a:ea typeface="Times New Roman" panose="02020603050405020304" pitchFamily="18" charset="0"/>
              </a:rPr>
              <a:t> (Sep 25 version) [Large language model].       </a:t>
            </a:r>
          </a:p>
          <a:p>
            <a:pPr marL="0" indent="0" algn="just">
              <a:spcBef>
                <a:spcPts val="0"/>
              </a:spcBef>
              <a:buFont typeface="Arial" panose="020B0604020202020204" pitchFamily="34" charset="0"/>
              <a:buNone/>
            </a:pPr>
            <a:r>
              <a:rPr lang="en-SG" sz="1600" dirty="0">
                <a:latin typeface="Arial" panose="020B0604020202020204" pitchFamily="34" charset="0"/>
                <a:ea typeface="Times New Roman" panose="02020603050405020304" pitchFamily="18" charset="0"/>
              </a:rPr>
              <a:t>                    </a:t>
            </a:r>
            <a:r>
              <a:rPr lang="en-SG" sz="1600" dirty="0">
                <a:latin typeface="Arial" panose="020B0604020202020204" pitchFamily="34" charset="0"/>
                <a:ea typeface="Times New Roman" panose="02020603050405020304" pitchFamily="18" charset="0"/>
                <a:hlinkClick r:id="rId2"/>
              </a:rPr>
              <a:t>https://chat.openai.com/chat</a:t>
            </a:r>
            <a:r>
              <a:rPr lang="en-SG" sz="1600" dirty="0">
                <a:latin typeface="Arial" panose="020B0604020202020204" pitchFamily="34" charset="0"/>
                <a:ea typeface="Times New Roman" panose="02020603050405020304" pitchFamily="18" charset="0"/>
              </a:rPr>
              <a:t> </a:t>
            </a:r>
          </a:p>
        </p:txBody>
      </p:sp>
      <p:sp>
        <p:nvSpPr>
          <p:cNvPr id="3" name="Title 1">
            <a:extLst>
              <a:ext uri="{FF2B5EF4-FFF2-40B4-BE49-F238E27FC236}">
                <a16:creationId xmlns:a16="http://schemas.microsoft.com/office/drawing/2014/main" id="{5BDA16E0-F35F-9D0A-C62B-AB7CD8FD6F32}"/>
              </a:ext>
            </a:extLst>
          </p:cNvPr>
          <p:cNvSpPr txBox="1">
            <a:spLocks/>
          </p:cNvSpPr>
          <p:nvPr/>
        </p:nvSpPr>
        <p:spPr>
          <a:xfrm>
            <a:off x="959582" y="365126"/>
            <a:ext cx="10336161" cy="819784"/>
          </a:xfrm>
          <a:prstGeom prst="rect">
            <a:avLst/>
          </a:prstGeom>
        </p:spPr>
        <p:txBody>
          <a:bodyPr>
            <a:noAutofit/>
          </a:bodyPr>
          <a:lstStyle>
            <a:lvl1pPr algn="l" defTabSz="914400" rtl="0" eaLnBrk="1" latinLnBrk="0" hangingPunct="1">
              <a:lnSpc>
                <a:spcPct val="90000"/>
              </a:lnSpc>
              <a:spcBef>
                <a:spcPct val="0"/>
              </a:spcBef>
              <a:buNone/>
              <a:defRPr sz="3600" b="0" i="0" u="none" kern="1200">
                <a:solidFill>
                  <a:srgbClr val="0070C0"/>
                </a:solidFill>
                <a:latin typeface="+mn-lt"/>
                <a:ea typeface="+mj-ea"/>
                <a:cs typeface="+mj-cs"/>
              </a:defRPr>
            </a:lvl1pPr>
          </a:lstStyle>
          <a:p>
            <a:pPr algn="ctr">
              <a:lnSpc>
                <a:spcPct val="150000"/>
              </a:lnSpc>
              <a:spcBef>
                <a:spcPts val="0"/>
              </a:spcBef>
            </a:pPr>
            <a:r>
              <a:rPr lang="en-SG" sz="2400" b="1" dirty="0">
                <a:solidFill>
                  <a:srgbClr val="FF0000"/>
                </a:solidFill>
                <a:latin typeface="Arial" panose="020B0604020202020204" pitchFamily="34" charset="0"/>
                <a:ea typeface="Times New Roman" panose="02020603050405020304" pitchFamily="18" charset="0"/>
                <a:cs typeface="Arial" panose="020B0604020202020204" pitchFamily="34" charset="0"/>
              </a:rPr>
              <a:t>How do you indicate the reference?</a:t>
            </a:r>
            <a:endParaRPr lang="en-US" sz="1100" dirty="0">
              <a:latin typeface="Arial" panose="020B0604020202020204" pitchFamily="34"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60EFE433-EAE2-4855-84B2-7012E3FCB36E}"/>
              </a:ext>
            </a:extLst>
          </p:cNvPr>
          <p:cNvSpPr txBox="1"/>
          <p:nvPr/>
        </p:nvSpPr>
        <p:spPr>
          <a:xfrm>
            <a:off x="959581" y="3813668"/>
            <a:ext cx="10336162" cy="2554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algn="just">
              <a:spcBef>
                <a:spcPts val="0"/>
              </a:spcBef>
              <a:spcAft>
                <a:spcPts val="0"/>
              </a:spcAft>
              <a:tabLst>
                <a:tab pos="228600" algn="l"/>
              </a:tabLst>
            </a:pPr>
            <a:r>
              <a:rPr lang="en-GB" sz="1600" b="1" dirty="0">
                <a:solidFill>
                  <a:srgbClr val="FF0000"/>
                </a:solidFill>
                <a:effectLst/>
                <a:latin typeface="Arial" panose="020B0604020202020204" pitchFamily="34" charset="0"/>
                <a:ea typeface="Times New Roman" panose="02020603050405020304" pitchFamily="18" charset="0"/>
              </a:rPr>
              <a:t>Important Note:</a:t>
            </a:r>
            <a:endParaRPr lang="en-US" sz="1600" dirty="0">
              <a:solidFill>
                <a:srgbClr val="FF0000"/>
              </a:solidFill>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endParaRPr lang="en-GB" sz="1600" dirty="0">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latin typeface="Arial" panose="020B0604020202020204" pitchFamily="34" charset="0"/>
                <a:ea typeface="Times New Roman" panose="02020603050405020304" pitchFamily="18" charset="0"/>
              </a:rPr>
              <a:t>Do not copy answers produced by the AI tool in totality as it is considered as plagiarism.  </a:t>
            </a:r>
            <a:endParaRPr lang="en-US" sz="1600" dirty="0">
              <a:effectLst/>
              <a:latin typeface="Arial" panose="020B0604020202020204" pitchFamily="34" charset="0"/>
              <a:ea typeface="Times New Roman" panose="02020603050405020304" pitchFamily="18" charset="0"/>
            </a:endParaRPr>
          </a:p>
          <a:p>
            <a:pPr marL="228600" marR="0" algn="just">
              <a:spcBef>
                <a:spcPts val="0"/>
              </a:spcBef>
              <a:spcAft>
                <a:spcPts val="0"/>
              </a:spcAft>
              <a:tabLst>
                <a:tab pos="228600" algn="l"/>
              </a:tabLst>
            </a:pPr>
            <a:r>
              <a:rPr lang="en-GB" sz="1600" dirty="0">
                <a:effectLst/>
                <a:latin typeface="Arial" panose="020B0604020202020204" pitchFamily="34" charset="0"/>
                <a:ea typeface="Times New Roman" panose="02020603050405020304" pitchFamily="18" charset="0"/>
              </a:rPr>
              <a:t> </a:t>
            </a:r>
            <a:endParaRPr lang="en-US" sz="1600" dirty="0">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latin typeface="Arial" panose="020B0604020202020204" pitchFamily="34" charset="0"/>
                <a:ea typeface="Times New Roman" panose="02020603050405020304" pitchFamily="18" charset="0"/>
              </a:rPr>
              <a:t>Do not rely on any information produced by the AI tool blindly. You should always verify the answer with other sources. Do not assume that these answers provided by the AI tool are correct.  </a:t>
            </a:r>
            <a:endParaRPr lang="en-US" sz="1600" dirty="0">
              <a:effectLst/>
              <a:latin typeface="Arial" panose="020B0604020202020204" pitchFamily="34" charset="0"/>
              <a:ea typeface="Times New Roman" panose="02020603050405020304" pitchFamily="18" charset="0"/>
            </a:endParaRPr>
          </a:p>
          <a:p>
            <a:pPr marL="457200" marR="0">
              <a:spcBef>
                <a:spcPts val="0"/>
              </a:spcBef>
              <a:spcAft>
                <a:spcPts val="0"/>
              </a:spcAft>
            </a:pPr>
            <a:r>
              <a:rPr lang="en-GB" sz="1600" dirty="0">
                <a:effectLst/>
                <a:latin typeface="Arial" panose="020B0604020202020204" pitchFamily="34" charset="0"/>
                <a:ea typeface="Times New Roman" panose="02020603050405020304" pitchFamily="18" charset="0"/>
              </a:rPr>
              <a:t> </a:t>
            </a:r>
            <a:endParaRPr lang="en-US" sz="1600" dirty="0">
              <a:effectLst/>
              <a:latin typeface="Arial" panose="020B0604020202020204" pitchFamily="34" charset="0"/>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latin typeface="Arial" panose="020B0604020202020204" pitchFamily="34" charset="0"/>
                <a:ea typeface="Times New Roman" panose="02020603050405020304" pitchFamily="18" charset="0"/>
              </a:rPr>
              <a:t>To achieve quality outputs from the AI tool, you should provide good prompt that is clear and specific. Be precise and provide context.  Avoid asking open-ended questions. </a:t>
            </a:r>
          </a:p>
          <a:p>
            <a:pPr marR="0" lvl="0" algn="just">
              <a:spcBef>
                <a:spcPts val="0"/>
              </a:spcBef>
              <a:spcAft>
                <a:spcPts val="0"/>
              </a:spcAft>
              <a:tabLst>
                <a:tab pos="228600" algn="l"/>
              </a:tabLst>
            </a:pPr>
            <a:endParaRPr lang="en-US" sz="1600" dirty="0">
              <a:effectLst/>
              <a:latin typeface="Arial" panose="020B0604020202020204" pitchFamily="34" charset="0"/>
              <a:ea typeface="Times New Roman" panose="02020603050405020304" pitchFamily="18" charset="0"/>
            </a:endParaRPr>
          </a:p>
        </p:txBody>
      </p:sp>
    </p:spTree>
    <p:extLst>
      <p:ext uri="{BB962C8B-B14F-4D97-AF65-F5344CB8AC3E}">
        <p14:creationId xmlns:p14="http://schemas.microsoft.com/office/powerpoint/2010/main" val="401178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17672-F6E5-9794-1B2A-1763A2756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77476-C6D1-EFDC-F7D7-707F9B4954F6}"/>
              </a:ext>
            </a:extLst>
          </p:cNvPr>
          <p:cNvSpPr>
            <a:spLocks noGrp="1"/>
          </p:cNvSpPr>
          <p:nvPr>
            <p:ph type="title"/>
          </p:nvPr>
        </p:nvSpPr>
        <p:spPr>
          <a:xfrm>
            <a:off x="838200" y="365126"/>
            <a:ext cx="10515600" cy="1078664"/>
          </a:xfrm>
        </p:spPr>
        <p:txBody>
          <a:bodyPr>
            <a:normAutofit fontScale="90000"/>
          </a:bodyPr>
          <a:lstStyle/>
          <a:p>
            <a:r>
              <a:rPr lang="en-US" b="1" dirty="0"/>
              <a:t>Selected Use Case – </a:t>
            </a:r>
            <a:br>
              <a:rPr lang="en-US" b="1" dirty="0"/>
            </a:br>
            <a:r>
              <a:rPr lang="en-US" b="1" dirty="0">
                <a:highlight>
                  <a:srgbClr val="FFFF00"/>
                </a:highlight>
              </a:rPr>
              <a:t>Highlight your selected use case below</a:t>
            </a:r>
            <a:endParaRPr lang="en-US" dirty="0">
              <a:highlight>
                <a:srgbClr val="FFFF00"/>
              </a:highlight>
            </a:endParaRPr>
          </a:p>
        </p:txBody>
      </p:sp>
      <p:sp>
        <p:nvSpPr>
          <p:cNvPr id="3" name="Content Placeholder 2">
            <a:extLst>
              <a:ext uri="{FF2B5EF4-FFF2-40B4-BE49-F238E27FC236}">
                <a16:creationId xmlns:a16="http://schemas.microsoft.com/office/drawing/2014/main" id="{C8760CD5-405C-869B-BC45-A94C15FE2050}"/>
              </a:ext>
            </a:extLst>
          </p:cNvPr>
          <p:cNvSpPr>
            <a:spLocks noGrp="1"/>
          </p:cNvSpPr>
          <p:nvPr>
            <p:ph idx="1"/>
          </p:nvPr>
        </p:nvSpPr>
        <p:spPr>
          <a:xfrm>
            <a:off x="548640" y="1536866"/>
            <a:ext cx="11290434" cy="4806182"/>
          </a:xfrm>
        </p:spPr>
        <p:txBody>
          <a:bodyPr>
            <a:normAutofit fontScale="92500" lnSpcReduction="10000"/>
          </a:bodyPr>
          <a:lstStyle/>
          <a:p>
            <a:pPr marL="0" indent="0" algn="just">
              <a:buNone/>
            </a:pPr>
            <a:r>
              <a:rPr lang="en-US" sz="1600" b="1" dirty="0"/>
              <a:t>Case Study Options</a:t>
            </a:r>
            <a:r>
              <a:rPr lang="en-US" sz="1600" dirty="0"/>
              <a:t> (</a:t>
            </a:r>
            <a:r>
              <a:rPr lang="en-US" sz="1600" i="1" dirty="0"/>
              <a:t>The problem statement serves as a starting point; you can use it as is or adapt it based on your users' specific needs.</a:t>
            </a:r>
            <a:r>
              <a:rPr lang="en-US" sz="1600" dirty="0"/>
              <a:t>):</a:t>
            </a:r>
          </a:p>
          <a:p>
            <a:pPr marL="0" indent="0" algn="just">
              <a:buNone/>
            </a:pPr>
            <a:endParaRPr lang="en-US" sz="1600" dirty="0"/>
          </a:p>
          <a:p>
            <a:pPr marL="0" lvl="0" indent="0" algn="just">
              <a:buNone/>
            </a:pPr>
            <a:r>
              <a:rPr lang="en-US" sz="1600" b="1" dirty="0"/>
              <a:t>Campus Event Management System</a:t>
            </a:r>
            <a:endParaRPr lang="en-US" sz="1600" dirty="0"/>
          </a:p>
          <a:p>
            <a:pPr algn="just"/>
            <a:r>
              <a:rPr lang="en-US" sz="1600" b="1" dirty="0"/>
              <a:t>Problem Statement:</a:t>
            </a:r>
            <a:r>
              <a:rPr lang="en-US" sz="1600" dirty="0"/>
              <a:t> Students often miss out on campus events due to scattered announcements, lack of reminders, and complicated registration processes, leading to low participation and poor event visibility. </a:t>
            </a:r>
          </a:p>
          <a:p>
            <a:pPr lvl="0" algn="just"/>
            <a:endParaRPr lang="en-US" sz="1600" b="1" dirty="0"/>
          </a:p>
          <a:p>
            <a:pPr marL="0" lvl="0" indent="0" algn="just">
              <a:buNone/>
            </a:pPr>
            <a:r>
              <a:rPr lang="en-US" sz="1600" b="1" dirty="0"/>
              <a:t>Library Book Finder &amp; Reservation System</a:t>
            </a:r>
            <a:endParaRPr lang="en-US" sz="1600" dirty="0"/>
          </a:p>
          <a:p>
            <a:pPr algn="just"/>
            <a:r>
              <a:rPr lang="en-US" sz="1600" b="1" dirty="0"/>
              <a:t>Problem Statement: </a:t>
            </a:r>
            <a:r>
              <a:rPr lang="en-US" sz="1600" dirty="0"/>
              <a:t>Students waste time searching for books in the library without knowing their availability, resulting in frustration and missed opportunities to access learning resources.</a:t>
            </a:r>
          </a:p>
          <a:p>
            <a:pPr marL="0" indent="0" algn="just">
              <a:buNone/>
            </a:pPr>
            <a:r>
              <a:rPr lang="en-US" sz="1600" dirty="0"/>
              <a:t> </a:t>
            </a:r>
          </a:p>
          <a:p>
            <a:pPr marL="0" lvl="0" indent="0" algn="just">
              <a:buNone/>
            </a:pPr>
            <a:r>
              <a:rPr lang="en-US" sz="1600" b="1" dirty="0">
                <a:highlight>
                  <a:srgbClr val="FFFF00"/>
                </a:highlight>
              </a:rPr>
              <a:t>Peer-to-Peer Learning / Tutor Finder</a:t>
            </a:r>
            <a:endParaRPr lang="en-US" sz="1600" dirty="0">
              <a:highlight>
                <a:srgbClr val="FFFF00"/>
              </a:highlight>
            </a:endParaRPr>
          </a:p>
          <a:p>
            <a:pPr algn="just"/>
            <a:r>
              <a:rPr lang="en-US" sz="1600" b="1" dirty="0">
                <a:highlight>
                  <a:srgbClr val="FFFF00"/>
                </a:highlight>
              </a:rPr>
              <a:t>Problem Statement: </a:t>
            </a:r>
            <a:r>
              <a:rPr lang="en-US" sz="1600" dirty="0">
                <a:highlight>
                  <a:srgbClr val="FFFF00"/>
                </a:highlight>
              </a:rPr>
              <a:t>Students often need academic help but struggle to find peers with the right expertise, leading to missed learning opportunities and uneven access to support.</a:t>
            </a:r>
          </a:p>
          <a:p>
            <a:pPr marL="0" indent="0" algn="just">
              <a:buNone/>
            </a:pPr>
            <a:r>
              <a:rPr lang="en-US" sz="1600" dirty="0"/>
              <a:t> </a:t>
            </a:r>
          </a:p>
          <a:p>
            <a:pPr marL="0" lvl="0" indent="0" algn="just">
              <a:buNone/>
            </a:pPr>
            <a:r>
              <a:rPr lang="en-US" sz="1600" b="1" dirty="0"/>
              <a:t>Internship &amp; Job Portal for Students</a:t>
            </a:r>
            <a:endParaRPr lang="en-US" sz="1600" dirty="0"/>
          </a:p>
          <a:p>
            <a:pPr algn="just"/>
            <a:r>
              <a:rPr lang="en-US" sz="1600" b="1" dirty="0"/>
              <a:t>Problem Statement: </a:t>
            </a:r>
            <a:r>
              <a:rPr lang="en-US" sz="1600" dirty="0"/>
              <a:t>Students often struggle to find internships and job opportunities relevant to their courses, as postings are scattered across multiple platforms with no campus-specific matching.</a:t>
            </a:r>
            <a:r>
              <a:rPr lang="en-US" sz="1600" b="1" dirty="0"/>
              <a:t> </a:t>
            </a:r>
            <a:endParaRPr lang="en-US" sz="1600" dirty="0"/>
          </a:p>
        </p:txBody>
      </p:sp>
    </p:spTree>
    <p:extLst>
      <p:ext uri="{BB962C8B-B14F-4D97-AF65-F5344CB8AC3E}">
        <p14:creationId xmlns:p14="http://schemas.microsoft.com/office/powerpoint/2010/main" val="1420197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04071-0090-17B7-2A90-3317FAB697E2}"/>
              </a:ext>
            </a:extLst>
          </p:cNvPr>
          <p:cNvSpPr>
            <a:spLocks noGrp="1"/>
          </p:cNvSpPr>
          <p:nvPr>
            <p:ph type="title"/>
          </p:nvPr>
        </p:nvSpPr>
        <p:spPr/>
        <p:txBody>
          <a:bodyPr/>
          <a:lstStyle/>
          <a:p>
            <a:r>
              <a:rPr lang="en-US" b="1" dirty="0"/>
              <a:t>Problem Definition/Customer Needs (4%)</a:t>
            </a:r>
            <a:endParaRPr lang="en-US" dirty="0"/>
          </a:p>
        </p:txBody>
      </p:sp>
      <p:pic>
        <p:nvPicPr>
          <p:cNvPr id="9" name="Picture 8">
            <a:extLst>
              <a:ext uri="{FF2B5EF4-FFF2-40B4-BE49-F238E27FC236}">
                <a16:creationId xmlns:a16="http://schemas.microsoft.com/office/drawing/2014/main" id="{B01B1A60-B793-6598-607D-FCBA88207E1A}"/>
              </a:ext>
            </a:extLst>
          </p:cNvPr>
          <p:cNvPicPr>
            <a:picLocks noChangeAspect="1"/>
          </p:cNvPicPr>
          <p:nvPr/>
        </p:nvPicPr>
        <p:blipFill>
          <a:blip r:embed="rId2"/>
          <a:stretch>
            <a:fillRect/>
          </a:stretch>
        </p:blipFill>
        <p:spPr>
          <a:xfrm>
            <a:off x="739942" y="1619656"/>
            <a:ext cx="10712116" cy="4112009"/>
          </a:xfrm>
          <a:prstGeom prst="rect">
            <a:avLst/>
          </a:prstGeom>
        </p:spPr>
      </p:pic>
    </p:spTree>
    <p:extLst>
      <p:ext uri="{BB962C8B-B14F-4D97-AF65-F5344CB8AC3E}">
        <p14:creationId xmlns:p14="http://schemas.microsoft.com/office/powerpoint/2010/main" val="1716147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0F842-30F4-15FD-D84F-DCB7B145C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F69DE-1FA8-7117-4525-71293DC6B5DA}"/>
              </a:ext>
            </a:extLst>
          </p:cNvPr>
          <p:cNvSpPr>
            <a:spLocks noGrp="1"/>
          </p:cNvSpPr>
          <p:nvPr>
            <p:ph type="title"/>
          </p:nvPr>
        </p:nvSpPr>
        <p:spPr>
          <a:xfrm>
            <a:off x="838200" y="-2170"/>
            <a:ext cx="10515600" cy="1325563"/>
          </a:xfrm>
        </p:spPr>
        <p:txBody>
          <a:bodyPr/>
          <a:lstStyle/>
          <a:p>
            <a:r>
              <a:rPr lang="en-US" b="1" dirty="0"/>
              <a:t>Problem Definition/Customer Needs (4%)</a:t>
            </a:r>
            <a:endParaRPr lang="en-US" dirty="0"/>
          </a:p>
        </p:txBody>
      </p:sp>
      <p:sp>
        <p:nvSpPr>
          <p:cNvPr id="7" name="TextBox 6">
            <a:extLst>
              <a:ext uri="{FF2B5EF4-FFF2-40B4-BE49-F238E27FC236}">
                <a16:creationId xmlns:a16="http://schemas.microsoft.com/office/drawing/2014/main" id="{E8FE92F9-358C-9F0E-5E8B-295B85D3427F}"/>
              </a:ext>
            </a:extLst>
          </p:cNvPr>
          <p:cNvSpPr txBox="1"/>
          <p:nvPr/>
        </p:nvSpPr>
        <p:spPr>
          <a:xfrm>
            <a:off x="678571" y="969031"/>
            <a:ext cx="10834257"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b="1" dirty="0">
                <a:ea typeface="Calibri"/>
                <a:cs typeface="Calibri"/>
              </a:rPr>
              <a:t>Problem Statement</a:t>
            </a:r>
            <a:endParaRPr lang="en-US" sz="1600" dirty="0">
              <a:ea typeface="Calibri"/>
              <a:cs typeface="Calibri"/>
            </a:endParaRPr>
          </a:p>
          <a:p>
            <a:pPr algn="just"/>
            <a:r>
              <a:rPr lang="en-US" sz="1600" dirty="0">
                <a:ea typeface="+mn-lt"/>
                <a:cs typeface="+mn-lt"/>
              </a:rPr>
              <a:t>At Temasek Polytechnic, a strong program of peer-to-peer academic support already exists. Students who often perform well on certain subjects can volunteer as a peer mentor for underperforming students. However, underperforming students frequently turn to friends, classmates, and social media groups (like WhatsApp or Telegram) as a means of an "informal ecosystem" when facing challenging coursework. This is applicable to students who are not underperforming to be viable for the peer mentoring program offered by TP.</a:t>
            </a:r>
          </a:p>
          <a:p>
            <a:pPr algn="just"/>
            <a:endParaRPr lang="en-US" sz="1600" dirty="0">
              <a:ea typeface="+mn-lt"/>
              <a:cs typeface="+mn-lt"/>
            </a:endParaRPr>
          </a:p>
          <a:p>
            <a:pPr algn="just"/>
            <a:r>
              <a:rPr lang="en-US" sz="1600" dirty="0">
                <a:ea typeface="+mn-lt"/>
                <a:cs typeface="+mn-lt"/>
              </a:rPr>
              <a:t>However, this existing, informal ecosystem is inefficient and unreliable:</a:t>
            </a:r>
            <a:endParaRPr lang="en-US" sz="1600" dirty="0">
              <a:ea typeface="Calibri"/>
              <a:cs typeface="Calibri"/>
            </a:endParaRPr>
          </a:p>
          <a:p>
            <a:pPr marL="285750" indent="-285750" algn="just">
              <a:buFont typeface="Arial"/>
              <a:buChar char="•"/>
            </a:pPr>
            <a:r>
              <a:rPr lang="en-US" sz="1600" b="1" dirty="0">
                <a:ea typeface="+mn-lt"/>
                <a:cs typeface="+mn-lt"/>
              </a:rPr>
              <a:t>Inefficient Discovery:</a:t>
            </a:r>
            <a:r>
              <a:rPr lang="en-US" sz="1600" dirty="0">
                <a:ea typeface="+mn-lt"/>
                <a:cs typeface="+mn-lt"/>
              </a:rPr>
              <a:t> Students waste valuable time searching for help and struggle to find peers with the </a:t>
            </a:r>
            <a:r>
              <a:rPr lang="en-US" sz="1600" i="1" dirty="0">
                <a:ea typeface="+mn-lt"/>
                <a:cs typeface="+mn-lt"/>
              </a:rPr>
              <a:t>right</a:t>
            </a:r>
            <a:r>
              <a:rPr lang="en-US" sz="1600" dirty="0">
                <a:ea typeface="+mn-lt"/>
                <a:cs typeface="+mn-lt"/>
              </a:rPr>
              <a:t> expertise for specific modules. </a:t>
            </a:r>
          </a:p>
          <a:p>
            <a:pPr marL="285750" indent="-285750" algn="just">
              <a:buFont typeface="Arial"/>
              <a:buChar char="•"/>
            </a:pPr>
            <a:r>
              <a:rPr lang="en-US" sz="1600" b="1" dirty="0">
                <a:ea typeface="+mn-lt"/>
                <a:cs typeface="+mn-lt"/>
              </a:rPr>
              <a:t>Lack of Verification:</a:t>
            </a:r>
            <a:r>
              <a:rPr lang="en-US" sz="1600" dirty="0">
                <a:ea typeface="+mn-lt"/>
                <a:cs typeface="+mn-lt"/>
              </a:rPr>
              <a:t> It is difficult to verify a peer tutor's knowledge or reliability, leading to mismatches and poor-quality assistance.</a:t>
            </a:r>
            <a:endParaRPr lang="en-US" sz="1600">
              <a:ea typeface="Calibri"/>
              <a:cs typeface="Calibri"/>
            </a:endParaRPr>
          </a:p>
          <a:p>
            <a:pPr marL="285750" indent="-285750" algn="just">
              <a:buFont typeface="Arial"/>
              <a:buChar char="•"/>
            </a:pPr>
            <a:r>
              <a:rPr lang="en-US" sz="1600" b="1" dirty="0">
                <a:ea typeface="+mn-lt"/>
                <a:cs typeface="+mn-lt"/>
              </a:rPr>
              <a:t>Uneven Access:</a:t>
            </a:r>
            <a:r>
              <a:rPr lang="en-US" sz="1600" dirty="0">
                <a:ea typeface="+mn-lt"/>
                <a:cs typeface="+mn-lt"/>
              </a:rPr>
              <a:t> Support is often limited to a student's immediate social circle. This disadvantages shy students, those in niche courses, and anyone uncomfortable asking lecturers for help, leading to missed learning opportunities.</a:t>
            </a:r>
            <a:endParaRPr lang="en-US" sz="1600" dirty="0">
              <a:ea typeface="Calibri"/>
              <a:cs typeface="Calibri"/>
            </a:endParaRPr>
          </a:p>
          <a:p>
            <a:pPr marL="285750" indent="-285750" algn="just">
              <a:buFont typeface="Arial"/>
              <a:buChar char="•"/>
            </a:pPr>
            <a:r>
              <a:rPr lang="en-US" sz="1600" b="1" dirty="0">
                <a:ea typeface="+mn-lt"/>
                <a:cs typeface="+mn-lt"/>
              </a:rPr>
              <a:t>No Accountability:</a:t>
            </a:r>
            <a:r>
              <a:rPr lang="en-US" sz="1600" dirty="0">
                <a:ea typeface="+mn-lt"/>
                <a:cs typeface="+mn-lt"/>
              </a:rPr>
              <a:t> The informal nature means there is no system for feedback, scheduling, or recognizing a tutor's contributions.</a:t>
            </a:r>
          </a:p>
          <a:p>
            <a:pPr marL="285750" indent="-285750" algn="just">
              <a:buFont typeface="Arial"/>
              <a:buChar char="•"/>
            </a:pPr>
            <a:endParaRPr lang="en-US" sz="1600" dirty="0">
              <a:ea typeface="+mn-lt"/>
              <a:cs typeface="+mn-lt"/>
            </a:endParaRPr>
          </a:p>
          <a:p>
            <a:pPr algn="just"/>
            <a:r>
              <a:rPr lang="en-US" sz="1600" dirty="0">
                <a:ea typeface="+mn-lt"/>
                <a:cs typeface="+mn-lt"/>
              </a:rPr>
              <a:t>My proposed web application, </a:t>
            </a:r>
            <a:r>
              <a:rPr lang="en-US" sz="1600" b="1" dirty="0">
                <a:ea typeface="+mn-lt"/>
                <a:cs typeface="+mn-lt"/>
              </a:rPr>
              <a:t>Synapse</a:t>
            </a:r>
            <a:r>
              <a:rPr lang="en-US" sz="1600" dirty="0">
                <a:ea typeface="+mn-lt"/>
                <a:cs typeface="+mn-lt"/>
              </a:rPr>
              <a:t>, aims to </a:t>
            </a:r>
            <a:r>
              <a:rPr lang="en-US" sz="1600" b="1" dirty="0">
                <a:ea typeface="+mn-lt"/>
                <a:cs typeface="+mn-lt"/>
              </a:rPr>
              <a:t>improve and formalize</a:t>
            </a:r>
            <a:r>
              <a:rPr lang="en-US" sz="1600" dirty="0">
                <a:ea typeface="+mn-lt"/>
                <a:cs typeface="+mn-lt"/>
              </a:rPr>
              <a:t> this existing ecosystem. Synapse can also provide a bridge to improve the </a:t>
            </a:r>
            <a:r>
              <a:rPr lang="en-US" sz="1600" b="1" dirty="0">
                <a:ea typeface="+mn-lt"/>
                <a:cs typeface="+mn-lt"/>
              </a:rPr>
              <a:t>current </a:t>
            </a:r>
            <a:r>
              <a:rPr lang="en-US" sz="1600" dirty="0">
                <a:ea typeface="+mn-lt"/>
                <a:cs typeface="+mn-lt"/>
              </a:rPr>
              <a:t>peer mentoring program offered by TP. It provides a structured, centralized, and verifiable platform to connect students with qualified peer tutors, making academic support more accessible, reliable, and effective for all.</a:t>
            </a:r>
            <a:endParaRPr lang="en-US"/>
          </a:p>
          <a:p>
            <a:pPr algn="just"/>
            <a:endParaRPr lang="en-US" sz="1600" dirty="0">
              <a:ea typeface="Calibri"/>
              <a:cs typeface="Calibri"/>
            </a:endParaRPr>
          </a:p>
          <a:p>
            <a:endParaRPr lang="en-US" sz="1600" dirty="0">
              <a:ea typeface="Calibri"/>
              <a:cs typeface="Calibri"/>
            </a:endParaRPr>
          </a:p>
        </p:txBody>
      </p:sp>
    </p:spTree>
    <p:extLst>
      <p:ext uri="{BB962C8B-B14F-4D97-AF65-F5344CB8AC3E}">
        <p14:creationId xmlns:p14="http://schemas.microsoft.com/office/powerpoint/2010/main" val="2940643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711E4-1090-B0BE-803F-76732F8210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FEB19-C5E8-6CFD-0018-E5231C230068}"/>
              </a:ext>
            </a:extLst>
          </p:cNvPr>
          <p:cNvSpPr>
            <a:spLocks noGrp="1"/>
          </p:cNvSpPr>
          <p:nvPr>
            <p:ph type="title"/>
          </p:nvPr>
        </p:nvSpPr>
        <p:spPr>
          <a:xfrm>
            <a:off x="838200" y="-2170"/>
            <a:ext cx="10515600" cy="1325563"/>
          </a:xfrm>
        </p:spPr>
        <p:txBody>
          <a:bodyPr/>
          <a:lstStyle/>
          <a:p>
            <a:r>
              <a:rPr lang="en-US" b="1" dirty="0"/>
              <a:t>Problem Definition/Customer Needs (4%)</a:t>
            </a:r>
            <a:endParaRPr lang="en-US" dirty="0"/>
          </a:p>
        </p:txBody>
      </p:sp>
      <p:sp>
        <p:nvSpPr>
          <p:cNvPr id="7" name="TextBox 6">
            <a:extLst>
              <a:ext uri="{FF2B5EF4-FFF2-40B4-BE49-F238E27FC236}">
                <a16:creationId xmlns:a16="http://schemas.microsoft.com/office/drawing/2014/main" id="{90A7BD93-7012-C2F2-38AA-CECF209C18B6}"/>
              </a:ext>
            </a:extLst>
          </p:cNvPr>
          <p:cNvSpPr txBox="1"/>
          <p:nvPr/>
        </p:nvSpPr>
        <p:spPr>
          <a:xfrm>
            <a:off x="837549" y="1001923"/>
            <a:ext cx="9441826"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Calibri"/>
                <a:cs typeface="Calibri"/>
              </a:rPr>
              <a:t>Main users:</a:t>
            </a:r>
            <a:r>
              <a:rPr lang="en-US" dirty="0">
                <a:ea typeface="Calibri"/>
                <a:cs typeface="Calibri"/>
              </a:rPr>
              <a:t> TP Students as Tutors and Tutees</a:t>
            </a:r>
          </a:p>
          <a:p>
            <a:endParaRPr lang="en-US" dirty="0">
              <a:ea typeface="Calibri"/>
              <a:cs typeface="Calibri"/>
            </a:endParaRPr>
          </a:p>
          <a:p>
            <a:r>
              <a:rPr lang="en-US" b="1" i="1" dirty="0">
                <a:ea typeface="Calibri"/>
                <a:cs typeface="Calibri"/>
              </a:rPr>
              <a:t>What is their main goal?:</a:t>
            </a:r>
          </a:p>
          <a:p>
            <a:r>
              <a:rPr lang="en-US" b="1" dirty="0">
                <a:ea typeface="Calibri"/>
                <a:cs typeface="Calibri"/>
              </a:rPr>
              <a:t>Tutors:</a:t>
            </a:r>
            <a:r>
              <a:rPr lang="en-US" dirty="0">
                <a:ea typeface="Calibri"/>
                <a:cs typeface="Calibri"/>
              </a:rPr>
              <a:t> To offer their subject expertise to underperforming students who need help via the peer mentoring program.</a:t>
            </a:r>
          </a:p>
          <a:p>
            <a:endParaRPr lang="en-US" dirty="0">
              <a:ea typeface="Calibri"/>
              <a:cs typeface="Calibri"/>
            </a:endParaRPr>
          </a:p>
          <a:p>
            <a:r>
              <a:rPr lang="en-US" b="1" dirty="0">
                <a:ea typeface="Calibri"/>
                <a:cs typeface="Calibri"/>
              </a:rPr>
              <a:t>Tutees:</a:t>
            </a:r>
            <a:r>
              <a:rPr lang="en-US" dirty="0">
                <a:ea typeface="Calibri"/>
                <a:cs typeface="Calibri"/>
              </a:rPr>
              <a:t> To search for students who have done well in a particular subject and have the tutor student coach them if they have any questions regarding the subject.</a:t>
            </a:r>
          </a:p>
          <a:p>
            <a:endParaRPr lang="en-US" dirty="0">
              <a:ea typeface="Calibri"/>
              <a:cs typeface="Calibri"/>
            </a:endParaRPr>
          </a:p>
          <a:p>
            <a:r>
              <a:rPr lang="en-US" b="1" dirty="0">
                <a:ea typeface="Calibri"/>
                <a:cs typeface="Calibri"/>
              </a:rPr>
              <a:t>Secondary users:</a:t>
            </a:r>
            <a:r>
              <a:rPr lang="en-US" dirty="0">
                <a:ea typeface="Calibri"/>
                <a:cs typeface="Calibri"/>
              </a:rPr>
              <a:t> TP Administration &amp; Staff</a:t>
            </a:r>
          </a:p>
          <a:p>
            <a:endParaRPr lang="en-US" dirty="0">
              <a:ea typeface="Calibri"/>
              <a:cs typeface="Calibri"/>
            </a:endParaRPr>
          </a:p>
          <a:p>
            <a:r>
              <a:rPr lang="en-US" b="1" i="1" dirty="0">
                <a:ea typeface="Calibri"/>
                <a:cs typeface="Calibri"/>
              </a:rPr>
              <a:t>What is their main goal?: </a:t>
            </a:r>
            <a:endParaRPr lang="en-US" dirty="0">
              <a:ea typeface="Calibri"/>
              <a:cs typeface="Calibri"/>
            </a:endParaRPr>
          </a:p>
          <a:p>
            <a:r>
              <a:rPr lang="en-US" b="1" dirty="0">
                <a:ea typeface="Calibri"/>
                <a:cs typeface="Calibri"/>
              </a:rPr>
              <a:t>TP Administration: </a:t>
            </a:r>
            <a:r>
              <a:rPr lang="en-US" dirty="0">
                <a:ea typeface="Calibri"/>
                <a:cs typeface="Calibri"/>
              </a:rPr>
              <a:t>TP Administration's goal is to perform moderation of any inappropriate content that are being displayed on the platform via messages.</a:t>
            </a:r>
          </a:p>
          <a:p>
            <a:endParaRPr lang="en-US" dirty="0">
              <a:ea typeface="Calibri"/>
              <a:cs typeface="Calibri"/>
            </a:endParaRPr>
          </a:p>
          <a:p>
            <a:r>
              <a:rPr lang="en-US" b="1" dirty="0">
                <a:ea typeface="Calibri"/>
                <a:cs typeface="Calibri"/>
              </a:rPr>
              <a:t>TP Staff: </a:t>
            </a:r>
            <a:r>
              <a:rPr lang="en-US" dirty="0">
                <a:ea typeface="Calibri"/>
                <a:cs typeface="Calibri"/>
              </a:rPr>
              <a:t>Staff like lecturers, course chairs and diploma managers can see and analyze the statistics and outcomes of this program and use it to continuously tweak the peer mentoring ecosystem that TP currently already has to make it better for its students.</a:t>
            </a:r>
          </a:p>
        </p:txBody>
      </p:sp>
    </p:spTree>
    <p:extLst>
      <p:ext uri="{BB962C8B-B14F-4D97-AF65-F5344CB8AC3E}">
        <p14:creationId xmlns:p14="http://schemas.microsoft.com/office/powerpoint/2010/main" val="1944055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A26EF-1E49-B476-E433-04E367839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637BC-AEED-FD65-1E9C-2B1CE098907C}"/>
              </a:ext>
            </a:extLst>
          </p:cNvPr>
          <p:cNvSpPr>
            <a:spLocks noGrp="1"/>
          </p:cNvSpPr>
          <p:nvPr>
            <p:ph type="title"/>
          </p:nvPr>
        </p:nvSpPr>
        <p:spPr/>
        <p:txBody>
          <a:bodyPr/>
          <a:lstStyle/>
          <a:p>
            <a:r>
              <a:rPr lang="en-US" b="1" dirty="0"/>
              <a:t>User Stories - Tutee</a:t>
            </a:r>
            <a:endParaRPr lang="en-US" dirty="0"/>
          </a:p>
        </p:txBody>
      </p:sp>
      <p:sp>
        <p:nvSpPr>
          <p:cNvPr id="3" name="Content Placeholder 2">
            <a:extLst>
              <a:ext uri="{FF2B5EF4-FFF2-40B4-BE49-F238E27FC236}">
                <a16:creationId xmlns:a16="http://schemas.microsoft.com/office/drawing/2014/main" id="{69CCCA65-8727-0FFD-A281-060ADD15102B}"/>
              </a:ext>
            </a:extLst>
          </p:cNvPr>
          <p:cNvSpPr>
            <a:spLocks noGrp="1"/>
          </p:cNvSpPr>
          <p:nvPr>
            <p:ph idx="1"/>
          </p:nvPr>
        </p:nvSpPr>
        <p:spPr/>
        <p:txBody>
          <a:bodyPr vert="horz" lIns="91440" tIns="45720" rIns="91440" bIns="45720" rtlCol="0" anchor="t">
            <a:normAutofit/>
          </a:bodyPr>
          <a:lstStyle/>
          <a:p>
            <a:pPr algn="just">
              <a:buFont typeface="Arial"/>
              <a:buChar char="•"/>
            </a:pPr>
            <a:r>
              <a:rPr lang="en-US" sz="2000" dirty="0">
                <a:ea typeface="+mn-lt"/>
                <a:cs typeface="+mn-lt"/>
              </a:rPr>
              <a:t>As a tutee, I want to search for tutors by specific module code or subject name, so that I can find someone who excels in the area where I need help.</a:t>
            </a:r>
            <a:endParaRPr lang="en-US"/>
          </a:p>
          <a:p>
            <a:pPr algn="just">
              <a:buFont typeface="Arial"/>
            </a:pPr>
            <a:r>
              <a:rPr lang="en-US" sz="2000" dirty="0">
                <a:ea typeface="+mn-lt"/>
                <a:cs typeface="+mn-lt"/>
              </a:rPr>
              <a:t>As a tutee, I want to see a tutor's grades, past session count, and student reviews, so that I can assess their expertise and teaching quality before booking.</a:t>
            </a:r>
            <a:endParaRPr lang="en-US" dirty="0">
              <a:ea typeface="+mn-lt"/>
              <a:cs typeface="+mn-lt"/>
            </a:endParaRPr>
          </a:p>
          <a:p>
            <a:pPr algn="just">
              <a:buFont typeface="Arial"/>
            </a:pPr>
            <a:r>
              <a:rPr lang="en-US" sz="2000" dirty="0">
                <a:ea typeface="+mn-lt"/>
                <a:cs typeface="+mn-lt"/>
              </a:rPr>
              <a:t>As a tutee, I want to request a tutoring session by selecting date, time, topic, and location so that I can arrange structured help for my specific learning needs.</a:t>
            </a:r>
          </a:p>
          <a:p>
            <a:pPr algn="just">
              <a:buFont typeface="Arial"/>
            </a:pPr>
            <a:r>
              <a:rPr lang="en-US" sz="2000" dirty="0">
                <a:ea typeface="+mn-lt"/>
                <a:cs typeface="+mn-lt"/>
              </a:rPr>
              <a:t>As a tutee, I want to see all my upcoming sessions in one place with countdown timers so that I don't miss any scheduled tutoring appointments.</a:t>
            </a:r>
          </a:p>
          <a:p>
            <a:pPr algn="just">
              <a:buFont typeface="Arial"/>
            </a:pPr>
            <a:r>
              <a:rPr lang="en-US" sz="2000" dirty="0">
                <a:ea typeface="+mn-lt"/>
                <a:cs typeface="+mn-lt"/>
              </a:rPr>
              <a:t>As a tutee, I want to rate my tutor and leave a review after each session so that I can help other students make informed decisions and provide feedback.</a:t>
            </a:r>
          </a:p>
        </p:txBody>
      </p:sp>
    </p:spTree>
    <p:extLst>
      <p:ext uri="{BB962C8B-B14F-4D97-AF65-F5344CB8AC3E}">
        <p14:creationId xmlns:p14="http://schemas.microsoft.com/office/powerpoint/2010/main" val="4120189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7E09C-938E-55CA-5437-CFC2A36DF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7AE0E-B923-6B1B-0211-B57B91732381}"/>
              </a:ext>
            </a:extLst>
          </p:cNvPr>
          <p:cNvSpPr>
            <a:spLocks noGrp="1"/>
          </p:cNvSpPr>
          <p:nvPr>
            <p:ph type="title"/>
          </p:nvPr>
        </p:nvSpPr>
        <p:spPr/>
        <p:txBody>
          <a:bodyPr/>
          <a:lstStyle/>
          <a:p>
            <a:r>
              <a:rPr lang="en-US" b="1" dirty="0"/>
              <a:t>User Stories - Tutor</a:t>
            </a:r>
            <a:endParaRPr lang="en-US" b="1" dirty="0">
              <a:ea typeface="Calibri Light"/>
              <a:cs typeface="Calibri Light"/>
            </a:endParaRPr>
          </a:p>
        </p:txBody>
      </p:sp>
      <p:sp>
        <p:nvSpPr>
          <p:cNvPr id="3" name="Content Placeholder 2">
            <a:extLst>
              <a:ext uri="{FF2B5EF4-FFF2-40B4-BE49-F238E27FC236}">
                <a16:creationId xmlns:a16="http://schemas.microsoft.com/office/drawing/2014/main" id="{39148811-E90C-5D3A-6E26-6A4A0FF74A69}"/>
              </a:ext>
            </a:extLst>
          </p:cNvPr>
          <p:cNvSpPr>
            <a:spLocks noGrp="1"/>
          </p:cNvSpPr>
          <p:nvPr>
            <p:ph idx="1"/>
          </p:nvPr>
        </p:nvSpPr>
        <p:spPr/>
        <p:txBody>
          <a:bodyPr vert="horz" lIns="91440" tIns="45720" rIns="91440" bIns="45720" rtlCol="0" anchor="t">
            <a:normAutofit/>
          </a:bodyPr>
          <a:lstStyle/>
          <a:p>
            <a:pPr algn="just"/>
            <a:r>
              <a:rPr lang="en-US" sz="2000" dirty="0">
                <a:ea typeface="+mn-lt"/>
                <a:cs typeface="+mn-lt"/>
              </a:rPr>
              <a:t>As a tutor, I want to create a profile showcasing my expertise and credentials so that students can find me and understand what I can teach.</a:t>
            </a:r>
            <a:endParaRPr lang="en-US" dirty="0">
              <a:ea typeface="+mn-lt"/>
              <a:cs typeface="+mn-lt"/>
            </a:endParaRPr>
          </a:p>
          <a:p>
            <a:pPr algn="just"/>
            <a:r>
              <a:rPr lang="en-US" sz="2000" dirty="0">
                <a:ea typeface="+mn-lt"/>
                <a:cs typeface="+mn-lt"/>
              </a:rPr>
              <a:t> As a tutor, I want to set my available time slots for tutoring so that students can only book when I'm actually available.</a:t>
            </a:r>
            <a:endParaRPr lang="en-US" dirty="0">
              <a:ea typeface="+mn-lt"/>
              <a:cs typeface="+mn-lt"/>
            </a:endParaRPr>
          </a:p>
          <a:p>
            <a:pPr algn="just"/>
            <a:r>
              <a:rPr lang="en-US" sz="2000" dirty="0">
                <a:ea typeface="+mn-lt"/>
                <a:cs typeface="+mn-lt"/>
              </a:rPr>
              <a:t>As a tutor, I want to receive notifications for new booking requests so that I can review and accept/decline them promptly.</a:t>
            </a:r>
            <a:endParaRPr lang="en-US" dirty="0">
              <a:ea typeface="+mn-lt"/>
              <a:cs typeface="+mn-lt"/>
            </a:endParaRPr>
          </a:p>
          <a:p>
            <a:pPr algn="just"/>
            <a:r>
              <a:rPr lang="en-US" sz="2000" dirty="0">
                <a:ea typeface="+mn-lt"/>
                <a:cs typeface="+mn-lt"/>
              </a:rPr>
              <a:t>As a tutor, I want to earn badges for milestones and quality tutoring so that I can build credibility and feel recognized for my efforts.</a:t>
            </a:r>
            <a:endParaRPr lang="en-US" dirty="0">
              <a:ea typeface="+mn-lt"/>
              <a:cs typeface="+mn-lt"/>
            </a:endParaRPr>
          </a:p>
          <a:p>
            <a:pPr algn="just">
              <a:buFont typeface="Calibri" panose="020B0604020202020204" pitchFamily="34" charset="0"/>
              <a:buChar char="-"/>
            </a:pPr>
            <a:endParaRPr lang="en-US" sz="2000" dirty="0">
              <a:ea typeface="+mn-lt"/>
              <a:cs typeface="+mn-lt"/>
            </a:endParaRPr>
          </a:p>
        </p:txBody>
      </p:sp>
    </p:spTree>
    <p:extLst>
      <p:ext uri="{BB962C8B-B14F-4D97-AF65-F5344CB8AC3E}">
        <p14:creationId xmlns:p14="http://schemas.microsoft.com/office/powerpoint/2010/main" val="3415570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61C9E-3B8E-784F-0D88-B58D409944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3F88BC-0C51-3A71-11E4-FCEB33FC10C1}"/>
              </a:ext>
            </a:extLst>
          </p:cNvPr>
          <p:cNvSpPr>
            <a:spLocks noGrp="1"/>
          </p:cNvSpPr>
          <p:nvPr>
            <p:ph type="title"/>
          </p:nvPr>
        </p:nvSpPr>
        <p:spPr/>
        <p:txBody>
          <a:bodyPr/>
          <a:lstStyle/>
          <a:p>
            <a:r>
              <a:rPr lang="en-US" b="1" dirty="0"/>
              <a:t>User Stories - TP Admin + Staff</a:t>
            </a:r>
            <a:endParaRPr lang="en-US" b="1" dirty="0">
              <a:ea typeface="Calibri Light"/>
              <a:cs typeface="Calibri Light"/>
            </a:endParaRPr>
          </a:p>
        </p:txBody>
      </p:sp>
      <p:sp>
        <p:nvSpPr>
          <p:cNvPr id="3" name="Content Placeholder 2">
            <a:extLst>
              <a:ext uri="{FF2B5EF4-FFF2-40B4-BE49-F238E27FC236}">
                <a16:creationId xmlns:a16="http://schemas.microsoft.com/office/drawing/2014/main" id="{FCEC43E3-3732-D353-8E45-F5844D42141B}"/>
              </a:ext>
            </a:extLst>
          </p:cNvPr>
          <p:cNvSpPr>
            <a:spLocks noGrp="1"/>
          </p:cNvSpPr>
          <p:nvPr>
            <p:ph idx="1"/>
          </p:nvPr>
        </p:nvSpPr>
        <p:spPr/>
        <p:txBody>
          <a:bodyPr vert="horz" lIns="91440" tIns="45720" rIns="91440" bIns="45720" rtlCol="0" anchor="t">
            <a:normAutofit/>
          </a:bodyPr>
          <a:lstStyle/>
          <a:p>
            <a:pPr algn="just"/>
            <a:r>
              <a:rPr lang="en-US" sz="2000" dirty="0">
                <a:ea typeface="+mn-lt"/>
                <a:cs typeface="+mn-lt"/>
              </a:rPr>
              <a:t>As a TP administrator, I want to view all reported messages and profiles so that I can review and take action on inappropriate content.</a:t>
            </a:r>
            <a:endParaRPr lang="en-US" dirty="0">
              <a:ea typeface="+mn-lt"/>
              <a:cs typeface="+mn-lt"/>
            </a:endParaRPr>
          </a:p>
          <a:p>
            <a:pPr algn="just"/>
            <a:r>
              <a:rPr lang="en-US" sz="2000" dirty="0">
                <a:ea typeface="+mn-lt"/>
                <a:cs typeface="+mn-lt"/>
              </a:rPr>
              <a:t>As a TP administrator, I want to approve tutor applications by verifying their grades so that only qualified students can offer tutoring services.</a:t>
            </a:r>
            <a:endParaRPr lang="en-US" dirty="0">
              <a:ea typeface="+mn-lt"/>
              <a:cs typeface="+mn-lt"/>
            </a:endParaRPr>
          </a:p>
          <a:p>
            <a:pPr algn="just"/>
            <a:r>
              <a:rPr lang="en-US" sz="2000" dirty="0">
                <a:ea typeface="+mn-lt"/>
                <a:cs typeface="+mn-lt"/>
              </a:rPr>
              <a:t>As a TP staff member, I want to see which subjects have the most tutoring demand so that I can identify where students need additional support.</a:t>
            </a:r>
          </a:p>
          <a:p>
            <a:pPr algn="just">
              <a:buFont typeface="Calibri" panose="020B0604020202020204" pitchFamily="34" charset="0"/>
              <a:buChar char="-"/>
            </a:pPr>
            <a:endParaRPr lang="en-US" sz="2000" dirty="0">
              <a:ea typeface="+mn-lt"/>
              <a:cs typeface="+mn-lt"/>
            </a:endParaRPr>
          </a:p>
        </p:txBody>
      </p:sp>
    </p:spTree>
    <p:extLst>
      <p:ext uri="{BB962C8B-B14F-4D97-AF65-F5344CB8AC3E}">
        <p14:creationId xmlns:p14="http://schemas.microsoft.com/office/powerpoint/2010/main" val="2348646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34D46-660D-E192-CEE8-31F218149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697A4-F11C-049E-0F7C-D3C75655AFBE}"/>
              </a:ext>
            </a:extLst>
          </p:cNvPr>
          <p:cNvSpPr>
            <a:spLocks noGrp="1"/>
          </p:cNvSpPr>
          <p:nvPr>
            <p:ph type="title"/>
          </p:nvPr>
        </p:nvSpPr>
        <p:spPr>
          <a:xfrm>
            <a:off x="838200" y="63614"/>
            <a:ext cx="10515600" cy="1325563"/>
          </a:xfrm>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B073050F-FEA8-5CD7-C570-D3F7AD4BA427}"/>
              </a:ext>
            </a:extLst>
          </p:cNvPr>
          <p:cNvSpPr>
            <a:spLocks noGrp="1"/>
          </p:cNvSpPr>
          <p:nvPr>
            <p:ph idx="1"/>
          </p:nvPr>
        </p:nvSpPr>
        <p:spPr>
          <a:xfrm>
            <a:off x="838200" y="1250014"/>
            <a:ext cx="10515600" cy="4351338"/>
          </a:xfrm>
        </p:spPr>
        <p:txBody>
          <a:bodyPr vert="horz" lIns="91440" tIns="45720" rIns="91440" bIns="45720" rtlCol="0" anchor="t">
            <a:noAutofit/>
          </a:bodyPr>
          <a:lstStyle/>
          <a:p>
            <a:pPr marL="0" indent="0" algn="just">
              <a:buNone/>
            </a:pPr>
            <a:r>
              <a:rPr lang="en-US" sz="1600" b="1" dirty="0"/>
              <a:t>Need and demand of such website</a:t>
            </a:r>
            <a:endParaRPr lang="en-US" sz="1600" dirty="0">
              <a:ea typeface="Calibri" panose="020F0502020204030204"/>
              <a:cs typeface="Calibri" panose="020F0502020204030204"/>
            </a:endParaRPr>
          </a:p>
          <a:p>
            <a:pPr marL="0" indent="0" algn="just">
              <a:buNone/>
            </a:pPr>
            <a:r>
              <a:rPr lang="en-US" sz="1600" dirty="0"/>
              <a:t>Research by Johnson and Johnson (2009) demonstrates that collaborative learning significantly increases achievement, promotes higher-level reasoning, and enhances long-term retention across all subject areas. For TP students taking challenging technical modules like Full Stack Web Development or Mobile App Development, this collaborative approach is particularly effective as these cumulative subjects require building upon foundational concepts semester after semester. </a:t>
            </a:r>
          </a:p>
          <a:p>
            <a:pPr marL="0" indent="0" algn="just">
              <a:buNone/>
            </a:pPr>
            <a:endParaRPr lang="en-US" sz="1600" dirty="0"/>
          </a:p>
          <a:p>
            <a:pPr marL="0" indent="0" algn="just">
              <a:buNone/>
            </a:pPr>
            <a:r>
              <a:rPr lang="en-US" sz="1600" dirty="0"/>
              <a:t>Furthermore, Vozzo et al. (2024) found that peer instruction produces 5x better short-term retention and 2x better long-term retention compared to individual study, confirming that peer learning creates durable knowledge gains especially critical for TP diploma programs where modules are built upon the modules taken last semester across three years.</a:t>
            </a:r>
          </a:p>
          <a:p>
            <a:pPr marL="0" indent="0" algn="just">
              <a:buNone/>
            </a:pPr>
            <a:endParaRPr lang="en-US" sz="1600" b="1" dirty="0">
              <a:ea typeface="+mn-lt"/>
              <a:cs typeface="+mn-lt"/>
            </a:endParaRPr>
          </a:p>
          <a:p>
            <a:pPr marL="0" indent="0" algn="just">
              <a:buNone/>
            </a:pPr>
            <a:r>
              <a:rPr lang="en-US" sz="1600" b="1" dirty="0">
                <a:ea typeface="+mn-lt"/>
                <a:cs typeface="+mn-lt"/>
              </a:rPr>
              <a:t>Sources:</a:t>
            </a:r>
            <a:endParaRPr lang="en-US" sz="1600" dirty="0">
              <a:ea typeface="Calibri"/>
              <a:cs typeface="Calibri"/>
            </a:endParaRPr>
          </a:p>
          <a:p>
            <a:pPr algn="just">
              <a:buFont typeface="Arial"/>
              <a:buChar char="•"/>
            </a:pPr>
            <a:r>
              <a:rPr lang="en-US" sz="1600" dirty="0">
                <a:ea typeface="+mn-lt"/>
                <a:cs typeface="+mn-lt"/>
              </a:rPr>
              <a:t>Johnson, D. W., &amp; Johnson, R. T. (2009). An Educational Psychology Success Story: Social Interdependence Theory and Cooperative Learning. </a:t>
            </a:r>
            <a:r>
              <a:rPr lang="en-US" sz="1600" i="1" dirty="0">
                <a:ea typeface="+mn-lt"/>
                <a:cs typeface="+mn-lt"/>
              </a:rPr>
              <a:t>Educational Researcher, 38</a:t>
            </a:r>
            <a:r>
              <a:rPr lang="en-US" sz="1600" dirty="0">
                <a:ea typeface="+mn-lt"/>
                <a:cs typeface="+mn-lt"/>
              </a:rPr>
              <a:t>(5), 365-379. </a:t>
            </a:r>
            <a:r>
              <a:rPr lang="en-US" sz="1600" dirty="0">
                <a:ea typeface="+mn-lt"/>
                <a:cs typeface="+mn-lt"/>
                <a:hlinkClick r:id="rId2"/>
              </a:rPr>
              <a:t>https://doi.org/10.3102/0013189X09339057</a:t>
            </a:r>
            <a:endParaRPr lang="en-US" sz="1600" dirty="0">
              <a:ea typeface="Calibri"/>
              <a:cs typeface="Calibri"/>
            </a:endParaRPr>
          </a:p>
          <a:p>
            <a:pPr algn="just">
              <a:lnSpc>
                <a:spcPct val="80000"/>
              </a:lnSpc>
              <a:buFont typeface="Arial"/>
              <a:buChar char="•"/>
            </a:pPr>
            <a:r>
              <a:rPr lang="en-US" sz="1600" dirty="0">
                <a:latin typeface="Calibri"/>
                <a:ea typeface="+mn-lt"/>
                <a:cs typeface="Calibri"/>
              </a:rPr>
              <a:t>Vozzo, R., Johnson, S., Tuke, J., &amp; Evans, T. (2024). Active Learning at Scale: Investigating the Benefits of Peer Instruction in Undergraduate Mathematics. ArXiv.org. https://arxiv.org/abs/2405.14151</a:t>
            </a:r>
          </a:p>
          <a:p>
            <a:pPr algn="just">
              <a:lnSpc>
                <a:spcPct val="80000"/>
              </a:lnSpc>
              <a:buFont typeface="Arial"/>
              <a:buChar char="•"/>
            </a:pPr>
            <a:endParaRPr lang="en-US" sz="1600" dirty="0">
              <a:ea typeface="Calibri" panose="020F0502020204030204"/>
              <a:cs typeface="Calibri"/>
            </a:endParaRPr>
          </a:p>
          <a:p>
            <a:pPr algn="just">
              <a:buFont typeface="Arial"/>
              <a:buChar char="•"/>
            </a:pPr>
            <a:endParaRPr lang="en-US" sz="1600" dirty="0">
              <a:ea typeface="+mn-lt"/>
              <a:cs typeface="+mn-lt"/>
            </a:endParaRPr>
          </a:p>
          <a:p>
            <a:pPr marL="0" indent="0" algn="just">
              <a:buNone/>
            </a:pPr>
            <a:endParaRPr lang="en-US" sz="1600" dirty="0">
              <a:ea typeface="+mn-lt"/>
              <a:cs typeface="+mn-lt"/>
            </a:endParaRPr>
          </a:p>
        </p:txBody>
      </p:sp>
    </p:spTree>
    <p:extLst>
      <p:ext uri="{BB962C8B-B14F-4D97-AF65-F5344CB8AC3E}">
        <p14:creationId xmlns:p14="http://schemas.microsoft.com/office/powerpoint/2010/main" val="2271839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4485F-1971-E1E1-0150-CFD6CDF85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6E75E-9C10-B9DF-1FE3-0DF030A1F9EB}"/>
              </a:ext>
            </a:extLst>
          </p:cNvPr>
          <p:cNvSpPr>
            <a:spLocks noGrp="1"/>
          </p:cNvSpPr>
          <p:nvPr>
            <p:ph type="title"/>
          </p:nvPr>
        </p:nvSpPr>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33470A05-E2C0-BC32-CE16-D1FB03A78EBF}"/>
              </a:ext>
            </a:extLst>
          </p:cNvPr>
          <p:cNvSpPr>
            <a:spLocks noGrp="1"/>
          </p:cNvSpPr>
          <p:nvPr>
            <p:ph idx="1"/>
          </p:nvPr>
        </p:nvSpPr>
        <p:spPr>
          <a:xfrm>
            <a:off x="838200" y="1617308"/>
            <a:ext cx="10515600" cy="4351338"/>
          </a:xfrm>
        </p:spPr>
        <p:txBody>
          <a:bodyPr vert="horz" lIns="91440" tIns="45720" rIns="91440" bIns="45720" rtlCol="0" anchor="t">
            <a:noAutofit/>
          </a:bodyPr>
          <a:lstStyle/>
          <a:p>
            <a:pPr algn="just">
              <a:buNone/>
            </a:pPr>
            <a:r>
              <a:rPr lang="en-US" sz="2000" dirty="0"/>
              <a:t>Key Problems Identified:</a:t>
            </a:r>
            <a:endParaRPr lang="en-US" sz="2000" dirty="0">
              <a:ea typeface="Calibri"/>
              <a:cs typeface="Calibri"/>
            </a:endParaRPr>
          </a:p>
          <a:p>
            <a:pPr marL="514350" indent="-514350" algn="just">
              <a:buAutoNum type="arabicPeriod"/>
            </a:pPr>
            <a:r>
              <a:rPr lang="en-US" sz="2000" b="1" dirty="0">
                <a:ea typeface="+mn-lt"/>
                <a:cs typeface="+mn-lt"/>
              </a:rPr>
              <a:t>Difficulty Finding Qualified Peer Tutors</a:t>
            </a:r>
            <a:r>
              <a:rPr lang="en-US" sz="2000" dirty="0">
                <a:ea typeface="+mn-lt"/>
                <a:cs typeface="+mn-lt"/>
              </a:rPr>
              <a:t> </a:t>
            </a:r>
            <a:endParaRPr lang="en-US" sz="2000" dirty="0">
              <a:ea typeface="Calibri" panose="020F0502020204030204"/>
              <a:cs typeface="Calibri" panose="020F0502020204030204"/>
            </a:endParaRPr>
          </a:p>
          <a:p>
            <a:pPr marL="1143000" lvl="1" indent="-457200" algn="just"/>
            <a:r>
              <a:rPr lang="en-US" sz="2000" dirty="0">
                <a:ea typeface="+mn-lt"/>
                <a:cs typeface="+mn-lt"/>
              </a:rPr>
              <a:t>Tutees don't know which peers excel in specific subjects</a:t>
            </a:r>
            <a:endParaRPr lang="en-US" sz="2000" dirty="0">
              <a:ea typeface="Calibri" panose="020F0502020204030204"/>
              <a:cs typeface="Calibri" panose="020F0502020204030204"/>
            </a:endParaRPr>
          </a:p>
          <a:p>
            <a:pPr marL="1143000" lvl="1" indent="-457200" algn="just"/>
            <a:r>
              <a:rPr lang="en-US" sz="2000" dirty="0">
                <a:ea typeface="+mn-lt"/>
                <a:cs typeface="+mn-lt"/>
              </a:rPr>
              <a:t>No centralized platform to discover available tutors in TP</a:t>
            </a:r>
            <a:endParaRPr lang="en-US" sz="2000" dirty="0">
              <a:ea typeface="Calibri" panose="020F0502020204030204"/>
              <a:cs typeface="Calibri" panose="020F0502020204030204"/>
            </a:endParaRPr>
          </a:p>
          <a:p>
            <a:pPr marL="1143000" lvl="1" indent="-457200" algn="just"/>
            <a:r>
              <a:rPr lang="en-US" sz="2000" dirty="0">
                <a:ea typeface="+mn-lt"/>
                <a:cs typeface="+mn-lt"/>
              </a:rPr>
              <a:t>Word-of-mouth is unreliable and time-consuming</a:t>
            </a:r>
            <a:endParaRPr lang="en-US" sz="2000" dirty="0">
              <a:ea typeface="Calibri" panose="020F0502020204030204"/>
              <a:cs typeface="Calibri" panose="020F0502020204030204"/>
            </a:endParaRPr>
          </a:p>
          <a:p>
            <a:pPr marL="514350" indent="-514350" algn="just">
              <a:buAutoNum type="arabicPeriod"/>
            </a:pPr>
            <a:r>
              <a:rPr lang="en-US" sz="2000" b="1" dirty="0">
                <a:ea typeface="+mn-lt"/>
                <a:cs typeface="+mn-lt"/>
              </a:rPr>
              <a:t>Inefficient Matching Process</a:t>
            </a:r>
            <a:r>
              <a:rPr lang="en-US" sz="2000" dirty="0">
                <a:ea typeface="+mn-lt"/>
                <a:cs typeface="+mn-lt"/>
              </a:rPr>
              <a:t> </a:t>
            </a:r>
            <a:endParaRPr lang="en-US" sz="2000" dirty="0">
              <a:ea typeface="Calibri" panose="020F0502020204030204"/>
              <a:cs typeface="Calibri" panose="020F0502020204030204"/>
            </a:endParaRPr>
          </a:p>
          <a:p>
            <a:pPr marL="1143000" lvl="1" indent="-457200" algn="just"/>
            <a:r>
              <a:rPr lang="en-US" sz="2000" dirty="0">
                <a:ea typeface="+mn-lt"/>
                <a:cs typeface="+mn-lt"/>
              </a:rPr>
              <a:t>Tutees waste time asking around for help</a:t>
            </a:r>
            <a:endParaRPr lang="en-US" sz="2000" dirty="0">
              <a:ea typeface="Calibri" panose="020F0502020204030204"/>
              <a:cs typeface="Calibri" panose="020F0502020204030204"/>
            </a:endParaRPr>
          </a:p>
          <a:p>
            <a:pPr marL="1143000" lvl="1" indent="-457200" algn="just"/>
            <a:r>
              <a:rPr lang="en-US" sz="2000" dirty="0">
                <a:ea typeface="+mn-lt"/>
                <a:cs typeface="+mn-lt"/>
              </a:rPr>
              <a:t>Mismatch between tutor expertise and tutees needs</a:t>
            </a:r>
            <a:endParaRPr lang="en-US" sz="2000" dirty="0">
              <a:ea typeface="Calibri" panose="020F0502020204030204"/>
              <a:cs typeface="Calibri" panose="020F0502020204030204"/>
            </a:endParaRPr>
          </a:p>
          <a:p>
            <a:pPr marL="1143000" lvl="1" indent="-457200" algn="just"/>
            <a:r>
              <a:rPr lang="en-US" sz="2000" dirty="0">
                <a:ea typeface="+mn-lt"/>
                <a:cs typeface="+mn-lt"/>
              </a:rPr>
              <a:t>No way to verify tutor quality before engaging</a:t>
            </a:r>
            <a:endParaRPr lang="en-US" sz="2000" dirty="0">
              <a:ea typeface="Calibri" panose="020F0502020204030204"/>
              <a:cs typeface="Calibri" panose="020F0502020204030204"/>
            </a:endParaRPr>
          </a:p>
          <a:p>
            <a:pPr marL="514350" indent="-514350" algn="just">
              <a:buAutoNum type="arabicPeriod"/>
            </a:pPr>
            <a:r>
              <a:rPr lang="en-US" sz="2000" b="1" dirty="0">
                <a:ea typeface="+mn-lt"/>
                <a:cs typeface="+mn-lt"/>
              </a:rPr>
              <a:t>Scheduling and Coordination Challenges</a:t>
            </a:r>
            <a:r>
              <a:rPr lang="en-US" sz="2000" dirty="0">
                <a:ea typeface="+mn-lt"/>
                <a:cs typeface="+mn-lt"/>
              </a:rPr>
              <a:t> </a:t>
            </a:r>
            <a:endParaRPr lang="en-US" sz="2000" dirty="0">
              <a:ea typeface="Calibri" panose="020F0502020204030204"/>
              <a:cs typeface="Calibri" panose="020F0502020204030204"/>
            </a:endParaRPr>
          </a:p>
          <a:p>
            <a:pPr marL="1143000" lvl="1" indent="-457200" algn="just"/>
            <a:r>
              <a:rPr lang="en-US" sz="2000" dirty="0">
                <a:ea typeface="+mn-lt"/>
                <a:cs typeface="+mn-lt"/>
              </a:rPr>
              <a:t>Difficult to align availability between tutors and tutees</a:t>
            </a:r>
            <a:endParaRPr lang="en-US" sz="2000" dirty="0">
              <a:ea typeface="Calibri" panose="020F0502020204030204"/>
              <a:cs typeface="Calibri" panose="020F0502020204030204"/>
            </a:endParaRPr>
          </a:p>
          <a:p>
            <a:pPr marL="1143000" lvl="1" indent="-457200" algn="just"/>
            <a:r>
              <a:rPr lang="en-US" sz="2000" dirty="0">
                <a:ea typeface="+mn-lt"/>
                <a:cs typeface="+mn-lt"/>
              </a:rPr>
              <a:t>No streamlined booking system</a:t>
            </a:r>
            <a:endParaRPr lang="en-US" sz="2000" dirty="0">
              <a:ea typeface="Calibri" panose="020F0502020204030204"/>
              <a:cs typeface="Calibri" panose="020F0502020204030204"/>
            </a:endParaRPr>
          </a:p>
          <a:p>
            <a:pPr marL="1143000" lvl="1" indent="-457200" algn="just"/>
            <a:r>
              <a:rPr lang="en-US" sz="2000" dirty="0">
                <a:ea typeface="+mn-lt"/>
                <a:cs typeface="+mn-lt"/>
              </a:rPr>
              <a:t>Last-minute cancellations with no notification system</a:t>
            </a:r>
            <a:endParaRPr lang="en-US" sz="2000" dirty="0">
              <a:ea typeface="Calibri" panose="020F0502020204030204"/>
              <a:cs typeface="Calibri" panose="020F0502020204030204"/>
            </a:endParaRPr>
          </a:p>
          <a:p>
            <a:pPr marL="514350" indent="-514350" algn="just">
              <a:buAutoNum type="arabicPeriod"/>
            </a:pPr>
            <a:endParaRPr lang="en-US" sz="2000" dirty="0">
              <a:ea typeface="Calibri" panose="020F0502020204030204"/>
              <a:cs typeface="Calibri" panose="020F0502020204030204"/>
            </a:endParaRPr>
          </a:p>
          <a:p>
            <a:pPr marL="0" indent="0" algn="just">
              <a:buNone/>
            </a:pPr>
            <a:endParaRPr lang="en-US" sz="2000" dirty="0">
              <a:ea typeface="Calibri" panose="020F0502020204030204"/>
              <a:cs typeface="Calibri" panose="020F0502020204030204"/>
            </a:endParaRPr>
          </a:p>
        </p:txBody>
      </p:sp>
    </p:spTree>
    <p:extLst>
      <p:ext uri="{BB962C8B-B14F-4D97-AF65-F5344CB8AC3E}">
        <p14:creationId xmlns:p14="http://schemas.microsoft.com/office/powerpoint/2010/main" val="3971626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34475-7F59-1E07-D3D1-028EA872E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7E5F4-2F89-A2CA-9E3B-50B9A12E3CB8}"/>
              </a:ext>
            </a:extLst>
          </p:cNvPr>
          <p:cNvSpPr>
            <a:spLocks noGrp="1"/>
          </p:cNvSpPr>
          <p:nvPr>
            <p:ph type="title"/>
          </p:nvPr>
        </p:nvSpPr>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3C133E4F-D6B5-6291-38EE-64AD90AAD6C1}"/>
              </a:ext>
            </a:extLst>
          </p:cNvPr>
          <p:cNvSpPr>
            <a:spLocks noGrp="1"/>
          </p:cNvSpPr>
          <p:nvPr>
            <p:ph idx="1"/>
          </p:nvPr>
        </p:nvSpPr>
        <p:spPr/>
        <p:txBody>
          <a:bodyPr vert="horz" lIns="91440" tIns="45720" rIns="91440" bIns="45720" rtlCol="0" anchor="t">
            <a:normAutofit/>
          </a:bodyPr>
          <a:lstStyle/>
          <a:p>
            <a:pPr marL="0" indent="0" algn="just">
              <a:buNone/>
            </a:pPr>
            <a:r>
              <a:rPr lang="en-US" sz="2000" b="1" dirty="0"/>
              <a:t>4. Lack</a:t>
            </a:r>
            <a:r>
              <a:rPr lang="en-US" sz="2000" b="1" dirty="0">
                <a:ea typeface="+mn-lt"/>
                <a:cs typeface="+mn-lt"/>
              </a:rPr>
              <a:t> of Accountability and Quality Assurance</a:t>
            </a:r>
            <a:r>
              <a:rPr lang="en-US" sz="2000" dirty="0">
                <a:ea typeface="+mn-lt"/>
                <a:cs typeface="+mn-lt"/>
              </a:rPr>
              <a:t> </a:t>
            </a:r>
            <a:endParaRPr lang="en-US" sz="2000" dirty="0">
              <a:ea typeface="Calibri" panose="020F0502020204030204"/>
              <a:cs typeface="Calibri" panose="020F0502020204030204"/>
            </a:endParaRPr>
          </a:p>
          <a:p>
            <a:pPr marL="1143000" lvl="1" indent="-457200" algn="just">
              <a:buFont typeface="Arial"/>
            </a:pPr>
            <a:r>
              <a:rPr lang="en-US" sz="2000" dirty="0">
                <a:ea typeface="+mn-lt"/>
                <a:cs typeface="+mn-lt"/>
              </a:rPr>
              <a:t>No feedback mechanism to rate tutors</a:t>
            </a:r>
            <a:endParaRPr lang="en-US" sz="2000" dirty="0">
              <a:ea typeface="Calibri" panose="020F0502020204030204"/>
              <a:cs typeface="Calibri" panose="020F0502020204030204"/>
            </a:endParaRPr>
          </a:p>
          <a:p>
            <a:pPr marL="1143000" lvl="1" indent="-457200" algn="just">
              <a:buFont typeface="Arial"/>
            </a:pPr>
            <a:r>
              <a:rPr lang="en-US" sz="2000" dirty="0">
                <a:ea typeface="+mn-lt"/>
                <a:cs typeface="+mn-lt"/>
              </a:rPr>
              <a:t>Tutees unsure if they're getting quality help</a:t>
            </a:r>
            <a:endParaRPr lang="en-US" sz="2000" dirty="0">
              <a:ea typeface="Calibri" panose="020F0502020204030204"/>
              <a:cs typeface="Calibri" panose="020F0502020204030204"/>
            </a:endParaRPr>
          </a:p>
          <a:p>
            <a:pPr marL="1143000" lvl="1" indent="-457200" algn="just">
              <a:buFont typeface="Arial"/>
            </a:pPr>
            <a:r>
              <a:rPr lang="en-US" sz="2000" dirty="0">
                <a:ea typeface="+mn-lt"/>
                <a:cs typeface="+mn-lt"/>
              </a:rPr>
              <a:t>Tutors are not motivated to maintain high standards</a:t>
            </a:r>
            <a:endParaRPr lang="en-US" sz="2000" dirty="0">
              <a:ea typeface="Calibri" panose="020F0502020204030204"/>
              <a:cs typeface="Calibri" panose="020F0502020204030204"/>
            </a:endParaRPr>
          </a:p>
          <a:p>
            <a:pPr marL="0" indent="0" algn="just">
              <a:buNone/>
            </a:pPr>
            <a:r>
              <a:rPr lang="en-US" sz="2000" b="1" dirty="0">
                <a:ea typeface="+mn-lt"/>
                <a:cs typeface="+mn-lt"/>
              </a:rPr>
              <a:t>5. Uneven Access to Academic Support</a:t>
            </a:r>
            <a:r>
              <a:rPr lang="en-US" sz="2000" dirty="0">
                <a:ea typeface="+mn-lt"/>
                <a:cs typeface="+mn-lt"/>
              </a:rPr>
              <a:t> </a:t>
            </a:r>
            <a:endParaRPr lang="en-US" sz="2000" dirty="0">
              <a:ea typeface="Calibri" panose="020F0502020204030204"/>
              <a:cs typeface="Calibri" panose="020F0502020204030204"/>
            </a:endParaRPr>
          </a:p>
          <a:p>
            <a:pPr marL="1143000" lvl="1" indent="-457200" algn="just">
              <a:buFont typeface="Arial"/>
            </a:pPr>
            <a:r>
              <a:rPr lang="en-US" sz="2000" dirty="0">
                <a:ea typeface="+mn-lt"/>
                <a:cs typeface="+mn-lt"/>
              </a:rPr>
              <a:t>Tutees in less popular courses (IGD,  BDA) struggle more to find help</a:t>
            </a:r>
          </a:p>
          <a:p>
            <a:pPr marL="1143000" lvl="1" indent="-457200" algn="just">
              <a:buFont typeface="Arial"/>
            </a:pPr>
            <a:r>
              <a:rPr lang="en-US" sz="2000" dirty="0">
                <a:ea typeface="+mn-lt"/>
                <a:cs typeface="+mn-lt"/>
              </a:rPr>
              <a:t>Shy students may not actively seek help</a:t>
            </a:r>
            <a:endParaRPr lang="en-US" sz="2000" dirty="0">
              <a:ea typeface="Calibri" panose="020F0502020204030204"/>
              <a:cs typeface="Calibri" panose="020F0502020204030204"/>
            </a:endParaRPr>
          </a:p>
          <a:p>
            <a:pPr marL="1143000" lvl="1" indent="-457200" algn="just">
              <a:buFont typeface="Arial"/>
            </a:pPr>
            <a:r>
              <a:rPr lang="en-US" sz="2000" dirty="0">
                <a:ea typeface="+mn-lt"/>
                <a:cs typeface="+mn-lt"/>
              </a:rPr>
              <a:t>No incentive for tutors to offer tutoring</a:t>
            </a:r>
            <a:endParaRPr lang="en-US" sz="2000" dirty="0">
              <a:ea typeface="Calibri"/>
              <a:cs typeface="Calibri"/>
            </a:endParaRPr>
          </a:p>
        </p:txBody>
      </p:sp>
    </p:spTree>
    <p:extLst>
      <p:ext uri="{BB962C8B-B14F-4D97-AF65-F5344CB8AC3E}">
        <p14:creationId xmlns:p14="http://schemas.microsoft.com/office/powerpoint/2010/main" val="3138672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2063B-C7BA-4B1D-B58C-6CC93786C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3B867-408B-E7C3-1F8F-DF09D77C1BAA}"/>
              </a:ext>
            </a:extLst>
          </p:cNvPr>
          <p:cNvSpPr>
            <a:spLocks noGrp="1"/>
          </p:cNvSpPr>
          <p:nvPr>
            <p:ph type="title"/>
          </p:nvPr>
        </p:nvSpPr>
        <p:spPr/>
        <p:txBody>
          <a:bodyPr/>
          <a:lstStyle/>
          <a:p>
            <a:r>
              <a:rPr lang="en-US" b="1" dirty="0"/>
              <a:t>Project Objectives (3%)</a:t>
            </a:r>
            <a:endParaRPr lang="en-US" dirty="0"/>
          </a:p>
        </p:txBody>
      </p:sp>
      <p:pic>
        <p:nvPicPr>
          <p:cNvPr id="8" name="Picture 7">
            <a:extLst>
              <a:ext uri="{FF2B5EF4-FFF2-40B4-BE49-F238E27FC236}">
                <a16:creationId xmlns:a16="http://schemas.microsoft.com/office/drawing/2014/main" id="{4AD2BA13-A0E4-AF1F-3ACD-4D847AEF91DE}"/>
              </a:ext>
            </a:extLst>
          </p:cNvPr>
          <p:cNvPicPr>
            <a:picLocks noChangeAspect="1"/>
          </p:cNvPicPr>
          <p:nvPr/>
        </p:nvPicPr>
        <p:blipFill>
          <a:blip r:embed="rId2"/>
          <a:stretch>
            <a:fillRect/>
          </a:stretch>
        </p:blipFill>
        <p:spPr>
          <a:xfrm>
            <a:off x="732322" y="1690688"/>
            <a:ext cx="10009472" cy="4169100"/>
          </a:xfrm>
          <a:prstGeom prst="rect">
            <a:avLst/>
          </a:prstGeom>
        </p:spPr>
      </p:pic>
    </p:spTree>
    <p:extLst>
      <p:ext uri="{BB962C8B-B14F-4D97-AF65-F5344CB8AC3E}">
        <p14:creationId xmlns:p14="http://schemas.microsoft.com/office/powerpoint/2010/main" val="2017591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6E245-88B4-B4D1-48E2-817FBBDF3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D76BB-441F-5A86-9F12-CB8B40F3CE62}"/>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4C70A787-970F-3BB7-78FD-A04117B6FB38}"/>
              </a:ext>
            </a:extLst>
          </p:cNvPr>
          <p:cNvSpPr>
            <a:spLocks noGrp="1"/>
          </p:cNvSpPr>
          <p:nvPr>
            <p:ph idx="1"/>
          </p:nvPr>
        </p:nvSpPr>
        <p:spPr>
          <a:xfrm>
            <a:off x="838200" y="1395919"/>
            <a:ext cx="10515600" cy="4537953"/>
          </a:xfrm>
        </p:spPr>
        <p:txBody>
          <a:bodyPr vert="horz" lIns="91440" tIns="45720" rIns="91440" bIns="45720" rtlCol="0" anchor="ctr">
            <a:normAutofit/>
          </a:bodyPr>
          <a:lstStyle/>
          <a:p>
            <a:pPr marL="0" indent="0" algn="just">
              <a:buNone/>
            </a:pPr>
            <a:r>
              <a:rPr lang="en-US" sz="1600" b="1" dirty="0">
                <a:ea typeface="Calibri" panose="020F0502020204030204"/>
                <a:cs typeface="Calibri" panose="020F0502020204030204"/>
              </a:rPr>
              <a:t>Website's Purpose</a:t>
            </a:r>
          </a:p>
          <a:p>
            <a:pPr marL="0" indent="0" algn="just">
              <a:buNone/>
            </a:pPr>
            <a:r>
              <a:rPr lang="en-US" sz="1600" dirty="0"/>
              <a:t>Currently, TP students lack a centralized platform to indicate both their academic strengths and struggles. Students rely on inefficient word-of- mouth arrangements to find help, wasting valuable time and often finding no suitable match. Synapse's primary goal is to facilitate peer-to-peer learning by automatically matching students who need help in specific modules (tutees) with peers who have excelled in those areas (tutors). </a:t>
            </a:r>
          </a:p>
          <a:p>
            <a:pPr marL="0" indent="0" algn="just">
              <a:buNone/>
            </a:pPr>
            <a:r>
              <a:rPr lang="en-US" sz="1600" dirty="0"/>
              <a:t>The platform allows students to: </a:t>
            </a:r>
          </a:p>
          <a:p>
            <a:pPr algn="just">
              <a:buFontTx/>
              <a:buChar char="-"/>
            </a:pPr>
            <a:r>
              <a:rPr lang="en-US" sz="1600" dirty="0"/>
              <a:t>1. Input their strong modules and challenging modules </a:t>
            </a:r>
          </a:p>
          <a:p>
            <a:pPr algn="just">
              <a:buFontTx/>
              <a:buChar char="-"/>
            </a:pPr>
            <a:r>
              <a:rPr lang="en-US" sz="1600" dirty="0"/>
              <a:t>2. View automatically filtered peers with complementary strengths </a:t>
            </a:r>
          </a:p>
          <a:p>
            <a:pPr algn="just">
              <a:buFontTx/>
              <a:buChar char="-"/>
            </a:pPr>
            <a:r>
              <a:rPr lang="en-US" sz="1600" dirty="0"/>
              <a:t>3. Request tutoring sessions with verified, credible peer tutors </a:t>
            </a:r>
          </a:p>
          <a:p>
            <a:pPr marL="0" indent="0" algn="just">
              <a:buNone/>
            </a:pPr>
            <a:endParaRPr lang="en-US" sz="1600" dirty="0"/>
          </a:p>
          <a:p>
            <a:pPr marL="0" indent="0" algn="just">
              <a:buNone/>
            </a:pPr>
            <a:r>
              <a:rPr lang="en-US" sz="1600" b="1" dirty="0"/>
              <a:t>Note: </a:t>
            </a:r>
            <a:r>
              <a:rPr lang="en-US" sz="1600" dirty="0"/>
              <a:t>Synapse does not dictate how students teach or learn. The application filters and recommends suitable tutors, but students maintain full control over who they pair with and how they structure their learning.</a:t>
            </a:r>
            <a:endParaRPr lang="en-US" sz="1600" b="1" dirty="0">
              <a:ea typeface="Calibri" panose="020F0502020204030204"/>
              <a:cs typeface="Calibri" panose="020F0502020204030204"/>
            </a:endParaRPr>
          </a:p>
        </p:txBody>
      </p:sp>
    </p:spTree>
    <p:extLst>
      <p:ext uri="{BB962C8B-B14F-4D97-AF65-F5344CB8AC3E}">
        <p14:creationId xmlns:p14="http://schemas.microsoft.com/office/powerpoint/2010/main" val="547355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4A893-8D1D-6958-85E0-9679424F4F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F8056-0627-7091-AED6-1D4021673600}"/>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4E78BA4F-E116-8E98-9E8A-040C32446307}"/>
              </a:ext>
            </a:extLst>
          </p:cNvPr>
          <p:cNvSpPr>
            <a:spLocks noGrp="1"/>
          </p:cNvSpPr>
          <p:nvPr>
            <p:ph idx="1"/>
          </p:nvPr>
        </p:nvSpPr>
        <p:spPr/>
        <p:txBody>
          <a:bodyPr vert="horz" lIns="91440" tIns="45720" rIns="91440" bIns="45720" rtlCol="0" anchor="t">
            <a:normAutofit/>
          </a:bodyPr>
          <a:lstStyle/>
          <a:p>
            <a:pPr marL="0" indent="0" algn="just">
              <a:buNone/>
            </a:pPr>
            <a:r>
              <a:rPr lang="en-US" sz="1600" b="1" dirty="0">
                <a:ea typeface="Calibri"/>
                <a:cs typeface="Calibri"/>
              </a:rPr>
              <a:t>Target Audience</a:t>
            </a:r>
            <a:endParaRPr lang="en-US" dirty="0">
              <a:ea typeface="Calibri"/>
              <a:cs typeface="Calibri"/>
            </a:endParaRPr>
          </a:p>
          <a:p>
            <a:pPr marL="0" indent="0" algn="just">
              <a:buNone/>
            </a:pPr>
            <a:r>
              <a:rPr lang="en-US" sz="1600" dirty="0">
                <a:ea typeface="Calibri" panose="020F0502020204030204"/>
                <a:cs typeface="Calibri" panose="020F0502020204030204"/>
              </a:rPr>
              <a:t>The primary users of the application are Temasek Polytechnic students across all three years and courses. These users fall into two groups, learners and tutors. Learners are students who want to seek guidance in difficult modules, while tutors are those who wish to share their knowledge and strengthen their understanding by teaching others. </a:t>
            </a:r>
            <a:endParaRPr lang="en-US" dirty="0"/>
          </a:p>
          <a:p>
            <a:pPr marL="0" indent="0" algn="just">
              <a:buNone/>
            </a:pPr>
            <a:endParaRPr lang="en-US" sz="1600" dirty="0">
              <a:ea typeface="Calibri" panose="020F0502020204030204"/>
              <a:cs typeface="Calibri" panose="020F0502020204030204"/>
            </a:endParaRPr>
          </a:p>
          <a:p>
            <a:pPr marL="0" indent="0" algn="just">
              <a:buNone/>
            </a:pPr>
            <a:r>
              <a:rPr lang="en-US" sz="1600" dirty="0">
                <a:ea typeface="Calibri" panose="020F0502020204030204"/>
                <a:cs typeface="Calibri" panose="020F0502020204030204"/>
              </a:rPr>
              <a:t>Their main usage is to find reliable academic help quickly and efficiently without relying on lecturers. This application simplifies this process by providing an easy-to-use web application to seek and pair with peers. The website will automatically filter and match students who need help in specific modules with those who have excelled well in these subjects. Additionally, there will be a rating system where tutees can rate their tutors, which helps to improve the credibility of the tutor. This will also allow other learns to identify better tutors. By streamlining this process of finding and connecting suitable peers together,  the application can reduce stress and time wasted in seeking reliable students for help, thereby making students' learning experience to be more productive and helping them in collaborative learning.</a:t>
            </a:r>
            <a:endParaRPr lang="en-US"/>
          </a:p>
          <a:p>
            <a:pPr marL="0" indent="0" algn="just">
              <a:buNone/>
            </a:pPr>
            <a:endParaRPr lang="en-US" sz="1600" dirty="0">
              <a:ea typeface="Calibri" panose="020F0502020204030204"/>
              <a:cs typeface="Calibri" panose="020F0502020204030204"/>
            </a:endParaRPr>
          </a:p>
          <a:p>
            <a:pPr marL="0" indent="0" algn="just">
              <a:buNone/>
            </a:pPr>
            <a:endParaRPr lang="en-US" sz="1600" b="1" dirty="0">
              <a:ea typeface="Calibri" panose="020F0502020204030204"/>
              <a:cs typeface="Calibri" panose="020F0502020204030204"/>
            </a:endParaRPr>
          </a:p>
        </p:txBody>
      </p:sp>
    </p:spTree>
    <p:extLst>
      <p:ext uri="{BB962C8B-B14F-4D97-AF65-F5344CB8AC3E}">
        <p14:creationId xmlns:p14="http://schemas.microsoft.com/office/powerpoint/2010/main" val="2331313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F31E4-25C3-3E48-D281-BA0FF6496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33723-DA06-582D-12DD-741123153A5E}"/>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9DFF4AE1-5855-4CC5-641B-61097EF96996}"/>
              </a:ext>
            </a:extLst>
          </p:cNvPr>
          <p:cNvSpPr>
            <a:spLocks noGrp="1"/>
          </p:cNvSpPr>
          <p:nvPr>
            <p:ph idx="1"/>
          </p:nvPr>
        </p:nvSpPr>
        <p:spPr/>
        <p:txBody>
          <a:bodyPr vert="horz" lIns="91440" tIns="45720" rIns="91440" bIns="45720" rtlCol="0" anchor="t">
            <a:normAutofit lnSpcReduction="10000"/>
          </a:bodyPr>
          <a:lstStyle/>
          <a:p>
            <a:pPr marL="0" indent="0" algn="just">
              <a:buNone/>
            </a:pPr>
            <a:r>
              <a:rPr lang="en-US" sz="1600" b="1" dirty="0">
                <a:ea typeface="Calibri"/>
                <a:cs typeface="Calibri"/>
              </a:rPr>
              <a:t>Target Audience</a:t>
            </a:r>
            <a:endParaRPr lang="en-US" dirty="0">
              <a:ea typeface="Calibri"/>
              <a:cs typeface="Calibri"/>
            </a:endParaRPr>
          </a:p>
          <a:p>
            <a:pPr marL="0" indent="0" algn="just">
              <a:buNone/>
            </a:pPr>
            <a:r>
              <a:rPr lang="en-US" sz="1600" dirty="0">
                <a:ea typeface="Calibri" panose="020F0502020204030204"/>
                <a:cs typeface="Calibri" panose="020F0502020204030204"/>
              </a:rPr>
              <a:t>The secondary audience of this application is Temasek Polytechnic Staff and Administration. They fall into the same group. Both groups have the same roles and functions, however the usages vary between them.</a:t>
            </a:r>
          </a:p>
          <a:p>
            <a:pPr marL="0" indent="0" algn="just">
              <a:buNone/>
            </a:pPr>
            <a:r>
              <a:rPr lang="en-US" sz="1600" b="1" dirty="0">
                <a:ea typeface="Calibri" panose="020F0502020204030204"/>
                <a:cs typeface="Calibri" panose="020F0502020204030204"/>
              </a:rPr>
              <a:t>For Staff:</a:t>
            </a:r>
          </a:p>
          <a:p>
            <a:pPr marL="0" indent="0" algn="just">
              <a:buNone/>
            </a:pPr>
            <a:r>
              <a:rPr lang="en-US" sz="1600" dirty="0">
                <a:ea typeface="Calibri" panose="020F0502020204030204"/>
                <a:cs typeface="Calibri" panose="020F0502020204030204"/>
              </a:rPr>
              <a:t>Their main usage is to be able to review the performance of the web application via analytics – for example, how much students have been paired in the last week, have the reviews been good? These are some of the examples where TP Staff can use analytics to improve the web application as well as improve the experience for students so that this web application can become more meaningful for students. This allows them to identify where students need more support, which in kind may influence how the school teaches the subject as well.</a:t>
            </a:r>
          </a:p>
          <a:p>
            <a:pPr marL="0" indent="0" algn="just">
              <a:buNone/>
            </a:pPr>
            <a:r>
              <a:rPr lang="en-US" sz="1600" b="1" dirty="0">
                <a:ea typeface="Calibri" panose="020F0502020204030204"/>
                <a:cs typeface="Calibri" panose="020F0502020204030204"/>
              </a:rPr>
              <a:t>For Administration:</a:t>
            </a:r>
          </a:p>
          <a:p>
            <a:pPr marL="0" indent="0" algn="just">
              <a:buNone/>
            </a:pPr>
            <a:r>
              <a:rPr lang="en-US" sz="1600" dirty="0">
                <a:ea typeface="Calibri" panose="020F0502020204030204"/>
                <a:cs typeface="Calibri" panose="020F0502020204030204"/>
              </a:rPr>
              <a:t>Their main usage is to moderate and review reports regarding the web platform. If there has been reports of inappropriate or students leading by bad example, their job is to investigate and dole out the correct actions taken by the school. This can come in the form of banning this student or suspending this student from the web platform. </a:t>
            </a:r>
          </a:p>
          <a:p>
            <a:pPr marL="0" indent="0" algn="just">
              <a:buNone/>
            </a:pPr>
            <a:r>
              <a:rPr lang="en-US" sz="1600" dirty="0">
                <a:ea typeface="Calibri" panose="020F0502020204030204"/>
                <a:cs typeface="Calibri" panose="020F0502020204030204"/>
              </a:rPr>
              <a:t>A secondary usage for administrators comes as onboarding of students, such as verifying that the grades in their transcript match the ones in the web platform, so that the app can be used seamlessly without students having to input their own grades or other information which would make the onboarding process much slower and inefficient.</a:t>
            </a:r>
          </a:p>
          <a:p>
            <a:pPr marL="0" indent="0" algn="just">
              <a:buNone/>
            </a:pPr>
            <a:endParaRPr lang="en-US" sz="1600" dirty="0">
              <a:ea typeface="Calibri" panose="020F0502020204030204"/>
              <a:cs typeface="Calibri" panose="020F0502020204030204"/>
            </a:endParaRPr>
          </a:p>
          <a:p>
            <a:pPr marL="0" indent="0" algn="just">
              <a:buNone/>
            </a:pPr>
            <a:endParaRPr lang="en-US" sz="1600" b="1" dirty="0">
              <a:ea typeface="Calibri" panose="020F0502020204030204"/>
              <a:cs typeface="Calibri" panose="020F0502020204030204"/>
            </a:endParaRPr>
          </a:p>
        </p:txBody>
      </p:sp>
    </p:spTree>
    <p:extLst>
      <p:ext uri="{BB962C8B-B14F-4D97-AF65-F5344CB8AC3E}">
        <p14:creationId xmlns:p14="http://schemas.microsoft.com/office/powerpoint/2010/main" val="1280309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DF7AD-5E57-4D1D-9681-8A4FD74657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4FD8BE-CA42-53CD-3163-1894B472A814}"/>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7893FA6C-5C41-057A-05F2-0547F77C6569}"/>
              </a:ext>
            </a:extLst>
          </p:cNvPr>
          <p:cNvSpPr>
            <a:spLocks noGrp="1"/>
          </p:cNvSpPr>
          <p:nvPr>
            <p:ph idx="1"/>
          </p:nvPr>
        </p:nvSpPr>
        <p:spPr>
          <a:xfrm>
            <a:off x="838200" y="1434856"/>
            <a:ext cx="10515600" cy="4849568"/>
          </a:xfrm>
        </p:spPr>
        <p:txBody>
          <a:bodyPr vert="horz" lIns="91440" tIns="45720" rIns="91440" bIns="45720" rtlCol="0" anchor="t">
            <a:normAutofit/>
          </a:bodyPr>
          <a:lstStyle/>
          <a:p>
            <a:pPr marL="0" indent="0" algn="just">
              <a:buNone/>
            </a:pPr>
            <a:r>
              <a:rPr lang="en-US" sz="1600" b="1" dirty="0">
                <a:ea typeface="Calibri"/>
                <a:cs typeface="Calibri"/>
              </a:rPr>
              <a:t>Unique Value Proposition vs. Other platforms</a:t>
            </a:r>
            <a:endParaRPr lang="en-US" dirty="0">
              <a:ea typeface="Calibri"/>
              <a:cs typeface="Calibri"/>
            </a:endParaRPr>
          </a:p>
          <a:p>
            <a:pPr marL="0" indent="0" algn="just">
              <a:buNone/>
            </a:pPr>
            <a:r>
              <a:rPr lang="en-US" sz="1600" b="1" dirty="0">
                <a:ea typeface="Calibri" panose="020F0502020204030204"/>
                <a:cs typeface="Calibri" panose="020F0502020204030204"/>
              </a:rPr>
              <a:t>Current Landscape</a:t>
            </a:r>
          </a:p>
          <a:p>
            <a:pPr marL="0" indent="0" algn="just">
              <a:buNone/>
            </a:pPr>
            <a:r>
              <a:rPr lang="en-US" sz="1600" dirty="0">
                <a:ea typeface="+mn-lt"/>
                <a:cs typeface="+mn-lt"/>
              </a:rPr>
              <a:t>Currently, Temasek Polytechnic students rely on a variety of options for academic support, such as in-person study groups, university learning management systems with simple discussion forums, general tutoring marketplaces like Carousell, commercial tutoring platforms like </a:t>
            </a:r>
            <a:r>
              <a:rPr lang="en-US" sz="1600" dirty="0">
                <a:ea typeface="+mn-lt"/>
                <a:cs typeface="+mn-lt"/>
                <a:hlinkClick r:id="rId2"/>
              </a:rPr>
              <a:t>Superprof</a:t>
            </a:r>
            <a:r>
              <a:rPr lang="en-US" sz="1600" dirty="0">
                <a:ea typeface="+mn-lt"/>
                <a:cs typeface="+mn-lt"/>
              </a:rPr>
              <a:t> and </a:t>
            </a:r>
            <a:r>
              <a:rPr lang="en-US" sz="1600" dirty="0">
                <a:ea typeface="+mn-lt"/>
                <a:cs typeface="+mn-lt"/>
                <a:hlinkClick r:id="rId3"/>
              </a:rPr>
              <a:t>SmileTutor</a:t>
            </a:r>
            <a:r>
              <a:rPr lang="en-US" sz="1600" dirty="0">
                <a:ea typeface="+mn-lt"/>
                <a:cs typeface="+mn-lt"/>
              </a:rPr>
              <a:t>, and informal WhatsApp and Telegram groups. These solutions are somewhat helpful, but they don't have the structure, campus-specific emphasis, and verification that a </a:t>
            </a:r>
            <a:r>
              <a:rPr lang="en-US" sz="1600" dirty="0" err="1">
                <a:ea typeface="+mn-lt"/>
                <a:cs typeface="+mn-lt"/>
              </a:rPr>
              <a:t>specialised</a:t>
            </a:r>
            <a:r>
              <a:rPr lang="en-US" sz="1600" dirty="0">
                <a:ea typeface="+mn-lt"/>
                <a:cs typeface="+mn-lt"/>
              </a:rPr>
              <a:t> peer learning platform offers.</a:t>
            </a:r>
            <a:endParaRPr lang="en-US" dirty="0"/>
          </a:p>
          <a:p>
            <a:pPr marL="0" indent="0" algn="just">
              <a:buNone/>
            </a:pPr>
            <a:endParaRPr lang="en-US" sz="1600" dirty="0">
              <a:ea typeface="Calibri" panose="020F0502020204030204"/>
              <a:cs typeface="Calibri" panose="020F0502020204030204"/>
            </a:endParaRPr>
          </a:p>
          <a:p>
            <a:pPr marL="0" indent="0" algn="just">
              <a:buNone/>
            </a:pPr>
            <a:r>
              <a:rPr lang="en-US" sz="1600" b="1" dirty="0">
                <a:ea typeface="Calibri" panose="020F0502020204030204"/>
                <a:cs typeface="Calibri" panose="020F0502020204030204"/>
              </a:rPr>
              <a:t>Synapse's Unique Value Proposition</a:t>
            </a:r>
          </a:p>
          <a:p>
            <a:pPr marL="0" indent="0" algn="just">
              <a:buNone/>
            </a:pPr>
            <a:r>
              <a:rPr lang="en-US" sz="1600" b="1" dirty="0">
                <a:ea typeface="Calibri" panose="020F0502020204030204"/>
                <a:cs typeface="Calibri" panose="020F0502020204030204"/>
              </a:rPr>
              <a:t>1. TP-Specific Campus Integration</a:t>
            </a:r>
            <a:endParaRPr lang="en-US" dirty="0"/>
          </a:p>
          <a:p>
            <a:pPr marL="0" indent="0" algn="just">
              <a:buNone/>
            </a:pPr>
            <a:r>
              <a:rPr lang="en-US" sz="1600" dirty="0">
                <a:ea typeface="+mn-lt"/>
                <a:cs typeface="+mn-lt"/>
              </a:rPr>
              <a:t>Synapse is built exclusively for Temasek Polytechnic students, with the platform deeply integrated into the TP academic ecosystem. The system is organized around actual TP module codes (CIT2C20, DIT, DISM, IGD, BDA) and diploma-specific curricula, ensuring students can find tutors who have mastered the exact content they are studying. Qualified peer instructors are ensured by verifying tutors against their genuine TP course grades. On the other hand, generic tutoring platforms don't know about TP's particular module structure, curriculum requirements, or campus culture; instead, they assist students from all universities/polytechnics. There is no need for tutors to translate or modify content from various educational environments because students who use Synapse receive assistance from classmates who completed the same module, with the same lecturer, </a:t>
            </a:r>
            <a:r>
              <a:rPr lang="en-US" sz="1600" dirty="0" err="1">
                <a:ea typeface="+mn-lt"/>
                <a:cs typeface="+mn-lt"/>
              </a:rPr>
              <a:t>utilising</a:t>
            </a:r>
            <a:r>
              <a:rPr lang="en-US" sz="1600" dirty="0">
                <a:ea typeface="+mn-lt"/>
                <a:cs typeface="+mn-lt"/>
              </a:rPr>
              <a:t> the same resources and evaluations.</a:t>
            </a:r>
            <a:endParaRPr lang="en-US">
              <a:ea typeface="Calibri"/>
              <a:cs typeface="Calibri"/>
            </a:endParaRPr>
          </a:p>
          <a:p>
            <a:pPr marL="0" indent="0" algn="just">
              <a:buNone/>
            </a:pPr>
            <a:endParaRPr lang="en-US" sz="1600" dirty="0">
              <a:ea typeface="Calibri" panose="020F0502020204030204"/>
              <a:cs typeface="Calibri" panose="020F0502020204030204"/>
            </a:endParaRPr>
          </a:p>
          <a:p>
            <a:pPr marL="0" indent="0" algn="just">
              <a:buNone/>
            </a:pPr>
            <a:endParaRPr lang="en-US" sz="1600" b="1" dirty="0">
              <a:ea typeface="Calibri" panose="020F0502020204030204"/>
              <a:cs typeface="Calibri" panose="020F0502020204030204"/>
            </a:endParaRPr>
          </a:p>
        </p:txBody>
      </p:sp>
    </p:spTree>
    <p:extLst>
      <p:ext uri="{BB962C8B-B14F-4D97-AF65-F5344CB8AC3E}">
        <p14:creationId xmlns:p14="http://schemas.microsoft.com/office/powerpoint/2010/main" val="1284420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2182E-7880-7943-AEA0-EA72C93A2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0933F-CA22-7381-8B5C-C78E57E669B2}"/>
              </a:ext>
            </a:extLst>
          </p:cNvPr>
          <p:cNvSpPr>
            <a:spLocks noGrp="1"/>
          </p:cNvSpPr>
          <p:nvPr>
            <p:ph type="title"/>
          </p:nvPr>
        </p:nvSpPr>
        <p:spPr/>
        <p:txBody>
          <a:bodyPr/>
          <a:lstStyle/>
          <a:p>
            <a:r>
              <a:rPr lang="en-US" b="1" dirty="0"/>
              <a:t>Project Objectives (3%)</a:t>
            </a:r>
            <a:endParaRPr lang="en-US" dirty="0"/>
          </a:p>
        </p:txBody>
      </p:sp>
      <p:sp>
        <p:nvSpPr>
          <p:cNvPr id="3" name="Content Placeholder 2">
            <a:extLst>
              <a:ext uri="{FF2B5EF4-FFF2-40B4-BE49-F238E27FC236}">
                <a16:creationId xmlns:a16="http://schemas.microsoft.com/office/drawing/2014/main" id="{4D68BAE1-1AF5-F7D4-8185-A229C0A7389C}"/>
              </a:ext>
            </a:extLst>
          </p:cNvPr>
          <p:cNvSpPr>
            <a:spLocks noGrp="1"/>
          </p:cNvSpPr>
          <p:nvPr>
            <p:ph idx="1"/>
          </p:nvPr>
        </p:nvSpPr>
        <p:spPr>
          <a:xfrm>
            <a:off x="838200" y="1434856"/>
            <a:ext cx="10515600" cy="4849568"/>
          </a:xfrm>
        </p:spPr>
        <p:txBody>
          <a:bodyPr vert="horz" lIns="91440" tIns="45720" rIns="91440" bIns="45720" rtlCol="0" anchor="t">
            <a:normAutofit/>
          </a:bodyPr>
          <a:lstStyle/>
          <a:p>
            <a:pPr marL="0" indent="0" algn="just">
              <a:buNone/>
            </a:pPr>
            <a:r>
              <a:rPr lang="en-US" sz="1600" b="1" dirty="0">
                <a:ea typeface="+mn-lt"/>
                <a:cs typeface="+mn-lt"/>
              </a:rPr>
              <a:t>Unique Value Proposition vs. Other platforms</a:t>
            </a:r>
            <a:endParaRPr lang="en-US">
              <a:ea typeface="+mn-lt"/>
              <a:cs typeface="+mn-lt"/>
            </a:endParaRPr>
          </a:p>
          <a:p>
            <a:pPr marL="0" indent="0" algn="just">
              <a:buNone/>
            </a:pPr>
            <a:r>
              <a:rPr lang="en-US" sz="1600" b="1" dirty="0">
                <a:ea typeface="Calibri"/>
                <a:cs typeface="Calibri"/>
              </a:rPr>
              <a:t>Synapse's Unique Value Proposition</a:t>
            </a:r>
          </a:p>
          <a:p>
            <a:pPr marL="0" indent="0" algn="just">
              <a:buNone/>
            </a:pPr>
            <a:r>
              <a:rPr lang="en-US" sz="1600" b="1" dirty="0">
                <a:ea typeface="+mn-lt"/>
                <a:cs typeface="+mn-lt"/>
              </a:rPr>
              <a:t>2. Peer-to-Peer Focus and Community Building</a:t>
            </a:r>
            <a:endParaRPr lang="en-US" dirty="0"/>
          </a:p>
          <a:p>
            <a:pPr marL="0" indent="0" algn="just">
              <a:buNone/>
            </a:pPr>
            <a:r>
              <a:rPr lang="en-US" sz="1600" dirty="0">
                <a:ea typeface="+mn-lt"/>
                <a:cs typeface="+mn-lt"/>
              </a:rPr>
              <a:t>Unlike commercial tutoring platforms that connect students with professional tutors for a fee, Synapse emphasizes free peer mentoring within the TP community. Tutors are fellow students who recently completed the modules and can relate to current academic struggles from personal experience. This peer-to-peer model creates a casual, friendly learning environment free from commercial pressure or sales tactics, fostering genuine collaboration rather than transactional relationships. The platform builds campus community by connecting students across different cohorts and diploma programs, encouraging a culture of knowledge-sharing and mutual support. </a:t>
            </a:r>
            <a:endParaRPr lang="en-US" dirty="0">
              <a:ea typeface="+mn-lt"/>
              <a:cs typeface="+mn-lt"/>
            </a:endParaRPr>
          </a:p>
          <a:p>
            <a:pPr marL="0" indent="0" algn="just">
              <a:buNone/>
            </a:pPr>
            <a:r>
              <a:rPr lang="en-US" sz="1600" dirty="0">
                <a:ea typeface="+mn-lt"/>
                <a:cs typeface="+mn-lt"/>
              </a:rPr>
              <a:t>Since users all belong to the same institution, there is generally a higher level of accountability and trust within the website. Students are more likely to show up for sessions, maintain professionalism, and provide honest feedback when interacting with peers they may encounter around campus. Commercial platforms lack this community dimension, treating tutoring as a purely commercial service rather than collaborative learning.</a:t>
            </a:r>
            <a:endParaRPr lang="en-US">
              <a:ea typeface="+mn-lt"/>
              <a:cs typeface="+mn-lt"/>
            </a:endParaRPr>
          </a:p>
          <a:p>
            <a:pPr marL="0" indent="0" algn="just">
              <a:buNone/>
            </a:pPr>
            <a:endParaRPr lang="en-US" sz="1600" dirty="0">
              <a:ea typeface="Calibri" panose="020F0502020204030204"/>
              <a:cs typeface="Calibri" panose="020F0502020204030204"/>
            </a:endParaRPr>
          </a:p>
          <a:p>
            <a:pPr marL="0" indent="0" algn="just">
              <a:buNone/>
            </a:pPr>
            <a:endParaRPr lang="en-US" sz="1600" b="1" dirty="0">
              <a:ea typeface="Calibri" panose="020F0502020204030204"/>
              <a:cs typeface="Calibri" panose="020F0502020204030204"/>
            </a:endParaRPr>
          </a:p>
        </p:txBody>
      </p:sp>
    </p:spTree>
    <p:extLst>
      <p:ext uri="{BB962C8B-B14F-4D97-AF65-F5344CB8AC3E}">
        <p14:creationId xmlns:p14="http://schemas.microsoft.com/office/powerpoint/2010/main" val="2549267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1642E-F147-5AE9-8A21-AB75385B4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A9152-0E70-ECD6-526A-1AB046D8C6D9}"/>
              </a:ext>
            </a:extLst>
          </p:cNvPr>
          <p:cNvSpPr>
            <a:spLocks noGrp="1"/>
          </p:cNvSpPr>
          <p:nvPr>
            <p:ph type="title"/>
          </p:nvPr>
        </p:nvSpPr>
        <p:spPr>
          <a:xfrm>
            <a:off x="838200" y="-133106"/>
            <a:ext cx="10515600" cy="1325563"/>
          </a:xfrm>
        </p:spPr>
        <p:txBody>
          <a:bodyPr/>
          <a:lstStyle/>
          <a:p>
            <a:pPr lvl="0"/>
            <a:r>
              <a:rPr lang="en-US" b="1" dirty="0"/>
              <a:t>Proposed Features (3%)</a:t>
            </a:r>
            <a:endParaRPr lang="en-US" dirty="0"/>
          </a:p>
        </p:txBody>
      </p:sp>
      <p:sp>
        <p:nvSpPr>
          <p:cNvPr id="3" name="Content Placeholder 2">
            <a:extLst>
              <a:ext uri="{FF2B5EF4-FFF2-40B4-BE49-F238E27FC236}">
                <a16:creationId xmlns:a16="http://schemas.microsoft.com/office/drawing/2014/main" id="{E94E226F-87EA-B2E1-1DAB-46E9004CBADB}"/>
              </a:ext>
            </a:extLst>
          </p:cNvPr>
          <p:cNvSpPr>
            <a:spLocks noGrp="1"/>
          </p:cNvSpPr>
          <p:nvPr>
            <p:ph idx="1"/>
          </p:nvPr>
        </p:nvSpPr>
        <p:spPr>
          <a:xfrm>
            <a:off x="838200" y="801688"/>
            <a:ext cx="10515600" cy="484621"/>
          </a:xfrm>
        </p:spPr>
        <p:txBody>
          <a:bodyPr/>
          <a:lstStyle/>
          <a:p>
            <a:pPr algn="just"/>
            <a:r>
              <a:rPr lang="en-US" dirty="0"/>
              <a:t>Outline the planned functionalities in detail.</a:t>
            </a:r>
          </a:p>
        </p:txBody>
      </p:sp>
      <p:graphicFrame>
        <p:nvGraphicFramePr>
          <p:cNvPr id="8" name="Table 7">
            <a:extLst>
              <a:ext uri="{FF2B5EF4-FFF2-40B4-BE49-F238E27FC236}">
                <a16:creationId xmlns:a16="http://schemas.microsoft.com/office/drawing/2014/main" id="{18E6E0AC-25A8-9236-EE56-54056BC5C086}"/>
              </a:ext>
            </a:extLst>
          </p:cNvPr>
          <p:cNvGraphicFramePr>
            <a:graphicFrameLocks noGrp="1"/>
          </p:cNvGraphicFramePr>
          <p:nvPr>
            <p:extLst>
              <p:ext uri="{D42A27DB-BD31-4B8C-83A1-F6EECF244321}">
                <p14:modId xmlns:p14="http://schemas.microsoft.com/office/powerpoint/2010/main" val="2011143769"/>
              </p:ext>
            </p:extLst>
          </p:nvPr>
        </p:nvGraphicFramePr>
        <p:xfrm>
          <a:off x="539750" y="1291551"/>
          <a:ext cx="11112500" cy="4952947"/>
        </p:xfrm>
        <a:graphic>
          <a:graphicData uri="http://schemas.openxmlformats.org/drawingml/2006/table">
            <a:tbl>
              <a:tblPr firstRow="1" bandRow="1">
                <a:tableStyleId>{5C22544A-7EE6-4342-B048-85BDC9FD1C3A}</a:tableStyleId>
              </a:tblPr>
              <a:tblGrid>
                <a:gridCol w="1803400">
                  <a:extLst>
                    <a:ext uri="{9D8B030D-6E8A-4147-A177-3AD203B41FA5}">
                      <a16:colId xmlns:a16="http://schemas.microsoft.com/office/drawing/2014/main" val="3601739742"/>
                    </a:ext>
                  </a:extLst>
                </a:gridCol>
                <a:gridCol w="1993900">
                  <a:extLst>
                    <a:ext uri="{9D8B030D-6E8A-4147-A177-3AD203B41FA5}">
                      <a16:colId xmlns:a16="http://schemas.microsoft.com/office/drawing/2014/main" val="2443540378"/>
                    </a:ext>
                  </a:extLst>
                </a:gridCol>
                <a:gridCol w="2273300">
                  <a:extLst>
                    <a:ext uri="{9D8B030D-6E8A-4147-A177-3AD203B41FA5}">
                      <a16:colId xmlns:a16="http://schemas.microsoft.com/office/drawing/2014/main" val="2402344130"/>
                    </a:ext>
                  </a:extLst>
                </a:gridCol>
                <a:gridCol w="2501900">
                  <a:extLst>
                    <a:ext uri="{9D8B030D-6E8A-4147-A177-3AD203B41FA5}">
                      <a16:colId xmlns:a16="http://schemas.microsoft.com/office/drawing/2014/main" val="2613526278"/>
                    </a:ext>
                  </a:extLst>
                </a:gridCol>
                <a:gridCol w="2540000">
                  <a:extLst>
                    <a:ext uri="{9D8B030D-6E8A-4147-A177-3AD203B41FA5}">
                      <a16:colId xmlns:a16="http://schemas.microsoft.com/office/drawing/2014/main" val="4208380497"/>
                    </a:ext>
                  </a:extLst>
                </a:gridCol>
              </a:tblGrid>
              <a:tr h="689004">
                <a:tc>
                  <a:txBody>
                    <a:bodyPr/>
                    <a:lstStyle/>
                    <a:p>
                      <a:pPr marL="0" algn="ctr" rtl="0" eaLnBrk="1" latinLnBrk="0" hangingPunct="1">
                        <a:buNone/>
                      </a:pPr>
                      <a:r>
                        <a:rPr lang="en-US" sz="1400" kern="1200" dirty="0">
                          <a:solidFill>
                            <a:srgbClr val="FFFFFF"/>
                          </a:solidFill>
                          <a:effectLst/>
                        </a:rPr>
                        <a:t>Feature Name</a:t>
                      </a:r>
                      <a:endParaRPr lang="en-US" dirty="0">
                        <a:effectLst/>
                      </a:endParaRPr>
                    </a:p>
                  </a:txBody>
                  <a:tcPr marL="0" marR="0" marT="0" marB="0" anchor="ctr"/>
                </a:tc>
                <a:tc>
                  <a:txBody>
                    <a:bodyPr/>
                    <a:lstStyle/>
                    <a:p>
                      <a:pPr marL="0" algn="ctr" rtl="0" eaLnBrk="1" latinLnBrk="0" hangingPunct="1">
                        <a:buNone/>
                      </a:pPr>
                      <a:r>
                        <a:rPr lang="en-US" sz="1400" kern="1200" dirty="0">
                          <a:solidFill>
                            <a:srgbClr val="FFFFFF"/>
                          </a:solidFill>
                          <a:effectLst/>
                        </a:rPr>
                        <a:t>Description / Purpose</a:t>
                      </a:r>
                      <a:endParaRPr lang="en-US" dirty="0">
                        <a:effectLst/>
                      </a:endParaRPr>
                    </a:p>
                  </a:txBody>
                  <a:tcPr marL="0" marR="0" marT="0" marB="0" anchor="ctr"/>
                </a:tc>
                <a:tc>
                  <a:txBody>
                    <a:bodyPr/>
                    <a:lstStyle/>
                    <a:p>
                      <a:pPr marL="0" algn="ctr" rtl="0" eaLnBrk="1" latinLnBrk="0" hangingPunct="1">
                        <a:buNone/>
                      </a:pPr>
                      <a:r>
                        <a:rPr lang="en-US" sz="1400" kern="1200" dirty="0">
                          <a:solidFill>
                            <a:srgbClr val="FFFFFF"/>
                          </a:solidFill>
                          <a:effectLst/>
                        </a:rPr>
                        <a:t>User Actions / What It Does</a:t>
                      </a:r>
                      <a:endParaRPr lang="en-US" dirty="0">
                        <a:effectLst/>
                      </a:endParaRPr>
                    </a:p>
                  </a:txBody>
                  <a:tcPr marL="0" marR="0" marT="0" marB="0" anchor="ctr"/>
                </a:tc>
                <a:tc>
                  <a:txBody>
                    <a:bodyPr/>
                    <a:lstStyle/>
                    <a:p>
                      <a:pPr marL="0" algn="ctr" rtl="0" eaLnBrk="1" latinLnBrk="0" hangingPunct="1">
                        <a:buNone/>
                      </a:pPr>
                      <a:r>
                        <a:rPr lang="en-US" sz="1400" kern="1200" dirty="0">
                          <a:solidFill>
                            <a:srgbClr val="FFFFFF"/>
                          </a:solidFill>
                          <a:effectLst/>
                        </a:rPr>
                        <a:t>Expected Outcome / Display</a:t>
                      </a:r>
                      <a:endParaRPr lang="en-US" dirty="0">
                        <a:effectLst/>
                      </a:endParaRPr>
                    </a:p>
                  </a:txBody>
                  <a:tcPr marL="0" marR="0" marT="0" marB="0" anchor="ctr"/>
                </a:tc>
                <a:tc>
                  <a:txBody>
                    <a:bodyPr/>
                    <a:lstStyle/>
                    <a:p>
                      <a:pPr marL="0" algn="ctr" rtl="0" eaLnBrk="1" latinLnBrk="0" hangingPunct="1">
                        <a:buNone/>
                      </a:pPr>
                      <a:r>
                        <a:rPr lang="en-US" sz="1400" kern="1200" dirty="0">
                          <a:solidFill>
                            <a:srgbClr val="FFFFFF"/>
                          </a:solidFill>
                          <a:effectLst/>
                        </a:rPr>
                        <a:t>Notes / Future Plans</a:t>
                      </a:r>
                      <a:endParaRPr lang="en-US" dirty="0">
                        <a:effectLst/>
                      </a:endParaRPr>
                    </a:p>
                  </a:txBody>
                  <a:tcPr marL="0" marR="0" marT="0" marB="0" anchor="ctr"/>
                </a:tc>
                <a:extLst>
                  <a:ext uri="{0D108BD9-81ED-4DB2-BD59-A6C34878D82A}">
                    <a16:rowId xmlns:a16="http://schemas.microsoft.com/office/drawing/2014/main" val="1444853332"/>
                  </a:ext>
                </a:extLst>
              </a:tr>
              <a:tr h="1002187">
                <a:tc>
                  <a:txBody>
                    <a:bodyPr/>
                    <a:lstStyle/>
                    <a:p>
                      <a:pPr marL="0" algn="l" rtl="0" eaLnBrk="1" latinLnBrk="0" hangingPunct="1">
                        <a:buNone/>
                      </a:pPr>
                      <a:r>
                        <a:rPr lang="en-US" sz="1400" kern="1200" dirty="0">
                          <a:solidFill>
                            <a:srgbClr val="000000"/>
                          </a:solidFill>
                          <a:effectLst/>
                        </a:rPr>
                        <a:t>User Login &amp; Signup</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Allow users to create accounts and log in.</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Users can sign up with their email and password.</a:t>
                      </a:r>
                    </a:p>
                    <a:p>
                      <a:pPr marL="0" lvl="0" algn="l">
                        <a:buNone/>
                      </a:pPr>
                      <a:endParaRPr lang="en-US" sz="1400" kern="1200" dirty="0">
                        <a:solidFill>
                          <a:srgbClr val="000000"/>
                        </a:solidFill>
                        <a:effectLst/>
                      </a:endParaRPr>
                    </a:p>
                    <a:p>
                      <a:pPr marL="0" lvl="0" algn="l">
                        <a:buNone/>
                      </a:pPr>
                      <a:r>
                        <a:rPr lang="en-US" sz="1400" kern="1200" dirty="0">
                          <a:solidFill>
                            <a:srgbClr val="000000"/>
                          </a:solidFill>
                          <a:effectLst/>
                        </a:rPr>
                        <a:t>They are prompted if they want to register as a Tutor or Tutee.</a:t>
                      </a:r>
                    </a:p>
                  </a:txBody>
                  <a:tcPr anchor="ctr"/>
                </a:tc>
                <a:tc>
                  <a:txBody>
                    <a:bodyPr/>
                    <a:lstStyle/>
                    <a:p>
                      <a:pPr marL="0" algn="l" rtl="0" eaLnBrk="1" latinLnBrk="0" hangingPunct="1">
                        <a:buNone/>
                      </a:pPr>
                      <a:r>
                        <a:rPr lang="en-US" sz="1400" kern="1200" dirty="0">
                          <a:solidFill>
                            <a:srgbClr val="000000"/>
                          </a:solidFill>
                          <a:effectLst/>
                        </a:rPr>
                        <a:t>Users should be given a valid authentication token, and should be shown the explore page</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Will later connect to a database for real login.</a:t>
                      </a:r>
                      <a:endParaRPr lang="en-US" dirty="0">
                        <a:effectLst/>
                      </a:endParaRPr>
                    </a:p>
                    <a:p>
                      <a:pPr marL="0" algn="l" rtl="0" eaLnBrk="1" latinLnBrk="0" hangingPunct="1">
                        <a:buNone/>
                      </a:pPr>
                      <a:r>
                        <a:rPr lang="en-US" sz="1400" kern="1200" dirty="0">
                          <a:solidFill>
                            <a:srgbClr val="000000"/>
                          </a:solidFill>
                          <a:effectLst/>
                        </a:rPr>
                        <a:t>May include 2FA, password recovery and email verification.</a:t>
                      </a:r>
                      <a:endParaRPr lang="en-US" dirty="0">
                        <a:effectLst/>
                      </a:endParaRPr>
                    </a:p>
                  </a:txBody>
                  <a:tcPr anchor="ctr"/>
                </a:tc>
                <a:extLst>
                  <a:ext uri="{0D108BD9-81ED-4DB2-BD59-A6C34878D82A}">
                    <a16:rowId xmlns:a16="http://schemas.microsoft.com/office/drawing/2014/main" val="3174006159"/>
                  </a:ext>
                </a:extLst>
              </a:tr>
              <a:tr h="751641">
                <a:tc>
                  <a:txBody>
                    <a:bodyPr/>
                    <a:lstStyle/>
                    <a:p>
                      <a:pPr marL="0" algn="l" rtl="0" eaLnBrk="1" latinLnBrk="0" hangingPunct="1">
                        <a:buNone/>
                      </a:pPr>
                      <a:r>
                        <a:rPr lang="en-US" sz="1400" kern="1200" dirty="0">
                          <a:solidFill>
                            <a:srgbClr val="000000"/>
                          </a:solidFill>
                          <a:effectLst/>
                        </a:rPr>
                        <a:t>Module Proficiencies</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Enable user to list the modules they are strong or weak in.</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Tutors can select from all the offered modules and indicate their proficiency level</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The website stores their selections and uses them for filtering and matching</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Can be expanded to indicate modules they are passionate about.</a:t>
                      </a:r>
                    </a:p>
                  </a:txBody>
                  <a:tcPr anchor="ctr"/>
                </a:tc>
                <a:extLst>
                  <a:ext uri="{0D108BD9-81ED-4DB2-BD59-A6C34878D82A}">
                    <a16:rowId xmlns:a16="http://schemas.microsoft.com/office/drawing/2014/main" val="4113322188"/>
                  </a:ext>
                </a:extLst>
              </a:tr>
              <a:tr h="1002187">
                <a:tc>
                  <a:txBody>
                    <a:bodyPr/>
                    <a:lstStyle/>
                    <a:p>
                      <a:pPr marL="0" algn="l" rtl="0" eaLnBrk="1" latinLnBrk="0" hangingPunct="1">
                        <a:buNone/>
                      </a:pPr>
                      <a:r>
                        <a:rPr lang="en-SG" sz="1400" kern="1200" dirty="0">
                          <a:solidFill>
                            <a:srgbClr val="000000"/>
                          </a:solidFill>
                          <a:effectLst/>
                        </a:rPr>
                        <a:t>Peer Matching System</a:t>
                      </a:r>
                      <a:endParaRPr lang="en-SG" dirty="0">
                        <a:effectLst/>
                      </a:endParaRPr>
                    </a:p>
                  </a:txBody>
                  <a:tcPr anchor="ctr"/>
                </a:tc>
                <a:tc>
                  <a:txBody>
                    <a:bodyPr/>
                    <a:lstStyle/>
                    <a:p>
                      <a:pPr marL="0" algn="l" rtl="0" eaLnBrk="1" latinLnBrk="0" hangingPunct="1">
                        <a:buNone/>
                      </a:pPr>
                      <a:r>
                        <a:rPr lang="en-US" sz="1400" kern="1200" dirty="0">
                          <a:solidFill>
                            <a:srgbClr val="000000"/>
                          </a:solidFill>
                          <a:effectLst/>
                        </a:rPr>
                        <a:t>Match students based on compatible strengths and weaknesses.</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The system will automatically filter and find compatible proficiencies when the dashboard page is loaded</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Matched peers are displayed with names, modules, and contact options. Users also can request a session with them</a:t>
                      </a:r>
                      <a:endParaRPr lang="en-US" dirty="0">
                        <a:effectLst/>
                      </a:endParaRPr>
                    </a:p>
                  </a:txBody>
                  <a:tcPr anchor="ctr"/>
                </a:tc>
                <a:tc>
                  <a:txBody>
                    <a:bodyPr/>
                    <a:lstStyle/>
                    <a:p>
                      <a:pPr marL="0" algn="l" rtl="0" eaLnBrk="1" latinLnBrk="0" hangingPunct="1">
                        <a:buNone/>
                      </a:pPr>
                      <a:r>
                        <a:rPr lang="en-SG" sz="1400" kern="1200" dirty="0">
                          <a:solidFill>
                            <a:srgbClr val="000000"/>
                          </a:solidFill>
                          <a:effectLst/>
                        </a:rPr>
                        <a:t>Can include "search by modules" section later on.</a:t>
                      </a:r>
                    </a:p>
                  </a:txBody>
                  <a:tcPr anchor="ctr"/>
                </a:tc>
                <a:extLst>
                  <a:ext uri="{0D108BD9-81ED-4DB2-BD59-A6C34878D82A}">
                    <a16:rowId xmlns:a16="http://schemas.microsoft.com/office/drawing/2014/main" val="2276329575"/>
                  </a:ext>
                </a:extLst>
              </a:tr>
              <a:tr h="789223">
                <a:tc>
                  <a:txBody>
                    <a:bodyPr/>
                    <a:lstStyle/>
                    <a:p>
                      <a:pPr marL="0" algn="l" rtl="0" eaLnBrk="1" latinLnBrk="0" hangingPunct="1">
                        <a:buNone/>
                      </a:pPr>
                      <a:r>
                        <a:rPr lang="en-US" sz="1400" kern="1200" dirty="0">
                          <a:solidFill>
                            <a:srgbClr val="000000"/>
                          </a:solidFill>
                          <a:effectLst/>
                        </a:rPr>
                        <a:t>Session Request Management</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Facilitate requesting of study sessions.</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Users select date, time, and duration for their peer-learning sessions</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Details of the request is sent to the recipient</a:t>
                      </a:r>
                      <a:endParaRPr lang="en-US" dirty="0">
                        <a:effectLst/>
                      </a:endParaRPr>
                    </a:p>
                  </a:txBody>
                  <a:tcPr anchor="ctr"/>
                </a:tc>
                <a:tc>
                  <a:txBody>
                    <a:bodyPr/>
                    <a:lstStyle/>
                    <a:p>
                      <a:pPr marL="0" algn="l" rtl="0" eaLnBrk="1" latinLnBrk="0" hangingPunct="1">
                        <a:buNone/>
                      </a:pPr>
                      <a:r>
                        <a:rPr lang="en-SG" sz="1400" kern="1200" dirty="0">
                          <a:solidFill>
                            <a:srgbClr val="000000"/>
                          </a:solidFill>
                          <a:effectLst/>
                        </a:rPr>
                        <a:t>Might include functionalities like reminders or auto-confirmation emails.</a:t>
                      </a:r>
                      <a:endParaRPr lang="en-SG" dirty="0">
                        <a:effectLst/>
                      </a:endParaRPr>
                    </a:p>
                  </a:txBody>
                  <a:tcPr anchor="ctr"/>
                </a:tc>
                <a:extLst>
                  <a:ext uri="{0D108BD9-81ED-4DB2-BD59-A6C34878D82A}">
                    <a16:rowId xmlns:a16="http://schemas.microsoft.com/office/drawing/2014/main" val="3723375563"/>
                  </a:ext>
                </a:extLst>
              </a:tr>
            </a:tbl>
          </a:graphicData>
        </a:graphic>
      </p:graphicFrame>
    </p:spTree>
    <p:extLst>
      <p:ext uri="{BB962C8B-B14F-4D97-AF65-F5344CB8AC3E}">
        <p14:creationId xmlns:p14="http://schemas.microsoft.com/office/powerpoint/2010/main" val="1190842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8B6A5-0B74-461B-570C-75629BA17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6753C-9C6E-545C-4D83-4642DC92DD55}"/>
              </a:ext>
            </a:extLst>
          </p:cNvPr>
          <p:cNvSpPr>
            <a:spLocks noGrp="1"/>
          </p:cNvSpPr>
          <p:nvPr>
            <p:ph type="title"/>
          </p:nvPr>
        </p:nvSpPr>
        <p:spPr>
          <a:xfrm>
            <a:off x="838200" y="-133106"/>
            <a:ext cx="10515600" cy="1325563"/>
          </a:xfrm>
        </p:spPr>
        <p:txBody>
          <a:bodyPr/>
          <a:lstStyle/>
          <a:p>
            <a:pPr lvl="0"/>
            <a:r>
              <a:rPr lang="en-US" b="1" dirty="0"/>
              <a:t>Proposed Features (3%)</a:t>
            </a:r>
            <a:endParaRPr lang="en-US" dirty="0"/>
          </a:p>
        </p:txBody>
      </p:sp>
      <p:sp>
        <p:nvSpPr>
          <p:cNvPr id="3" name="Content Placeholder 2">
            <a:extLst>
              <a:ext uri="{FF2B5EF4-FFF2-40B4-BE49-F238E27FC236}">
                <a16:creationId xmlns:a16="http://schemas.microsoft.com/office/drawing/2014/main" id="{10D0A913-9651-949B-BBE5-135D0CCB4A2E}"/>
              </a:ext>
            </a:extLst>
          </p:cNvPr>
          <p:cNvSpPr>
            <a:spLocks noGrp="1"/>
          </p:cNvSpPr>
          <p:nvPr>
            <p:ph idx="1"/>
          </p:nvPr>
        </p:nvSpPr>
        <p:spPr>
          <a:xfrm>
            <a:off x="838200" y="801688"/>
            <a:ext cx="10515600" cy="484621"/>
          </a:xfrm>
        </p:spPr>
        <p:txBody>
          <a:bodyPr/>
          <a:lstStyle/>
          <a:p>
            <a:pPr algn="just"/>
            <a:r>
              <a:rPr lang="en-US" dirty="0"/>
              <a:t>Outline the planned functionalities in detail.</a:t>
            </a:r>
          </a:p>
        </p:txBody>
      </p:sp>
      <p:graphicFrame>
        <p:nvGraphicFramePr>
          <p:cNvPr id="5" name="Table 4">
            <a:extLst>
              <a:ext uri="{FF2B5EF4-FFF2-40B4-BE49-F238E27FC236}">
                <a16:creationId xmlns:a16="http://schemas.microsoft.com/office/drawing/2014/main" id="{5D3275ED-AB9A-D19F-32A3-826C6EC3F6C3}"/>
              </a:ext>
            </a:extLst>
          </p:cNvPr>
          <p:cNvGraphicFramePr>
            <a:graphicFrameLocks noGrp="1"/>
          </p:cNvGraphicFramePr>
          <p:nvPr>
            <p:extLst>
              <p:ext uri="{D42A27DB-BD31-4B8C-83A1-F6EECF244321}">
                <p14:modId xmlns:p14="http://schemas.microsoft.com/office/powerpoint/2010/main" val="4008708037"/>
              </p:ext>
            </p:extLst>
          </p:nvPr>
        </p:nvGraphicFramePr>
        <p:xfrm>
          <a:off x="539750" y="1448357"/>
          <a:ext cx="11112500" cy="4404503"/>
        </p:xfrm>
        <a:graphic>
          <a:graphicData uri="http://schemas.openxmlformats.org/drawingml/2006/table">
            <a:tbl>
              <a:tblPr firstRow="1" bandRow="1">
                <a:tableStyleId>{5C22544A-7EE6-4342-B048-85BDC9FD1C3A}</a:tableStyleId>
              </a:tblPr>
              <a:tblGrid>
                <a:gridCol w="2222500">
                  <a:extLst>
                    <a:ext uri="{9D8B030D-6E8A-4147-A177-3AD203B41FA5}">
                      <a16:colId xmlns:a16="http://schemas.microsoft.com/office/drawing/2014/main" val="670349257"/>
                    </a:ext>
                  </a:extLst>
                </a:gridCol>
                <a:gridCol w="2387600">
                  <a:extLst>
                    <a:ext uri="{9D8B030D-6E8A-4147-A177-3AD203B41FA5}">
                      <a16:colId xmlns:a16="http://schemas.microsoft.com/office/drawing/2014/main" val="962207384"/>
                    </a:ext>
                  </a:extLst>
                </a:gridCol>
                <a:gridCol w="2057400">
                  <a:extLst>
                    <a:ext uri="{9D8B030D-6E8A-4147-A177-3AD203B41FA5}">
                      <a16:colId xmlns:a16="http://schemas.microsoft.com/office/drawing/2014/main" val="564306750"/>
                    </a:ext>
                  </a:extLst>
                </a:gridCol>
                <a:gridCol w="2413000">
                  <a:extLst>
                    <a:ext uri="{9D8B030D-6E8A-4147-A177-3AD203B41FA5}">
                      <a16:colId xmlns:a16="http://schemas.microsoft.com/office/drawing/2014/main" val="3396167077"/>
                    </a:ext>
                  </a:extLst>
                </a:gridCol>
                <a:gridCol w="2032000">
                  <a:extLst>
                    <a:ext uri="{9D8B030D-6E8A-4147-A177-3AD203B41FA5}">
                      <a16:colId xmlns:a16="http://schemas.microsoft.com/office/drawing/2014/main" val="3419448209"/>
                    </a:ext>
                  </a:extLst>
                </a:gridCol>
              </a:tblGrid>
              <a:tr h="669191">
                <a:tc>
                  <a:txBody>
                    <a:bodyPr/>
                    <a:lstStyle/>
                    <a:p>
                      <a:pPr marL="0" algn="l" rtl="0" eaLnBrk="1" latinLnBrk="0" hangingPunct="1">
                        <a:buNone/>
                      </a:pPr>
                      <a:r>
                        <a:rPr lang="en-US" sz="1400" kern="1200" dirty="0">
                          <a:solidFill>
                            <a:srgbClr val="FFFFFF"/>
                          </a:solidFill>
                          <a:effectLst/>
                        </a:rPr>
                        <a:t>Feature Name</a:t>
                      </a:r>
                      <a:endParaRPr lang="en-US" dirty="0">
                        <a:effectLst/>
                      </a:endParaRPr>
                    </a:p>
                  </a:txBody>
                  <a:tcPr anchor="ctr"/>
                </a:tc>
                <a:tc>
                  <a:txBody>
                    <a:bodyPr/>
                    <a:lstStyle/>
                    <a:p>
                      <a:pPr marL="0" algn="l" rtl="0" eaLnBrk="1" latinLnBrk="0" hangingPunct="1">
                        <a:buNone/>
                      </a:pPr>
                      <a:r>
                        <a:rPr lang="en-US" sz="1400" kern="1200" dirty="0">
                          <a:solidFill>
                            <a:srgbClr val="FFFFFF"/>
                          </a:solidFill>
                          <a:effectLst/>
                        </a:rPr>
                        <a:t>Description / Purpose</a:t>
                      </a:r>
                      <a:endParaRPr lang="en-US" dirty="0">
                        <a:effectLst/>
                      </a:endParaRPr>
                    </a:p>
                  </a:txBody>
                  <a:tcPr anchor="ctr"/>
                </a:tc>
                <a:tc>
                  <a:txBody>
                    <a:bodyPr/>
                    <a:lstStyle/>
                    <a:p>
                      <a:pPr marL="0" algn="l" rtl="0" eaLnBrk="1" latinLnBrk="0" hangingPunct="1">
                        <a:buNone/>
                      </a:pPr>
                      <a:r>
                        <a:rPr lang="en-US" sz="1400" kern="1200" dirty="0">
                          <a:solidFill>
                            <a:srgbClr val="FFFFFF"/>
                          </a:solidFill>
                          <a:effectLst/>
                        </a:rPr>
                        <a:t>User Actions / What It Does</a:t>
                      </a:r>
                      <a:endParaRPr lang="en-US" dirty="0">
                        <a:effectLst/>
                      </a:endParaRPr>
                    </a:p>
                  </a:txBody>
                  <a:tcPr anchor="ctr"/>
                </a:tc>
                <a:tc>
                  <a:txBody>
                    <a:bodyPr/>
                    <a:lstStyle/>
                    <a:p>
                      <a:pPr marL="0" algn="l" rtl="0" eaLnBrk="1" latinLnBrk="0" hangingPunct="1">
                        <a:buNone/>
                      </a:pPr>
                      <a:r>
                        <a:rPr lang="en-US" sz="1400" kern="1200" dirty="0">
                          <a:solidFill>
                            <a:srgbClr val="FFFFFF"/>
                          </a:solidFill>
                          <a:effectLst/>
                        </a:rPr>
                        <a:t>Expected Outcome / Display</a:t>
                      </a:r>
                      <a:endParaRPr lang="en-US" dirty="0">
                        <a:effectLst/>
                      </a:endParaRPr>
                    </a:p>
                  </a:txBody>
                  <a:tcPr anchor="ctr"/>
                </a:tc>
                <a:tc>
                  <a:txBody>
                    <a:bodyPr/>
                    <a:lstStyle/>
                    <a:p>
                      <a:pPr marL="0" algn="l" rtl="0" eaLnBrk="1" latinLnBrk="0" hangingPunct="1">
                        <a:buNone/>
                      </a:pPr>
                      <a:r>
                        <a:rPr lang="en-US" sz="1400" kern="1200" dirty="0">
                          <a:solidFill>
                            <a:srgbClr val="FFFFFF"/>
                          </a:solidFill>
                          <a:effectLst/>
                        </a:rPr>
                        <a:t>Notes / Future Plans</a:t>
                      </a:r>
                      <a:endParaRPr lang="en-US" dirty="0">
                        <a:effectLst/>
                      </a:endParaRPr>
                    </a:p>
                  </a:txBody>
                  <a:tcPr anchor="ctr"/>
                </a:tc>
                <a:extLst>
                  <a:ext uri="{0D108BD9-81ED-4DB2-BD59-A6C34878D82A}">
                    <a16:rowId xmlns:a16="http://schemas.microsoft.com/office/drawing/2014/main" val="3458858268"/>
                  </a:ext>
                </a:extLst>
              </a:tr>
              <a:tr h="1326218">
                <a:tc>
                  <a:txBody>
                    <a:bodyPr/>
                    <a:lstStyle/>
                    <a:p>
                      <a:pPr marL="0" algn="l" rtl="0" eaLnBrk="1" latinLnBrk="0" hangingPunct="1">
                        <a:buNone/>
                      </a:pPr>
                      <a:r>
                        <a:rPr lang="en-US" sz="1400" kern="1200" dirty="0">
                          <a:solidFill>
                            <a:srgbClr val="000000"/>
                          </a:solidFill>
                          <a:effectLst/>
                        </a:rPr>
                        <a:t>Session termination</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Allow users to end an existing session if they no longer need it (</a:t>
                      </a:r>
                      <a:r>
                        <a:rPr lang="en-US" sz="1400" kern="1200" dirty="0" err="1">
                          <a:solidFill>
                            <a:srgbClr val="000000"/>
                          </a:solidFill>
                          <a:effectLst/>
                        </a:rPr>
                        <a:t>e.g</a:t>
                      </a:r>
                      <a:r>
                        <a:rPr lang="en-US" sz="1400" kern="1200" dirty="0">
                          <a:solidFill>
                            <a:srgbClr val="000000"/>
                          </a:solidFill>
                          <a:effectLst/>
                        </a:rPr>
                        <a:t> end of module, confident enough to continue without help).</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Users clicks a button to end session</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Session ends and is deleted from the website</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May archive to be used for algorithmic changes in AI Recommendation service.</a:t>
                      </a:r>
                    </a:p>
                  </a:txBody>
                  <a:tcPr anchor="ctr"/>
                </a:tc>
                <a:extLst>
                  <a:ext uri="{0D108BD9-81ED-4DB2-BD59-A6C34878D82A}">
                    <a16:rowId xmlns:a16="http://schemas.microsoft.com/office/drawing/2014/main" val="1112834240"/>
                  </a:ext>
                </a:extLst>
              </a:tr>
              <a:tr h="1326218">
                <a:tc>
                  <a:txBody>
                    <a:bodyPr/>
                    <a:lstStyle/>
                    <a:p>
                      <a:pPr marL="0" algn="l" rtl="0" eaLnBrk="1" latinLnBrk="0" hangingPunct="1">
                        <a:buNone/>
                      </a:pPr>
                      <a:r>
                        <a:rPr lang="en-US" sz="1400" kern="1200" dirty="0">
                          <a:solidFill>
                            <a:srgbClr val="000000"/>
                          </a:solidFill>
                          <a:effectLst/>
                        </a:rPr>
                        <a:t>Rating</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Enable learners to rate their peer tutor’s teaching. The higher the rating, the better the teaching is, leading to higher credibility.</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Users can select a rating from 1 to 5 after the end of a session</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The website stores their selections, averages all previous ratings and displays them on the tutor’s profile, where other learners can see</a:t>
                      </a:r>
                      <a:endParaRPr lang="en-US" dirty="0">
                        <a:effectLst/>
                      </a:endParaRPr>
                    </a:p>
                  </a:txBody>
                  <a:tcPr anchor="ctr"/>
                </a:tc>
                <a:tc>
                  <a:txBody>
                    <a:bodyPr/>
                    <a:lstStyle/>
                    <a:p>
                      <a:pPr marL="0" algn="l" rtl="0" eaLnBrk="1" latinLnBrk="0" hangingPunct="1">
                        <a:buNone/>
                      </a:pPr>
                      <a:r>
                        <a:rPr lang="en-US" sz="1400" kern="1200" dirty="0">
                          <a:solidFill>
                            <a:srgbClr val="000000"/>
                          </a:solidFill>
                          <a:effectLst/>
                        </a:rPr>
                        <a:t>Rating is optional but recommended for learners. May allow for form field feedback later on.</a:t>
                      </a:r>
                      <a:endParaRPr lang="en-US" dirty="0">
                        <a:effectLst/>
                      </a:endParaRPr>
                    </a:p>
                  </a:txBody>
                  <a:tcPr anchor="ctr"/>
                </a:tc>
                <a:extLst>
                  <a:ext uri="{0D108BD9-81ED-4DB2-BD59-A6C34878D82A}">
                    <a16:rowId xmlns:a16="http://schemas.microsoft.com/office/drawing/2014/main" val="989236656"/>
                  </a:ext>
                </a:extLst>
              </a:tr>
              <a:tr h="1082876">
                <a:tc>
                  <a:txBody>
                    <a:bodyPr/>
                    <a:lstStyle/>
                    <a:p>
                      <a:pPr marL="0" lvl="0" algn="l" rtl="0">
                        <a:buNone/>
                      </a:pPr>
                      <a:r>
                        <a:rPr lang="en-SG" sz="1400" kern="1200" dirty="0">
                          <a:solidFill>
                            <a:srgbClr val="000000"/>
                          </a:solidFill>
                          <a:effectLst/>
                        </a:rPr>
                        <a:t>AI Recommendation Service (additional feature)</a:t>
                      </a:r>
                      <a:endParaRPr lang="en-SG">
                        <a:effectLst/>
                      </a:endParaRPr>
                    </a:p>
                  </a:txBody>
                  <a:tcPr anchor="ctr"/>
                </a:tc>
                <a:tc>
                  <a:txBody>
                    <a:bodyPr/>
                    <a:lstStyle/>
                    <a:p>
                      <a:pPr marL="0" lvl="0" algn="l" rtl="0">
                        <a:buNone/>
                      </a:pPr>
                      <a:r>
                        <a:rPr lang="en-US" sz="1400" kern="1200" dirty="0">
                          <a:solidFill>
                            <a:srgbClr val="000000"/>
                          </a:solidFill>
                          <a:effectLst/>
                        </a:rPr>
                        <a:t>Provides tutors that tutees may be interested in based on past tutors they have paired with.</a:t>
                      </a:r>
                    </a:p>
                  </a:txBody>
                  <a:tcPr anchor="ctr"/>
                </a:tc>
                <a:tc>
                  <a:txBody>
                    <a:bodyPr/>
                    <a:lstStyle/>
                    <a:p>
                      <a:pPr marL="0" lvl="0" algn="l">
                        <a:buNone/>
                      </a:pPr>
                      <a:r>
                        <a:rPr lang="en-US" sz="1400" kern="1200" dirty="0">
                          <a:solidFill>
                            <a:srgbClr val="000000"/>
                          </a:solidFill>
                          <a:effectLst/>
                        </a:rPr>
                        <a:t>Tutees can see "recommended" tutors based on ratings they have given past tutors</a:t>
                      </a:r>
                      <a:endParaRPr lang="en-US" dirty="0"/>
                    </a:p>
                  </a:txBody>
                  <a:tcPr anchor="ctr"/>
                </a:tc>
                <a:tc>
                  <a:txBody>
                    <a:bodyPr/>
                    <a:lstStyle/>
                    <a:p>
                      <a:pPr marL="0" lvl="0" algn="l">
                        <a:buNone/>
                      </a:pPr>
                      <a:r>
                        <a:rPr lang="en-US" sz="1400" kern="1200" dirty="0">
                          <a:solidFill>
                            <a:srgbClr val="000000"/>
                          </a:solidFill>
                          <a:effectLst/>
                        </a:rPr>
                        <a:t>"Recommended tutors" section on dashboard</a:t>
                      </a:r>
                      <a:endParaRPr lang="en-US" dirty="0"/>
                    </a:p>
                  </a:txBody>
                  <a:tcPr anchor="ctr"/>
                </a:tc>
                <a:tc>
                  <a:txBody>
                    <a:bodyPr/>
                    <a:lstStyle/>
                    <a:p>
                      <a:pPr marL="0" lvl="0" algn="l" rtl="0">
                        <a:buNone/>
                      </a:pPr>
                      <a:r>
                        <a:rPr lang="en-US" sz="1400" kern="1200" dirty="0">
                          <a:solidFill>
                            <a:srgbClr val="000000"/>
                          </a:solidFill>
                          <a:effectLst/>
                        </a:rPr>
                        <a:t>May expand to recommend study places in TP later on for sessions.</a:t>
                      </a:r>
                    </a:p>
                  </a:txBody>
                  <a:tcPr anchor="ctr"/>
                </a:tc>
                <a:extLst>
                  <a:ext uri="{0D108BD9-81ED-4DB2-BD59-A6C34878D82A}">
                    <a16:rowId xmlns:a16="http://schemas.microsoft.com/office/drawing/2014/main" val="4108458385"/>
                  </a:ext>
                </a:extLst>
              </a:tr>
            </a:tbl>
          </a:graphicData>
        </a:graphic>
      </p:graphicFrame>
    </p:spTree>
    <p:extLst>
      <p:ext uri="{BB962C8B-B14F-4D97-AF65-F5344CB8AC3E}">
        <p14:creationId xmlns:p14="http://schemas.microsoft.com/office/powerpoint/2010/main" val="2448761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3AE4F-9C69-5CA8-1960-C0B0060EE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DA9D7-0DA0-475B-60AB-8F6F0DAA3946}"/>
              </a:ext>
            </a:extLst>
          </p:cNvPr>
          <p:cNvSpPr>
            <a:spLocks noGrp="1"/>
          </p:cNvSpPr>
          <p:nvPr>
            <p:ph type="title"/>
          </p:nvPr>
        </p:nvSpPr>
        <p:spPr>
          <a:xfrm>
            <a:off x="838200" y="-111125"/>
            <a:ext cx="10515600" cy="1325563"/>
          </a:xfrm>
        </p:spPr>
        <p:txBody>
          <a:bodyPr/>
          <a:lstStyle/>
          <a:p>
            <a:pPr lvl="0"/>
            <a:r>
              <a:rPr lang="en-US" b="1" dirty="0"/>
              <a:t>Wireframe (5%)</a:t>
            </a:r>
            <a:endParaRPr lang="en-US" dirty="0"/>
          </a:p>
        </p:txBody>
      </p:sp>
      <p:pic>
        <p:nvPicPr>
          <p:cNvPr id="7" name="Picture 6">
            <a:extLst>
              <a:ext uri="{FF2B5EF4-FFF2-40B4-BE49-F238E27FC236}">
                <a16:creationId xmlns:a16="http://schemas.microsoft.com/office/drawing/2014/main" id="{FC14D8E4-299B-5DA1-A0F7-A9B19FD77C39}"/>
              </a:ext>
            </a:extLst>
          </p:cNvPr>
          <p:cNvPicPr>
            <a:picLocks noChangeAspect="1"/>
          </p:cNvPicPr>
          <p:nvPr/>
        </p:nvPicPr>
        <p:blipFill>
          <a:blip r:embed="rId2"/>
          <a:stretch>
            <a:fillRect/>
          </a:stretch>
        </p:blipFill>
        <p:spPr>
          <a:xfrm>
            <a:off x="532668" y="829420"/>
            <a:ext cx="11094056" cy="3252360"/>
          </a:xfrm>
          <a:prstGeom prst="rect">
            <a:avLst/>
          </a:prstGeom>
        </p:spPr>
      </p:pic>
      <p:graphicFrame>
        <p:nvGraphicFramePr>
          <p:cNvPr id="4" name="Table 3">
            <a:extLst>
              <a:ext uri="{FF2B5EF4-FFF2-40B4-BE49-F238E27FC236}">
                <a16:creationId xmlns:a16="http://schemas.microsoft.com/office/drawing/2014/main" id="{A200FBEB-92F4-A49E-DAE5-B090689B4762}"/>
              </a:ext>
            </a:extLst>
          </p:cNvPr>
          <p:cNvGraphicFramePr>
            <a:graphicFrameLocks noGrp="1"/>
          </p:cNvGraphicFramePr>
          <p:nvPr>
            <p:extLst>
              <p:ext uri="{D42A27DB-BD31-4B8C-83A1-F6EECF244321}">
                <p14:modId xmlns:p14="http://schemas.microsoft.com/office/powerpoint/2010/main" val="3805369496"/>
              </p:ext>
            </p:extLst>
          </p:nvPr>
        </p:nvGraphicFramePr>
        <p:xfrm>
          <a:off x="839828" y="4170250"/>
          <a:ext cx="10515599" cy="1584960"/>
        </p:xfrm>
        <a:graphic>
          <a:graphicData uri="http://schemas.openxmlformats.org/drawingml/2006/table">
            <a:tbl>
              <a:tblPr firstRow="1" firstCol="1" bandRow="1">
                <a:tableStyleId>{2D5ABB26-0587-4C30-8999-92F81FD0307C}</a:tableStyleId>
              </a:tblPr>
              <a:tblGrid>
                <a:gridCol w="2582333">
                  <a:extLst>
                    <a:ext uri="{9D8B030D-6E8A-4147-A177-3AD203B41FA5}">
                      <a16:colId xmlns:a16="http://schemas.microsoft.com/office/drawing/2014/main" val="2005089323"/>
                    </a:ext>
                  </a:extLst>
                </a:gridCol>
                <a:gridCol w="7933266">
                  <a:extLst>
                    <a:ext uri="{9D8B030D-6E8A-4147-A177-3AD203B41FA5}">
                      <a16:colId xmlns:a16="http://schemas.microsoft.com/office/drawing/2014/main" val="5102038"/>
                    </a:ext>
                  </a:extLst>
                </a:gridCol>
              </a:tblGrid>
              <a:tr h="583692">
                <a:tc>
                  <a:txBody>
                    <a:bodyPr/>
                    <a:lstStyle/>
                    <a:p>
                      <a:pPr marL="0" algn="l" rtl="0" eaLnBrk="1" latinLnBrk="0" hangingPunct="1">
                        <a:spcBef>
                          <a:spcPts val="600"/>
                        </a:spcBef>
                        <a:spcAft>
                          <a:spcPts val="600"/>
                        </a:spcAft>
                        <a:buNone/>
                      </a:pPr>
                      <a:r>
                        <a:rPr lang="en-SG" sz="1800" kern="1200" dirty="0">
                          <a:solidFill>
                            <a:srgbClr val="000000"/>
                          </a:solidFill>
                          <a:effectLst/>
                        </a:rPr>
                        <a:t>Design Link</a:t>
                      </a:r>
                    </a:p>
                    <a:p>
                      <a:pPr marL="0" lvl="0" algn="l">
                        <a:spcBef>
                          <a:spcPts val="600"/>
                        </a:spcBef>
                        <a:spcAft>
                          <a:spcPts val="600"/>
                        </a:spcAft>
                        <a:buNone/>
                      </a:pPr>
                      <a:r>
                        <a:rPr lang="en-SG" sz="1800" kern="1200" dirty="0">
                          <a:solidFill>
                            <a:srgbClr val="000000"/>
                          </a:solidFill>
                          <a:effectLst/>
                        </a:rPr>
                        <a:t>(</a:t>
                      </a:r>
                      <a:r>
                        <a:rPr lang="en-SG" sz="1800" b="1" kern="1200" dirty="0">
                          <a:solidFill>
                            <a:srgbClr val="000000"/>
                          </a:solidFill>
                          <a:effectLst/>
                        </a:rPr>
                        <a:t>"Wireframe"</a:t>
                      </a:r>
                      <a:r>
                        <a:rPr lang="en-SG" sz="1800" kern="1200" dirty="0">
                          <a:solidFill>
                            <a:srgbClr val="000000"/>
                          </a:solidFill>
                          <a:effectLst/>
                        </a:rPr>
                        <a:t> Page)</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tc>
                  <a:txBody>
                    <a:bodyPr/>
                    <a:lstStyle/>
                    <a:p>
                      <a:pPr marL="0" lvl="0" algn="l">
                        <a:spcBef>
                          <a:spcPts val="600"/>
                        </a:spcBef>
                        <a:spcAft>
                          <a:spcPts val="600"/>
                        </a:spcAft>
                        <a:buNone/>
                      </a:pPr>
                      <a:r>
                        <a:rPr lang="en-SG" sz="1800" b="0" i="0" u="none" strike="noStrike" kern="1200" noProof="0" dirty="0">
                          <a:solidFill>
                            <a:srgbClr val="000000"/>
                          </a:solidFill>
                          <a:effectLst/>
                          <a:latin typeface="Calibri"/>
                        </a:rPr>
                        <a:t>https://www.figma.com/proto/iiq68b6uDBuFMC139qv5Va/FWEB-Wireframe?node-id=2036-218&amp;t=3kNNesetGv03bJRD-1</a:t>
                      </a:r>
                      <a:endParaRPr lang="en-US" dirty="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7787520"/>
                  </a:ext>
                </a:extLst>
              </a:tr>
              <a:tr h="583692">
                <a:tc>
                  <a:txBody>
                    <a:bodyPr/>
                    <a:lstStyle/>
                    <a:p>
                      <a:pPr marL="0" lvl="0" algn="l">
                        <a:spcBef>
                          <a:spcPts val="600"/>
                        </a:spcBef>
                        <a:spcAft>
                          <a:spcPts val="600"/>
                        </a:spcAft>
                        <a:buNone/>
                      </a:pPr>
                      <a:r>
                        <a:rPr lang="en-SG" sz="1800" kern="1200" dirty="0">
                          <a:solidFill>
                            <a:srgbClr val="000000"/>
                          </a:solidFill>
                          <a:effectLst/>
                        </a:rPr>
                        <a:t>Dev Mode</a:t>
                      </a:r>
                    </a:p>
                    <a:p>
                      <a:pPr marL="0" lvl="0" algn="l">
                        <a:spcBef>
                          <a:spcPts val="600"/>
                        </a:spcBef>
                        <a:spcAft>
                          <a:spcPts val="600"/>
                        </a:spcAft>
                        <a:buNone/>
                      </a:pPr>
                      <a:r>
                        <a:rPr lang="en-SG" sz="1800" b="0" i="0" u="none" strike="noStrike" kern="1200" noProof="0" dirty="0">
                          <a:solidFill>
                            <a:srgbClr val="000000"/>
                          </a:solidFill>
                          <a:effectLst/>
                          <a:latin typeface="Calibri"/>
                        </a:rPr>
                        <a:t>(</a:t>
                      </a:r>
                      <a:r>
                        <a:rPr lang="en-SG" sz="1800" b="1" i="0" u="none" strike="noStrike" kern="1200" noProof="0" dirty="0">
                          <a:solidFill>
                            <a:srgbClr val="000000"/>
                          </a:solidFill>
                          <a:effectLst/>
                          <a:latin typeface="Calibri"/>
                        </a:rPr>
                        <a:t>"Wireframe"</a:t>
                      </a:r>
                      <a:r>
                        <a:rPr lang="en-SG" sz="1800" b="0" i="0" u="none" strike="noStrike" kern="1200" noProof="0" dirty="0">
                          <a:solidFill>
                            <a:srgbClr val="000000"/>
                          </a:solidFill>
                          <a:effectLst/>
                          <a:latin typeface="Calibri"/>
                        </a:rPr>
                        <a:t> Page)</a:t>
                      </a:r>
                      <a:endParaRPr lang="en-SG" dirty="0"/>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0" lvl="0" algn="l">
                        <a:spcBef>
                          <a:spcPts val="600"/>
                        </a:spcBef>
                        <a:spcAft>
                          <a:spcPts val="600"/>
                        </a:spcAft>
                        <a:buNone/>
                      </a:pPr>
                      <a:r>
                        <a:rPr lang="en-SG" sz="1800" b="0" i="0" u="none" strike="noStrike" kern="1200" noProof="0" dirty="0">
                          <a:solidFill>
                            <a:srgbClr val="000000"/>
                          </a:solidFill>
                          <a:effectLst/>
                        </a:rPr>
                        <a:t>https://www.figma.com/design/iiq68b6uDBuFMC139qv5Va/FWEB-Wireframe?node-id=2036-218&amp;m=dev&amp;t=3kNNesetGv03bJRD-1</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510360629"/>
                  </a:ext>
                </a:extLst>
              </a:tr>
            </a:tbl>
          </a:graphicData>
        </a:graphic>
      </p:graphicFrame>
    </p:spTree>
    <p:extLst>
      <p:ext uri="{BB962C8B-B14F-4D97-AF65-F5344CB8AC3E}">
        <p14:creationId xmlns:p14="http://schemas.microsoft.com/office/powerpoint/2010/main" val="3659370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CD14D-4CF5-18B8-F837-17A4AFA7E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4748A-D343-3DEC-3D11-FB826E9C59E5}"/>
              </a:ext>
            </a:extLst>
          </p:cNvPr>
          <p:cNvSpPr>
            <a:spLocks noGrp="1"/>
          </p:cNvSpPr>
          <p:nvPr>
            <p:ph type="title"/>
          </p:nvPr>
        </p:nvSpPr>
        <p:spPr>
          <a:xfrm>
            <a:off x="838200" y="-190500"/>
            <a:ext cx="10515600" cy="1325563"/>
          </a:xfrm>
        </p:spPr>
        <p:txBody>
          <a:bodyPr/>
          <a:lstStyle/>
          <a:p>
            <a:pPr lvl="0"/>
            <a:r>
              <a:rPr lang="en-US" b="1" dirty="0"/>
              <a:t>Wireframe (5%)</a:t>
            </a:r>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D59C12CC-45A3-3202-4CB7-58E6505EEA5A}"/>
              </a:ext>
            </a:extLst>
          </p:cNvPr>
          <p:cNvPicPr>
            <a:picLocks noGrp="1" noChangeAspect="1"/>
          </p:cNvPicPr>
          <p:nvPr>
            <p:ph idx="1"/>
          </p:nvPr>
        </p:nvPicPr>
        <p:blipFill>
          <a:blip r:embed="rId2"/>
          <a:srcRect l="10311" r="10311" b="-1533"/>
          <a:stretch>
            <a:fillRect/>
          </a:stretch>
        </p:blipFill>
        <p:spPr>
          <a:xfrm>
            <a:off x="701843" y="798527"/>
            <a:ext cx="6529403" cy="5432476"/>
          </a:xfrm>
          <a:prstGeom prst="rect">
            <a:avLst/>
          </a:prstGeom>
        </p:spPr>
      </p:pic>
      <p:sp>
        <p:nvSpPr>
          <p:cNvPr id="4" name="TextBox 3">
            <a:extLst>
              <a:ext uri="{FF2B5EF4-FFF2-40B4-BE49-F238E27FC236}">
                <a16:creationId xmlns:a16="http://schemas.microsoft.com/office/drawing/2014/main" id="{ED5C3EF0-BEAB-A451-B6CF-EC568DCD5AA3}"/>
              </a:ext>
            </a:extLst>
          </p:cNvPr>
          <p:cNvSpPr txBox="1"/>
          <p:nvPr/>
        </p:nvSpPr>
        <p:spPr>
          <a:xfrm>
            <a:off x="4534429" y="318059"/>
            <a:ext cx="4150945" cy="492443"/>
          </a:xfrm>
          <a:prstGeom prst="rect">
            <a:avLst/>
          </a:prstGeom>
          <a:noFill/>
        </p:spPr>
        <p:txBody>
          <a:bodyPr wrap="none" lIns="91440" tIns="45720" rIns="91440" bIns="45720" rtlCol="0" anchor="t">
            <a:spAutoFit/>
          </a:bodyPr>
          <a:lstStyle/>
          <a:p>
            <a:r>
              <a:rPr lang="en-US" sz="1300" b="1" dirty="0">
                <a:solidFill>
                  <a:srgbClr val="FF0000"/>
                </a:solidFill>
              </a:rPr>
              <a:t>Page 1 (Home Page)</a:t>
            </a:r>
          </a:p>
          <a:p>
            <a:r>
              <a:rPr lang="en-US" sz="1300" b="1" dirty="0">
                <a:solidFill>
                  <a:srgbClr val="FF0000"/>
                </a:solidFill>
                <a:ea typeface="Calibri"/>
                <a:cs typeface="Calibri"/>
              </a:rPr>
              <a:t>Note: Designs have been cropped to remove white space.</a:t>
            </a:r>
          </a:p>
        </p:txBody>
      </p:sp>
      <p:sp>
        <p:nvSpPr>
          <p:cNvPr id="3" name="TextBox 2">
            <a:extLst>
              <a:ext uri="{FF2B5EF4-FFF2-40B4-BE49-F238E27FC236}">
                <a16:creationId xmlns:a16="http://schemas.microsoft.com/office/drawing/2014/main" id="{F942741F-F1E7-21EB-DFE7-DBF74CB9C9B5}"/>
              </a:ext>
            </a:extLst>
          </p:cNvPr>
          <p:cNvSpPr txBox="1"/>
          <p:nvPr/>
        </p:nvSpPr>
        <p:spPr>
          <a:xfrm>
            <a:off x="7588250" y="1651000"/>
            <a:ext cx="357716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Description:</a:t>
            </a:r>
            <a:br>
              <a:rPr lang="en-US" dirty="0">
                <a:ea typeface="Calibri"/>
                <a:cs typeface="Calibri"/>
              </a:rPr>
            </a:br>
            <a:r>
              <a:rPr lang="en-US" dirty="0">
                <a:ea typeface="Calibri"/>
                <a:cs typeface="Calibri"/>
              </a:rPr>
              <a:t>This page shows the dashboard of a user (tutee &amp; tutor is not separated by type). It will show things like upcoming session, recommended tutors via AI recommendation as well as quick stats.</a:t>
            </a:r>
          </a:p>
        </p:txBody>
      </p:sp>
    </p:spTree>
    <p:extLst>
      <p:ext uri="{BB962C8B-B14F-4D97-AF65-F5344CB8AC3E}">
        <p14:creationId xmlns:p14="http://schemas.microsoft.com/office/powerpoint/2010/main" val="3059070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64176-83FF-2E4C-95EB-CA3B383BC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F7767-941D-95A3-1EB8-ED700F47EB14}"/>
              </a:ext>
            </a:extLst>
          </p:cNvPr>
          <p:cNvSpPr>
            <a:spLocks noGrp="1"/>
          </p:cNvSpPr>
          <p:nvPr>
            <p:ph type="title"/>
          </p:nvPr>
        </p:nvSpPr>
        <p:spPr>
          <a:xfrm>
            <a:off x="838200" y="-202712"/>
            <a:ext cx="10515600" cy="1325563"/>
          </a:xfrm>
        </p:spPr>
        <p:txBody>
          <a:bodyPr/>
          <a:lstStyle/>
          <a:p>
            <a:pPr lvl="0"/>
            <a:r>
              <a:rPr lang="en-US" b="1" dirty="0"/>
              <a:t>Wireframe (5%)</a:t>
            </a:r>
            <a:endParaRPr lang="en-US" dirty="0"/>
          </a:p>
        </p:txBody>
      </p:sp>
      <p:sp>
        <p:nvSpPr>
          <p:cNvPr id="4" name="TextBox 3">
            <a:extLst>
              <a:ext uri="{FF2B5EF4-FFF2-40B4-BE49-F238E27FC236}">
                <a16:creationId xmlns:a16="http://schemas.microsoft.com/office/drawing/2014/main" id="{D330CF70-6D99-A3AF-7EEC-2228C3439ED6}"/>
              </a:ext>
            </a:extLst>
          </p:cNvPr>
          <p:cNvSpPr txBox="1"/>
          <p:nvPr/>
        </p:nvSpPr>
        <p:spPr>
          <a:xfrm>
            <a:off x="4674454" y="210597"/>
            <a:ext cx="4157357" cy="492443"/>
          </a:xfrm>
          <a:prstGeom prst="rect">
            <a:avLst/>
          </a:prstGeom>
          <a:noFill/>
        </p:spPr>
        <p:txBody>
          <a:bodyPr wrap="none" lIns="91440" tIns="45720" rIns="91440" bIns="45720" rtlCol="0" anchor="t">
            <a:spAutoFit/>
          </a:bodyPr>
          <a:lstStyle/>
          <a:p>
            <a:r>
              <a:rPr lang="en-US" sz="1300" b="1" dirty="0">
                <a:solidFill>
                  <a:srgbClr val="FF0000"/>
                </a:solidFill>
              </a:rPr>
              <a:t>Page 2 (Find Tutors Page)</a:t>
            </a:r>
            <a:endParaRPr lang="en-US" sz="1300" dirty="0">
              <a:solidFill>
                <a:srgbClr val="000000"/>
              </a:solidFill>
              <a:ea typeface="Calibri"/>
              <a:cs typeface="Calibri"/>
            </a:endParaRPr>
          </a:p>
          <a:p>
            <a:r>
              <a:rPr lang="en-US" sz="1300" b="1" dirty="0">
                <a:solidFill>
                  <a:srgbClr val="FF0000"/>
                </a:solidFill>
                <a:ea typeface="Calibri"/>
                <a:cs typeface="Calibri"/>
              </a:rPr>
              <a:t>Note: Designs have been cropped to remove white space.</a:t>
            </a:r>
            <a:endParaRPr lang="en-US" dirty="0"/>
          </a:p>
        </p:txBody>
      </p:sp>
      <p:pic>
        <p:nvPicPr>
          <p:cNvPr id="8" name="Picture 7" descr="A screenshot of a test&#10;&#10;AI-generated content may be incorrect.">
            <a:extLst>
              <a:ext uri="{FF2B5EF4-FFF2-40B4-BE49-F238E27FC236}">
                <a16:creationId xmlns:a16="http://schemas.microsoft.com/office/drawing/2014/main" id="{DC85B783-2F2F-2E0B-1326-D6C55AA847F4}"/>
              </a:ext>
            </a:extLst>
          </p:cNvPr>
          <p:cNvPicPr>
            <a:picLocks noChangeAspect="1"/>
          </p:cNvPicPr>
          <p:nvPr/>
        </p:nvPicPr>
        <p:blipFill>
          <a:blip r:embed="rId2"/>
          <a:srcRect l="16999" r="14791" b="7857"/>
          <a:stretch>
            <a:fillRect/>
          </a:stretch>
        </p:blipFill>
        <p:spPr>
          <a:xfrm>
            <a:off x="835106" y="796192"/>
            <a:ext cx="6457987" cy="5451362"/>
          </a:xfrm>
          <a:prstGeom prst="rect">
            <a:avLst/>
          </a:prstGeom>
        </p:spPr>
      </p:pic>
      <p:sp>
        <p:nvSpPr>
          <p:cNvPr id="10" name="TextBox 9">
            <a:extLst>
              <a:ext uri="{FF2B5EF4-FFF2-40B4-BE49-F238E27FC236}">
                <a16:creationId xmlns:a16="http://schemas.microsoft.com/office/drawing/2014/main" id="{F1305C04-ED0E-1D9E-A07A-E3C217B01B6C}"/>
              </a:ext>
            </a:extLst>
          </p:cNvPr>
          <p:cNvSpPr txBox="1"/>
          <p:nvPr/>
        </p:nvSpPr>
        <p:spPr>
          <a:xfrm>
            <a:off x="7588250" y="1651000"/>
            <a:ext cx="357716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Description:</a:t>
            </a:r>
            <a:br>
              <a:rPr lang="en-US" dirty="0">
                <a:ea typeface="Calibri"/>
                <a:cs typeface="Calibri"/>
              </a:rPr>
            </a:br>
            <a:r>
              <a:rPr lang="en-US" dirty="0">
                <a:ea typeface="Calibri"/>
                <a:cs typeface="Calibri"/>
              </a:rPr>
              <a:t>This page shows the "Find Tutors" page. It will show topics or modules that users are proficient in. It will also show the ratings and information about the student, such as their Year of Study and Average Reviews.</a:t>
            </a:r>
          </a:p>
        </p:txBody>
      </p:sp>
    </p:spTree>
    <p:extLst>
      <p:ext uri="{BB962C8B-B14F-4D97-AF65-F5344CB8AC3E}">
        <p14:creationId xmlns:p14="http://schemas.microsoft.com/office/powerpoint/2010/main" val="36076714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AD64D-B344-AAB3-E788-0E9BA64C8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8C76D-503C-C690-5558-F020A1334339}"/>
              </a:ext>
            </a:extLst>
          </p:cNvPr>
          <p:cNvSpPr>
            <a:spLocks noGrp="1"/>
          </p:cNvSpPr>
          <p:nvPr>
            <p:ph type="title"/>
          </p:nvPr>
        </p:nvSpPr>
        <p:spPr>
          <a:xfrm>
            <a:off x="838200" y="-202712"/>
            <a:ext cx="10515600" cy="1325563"/>
          </a:xfrm>
        </p:spPr>
        <p:txBody>
          <a:bodyPr/>
          <a:lstStyle/>
          <a:p>
            <a:pPr lvl="0"/>
            <a:r>
              <a:rPr lang="en-US" b="1" dirty="0"/>
              <a:t>Wireframe (5%)</a:t>
            </a:r>
            <a:endParaRPr lang="en-US" dirty="0"/>
          </a:p>
        </p:txBody>
      </p:sp>
      <p:sp>
        <p:nvSpPr>
          <p:cNvPr id="4" name="TextBox 3">
            <a:extLst>
              <a:ext uri="{FF2B5EF4-FFF2-40B4-BE49-F238E27FC236}">
                <a16:creationId xmlns:a16="http://schemas.microsoft.com/office/drawing/2014/main" id="{9FECAB15-EBD7-6B13-5A61-7353388DB4F9}"/>
              </a:ext>
            </a:extLst>
          </p:cNvPr>
          <p:cNvSpPr txBox="1"/>
          <p:nvPr/>
        </p:nvSpPr>
        <p:spPr>
          <a:xfrm>
            <a:off x="4674454" y="210597"/>
            <a:ext cx="4157357" cy="492443"/>
          </a:xfrm>
          <a:prstGeom prst="rect">
            <a:avLst/>
          </a:prstGeom>
          <a:noFill/>
        </p:spPr>
        <p:txBody>
          <a:bodyPr wrap="none" lIns="91440" tIns="45720" rIns="91440" bIns="45720" rtlCol="0" anchor="t">
            <a:spAutoFit/>
          </a:bodyPr>
          <a:lstStyle/>
          <a:p>
            <a:r>
              <a:rPr lang="en-US" sz="1300" b="1" dirty="0">
                <a:solidFill>
                  <a:srgbClr val="FF0000"/>
                </a:solidFill>
              </a:rPr>
              <a:t>Page 3 (Session Booking Page)</a:t>
            </a:r>
            <a:endParaRPr lang="en-US" sz="1300" dirty="0">
              <a:solidFill>
                <a:srgbClr val="000000"/>
              </a:solidFill>
              <a:ea typeface="Calibri"/>
              <a:cs typeface="Calibri"/>
            </a:endParaRPr>
          </a:p>
          <a:p>
            <a:r>
              <a:rPr lang="en-US" sz="1300" b="1" dirty="0">
                <a:solidFill>
                  <a:srgbClr val="FF0000"/>
                </a:solidFill>
                <a:ea typeface="Calibri"/>
                <a:cs typeface="Calibri"/>
              </a:rPr>
              <a:t>Note: Designs have been cropped to remove white space.</a:t>
            </a:r>
            <a:endParaRPr lang="en-US" dirty="0"/>
          </a:p>
        </p:txBody>
      </p:sp>
      <p:pic>
        <p:nvPicPr>
          <p:cNvPr id="3" name="Picture 2" descr="A screenshot of a computer&#10;&#10;AI-generated content may be incorrect.">
            <a:extLst>
              <a:ext uri="{FF2B5EF4-FFF2-40B4-BE49-F238E27FC236}">
                <a16:creationId xmlns:a16="http://schemas.microsoft.com/office/drawing/2014/main" id="{40B5800E-0D7E-30E4-2EA7-099924F18D5D}"/>
              </a:ext>
            </a:extLst>
          </p:cNvPr>
          <p:cNvPicPr>
            <a:picLocks noChangeAspect="1"/>
          </p:cNvPicPr>
          <p:nvPr/>
        </p:nvPicPr>
        <p:blipFill>
          <a:blip r:embed="rId2"/>
          <a:srcRect l="15805" r="16585"/>
          <a:stretch>
            <a:fillRect/>
          </a:stretch>
        </p:blipFill>
        <p:spPr>
          <a:xfrm>
            <a:off x="837733" y="867832"/>
            <a:ext cx="5783442" cy="5408084"/>
          </a:xfrm>
          <a:prstGeom prst="rect">
            <a:avLst/>
          </a:prstGeom>
        </p:spPr>
      </p:pic>
      <p:sp>
        <p:nvSpPr>
          <p:cNvPr id="6" name="TextBox 5">
            <a:extLst>
              <a:ext uri="{FF2B5EF4-FFF2-40B4-BE49-F238E27FC236}">
                <a16:creationId xmlns:a16="http://schemas.microsoft.com/office/drawing/2014/main" id="{B86E6F5D-4122-4F75-ABF8-372BD3B9E8B2}"/>
              </a:ext>
            </a:extLst>
          </p:cNvPr>
          <p:cNvSpPr txBox="1"/>
          <p:nvPr/>
        </p:nvSpPr>
        <p:spPr>
          <a:xfrm>
            <a:off x="7588250" y="1651000"/>
            <a:ext cx="357716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Description:</a:t>
            </a:r>
            <a:br>
              <a:rPr lang="en-US" dirty="0">
                <a:ea typeface="Calibri"/>
                <a:cs typeface="Calibri"/>
              </a:rPr>
            </a:br>
            <a:r>
              <a:rPr lang="en-US" dirty="0">
                <a:ea typeface="Calibri"/>
                <a:cs typeface="Calibri"/>
              </a:rPr>
              <a:t>This page shows the "Session/Pairing" booking feature. The tutee has to send in a form to state what is the topic they need help on, and any additional notes. </a:t>
            </a:r>
          </a:p>
          <a:p>
            <a:endParaRPr lang="en-US" dirty="0">
              <a:ea typeface="Calibri"/>
              <a:cs typeface="Calibri"/>
            </a:endParaRPr>
          </a:p>
          <a:p>
            <a:r>
              <a:rPr lang="en-US" dirty="0">
                <a:ea typeface="Calibri"/>
                <a:cs typeface="Calibri"/>
              </a:rPr>
              <a:t>The tutor then has the choice to accept or reject this request.</a:t>
            </a:r>
          </a:p>
        </p:txBody>
      </p:sp>
    </p:spTree>
    <p:extLst>
      <p:ext uri="{BB962C8B-B14F-4D97-AF65-F5344CB8AC3E}">
        <p14:creationId xmlns:p14="http://schemas.microsoft.com/office/powerpoint/2010/main" val="2166333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91A97-3444-A0D5-1D3C-2786F81B83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F79F6-F7F5-D277-0D21-E0DC62C1E193}"/>
              </a:ext>
            </a:extLst>
          </p:cNvPr>
          <p:cNvSpPr>
            <a:spLocks noGrp="1"/>
          </p:cNvSpPr>
          <p:nvPr>
            <p:ph type="title"/>
          </p:nvPr>
        </p:nvSpPr>
        <p:spPr>
          <a:xfrm>
            <a:off x="838200" y="-202712"/>
            <a:ext cx="10515600" cy="1325563"/>
          </a:xfrm>
        </p:spPr>
        <p:txBody>
          <a:bodyPr/>
          <a:lstStyle/>
          <a:p>
            <a:pPr lvl="0"/>
            <a:r>
              <a:rPr lang="en-US" b="1" dirty="0"/>
              <a:t>Wireframe (5%)</a:t>
            </a:r>
            <a:endParaRPr lang="en-US" dirty="0"/>
          </a:p>
        </p:txBody>
      </p:sp>
      <p:sp>
        <p:nvSpPr>
          <p:cNvPr id="4" name="TextBox 3">
            <a:extLst>
              <a:ext uri="{FF2B5EF4-FFF2-40B4-BE49-F238E27FC236}">
                <a16:creationId xmlns:a16="http://schemas.microsoft.com/office/drawing/2014/main" id="{46A7A2C5-4C67-3494-E82F-CA81F563E7B9}"/>
              </a:ext>
            </a:extLst>
          </p:cNvPr>
          <p:cNvSpPr txBox="1"/>
          <p:nvPr/>
        </p:nvSpPr>
        <p:spPr>
          <a:xfrm>
            <a:off x="4674454" y="210597"/>
            <a:ext cx="4157357" cy="492443"/>
          </a:xfrm>
          <a:prstGeom prst="rect">
            <a:avLst/>
          </a:prstGeom>
          <a:noFill/>
        </p:spPr>
        <p:txBody>
          <a:bodyPr wrap="none" lIns="91440" tIns="45720" rIns="91440" bIns="45720" rtlCol="0" anchor="t">
            <a:spAutoFit/>
          </a:bodyPr>
          <a:lstStyle/>
          <a:p>
            <a:r>
              <a:rPr lang="en-US" sz="1300" b="1" dirty="0">
                <a:solidFill>
                  <a:srgbClr val="FF0000"/>
                </a:solidFill>
              </a:rPr>
              <a:t>Page 4 (Browse by Module Page)</a:t>
            </a:r>
            <a:endParaRPr lang="en-US" sz="1300" dirty="0">
              <a:solidFill>
                <a:srgbClr val="000000"/>
              </a:solidFill>
              <a:ea typeface="Calibri"/>
              <a:cs typeface="Calibri"/>
            </a:endParaRPr>
          </a:p>
          <a:p>
            <a:r>
              <a:rPr lang="en-US" sz="1300" b="1" dirty="0">
                <a:solidFill>
                  <a:srgbClr val="FF0000"/>
                </a:solidFill>
                <a:ea typeface="Calibri"/>
                <a:cs typeface="Calibri"/>
              </a:rPr>
              <a:t>Note: Designs have been cropped to remove white space.</a:t>
            </a:r>
            <a:endParaRPr lang="en-US" dirty="0"/>
          </a:p>
        </p:txBody>
      </p:sp>
      <p:pic>
        <p:nvPicPr>
          <p:cNvPr id="5" name="Picture 4" descr="A screenshot of a chat&#10;&#10;AI-generated content may be incorrect.">
            <a:extLst>
              <a:ext uri="{FF2B5EF4-FFF2-40B4-BE49-F238E27FC236}">
                <a16:creationId xmlns:a16="http://schemas.microsoft.com/office/drawing/2014/main" id="{EF190C02-CDC7-C4CB-8E23-F2E88E061B4D}"/>
              </a:ext>
            </a:extLst>
          </p:cNvPr>
          <p:cNvPicPr>
            <a:picLocks noChangeAspect="1"/>
          </p:cNvPicPr>
          <p:nvPr/>
        </p:nvPicPr>
        <p:blipFill>
          <a:blip r:embed="rId2"/>
          <a:srcRect l="12785" r="13851"/>
          <a:stretch>
            <a:fillRect/>
          </a:stretch>
        </p:blipFill>
        <p:spPr>
          <a:xfrm>
            <a:off x="831344" y="814916"/>
            <a:ext cx="4433615" cy="5461001"/>
          </a:xfrm>
          <a:prstGeom prst="rect">
            <a:avLst/>
          </a:prstGeom>
        </p:spPr>
      </p:pic>
      <p:sp>
        <p:nvSpPr>
          <p:cNvPr id="7" name="TextBox 6">
            <a:extLst>
              <a:ext uri="{FF2B5EF4-FFF2-40B4-BE49-F238E27FC236}">
                <a16:creationId xmlns:a16="http://schemas.microsoft.com/office/drawing/2014/main" id="{19BCCC4A-0BEA-553D-EF02-C1D4201AEDD7}"/>
              </a:ext>
            </a:extLst>
          </p:cNvPr>
          <p:cNvSpPr txBox="1"/>
          <p:nvPr/>
        </p:nvSpPr>
        <p:spPr>
          <a:xfrm>
            <a:off x="6286500" y="1714500"/>
            <a:ext cx="357716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Description:</a:t>
            </a:r>
            <a:br>
              <a:rPr lang="en-US" dirty="0">
                <a:ea typeface="Calibri"/>
                <a:cs typeface="Calibri"/>
              </a:rPr>
            </a:br>
            <a:r>
              <a:rPr lang="en-US" dirty="0">
                <a:ea typeface="Calibri"/>
                <a:cs typeface="Calibri"/>
              </a:rPr>
              <a:t>This page shows the "Browse by Module" feature. It allows tutees to select a specific topic to search for tutors more easily.</a:t>
            </a:r>
          </a:p>
        </p:txBody>
      </p:sp>
    </p:spTree>
    <p:extLst>
      <p:ext uri="{BB962C8B-B14F-4D97-AF65-F5344CB8AC3E}">
        <p14:creationId xmlns:p14="http://schemas.microsoft.com/office/powerpoint/2010/main" val="16549934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BE932-3C72-FF88-17E2-A88CA9B3C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BD27B-1D22-B10A-AED4-CA3BD6747814}"/>
              </a:ext>
            </a:extLst>
          </p:cNvPr>
          <p:cNvSpPr>
            <a:spLocks noGrp="1"/>
          </p:cNvSpPr>
          <p:nvPr>
            <p:ph type="title"/>
          </p:nvPr>
        </p:nvSpPr>
        <p:spPr>
          <a:xfrm>
            <a:off x="838200" y="-202712"/>
            <a:ext cx="10515600" cy="1325563"/>
          </a:xfrm>
        </p:spPr>
        <p:txBody>
          <a:bodyPr/>
          <a:lstStyle/>
          <a:p>
            <a:pPr lvl="0"/>
            <a:r>
              <a:rPr lang="en-US" b="1" dirty="0"/>
              <a:t>Wireframe (5%)</a:t>
            </a:r>
            <a:endParaRPr lang="en-US" dirty="0"/>
          </a:p>
        </p:txBody>
      </p:sp>
      <p:sp>
        <p:nvSpPr>
          <p:cNvPr id="4" name="TextBox 3">
            <a:extLst>
              <a:ext uri="{FF2B5EF4-FFF2-40B4-BE49-F238E27FC236}">
                <a16:creationId xmlns:a16="http://schemas.microsoft.com/office/drawing/2014/main" id="{593C5CBA-50F2-6C3E-CFEA-AE06C11CD63B}"/>
              </a:ext>
            </a:extLst>
          </p:cNvPr>
          <p:cNvSpPr txBox="1"/>
          <p:nvPr/>
        </p:nvSpPr>
        <p:spPr>
          <a:xfrm>
            <a:off x="4674454" y="210597"/>
            <a:ext cx="4157357" cy="492443"/>
          </a:xfrm>
          <a:prstGeom prst="rect">
            <a:avLst/>
          </a:prstGeom>
          <a:noFill/>
        </p:spPr>
        <p:txBody>
          <a:bodyPr wrap="none" lIns="91440" tIns="45720" rIns="91440" bIns="45720" rtlCol="0" anchor="t">
            <a:spAutoFit/>
          </a:bodyPr>
          <a:lstStyle/>
          <a:p>
            <a:r>
              <a:rPr lang="en-US" sz="1300" b="1" dirty="0">
                <a:solidFill>
                  <a:srgbClr val="FF0000"/>
                </a:solidFill>
              </a:rPr>
              <a:t>Page 5 (Active Pairings Page)</a:t>
            </a:r>
            <a:endParaRPr lang="en-US" sz="1300" dirty="0">
              <a:solidFill>
                <a:srgbClr val="000000"/>
              </a:solidFill>
              <a:ea typeface="Calibri"/>
              <a:cs typeface="Calibri"/>
            </a:endParaRPr>
          </a:p>
          <a:p>
            <a:r>
              <a:rPr lang="en-US" sz="1300" b="1" dirty="0">
                <a:solidFill>
                  <a:srgbClr val="FF0000"/>
                </a:solidFill>
                <a:ea typeface="Calibri"/>
                <a:cs typeface="Calibri"/>
              </a:rPr>
              <a:t>Note: Designs have been cropped to remove white space.</a:t>
            </a:r>
            <a:endParaRPr lang="en-US" dirty="0"/>
          </a:p>
        </p:txBody>
      </p:sp>
      <p:sp>
        <p:nvSpPr>
          <p:cNvPr id="7" name="TextBox 6">
            <a:extLst>
              <a:ext uri="{FF2B5EF4-FFF2-40B4-BE49-F238E27FC236}">
                <a16:creationId xmlns:a16="http://schemas.microsoft.com/office/drawing/2014/main" id="{5B4F5576-8CE2-C2B4-12DE-E432C871502D}"/>
              </a:ext>
            </a:extLst>
          </p:cNvPr>
          <p:cNvSpPr txBox="1"/>
          <p:nvPr/>
        </p:nvSpPr>
        <p:spPr>
          <a:xfrm>
            <a:off x="8569164" y="1299919"/>
            <a:ext cx="2420058"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Description:</a:t>
            </a:r>
            <a:br>
              <a:rPr lang="en-US" dirty="0">
                <a:ea typeface="Calibri"/>
                <a:cs typeface="Calibri"/>
              </a:rPr>
            </a:br>
            <a:r>
              <a:rPr lang="en-US" dirty="0">
                <a:ea typeface="Calibri"/>
                <a:cs typeface="Calibri"/>
              </a:rPr>
              <a:t>This page shows the “Active Pairings" feature. It allows tutees to view additional details regarding the pairing, such as the tutor’s information and the option to switch to inactive pairing or to end the pairing, then they can leave a review for the tutor.</a:t>
            </a:r>
          </a:p>
        </p:txBody>
      </p:sp>
      <p:pic>
        <p:nvPicPr>
          <p:cNvPr id="6" name="Picture 5" descr="A screenshot of a computer&#10;&#10;AI-generated content may be incorrect.">
            <a:extLst>
              <a:ext uri="{FF2B5EF4-FFF2-40B4-BE49-F238E27FC236}">
                <a16:creationId xmlns:a16="http://schemas.microsoft.com/office/drawing/2014/main" id="{C1F1CF0A-BE2D-C31B-357D-BF060491AE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2250" y="860362"/>
            <a:ext cx="7630384" cy="4796808"/>
          </a:xfrm>
          <a:prstGeom prst="rect">
            <a:avLst/>
          </a:prstGeom>
        </p:spPr>
      </p:pic>
    </p:spTree>
    <p:extLst>
      <p:ext uri="{BB962C8B-B14F-4D97-AF65-F5344CB8AC3E}">
        <p14:creationId xmlns:p14="http://schemas.microsoft.com/office/powerpoint/2010/main" val="1355060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78E5E-9A13-8004-5907-A1863A343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89462-64F1-C047-D07A-450EFA4FFEE2}"/>
              </a:ext>
            </a:extLst>
          </p:cNvPr>
          <p:cNvSpPr>
            <a:spLocks noGrp="1"/>
          </p:cNvSpPr>
          <p:nvPr>
            <p:ph type="title"/>
          </p:nvPr>
        </p:nvSpPr>
        <p:spPr>
          <a:xfrm>
            <a:off x="564356" y="1984"/>
            <a:ext cx="10515600" cy="1325563"/>
          </a:xfrm>
        </p:spPr>
        <p:txBody>
          <a:bodyPr/>
          <a:lstStyle/>
          <a:p>
            <a:pPr lvl="0"/>
            <a:r>
              <a:rPr lang="en-US" b="1" dirty="0"/>
              <a:t>Wireframe (5%)</a:t>
            </a:r>
            <a:endParaRPr lang="en-US" dirty="0"/>
          </a:p>
        </p:txBody>
      </p:sp>
      <p:sp>
        <p:nvSpPr>
          <p:cNvPr id="3" name="Content Placeholder 2">
            <a:extLst>
              <a:ext uri="{FF2B5EF4-FFF2-40B4-BE49-F238E27FC236}">
                <a16:creationId xmlns:a16="http://schemas.microsoft.com/office/drawing/2014/main" id="{F7A7CF81-C5DC-74CB-B5E5-604C3D0E9AA1}"/>
              </a:ext>
            </a:extLst>
          </p:cNvPr>
          <p:cNvSpPr>
            <a:spLocks noGrp="1"/>
          </p:cNvSpPr>
          <p:nvPr>
            <p:ph idx="1"/>
          </p:nvPr>
        </p:nvSpPr>
        <p:spPr>
          <a:xfrm>
            <a:off x="647700" y="1039898"/>
            <a:ext cx="2919413" cy="577057"/>
          </a:xfrm>
        </p:spPr>
        <p:txBody>
          <a:bodyPr vert="horz" lIns="91440" tIns="45720" rIns="91440" bIns="45720" rtlCol="0" anchor="t">
            <a:normAutofit/>
          </a:bodyPr>
          <a:lstStyle/>
          <a:p>
            <a:pPr marL="0" indent="0" algn="just">
              <a:buNone/>
            </a:pPr>
            <a:r>
              <a:rPr lang="en-US" dirty="0">
                <a:solidFill>
                  <a:srgbClr val="000000"/>
                </a:solidFill>
                <a:ea typeface="Calibri"/>
                <a:cs typeface="Calibri"/>
              </a:rPr>
              <a:t>Synapse Use Case</a:t>
            </a:r>
          </a:p>
        </p:txBody>
      </p:sp>
      <p:pic>
        <p:nvPicPr>
          <p:cNvPr id="5" name="Picture 4" descr="A diagram of a student tutor&#10;&#10;AI-generated content may be incorrect.">
            <a:extLst>
              <a:ext uri="{FF2B5EF4-FFF2-40B4-BE49-F238E27FC236}">
                <a16:creationId xmlns:a16="http://schemas.microsoft.com/office/drawing/2014/main" id="{BEF16EB5-320F-9609-F930-384A408C2F2A}"/>
              </a:ext>
            </a:extLst>
          </p:cNvPr>
          <p:cNvPicPr>
            <a:picLocks noChangeAspect="1"/>
          </p:cNvPicPr>
          <p:nvPr/>
        </p:nvPicPr>
        <p:blipFill>
          <a:blip r:embed="rId2"/>
          <a:stretch>
            <a:fillRect/>
          </a:stretch>
        </p:blipFill>
        <p:spPr>
          <a:xfrm>
            <a:off x="3873788" y="1037862"/>
            <a:ext cx="6618138" cy="5202774"/>
          </a:xfrm>
          <a:prstGeom prst="rect">
            <a:avLst/>
          </a:prstGeom>
        </p:spPr>
      </p:pic>
    </p:spTree>
    <p:extLst>
      <p:ext uri="{BB962C8B-B14F-4D97-AF65-F5344CB8AC3E}">
        <p14:creationId xmlns:p14="http://schemas.microsoft.com/office/powerpoint/2010/main" val="1656291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D8F66-939E-61E1-F5BB-3FD1F69CA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9E1A6-8B6C-3130-8175-E13F33264FB6}"/>
              </a:ext>
            </a:extLst>
          </p:cNvPr>
          <p:cNvSpPr>
            <a:spLocks noGrp="1"/>
          </p:cNvSpPr>
          <p:nvPr>
            <p:ph type="title"/>
          </p:nvPr>
        </p:nvSpPr>
        <p:spPr/>
        <p:txBody>
          <a:bodyPr/>
          <a:lstStyle/>
          <a:p>
            <a:pPr lvl="0"/>
            <a:r>
              <a:rPr lang="en-US" b="1" dirty="0"/>
              <a:t>Wireframe (5%)</a:t>
            </a:r>
            <a:endParaRPr lang="en-US" dirty="0"/>
          </a:p>
        </p:txBody>
      </p:sp>
      <p:sp>
        <p:nvSpPr>
          <p:cNvPr id="3" name="Content Placeholder 2">
            <a:extLst>
              <a:ext uri="{FF2B5EF4-FFF2-40B4-BE49-F238E27FC236}">
                <a16:creationId xmlns:a16="http://schemas.microsoft.com/office/drawing/2014/main" id="{FF93B7BB-F767-C355-6E71-B2316A2E6735}"/>
              </a:ext>
            </a:extLst>
          </p:cNvPr>
          <p:cNvSpPr>
            <a:spLocks noGrp="1"/>
          </p:cNvSpPr>
          <p:nvPr>
            <p:ph idx="1"/>
          </p:nvPr>
        </p:nvSpPr>
        <p:spPr>
          <a:xfrm>
            <a:off x="838200" y="1408992"/>
            <a:ext cx="10515600" cy="4351338"/>
          </a:xfrm>
        </p:spPr>
        <p:txBody>
          <a:bodyPr vert="horz" lIns="91440" tIns="45720" rIns="91440" bIns="45720" rtlCol="0" anchor="t">
            <a:normAutofit/>
          </a:bodyPr>
          <a:lstStyle/>
          <a:p>
            <a:pPr marL="0" indent="0" algn="just">
              <a:buNone/>
            </a:pPr>
            <a:r>
              <a:rPr lang="en-US" dirty="0">
                <a:solidFill>
                  <a:srgbClr val="000000"/>
                </a:solidFill>
                <a:ea typeface="Calibri"/>
                <a:cs typeface="Calibri"/>
              </a:rPr>
              <a:t>Synapse User Navigation</a:t>
            </a:r>
          </a:p>
        </p:txBody>
      </p:sp>
      <p:pic>
        <p:nvPicPr>
          <p:cNvPr id="4" name="Picture 3" descr="A diagram of a user profile&#10;&#10;AI-generated content may be incorrect.">
            <a:extLst>
              <a:ext uri="{FF2B5EF4-FFF2-40B4-BE49-F238E27FC236}">
                <a16:creationId xmlns:a16="http://schemas.microsoft.com/office/drawing/2014/main" id="{EA1F9047-76D6-4381-7B1A-A6850FF1A8BD}"/>
              </a:ext>
            </a:extLst>
          </p:cNvPr>
          <p:cNvPicPr>
            <a:picLocks noChangeAspect="1"/>
          </p:cNvPicPr>
          <p:nvPr/>
        </p:nvPicPr>
        <p:blipFill>
          <a:blip r:embed="rId2"/>
          <a:stretch>
            <a:fillRect/>
          </a:stretch>
        </p:blipFill>
        <p:spPr>
          <a:xfrm>
            <a:off x="4652433" y="535516"/>
            <a:ext cx="7109882" cy="5490633"/>
          </a:xfrm>
          <a:prstGeom prst="rect">
            <a:avLst/>
          </a:prstGeom>
        </p:spPr>
      </p:pic>
    </p:spTree>
    <p:extLst>
      <p:ext uri="{BB962C8B-B14F-4D97-AF65-F5344CB8AC3E}">
        <p14:creationId xmlns:p14="http://schemas.microsoft.com/office/powerpoint/2010/main" val="3162354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FDA4-8B25-E74F-AD93-1CCDFD130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B39DC-B97E-3BEB-7EA1-E8049DA09B4C}"/>
              </a:ext>
            </a:extLst>
          </p:cNvPr>
          <p:cNvSpPr>
            <a:spLocks noGrp="1"/>
          </p:cNvSpPr>
          <p:nvPr>
            <p:ph type="title"/>
          </p:nvPr>
        </p:nvSpPr>
        <p:spPr/>
        <p:txBody>
          <a:bodyPr/>
          <a:lstStyle/>
          <a:p>
            <a:pPr lvl="0"/>
            <a:r>
              <a:rPr lang="en-US" b="1" dirty="0"/>
              <a:t>Data Modeling (5%)</a:t>
            </a:r>
            <a:endParaRPr lang="en-US" dirty="0"/>
          </a:p>
        </p:txBody>
      </p:sp>
      <p:sp>
        <p:nvSpPr>
          <p:cNvPr id="3" name="Content Placeholder 2">
            <a:extLst>
              <a:ext uri="{FF2B5EF4-FFF2-40B4-BE49-F238E27FC236}">
                <a16:creationId xmlns:a16="http://schemas.microsoft.com/office/drawing/2014/main" id="{BC23B266-F5B8-7E31-BAF0-075A9F1D09C8}"/>
              </a:ext>
            </a:extLst>
          </p:cNvPr>
          <p:cNvSpPr>
            <a:spLocks noGrp="1"/>
          </p:cNvSpPr>
          <p:nvPr>
            <p:ph idx="1"/>
          </p:nvPr>
        </p:nvSpPr>
        <p:spPr/>
        <p:txBody>
          <a:bodyPr/>
          <a:lstStyle/>
          <a:p>
            <a:pPr algn="just"/>
            <a:r>
              <a:rPr lang="en-US" dirty="0"/>
              <a:t>Initial identification of entities in your application.</a:t>
            </a:r>
          </a:p>
          <a:p>
            <a:pPr algn="just"/>
            <a:r>
              <a:rPr lang="en-US" dirty="0"/>
              <a:t>Include </a:t>
            </a:r>
            <a:r>
              <a:rPr lang="en-US" b="1" dirty="0"/>
              <a:t>at least four</a:t>
            </a:r>
            <a:r>
              <a:rPr lang="en-US" dirty="0"/>
              <a:t> key data models and provide sample attributes for each model.</a:t>
            </a:r>
          </a:p>
          <a:p>
            <a:pPr algn="just"/>
            <a:r>
              <a:rPr lang="en-US" dirty="0">
                <a:solidFill>
                  <a:srgbClr val="FF0000"/>
                </a:solidFill>
              </a:rPr>
              <a:t>Note: Refer to the sample table in the next slide</a:t>
            </a:r>
          </a:p>
        </p:txBody>
      </p:sp>
    </p:spTree>
    <p:extLst>
      <p:ext uri="{BB962C8B-B14F-4D97-AF65-F5344CB8AC3E}">
        <p14:creationId xmlns:p14="http://schemas.microsoft.com/office/powerpoint/2010/main" val="3696013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FA80E-5A4B-DB2F-F111-FA9D71DB2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50CCA-F94C-1D77-C8CA-D43C19560BBB}"/>
              </a:ext>
            </a:extLst>
          </p:cNvPr>
          <p:cNvSpPr>
            <a:spLocks noGrp="1"/>
          </p:cNvSpPr>
          <p:nvPr>
            <p:ph type="title"/>
          </p:nvPr>
        </p:nvSpPr>
        <p:spPr>
          <a:xfrm>
            <a:off x="710063" y="0"/>
            <a:ext cx="10515600" cy="1325563"/>
          </a:xfrm>
        </p:spPr>
        <p:txBody>
          <a:bodyPr/>
          <a:lstStyle/>
          <a:p>
            <a:pPr lvl="0"/>
            <a:r>
              <a:rPr lang="en-US" b="1" dirty="0"/>
              <a:t>Data Modeling - Sample</a:t>
            </a:r>
            <a:endParaRPr lang="en-US" dirty="0"/>
          </a:p>
        </p:txBody>
      </p:sp>
      <p:graphicFrame>
        <p:nvGraphicFramePr>
          <p:cNvPr id="6" name="Table 5">
            <a:extLst>
              <a:ext uri="{FF2B5EF4-FFF2-40B4-BE49-F238E27FC236}">
                <a16:creationId xmlns:a16="http://schemas.microsoft.com/office/drawing/2014/main" id="{EF2B62F6-4DA8-C6C3-8BD1-857E57BFA1E3}"/>
              </a:ext>
            </a:extLst>
          </p:cNvPr>
          <p:cNvGraphicFramePr>
            <a:graphicFrameLocks noGrp="1"/>
          </p:cNvGraphicFramePr>
          <p:nvPr>
            <p:extLst>
              <p:ext uri="{D42A27DB-BD31-4B8C-83A1-F6EECF244321}">
                <p14:modId xmlns:p14="http://schemas.microsoft.com/office/powerpoint/2010/main" val="1717254823"/>
              </p:ext>
            </p:extLst>
          </p:nvPr>
        </p:nvGraphicFramePr>
        <p:xfrm>
          <a:off x="613810" y="1080628"/>
          <a:ext cx="11398518" cy="560832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a:t>
                      </a:r>
                      <a:r>
                        <a:rPr lang="en-US" sz="1600" b="0" dirty="0"/>
                        <a:t>Event</a:t>
                      </a:r>
                    </a:p>
                  </a:txBody>
                  <a:tcPr anchor="ctr">
                    <a:solidFill>
                      <a:schemeClr val="bg1"/>
                    </a:solidFill>
                  </a:tcPr>
                </a:tc>
                <a:tc gridSpan="3">
                  <a:txBody>
                    <a:bodyPr/>
                    <a:lstStyle/>
                    <a:p>
                      <a:pPr>
                        <a:buNone/>
                      </a:pPr>
                      <a:r>
                        <a:rPr lang="en-US" sz="1600" b="1" dirty="0"/>
                        <a:t>Description: </a:t>
                      </a:r>
                    </a:p>
                    <a:p>
                      <a:pPr>
                        <a:buNone/>
                      </a:pPr>
                      <a:r>
                        <a:rPr lang="en-US" sz="1600" dirty="0"/>
                        <a:t>Represents campus events that users can view or register for.</a:t>
                      </a:r>
                    </a:p>
                    <a:p>
                      <a:pPr>
                        <a:buNone/>
                      </a:pPr>
                      <a:endParaRPr lang="en-US" sz="1600" b="1" dirty="0"/>
                    </a:p>
                    <a:p>
                      <a:pPr>
                        <a:buNone/>
                      </a:pPr>
                      <a:r>
                        <a:rPr lang="en-US" sz="1600" b="1" dirty="0"/>
                        <a:t>Usage in App:</a:t>
                      </a:r>
                      <a:r>
                        <a:rPr lang="en-US" sz="1600" dirty="0"/>
                        <a:t> </a:t>
                      </a:r>
                    </a:p>
                    <a:p>
                      <a:pPr>
                        <a:buNone/>
                      </a:pPr>
                      <a:r>
                        <a:rPr lang="en-US" sz="1600" dirty="0"/>
                        <a:t>Holds event details that will be displayed on the dashboard and allows users to register for events.</a:t>
                      </a:r>
                      <a:endParaRPr lang="en-US" sz="1600" b="1" dirty="0"/>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buNone/>
                      </a:pPr>
                      <a:r>
                        <a:rPr lang="en-US" sz="1600" dirty="0" err="1"/>
                        <a:t>eventId</a:t>
                      </a:r>
                      <a:endParaRPr lang="en-US" sz="1600" dirty="0"/>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E1001</a:t>
                      </a:r>
                    </a:p>
                  </a:txBody>
                  <a:tcPr anchor="ctr">
                    <a:solidFill>
                      <a:schemeClr val="bg1"/>
                    </a:solidFill>
                  </a:tcPr>
                </a:tc>
                <a:tc>
                  <a:txBody>
                    <a:bodyPr/>
                    <a:lstStyle/>
                    <a:p>
                      <a:pPr>
                        <a:buNone/>
                      </a:pPr>
                      <a:r>
                        <a:rPr lang="en-US" sz="1600" dirty="0"/>
                        <a:t>Unique identifier for each event, used to link with bookings and prevent duplicate records.</a:t>
                      </a:r>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US" sz="1600"/>
                        <a:t>title</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Campus Music Festival</a:t>
                      </a:r>
                    </a:p>
                  </a:txBody>
                  <a:tcPr anchor="ctr">
                    <a:solidFill>
                      <a:schemeClr val="bg1"/>
                    </a:solidFill>
                  </a:tcPr>
                </a:tc>
                <a:tc>
                  <a:txBody>
                    <a:bodyPr/>
                    <a:lstStyle/>
                    <a:p>
                      <a:pPr>
                        <a:buNone/>
                      </a:pPr>
                      <a:r>
                        <a:rPr lang="en-US" sz="1600" dirty="0"/>
                        <a:t>Name of the event, displayed in listings, dashboards, and notifications.</a:t>
                      </a:r>
                    </a:p>
                  </a:txBody>
                  <a:tcPr anchor="ctr">
                    <a:solidFill>
                      <a:schemeClr val="bg1"/>
                    </a:solidFill>
                  </a:tcPr>
                </a:tc>
                <a:extLst>
                  <a:ext uri="{0D108BD9-81ED-4DB2-BD59-A6C34878D82A}">
                    <a16:rowId xmlns:a16="http://schemas.microsoft.com/office/drawing/2014/main" val="1840665485"/>
                  </a:ext>
                </a:extLst>
              </a:tr>
              <a:tr h="0">
                <a:tc>
                  <a:txBody>
                    <a:bodyPr/>
                    <a:lstStyle/>
                    <a:p>
                      <a:pPr>
                        <a:buNone/>
                      </a:pPr>
                      <a:r>
                        <a:rPr lang="en-US" sz="1600"/>
                        <a:t>description</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An evening of live music performances by student bands.</a:t>
                      </a:r>
                    </a:p>
                  </a:txBody>
                  <a:tcPr anchor="ctr">
                    <a:solidFill>
                      <a:schemeClr val="bg1"/>
                    </a:solidFill>
                  </a:tcPr>
                </a:tc>
                <a:tc>
                  <a:txBody>
                    <a:bodyPr/>
                    <a:lstStyle/>
                    <a:p>
                      <a:pPr>
                        <a:buNone/>
                      </a:pPr>
                      <a:r>
                        <a:rPr lang="en-US" sz="1600" dirty="0"/>
                        <a:t>Detailed information about the event, including purpose, schedule, and prerequisites.</a:t>
                      </a:r>
                    </a:p>
                  </a:txBody>
                  <a:tcPr anchor="ctr">
                    <a:solidFill>
                      <a:schemeClr val="bg1"/>
                    </a:solidFill>
                  </a:tcPr>
                </a:tc>
                <a:extLst>
                  <a:ext uri="{0D108BD9-81ED-4DB2-BD59-A6C34878D82A}">
                    <a16:rowId xmlns:a16="http://schemas.microsoft.com/office/drawing/2014/main" val="2234607868"/>
                  </a:ext>
                </a:extLst>
              </a:tr>
              <a:tr h="0">
                <a:tc>
                  <a:txBody>
                    <a:bodyPr/>
                    <a:lstStyle/>
                    <a:p>
                      <a:pPr>
                        <a:buNone/>
                      </a:pPr>
                      <a:r>
                        <a:rPr lang="en-US" sz="1600"/>
                        <a:t>date</a:t>
                      </a:r>
                    </a:p>
                  </a:txBody>
                  <a:tcPr anchor="ctr">
                    <a:solidFill>
                      <a:schemeClr val="bg1"/>
                    </a:solidFill>
                  </a:tcPr>
                </a:tc>
                <a:tc>
                  <a:txBody>
                    <a:bodyPr/>
                    <a:lstStyle/>
                    <a:p>
                      <a:pPr>
                        <a:buNone/>
                      </a:pPr>
                      <a:r>
                        <a:rPr lang="en-US" sz="1600" dirty="0"/>
                        <a:t>Date</a:t>
                      </a:r>
                    </a:p>
                  </a:txBody>
                  <a:tcPr anchor="ctr">
                    <a:solidFill>
                      <a:schemeClr val="bg1"/>
                    </a:solidFill>
                  </a:tcPr>
                </a:tc>
                <a:tc>
                  <a:txBody>
                    <a:bodyPr/>
                    <a:lstStyle/>
                    <a:p>
                      <a:pPr>
                        <a:buNone/>
                      </a:pPr>
                      <a:r>
                        <a:rPr lang="en-US" sz="1600" dirty="0"/>
                        <a:t>2026-02-20T18:00:00Z</a:t>
                      </a:r>
                    </a:p>
                  </a:txBody>
                  <a:tcPr anchor="ctr">
                    <a:solidFill>
                      <a:schemeClr val="bg1"/>
                    </a:solidFill>
                  </a:tcPr>
                </a:tc>
                <a:tc>
                  <a:txBody>
                    <a:bodyPr/>
                    <a:lstStyle/>
                    <a:p>
                      <a:pPr>
                        <a:buNone/>
                      </a:pPr>
                      <a:r>
                        <a:rPr lang="en-US" sz="1600" dirty="0"/>
                        <a:t>Date and time of the event, used for sorting, filtering, and scheduling notifications.</a:t>
                      </a:r>
                    </a:p>
                  </a:txBody>
                  <a:tcPr anchor="ctr">
                    <a:solidFill>
                      <a:schemeClr val="bg1"/>
                    </a:solidFill>
                  </a:tcPr>
                </a:tc>
                <a:extLst>
                  <a:ext uri="{0D108BD9-81ED-4DB2-BD59-A6C34878D82A}">
                    <a16:rowId xmlns:a16="http://schemas.microsoft.com/office/drawing/2014/main" val="3913391811"/>
                  </a:ext>
                </a:extLst>
              </a:tr>
              <a:tr h="0">
                <a:tc>
                  <a:txBody>
                    <a:bodyPr/>
                    <a:lstStyle/>
                    <a:p>
                      <a:pPr>
                        <a:buNone/>
                      </a:pPr>
                      <a:r>
                        <a:rPr lang="en-US" sz="1600"/>
                        <a:t>location</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Main Auditorium</a:t>
                      </a:r>
                    </a:p>
                  </a:txBody>
                  <a:tcPr anchor="ctr">
                    <a:solidFill>
                      <a:schemeClr val="bg1"/>
                    </a:solidFill>
                  </a:tcPr>
                </a:tc>
                <a:tc>
                  <a:txBody>
                    <a:bodyPr/>
                    <a:lstStyle/>
                    <a:p>
                      <a:pPr>
                        <a:buNone/>
                      </a:pPr>
                      <a:r>
                        <a:rPr lang="en-US" sz="1600" dirty="0"/>
                        <a:t>Venue of the event, displayed to users and used for logistics planning.</a:t>
                      </a:r>
                    </a:p>
                  </a:txBody>
                  <a:tcPr anchor="ctr">
                    <a:solidFill>
                      <a:schemeClr val="bg1"/>
                    </a:solidFill>
                  </a:tcPr>
                </a:tc>
                <a:extLst>
                  <a:ext uri="{0D108BD9-81ED-4DB2-BD59-A6C34878D82A}">
                    <a16:rowId xmlns:a16="http://schemas.microsoft.com/office/drawing/2014/main" val="2445594671"/>
                  </a:ext>
                </a:extLst>
              </a:tr>
              <a:tr h="0">
                <a:tc>
                  <a:txBody>
                    <a:bodyPr/>
                    <a:lstStyle/>
                    <a:p>
                      <a:pPr>
                        <a:buNone/>
                      </a:pPr>
                      <a:r>
                        <a:rPr lang="en-US" sz="1600"/>
                        <a:t>createdBy</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U1001</a:t>
                      </a:r>
                    </a:p>
                  </a:txBody>
                  <a:tcPr anchor="ctr">
                    <a:solidFill>
                      <a:schemeClr val="bg1"/>
                    </a:solidFill>
                  </a:tcPr>
                </a:tc>
                <a:tc>
                  <a:txBody>
                    <a:bodyPr/>
                    <a:lstStyle/>
                    <a:p>
                      <a:pPr>
                        <a:buNone/>
                      </a:pPr>
                      <a:r>
                        <a:rPr lang="en-US" sz="1600" dirty="0"/>
                        <a:t>User ID of the person who created the event, used to track ownership and manage permissions.</a:t>
                      </a:r>
                    </a:p>
                  </a:txBody>
                  <a:tcPr anchor="ctr">
                    <a:solidFill>
                      <a:schemeClr val="bg1"/>
                    </a:solidFill>
                  </a:tcPr>
                </a:tc>
                <a:extLst>
                  <a:ext uri="{0D108BD9-81ED-4DB2-BD59-A6C34878D82A}">
                    <a16:rowId xmlns:a16="http://schemas.microsoft.com/office/drawing/2014/main" val="2299822991"/>
                  </a:ext>
                </a:extLst>
              </a:tr>
            </a:tbl>
          </a:graphicData>
        </a:graphic>
      </p:graphicFrame>
    </p:spTree>
    <p:extLst>
      <p:ext uri="{BB962C8B-B14F-4D97-AF65-F5344CB8AC3E}">
        <p14:creationId xmlns:p14="http://schemas.microsoft.com/office/powerpoint/2010/main" val="371361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E380C-90C6-9BD5-88C8-BA4332A81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74E33-D068-09F6-AFFB-1700939F76BB}"/>
              </a:ext>
            </a:extLst>
          </p:cNvPr>
          <p:cNvSpPr>
            <a:spLocks noGrp="1"/>
          </p:cNvSpPr>
          <p:nvPr>
            <p:ph type="title"/>
          </p:nvPr>
        </p:nvSpPr>
        <p:spPr>
          <a:xfrm>
            <a:off x="514678" y="-156308"/>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8C9709C9-5184-9A01-C86C-9141AB001067}"/>
              </a:ext>
            </a:extLst>
          </p:cNvPr>
          <p:cNvGraphicFramePr>
            <a:graphicFrameLocks noGrp="1"/>
          </p:cNvGraphicFramePr>
          <p:nvPr>
            <p:extLst>
              <p:ext uri="{D42A27DB-BD31-4B8C-83A1-F6EECF244321}">
                <p14:modId xmlns:p14="http://schemas.microsoft.com/office/powerpoint/2010/main" val="46506952"/>
              </p:ext>
            </p:extLst>
          </p:nvPr>
        </p:nvGraphicFramePr>
        <p:xfrm>
          <a:off x="390847" y="795865"/>
          <a:ext cx="11398518" cy="594360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User</a:t>
                      </a:r>
                      <a:endParaRPr lang="en-US" sz="1600" b="0" dirty="0"/>
                    </a:p>
                  </a:txBody>
                  <a:tcPr anchor="ctr">
                    <a:solidFill>
                      <a:schemeClr val="bg1"/>
                    </a:solidFill>
                  </a:tcPr>
                </a:tc>
                <a:tc gridSpan="3">
                  <a:txBody>
                    <a:bodyPr/>
                    <a:lstStyle/>
                    <a:p>
                      <a:pPr>
                        <a:buNone/>
                      </a:pPr>
                      <a:r>
                        <a:rPr lang="en-US" sz="1600" b="1" dirty="0"/>
                        <a:t>Description: </a:t>
                      </a:r>
                      <a:r>
                        <a:rPr lang="en-US" sz="1600" b="0" i="0" u="none" strike="noStrike" noProof="0" dirty="0">
                          <a:latin typeface="Calibri"/>
                        </a:rPr>
                        <a:t>Represents all students on the platform, including both tutees and tutors.</a:t>
                      </a:r>
                      <a:endParaRPr lang="en-US" sz="1600" b="1" dirty="0"/>
                    </a:p>
                    <a:p>
                      <a:pPr>
                        <a:buNone/>
                      </a:pPr>
                      <a:endParaRPr lang="en-US" sz="1600" b="1" dirty="0"/>
                    </a:p>
                    <a:p>
                      <a:pPr>
                        <a:buNone/>
                      </a:pPr>
                      <a:r>
                        <a:rPr lang="en-US" sz="1600" b="1" dirty="0"/>
                        <a:t>Usage in App:</a:t>
                      </a:r>
                      <a:r>
                        <a:rPr lang="en-US" sz="1600" dirty="0"/>
                        <a:t> </a:t>
                      </a:r>
                      <a:r>
                        <a:rPr lang="en-US" sz="1600" b="0" i="0" u="none" strike="noStrike" noProof="0" dirty="0">
                          <a:latin typeface="Calibri"/>
                        </a:rPr>
                        <a:t>Stores authentication credentials and profile information, links users to their tutoring sessions, and displays profile data on tutor discovery and detail pages.</a:t>
                      </a:r>
                    </a:p>
                    <a:p>
                      <a:pPr>
                        <a:buNone/>
                      </a:pPr>
                      <a:endParaRPr lang="en-US" sz="1600" dirty="0"/>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lvl="0">
                        <a:buNone/>
                      </a:pPr>
                      <a:r>
                        <a:rPr lang="en-US" sz="1600" b="0" i="0" u="none" strike="noStrike" noProof="0" dirty="0" err="1">
                          <a:latin typeface="Calibri"/>
                        </a:rPr>
                        <a:t>userId</a:t>
                      </a:r>
                      <a:endParaRPr lang="en-US" dirty="0" err="1"/>
                    </a:p>
                  </a:txBody>
                  <a:tcPr anchor="ctr">
                    <a:solidFill>
                      <a:schemeClr val="bg1"/>
                    </a:solidFill>
                  </a:tcPr>
                </a:tc>
                <a:tc>
                  <a:txBody>
                    <a:bodyPr/>
                    <a:lstStyle/>
                    <a:p>
                      <a:pPr lvl="0">
                        <a:buNone/>
                      </a:pPr>
                      <a:r>
                        <a:rPr lang="en-US" sz="1600" dirty="0"/>
                        <a:t>String</a:t>
                      </a:r>
                    </a:p>
                  </a:txBody>
                  <a:tcPr anchor="ctr">
                    <a:solidFill>
                      <a:schemeClr val="bg1"/>
                    </a:solidFill>
                  </a:tcPr>
                </a:tc>
                <a:tc>
                  <a:txBody>
                    <a:bodyPr/>
                    <a:lstStyle/>
                    <a:p>
                      <a:pPr lvl="0">
                        <a:buNone/>
                      </a:pPr>
                      <a:r>
                        <a:rPr lang="en-US" sz="1600" dirty="0"/>
                        <a:t>2404908B</a:t>
                      </a:r>
                    </a:p>
                  </a:txBody>
                  <a:tcPr anchor="ctr">
                    <a:solidFill>
                      <a:schemeClr val="bg1"/>
                    </a:solidFill>
                  </a:tcPr>
                </a:tc>
                <a:tc>
                  <a:txBody>
                    <a:bodyPr/>
                    <a:lstStyle/>
                    <a:p>
                      <a:pPr lvl="0">
                        <a:buNone/>
                      </a:pPr>
                      <a:r>
                        <a:rPr lang="en-US" sz="1600" dirty="0"/>
                        <a:t>Unique identifier for each user, primary key for all-user related operations. Each student will use their TP Admin Number for this unique identifier.</a:t>
                      </a:r>
                    </a:p>
                  </a:txBody>
                  <a:tcPr anchor="ctr">
                    <a:solidFill>
                      <a:schemeClr val="bg1"/>
                    </a:solidFill>
                  </a:tcPr>
                </a:tc>
                <a:extLst>
                  <a:ext uri="{0D108BD9-81ED-4DB2-BD59-A6C34878D82A}">
                    <a16:rowId xmlns:a16="http://schemas.microsoft.com/office/drawing/2014/main" val="2707098043"/>
                  </a:ext>
                </a:extLst>
              </a:tr>
              <a:tr h="0">
                <a:tc>
                  <a:txBody>
                    <a:bodyPr/>
                    <a:lstStyle/>
                    <a:p>
                      <a:pPr lvl="0">
                        <a:buNone/>
                      </a:pPr>
                      <a:r>
                        <a:rPr lang="en-US" sz="1600" dirty="0"/>
                        <a:t>Email</a:t>
                      </a:r>
                    </a:p>
                  </a:txBody>
                  <a:tcPr anchor="ctr">
                    <a:solidFill>
                      <a:schemeClr val="bg1"/>
                    </a:solidFill>
                  </a:tcPr>
                </a:tc>
                <a:tc>
                  <a:txBody>
                    <a:bodyPr/>
                    <a:lstStyle/>
                    <a:p>
                      <a:pPr lvl="0">
                        <a:buNone/>
                      </a:pPr>
                      <a:r>
                        <a:rPr lang="en-US" sz="1600" dirty="0"/>
                        <a:t>String</a:t>
                      </a:r>
                    </a:p>
                  </a:txBody>
                  <a:tcPr anchor="ctr">
                    <a:solidFill>
                      <a:schemeClr val="bg1"/>
                    </a:solidFill>
                  </a:tcPr>
                </a:tc>
                <a:tc>
                  <a:txBody>
                    <a:bodyPr/>
                    <a:lstStyle/>
                    <a:p>
                      <a:pPr lvl="0">
                        <a:buNone/>
                      </a:pPr>
                      <a:r>
                        <a:rPr lang="en-US" sz="1600" dirty="0">
                          <a:hlinkClick r:id="rId2"/>
                        </a:rPr>
                        <a:t>2404908B@student.tp.edu.sg</a:t>
                      </a:r>
                      <a:endParaRPr lang="en-US" sz="1600" dirty="0"/>
                    </a:p>
                  </a:txBody>
                  <a:tcPr anchor="ctr">
                    <a:solidFill>
                      <a:schemeClr val="bg1"/>
                    </a:solidFill>
                  </a:tcPr>
                </a:tc>
                <a:tc>
                  <a:txBody>
                    <a:bodyPr/>
                    <a:lstStyle/>
                    <a:p>
                      <a:pPr lvl="0">
                        <a:buNone/>
                      </a:pPr>
                      <a:r>
                        <a:rPr lang="en-US" sz="1600" b="0" i="0" u="none" strike="noStrike" noProof="0" dirty="0">
                          <a:latin typeface="Calibri"/>
                        </a:rPr>
                        <a:t>School email for authentication and verification; ensures only TP students can register.</a:t>
                      </a:r>
                      <a:endParaRPr lang="en-US" dirty="0"/>
                    </a:p>
                  </a:txBody>
                  <a:tcPr anchor="ctr">
                    <a:solidFill>
                      <a:schemeClr val="bg1"/>
                    </a:solidFill>
                  </a:tcPr>
                </a:tc>
                <a:extLst>
                  <a:ext uri="{0D108BD9-81ED-4DB2-BD59-A6C34878D82A}">
                    <a16:rowId xmlns:a16="http://schemas.microsoft.com/office/drawing/2014/main" val="1840665485"/>
                  </a:ext>
                </a:extLst>
              </a:tr>
              <a:tr h="0">
                <a:tc>
                  <a:txBody>
                    <a:bodyPr/>
                    <a:lstStyle/>
                    <a:p>
                      <a:pPr lvl="0">
                        <a:buNone/>
                      </a:pPr>
                      <a:r>
                        <a:rPr lang="en-US" sz="1600" dirty="0"/>
                        <a:t>Password</a:t>
                      </a:r>
                    </a:p>
                  </a:txBody>
                  <a:tcPr anchor="ctr">
                    <a:solidFill>
                      <a:schemeClr val="bg1"/>
                    </a:solidFill>
                  </a:tcPr>
                </a:tc>
                <a:tc>
                  <a:txBody>
                    <a:bodyPr/>
                    <a:lstStyle/>
                    <a:p>
                      <a:pPr lvl="0">
                        <a:buNone/>
                      </a:pPr>
                      <a:r>
                        <a:rPr lang="en-US" sz="1600" dirty="0"/>
                        <a:t>String</a:t>
                      </a:r>
                    </a:p>
                  </a:txBody>
                  <a:tcPr anchor="ctr">
                    <a:solidFill>
                      <a:schemeClr val="bg1"/>
                    </a:solidFill>
                  </a:tcPr>
                </a:tc>
                <a:tc>
                  <a:txBody>
                    <a:bodyPr/>
                    <a:lstStyle/>
                    <a:p>
                      <a:pPr lvl="0">
                        <a:buNone/>
                      </a:pPr>
                      <a:r>
                        <a:rPr lang="en-US" sz="1600" dirty="0"/>
                        <a:t>(hashed)</a:t>
                      </a:r>
                    </a:p>
                  </a:txBody>
                  <a:tcPr anchor="ctr">
                    <a:solidFill>
                      <a:schemeClr val="bg1"/>
                    </a:solidFill>
                  </a:tcPr>
                </a:tc>
                <a:tc>
                  <a:txBody>
                    <a:bodyPr/>
                    <a:lstStyle/>
                    <a:p>
                      <a:pPr lvl="0">
                        <a:buNone/>
                      </a:pPr>
                      <a:r>
                        <a:rPr lang="en-US" sz="1600" dirty="0"/>
                        <a:t>Encrypted password for secure logins. Passwords will never be stored in plain text.</a:t>
                      </a:r>
                    </a:p>
                  </a:txBody>
                  <a:tcPr anchor="ctr">
                    <a:solidFill>
                      <a:schemeClr val="bg1"/>
                    </a:solidFill>
                  </a:tcPr>
                </a:tc>
                <a:extLst>
                  <a:ext uri="{0D108BD9-81ED-4DB2-BD59-A6C34878D82A}">
                    <a16:rowId xmlns:a16="http://schemas.microsoft.com/office/drawing/2014/main" val="2234607868"/>
                  </a:ext>
                </a:extLst>
              </a:tr>
              <a:tr h="0">
                <a:tc>
                  <a:txBody>
                    <a:bodyPr/>
                    <a:lstStyle/>
                    <a:p>
                      <a:pPr lvl="0">
                        <a:buNone/>
                      </a:pPr>
                      <a:r>
                        <a:rPr lang="en-US" sz="1600" dirty="0" err="1"/>
                        <a:t>FullName</a:t>
                      </a:r>
                    </a:p>
                  </a:txBody>
                  <a:tcPr anchor="ctr">
                    <a:solidFill>
                      <a:schemeClr val="bg1"/>
                    </a:solidFill>
                  </a:tcPr>
                </a:tc>
                <a:tc>
                  <a:txBody>
                    <a:bodyPr/>
                    <a:lstStyle/>
                    <a:p>
                      <a:pPr lvl="0">
                        <a:buNone/>
                      </a:pPr>
                      <a:r>
                        <a:rPr lang="en-US" sz="1600" dirty="0"/>
                        <a:t>String</a:t>
                      </a:r>
                    </a:p>
                  </a:txBody>
                  <a:tcPr anchor="ctr">
                    <a:solidFill>
                      <a:schemeClr val="bg1"/>
                    </a:solidFill>
                  </a:tcPr>
                </a:tc>
                <a:tc>
                  <a:txBody>
                    <a:bodyPr/>
                    <a:lstStyle/>
                    <a:p>
                      <a:pPr lvl="0">
                        <a:buNone/>
                      </a:pPr>
                      <a:r>
                        <a:rPr lang="en-US" sz="1600" dirty="0"/>
                        <a:t>Daniella Han</a:t>
                      </a:r>
                    </a:p>
                  </a:txBody>
                  <a:tcPr anchor="ctr">
                    <a:solidFill>
                      <a:schemeClr val="bg1"/>
                    </a:solidFill>
                  </a:tcPr>
                </a:tc>
                <a:tc>
                  <a:txBody>
                    <a:bodyPr/>
                    <a:lstStyle/>
                    <a:p>
                      <a:pPr lvl="0">
                        <a:buNone/>
                      </a:pPr>
                      <a:r>
                        <a:rPr lang="en-US" sz="1600" dirty="0"/>
                        <a:t>Student's full name are displayed on profiles and tutor cards.</a:t>
                      </a:r>
                    </a:p>
                  </a:txBody>
                  <a:tcPr anchor="ctr">
                    <a:solidFill>
                      <a:schemeClr val="bg1"/>
                    </a:solidFill>
                  </a:tcPr>
                </a:tc>
                <a:extLst>
                  <a:ext uri="{0D108BD9-81ED-4DB2-BD59-A6C34878D82A}">
                    <a16:rowId xmlns:a16="http://schemas.microsoft.com/office/drawing/2014/main" val="3913391811"/>
                  </a:ext>
                </a:extLst>
              </a:tr>
              <a:tr h="0">
                <a:tc>
                  <a:txBody>
                    <a:bodyPr/>
                    <a:lstStyle/>
                    <a:p>
                      <a:pPr lvl="0">
                        <a:buNone/>
                      </a:pPr>
                      <a:r>
                        <a:rPr lang="en-US" sz="1600" dirty="0" err="1"/>
                        <a:t>ProfilePhoto</a:t>
                      </a:r>
                    </a:p>
                  </a:txBody>
                  <a:tcPr anchor="ctr">
                    <a:solidFill>
                      <a:schemeClr val="bg1"/>
                    </a:solidFill>
                  </a:tcPr>
                </a:tc>
                <a:tc>
                  <a:txBody>
                    <a:bodyPr/>
                    <a:lstStyle/>
                    <a:p>
                      <a:pPr lvl="0">
                        <a:buNone/>
                      </a:pPr>
                      <a:r>
                        <a:rPr lang="en-US" sz="1600" dirty="0"/>
                        <a:t>String</a:t>
                      </a:r>
                    </a:p>
                  </a:txBody>
                  <a:tcPr anchor="ctr">
                    <a:solidFill>
                      <a:schemeClr val="bg1"/>
                    </a:solidFill>
                  </a:tcPr>
                </a:tc>
                <a:tc>
                  <a:txBody>
                    <a:bodyPr/>
                    <a:lstStyle/>
                    <a:p>
                      <a:pPr lvl="0">
                        <a:buNone/>
                      </a:pPr>
                      <a:r>
                        <a:rPr lang="en-US" sz="1600" dirty="0"/>
                        <a:t>/uploads/daniella.jpg</a:t>
                      </a:r>
                    </a:p>
                  </a:txBody>
                  <a:tcPr anchor="ctr">
                    <a:solidFill>
                      <a:schemeClr val="bg1"/>
                    </a:solidFill>
                  </a:tcPr>
                </a:tc>
                <a:tc>
                  <a:txBody>
                    <a:bodyPr/>
                    <a:lstStyle/>
                    <a:p>
                      <a:pPr lvl="0">
                        <a:buNone/>
                      </a:pPr>
                      <a:r>
                        <a:rPr lang="en-US" sz="1600" dirty="0"/>
                        <a:t>URL/path to profile picture; displayed throughout the app.</a:t>
                      </a:r>
                    </a:p>
                  </a:txBody>
                  <a:tcPr anchor="ctr">
                    <a:solidFill>
                      <a:schemeClr val="bg1"/>
                    </a:solidFill>
                  </a:tcPr>
                </a:tc>
                <a:extLst>
                  <a:ext uri="{0D108BD9-81ED-4DB2-BD59-A6C34878D82A}">
                    <a16:rowId xmlns:a16="http://schemas.microsoft.com/office/drawing/2014/main" val="2445594671"/>
                  </a:ext>
                </a:extLst>
              </a:tr>
              <a:tr h="0">
                <a:tc>
                  <a:txBody>
                    <a:bodyPr/>
                    <a:lstStyle/>
                    <a:p>
                      <a:pPr lvl="0">
                        <a:buNone/>
                      </a:pPr>
                      <a:r>
                        <a:rPr lang="en-US" sz="1600" dirty="0" err="1"/>
                        <a:t>YearOfStudy</a:t>
                      </a:r>
                    </a:p>
                  </a:txBody>
                  <a:tcPr anchor="ctr">
                    <a:solidFill>
                      <a:schemeClr val="bg1"/>
                    </a:solidFill>
                  </a:tcPr>
                </a:tc>
                <a:tc>
                  <a:txBody>
                    <a:bodyPr/>
                    <a:lstStyle/>
                    <a:p>
                      <a:pPr lvl="0">
                        <a:buNone/>
                      </a:pPr>
                      <a:r>
                        <a:rPr lang="en-US" sz="1600" dirty="0"/>
                        <a:t>Integer</a:t>
                      </a:r>
                    </a:p>
                  </a:txBody>
                  <a:tcPr anchor="ctr">
                    <a:solidFill>
                      <a:schemeClr val="bg1"/>
                    </a:solidFill>
                  </a:tcPr>
                </a:tc>
                <a:tc>
                  <a:txBody>
                    <a:bodyPr/>
                    <a:lstStyle/>
                    <a:p>
                      <a:pPr lvl="0">
                        <a:buNone/>
                      </a:pPr>
                      <a:r>
                        <a:rPr lang="en-US" sz="1600" dirty="0"/>
                        <a:t>2</a:t>
                      </a:r>
                    </a:p>
                  </a:txBody>
                  <a:tcPr anchor="ctr">
                    <a:solidFill>
                      <a:schemeClr val="bg1"/>
                    </a:solidFill>
                  </a:tcPr>
                </a:tc>
                <a:tc>
                  <a:txBody>
                    <a:bodyPr/>
                    <a:lstStyle/>
                    <a:p>
                      <a:pPr lvl="0">
                        <a:buNone/>
                      </a:pPr>
                      <a:r>
                        <a:rPr lang="en-US" sz="1600" dirty="0"/>
                        <a:t>Current year of study (1-3)</a:t>
                      </a:r>
                    </a:p>
                  </a:txBody>
                  <a:tcPr anchor="ctr">
                    <a:solidFill>
                      <a:schemeClr val="bg1"/>
                    </a:solidFill>
                  </a:tcPr>
                </a:tc>
                <a:extLst>
                  <a:ext uri="{0D108BD9-81ED-4DB2-BD59-A6C34878D82A}">
                    <a16:rowId xmlns:a16="http://schemas.microsoft.com/office/drawing/2014/main" val="2299822991"/>
                  </a:ext>
                </a:extLst>
              </a:tr>
              <a:tr h="0">
                <a:tc>
                  <a:txBody>
                    <a:bodyPr/>
                    <a:lstStyle/>
                    <a:p>
                      <a:pPr lvl="0">
                        <a:buNone/>
                      </a:pPr>
                      <a:r>
                        <a:rPr lang="en-US" sz="1600" dirty="0"/>
                        <a:t>Course</a:t>
                      </a:r>
                    </a:p>
                  </a:txBody>
                  <a:tcPr anchor="ctr">
                    <a:solidFill>
                      <a:schemeClr val="bg1"/>
                    </a:solidFill>
                  </a:tcPr>
                </a:tc>
                <a:tc>
                  <a:txBody>
                    <a:bodyPr/>
                    <a:lstStyle/>
                    <a:p>
                      <a:pPr lvl="0">
                        <a:buNone/>
                      </a:pPr>
                      <a:r>
                        <a:rPr lang="en-US" sz="1600" dirty="0"/>
                        <a:t>String</a:t>
                      </a:r>
                    </a:p>
                  </a:txBody>
                  <a:tcPr anchor="ctr">
                    <a:solidFill>
                      <a:schemeClr val="bg1"/>
                    </a:solidFill>
                  </a:tcPr>
                </a:tc>
                <a:tc>
                  <a:txBody>
                    <a:bodyPr/>
                    <a:lstStyle/>
                    <a:p>
                      <a:pPr lvl="0">
                        <a:buNone/>
                      </a:pPr>
                      <a:r>
                        <a:rPr lang="en-US" sz="1600" dirty="0"/>
                        <a:t>Diploma in Information Technology</a:t>
                      </a:r>
                    </a:p>
                  </a:txBody>
                  <a:tcPr anchor="ctr">
                    <a:solidFill>
                      <a:schemeClr val="bg1"/>
                    </a:solidFill>
                  </a:tcPr>
                </a:tc>
                <a:tc>
                  <a:txBody>
                    <a:bodyPr/>
                    <a:lstStyle/>
                    <a:p>
                      <a:pPr lvl="0">
                        <a:buNone/>
                      </a:pPr>
                      <a:r>
                        <a:rPr lang="en-US" sz="1600" dirty="0"/>
                        <a:t>Student's enrolled course which will be used for matching and credibility.</a:t>
                      </a:r>
                    </a:p>
                  </a:txBody>
                  <a:tcPr anchor="ctr">
                    <a:solidFill>
                      <a:schemeClr val="bg1"/>
                    </a:solidFill>
                  </a:tcPr>
                </a:tc>
                <a:extLst>
                  <a:ext uri="{0D108BD9-81ED-4DB2-BD59-A6C34878D82A}">
                    <a16:rowId xmlns:a16="http://schemas.microsoft.com/office/drawing/2014/main" val="58047437"/>
                  </a:ext>
                </a:extLst>
              </a:tr>
            </a:tbl>
          </a:graphicData>
        </a:graphic>
      </p:graphicFrame>
    </p:spTree>
    <p:extLst>
      <p:ext uri="{BB962C8B-B14F-4D97-AF65-F5344CB8AC3E}">
        <p14:creationId xmlns:p14="http://schemas.microsoft.com/office/powerpoint/2010/main" val="26610112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45452-30C6-1DA4-857E-1314FA3A0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BD7B9B-D69A-8443-C627-BD495A5EE7A3}"/>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6AE83829-19A8-FB01-8D0C-BF5791EB5BFE}"/>
              </a:ext>
            </a:extLst>
          </p:cNvPr>
          <p:cNvGraphicFramePr>
            <a:graphicFrameLocks noGrp="1"/>
          </p:cNvGraphicFramePr>
          <p:nvPr>
            <p:extLst>
              <p:ext uri="{D42A27DB-BD31-4B8C-83A1-F6EECF244321}">
                <p14:modId xmlns:p14="http://schemas.microsoft.com/office/powerpoint/2010/main" val="2328964343"/>
              </p:ext>
            </p:extLst>
          </p:nvPr>
        </p:nvGraphicFramePr>
        <p:xfrm>
          <a:off x="498308" y="1469942"/>
          <a:ext cx="11398518" cy="286512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User</a:t>
                      </a:r>
                      <a:endParaRPr lang="en-US" sz="1600" b="0" dirty="0"/>
                    </a:p>
                  </a:txBody>
                  <a:tcPr anchor="ctr">
                    <a:solidFill>
                      <a:schemeClr val="bg1"/>
                    </a:solidFill>
                  </a:tcPr>
                </a:tc>
                <a:tc gridSpan="3">
                  <a:txBody>
                    <a:bodyPr/>
                    <a:lstStyle/>
                    <a:p>
                      <a:pPr>
                        <a:buNone/>
                      </a:pPr>
                      <a:r>
                        <a:rPr lang="en-US" sz="1600" b="1" dirty="0"/>
                        <a:t>Description: </a:t>
                      </a:r>
                      <a:r>
                        <a:rPr lang="en-US" sz="1600" b="0" i="0" u="none" strike="noStrike" noProof="0" dirty="0">
                          <a:latin typeface="Calibri"/>
                        </a:rPr>
                        <a:t>Represents all students on the platform, including both tutees and tutors.</a:t>
                      </a:r>
                      <a:endParaRPr lang="en-US" sz="1600" b="1" dirty="0"/>
                    </a:p>
                    <a:p>
                      <a:pPr>
                        <a:buNone/>
                      </a:pPr>
                      <a:endParaRPr lang="en-US" sz="1600" b="1" dirty="0"/>
                    </a:p>
                    <a:p>
                      <a:pPr>
                        <a:buNone/>
                      </a:pPr>
                      <a:r>
                        <a:rPr lang="en-US" sz="1600" b="1" dirty="0"/>
                        <a:t>Usage in App:</a:t>
                      </a:r>
                      <a:r>
                        <a:rPr lang="en-US" sz="1600" dirty="0"/>
                        <a:t> </a:t>
                      </a:r>
                      <a:r>
                        <a:rPr lang="en-US" sz="1600" b="0" i="0" u="none" strike="noStrike" noProof="0" dirty="0">
                          <a:latin typeface="Calibri"/>
                        </a:rPr>
                        <a:t>Stores authentication credentials and profile information, links users to their tutoring sessions, and displays profile data on tutor discovery and detail pages.</a:t>
                      </a:r>
                    </a:p>
                    <a:p>
                      <a:pPr>
                        <a:buNone/>
                      </a:pPr>
                      <a:endParaRPr lang="en-US" sz="1600" dirty="0"/>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lvl="0">
                        <a:buNone/>
                      </a:pPr>
                      <a:r>
                        <a:rPr lang="en-US" sz="1600" dirty="0"/>
                        <a:t>Subjects</a:t>
                      </a:r>
                    </a:p>
                  </a:txBody>
                  <a:tcPr anchor="ctr">
                    <a:solidFill>
                      <a:schemeClr val="bg1"/>
                    </a:solidFill>
                  </a:tcPr>
                </a:tc>
                <a:tc>
                  <a:txBody>
                    <a:bodyPr/>
                    <a:lstStyle/>
                    <a:p>
                      <a:pPr lvl="0">
                        <a:buNone/>
                      </a:pPr>
                      <a:r>
                        <a:rPr lang="en-US" sz="1600" dirty="0"/>
                        <a:t>Array</a:t>
                      </a:r>
                    </a:p>
                  </a:txBody>
                  <a:tcPr anchor="ctr">
                    <a:solidFill>
                      <a:schemeClr val="bg1"/>
                    </a:solidFill>
                  </a:tcPr>
                </a:tc>
                <a:tc>
                  <a:txBody>
                    <a:bodyPr/>
                    <a:lstStyle/>
                    <a:p>
                      <a:pPr lvl="0">
                        <a:buNone/>
                      </a:pPr>
                      <a:r>
                        <a:rPr lang="en-US" sz="1600" b="0" i="0" u="none" strike="noStrike" noProof="0" dirty="0">
                          <a:latin typeface="Calibri"/>
                        </a:rPr>
                        <a:t>["COMT", "UXID", "DAVA"]</a:t>
                      </a:r>
                      <a:endParaRPr lang="en-US" dirty="0"/>
                    </a:p>
                  </a:txBody>
                  <a:tcPr anchor="ctr">
                    <a:solidFill>
                      <a:schemeClr val="bg1"/>
                    </a:solidFill>
                  </a:tcPr>
                </a:tc>
                <a:tc>
                  <a:txBody>
                    <a:bodyPr/>
                    <a:lstStyle/>
                    <a:p>
                      <a:pPr lvl="0">
                        <a:buNone/>
                      </a:pPr>
                      <a:r>
                        <a:rPr lang="en-US" sz="1600" b="0" i="0" u="none" strike="noStrike" noProof="0" dirty="0">
                          <a:latin typeface="Calibri"/>
                        </a:rPr>
                        <a:t>List of subjects user can tutor or needs help with.</a:t>
                      </a:r>
                      <a:endParaRPr lang="en-US" dirty="0"/>
                    </a:p>
                  </a:txBody>
                  <a:tcPr anchor="ctr">
                    <a:solidFill>
                      <a:schemeClr val="bg1"/>
                    </a:solidFill>
                  </a:tcPr>
                </a:tc>
                <a:extLst>
                  <a:ext uri="{0D108BD9-81ED-4DB2-BD59-A6C34878D82A}">
                    <a16:rowId xmlns:a16="http://schemas.microsoft.com/office/drawing/2014/main" val="3892878512"/>
                  </a:ext>
                </a:extLst>
              </a:tr>
              <a:tr h="0">
                <a:tc>
                  <a:txBody>
                    <a:bodyPr/>
                    <a:lstStyle/>
                    <a:p>
                      <a:pPr lvl="0">
                        <a:buNone/>
                      </a:pPr>
                      <a:r>
                        <a:rPr lang="en-US" sz="1600" dirty="0"/>
                        <a:t>Rating</a:t>
                      </a:r>
                    </a:p>
                  </a:txBody>
                  <a:tcPr anchor="ctr">
                    <a:solidFill>
                      <a:schemeClr val="bg1"/>
                    </a:solidFill>
                  </a:tcPr>
                </a:tc>
                <a:tc>
                  <a:txBody>
                    <a:bodyPr/>
                    <a:lstStyle/>
                    <a:p>
                      <a:pPr lvl="0">
                        <a:buNone/>
                      </a:pPr>
                      <a:r>
                        <a:rPr lang="en-US" sz="1600" dirty="0"/>
                        <a:t>Double</a:t>
                      </a:r>
                    </a:p>
                  </a:txBody>
                  <a:tcPr anchor="ctr">
                    <a:solidFill>
                      <a:schemeClr val="bg1"/>
                    </a:solidFill>
                  </a:tcPr>
                </a:tc>
                <a:tc>
                  <a:txBody>
                    <a:bodyPr/>
                    <a:lstStyle/>
                    <a:p>
                      <a:pPr lvl="0">
                        <a:buNone/>
                      </a:pPr>
                      <a:r>
                        <a:rPr lang="en-US" sz="1600" b="0" i="0" u="none" strike="noStrike" noProof="0" dirty="0">
                          <a:latin typeface="Calibri"/>
                        </a:rPr>
                        <a:t>4.9</a:t>
                      </a:r>
                    </a:p>
                  </a:txBody>
                  <a:tcPr anchor="ctr">
                    <a:solidFill>
                      <a:schemeClr val="bg1"/>
                    </a:solidFill>
                  </a:tcPr>
                </a:tc>
                <a:tc>
                  <a:txBody>
                    <a:bodyPr/>
                    <a:lstStyle/>
                    <a:p>
                      <a:pPr lvl="0">
                        <a:buNone/>
                      </a:pPr>
                      <a:r>
                        <a:rPr lang="en-US" dirty="0"/>
                        <a:t>Average rating based on reviews, displayed on tutor cards and profile.</a:t>
                      </a:r>
                    </a:p>
                  </a:txBody>
                  <a:tcPr anchor="ctr">
                    <a:solidFill>
                      <a:schemeClr val="bg1"/>
                    </a:solidFill>
                  </a:tcPr>
                </a:tc>
                <a:extLst>
                  <a:ext uri="{0D108BD9-81ED-4DB2-BD59-A6C34878D82A}">
                    <a16:rowId xmlns:a16="http://schemas.microsoft.com/office/drawing/2014/main" val="1673974662"/>
                  </a:ext>
                </a:extLst>
              </a:tr>
            </a:tbl>
          </a:graphicData>
        </a:graphic>
      </p:graphicFrame>
    </p:spTree>
    <p:extLst>
      <p:ext uri="{BB962C8B-B14F-4D97-AF65-F5344CB8AC3E}">
        <p14:creationId xmlns:p14="http://schemas.microsoft.com/office/powerpoint/2010/main" val="640880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054D4-56F9-44C9-B421-F0F28D8B3C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A6B96-F6CA-A3FF-82C2-CD0C50DE7134}"/>
              </a:ext>
            </a:extLst>
          </p:cNvPr>
          <p:cNvSpPr>
            <a:spLocks noGrp="1"/>
          </p:cNvSpPr>
          <p:nvPr>
            <p:ph type="title"/>
          </p:nvPr>
        </p:nvSpPr>
        <p:spPr>
          <a:xfrm>
            <a:off x="710063" y="0"/>
            <a:ext cx="10515600" cy="1325563"/>
          </a:xfrm>
        </p:spPr>
        <p:txBody>
          <a:bodyPr/>
          <a:lstStyle/>
          <a:p>
            <a:pPr lvl="0"/>
            <a:r>
              <a:rPr lang="en-US" b="1" dirty="0"/>
              <a:t>Data Modeling – Users Explanation</a:t>
            </a:r>
            <a:endParaRPr lang="en-US" dirty="0"/>
          </a:p>
        </p:txBody>
      </p:sp>
      <p:graphicFrame>
        <p:nvGraphicFramePr>
          <p:cNvPr id="3" name="Table 2">
            <a:extLst>
              <a:ext uri="{FF2B5EF4-FFF2-40B4-BE49-F238E27FC236}">
                <a16:creationId xmlns:a16="http://schemas.microsoft.com/office/drawing/2014/main" id="{44425167-DC5D-2EB2-DB7E-46B13D53225F}"/>
              </a:ext>
            </a:extLst>
          </p:cNvPr>
          <p:cNvGraphicFramePr>
            <a:graphicFrameLocks noGrp="1"/>
          </p:cNvGraphicFramePr>
          <p:nvPr>
            <p:extLst>
              <p:ext uri="{D42A27DB-BD31-4B8C-83A1-F6EECF244321}">
                <p14:modId xmlns:p14="http://schemas.microsoft.com/office/powerpoint/2010/main" val="2494519282"/>
              </p:ext>
            </p:extLst>
          </p:nvPr>
        </p:nvGraphicFramePr>
        <p:xfrm>
          <a:off x="811662" y="1084454"/>
          <a:ext cx="10312401" cy="5100203"/>
        </p:xfrm>
        <a:graphic>
          <a:graphicData uri="http://schemas.openxmlformats.org/drawingml/2006/table">
            <a:tbl>
              <a:tblPr firstRow="1" bandRow="1">
                <a:tableStyleId>{5940675A-B579-460E-94D1-54222C63F5DA}</a:tableStyleId>
              </a:tblPr>
              <a:tblGrid>
                <a:gridCol w="1513264">
                  <a:extLst>
                    <a:ext uri="{9D8B030D-6E8A-4147-A177-3AD203B41FA5}">
                      <a16:colId xmlns:a16="http://schemas.microsoft.com/office/drawing/2014/main" val="351617117"/>
                    </a:ext>
                  </a:extLst>
                </a:gridCol>
                <a:gridCol w="8799137">
                  <a:extLst>
                    <a:ext uri="{9D8B030D-6E8A-4147-A177-3AD203B41FA5}">
                      <a16:colId xmlns:a16="http://schemas.microsoft.com/office/drawing/2014/main" val="730843508"/>
                    </a:ext>
                  </a:extLst>
                </a:gridCol>
              </a:tblGrid>
              <a:tr h="556618">
                <a:tc>
                  <a:txBody>
                    <a:bodyPr/>
                    <a:lstStyle/>
                    <a:p>
                      <a:r>
                        <a:rPr lang="en-US" sz="1400" dirty="0"/>
                        <a:t>Attribute</a:t>
                      </a:r>
                      <a:endParaRPr lang="en-SG" sz="1400" dirty="0"/>
                    </a:p>
                  </a:txBody>
                  <a:tcPr/>
                </a:tc>
                <a:tc>
                  <a:txBody>
                    <a:bodyPr/>
                    <a:lstStyle/>
                    <a:p>
                      <a:r>
                        <a:rPr lang="en-US" sz="1400" dirty="0"/>
                        <a:t>Explanation</a:t>
                      </a:r>
                      <a:endParaRPr lang="en-SG" sz="1400" dirty="0"/>
                    </a:p>
                  </a:txBody>
                  <a:tcPr/>
                </a:tc>
                <a:extLst>
                  <a:ext uri="{0D108BD9-81ED-4DB2-BD59-A6C34878D82A}">
                    <a16:rowId xmlns:a16="http://schemas.microsoft.com/office/drawing/2014/main" val="2681630158"/>
                  </a:ext>
                </a:extLst>
              </a:tr>
              <a:tr h="854073">
                <a:tc>
                  <a:txBody>
                    <a:bodyPr/>
                    <a:lstStyle/>
                    <a:p>
                      <a:r>
                        <a:rPr lang="en-US" sz="1400" b="1" dirty="0" err="1"/>
                        <a:t>userId</a:t>
                      </a:r>
                      <a:endParaRPr lang="en-SG" sz="1400" dirty="0"/>
                    </a:p>
                  </a:txBody>
                  <a:tcPr/>
                </a:tc>
                <a:tc>
                  <a:txBody>
                    <a:bodyPr/>
                    <a:lstStyle/>
                    <a:p>
                      <a:r>
                        <a:rPr lang="en-US" sz="1400" dirty="0"/>
                        <a:t>The </a:t>
                      </a:r>
                      <a:r>
                        <a:rPr lang="en-US" sz="1400" dirty="0" err="1"/>
                        <a:t>userId</a:t>
                      </a:r>
                      <a:r>
                        <a:rPr lang="en-US" sz="1400" dirty="0"/>
                        <a:t> serves as the unique identifier using each student's TP admin number (e.g., "2404908B"). This field is mandatory and unique, ensuring every user can be efficiently retrieved and distinguished. It's used for authentication, pairing, and communication throughout the application.</a:t>
                      </a:r>
                      <a:endParaRPr lang="en-SG" sz="1400" dirty="0"/>
                    </a:p>
                  </a:txBody>
                  <a:tcPr/>
                </a:tc>
                <a:extLst>
                  <a:ext uri="{0D108BD9-81ED-4DB2-BD59-A6C34878D82A}">
                    <a16:rowId xmlns:a16="http://schemas.microsoft.com/office/drawing/2014/main" val="3781544032"/>
                  </a:ext>
                </a:extLst>
              </a:tr>
              <a:tr h="556618">
                <a:tc>
                  <a:txBody>
                    <a:bodyPr/>
                    <a:lstStyle/>
                    <a:p>
                      <a:r>
                        <a:rPr lang="en-US" sz="1400" b="1" dirty="0"/>
                        <a:t>email</a:t>
                      </a:r>
                      <a:r>
                        <a:rPr lang="en-US" sz="1400" dirty="0"/>
                        <a:t> </a:t>
                      </a:r>
                      <a:endParaRPr lang="en-SG" sz="1400" dirty="0"/>
                    </a:p>
                  </a:txBody>
                  <a:tcPr/>
                </a:tc>
                <a:tc>
                  <a:txBody>
                    <a:bodyPr/>
                    <a:lstStyle/>
                    <a:p>
                      <a:r>
                        <a:rPr lang="en-US" sz="1400" dirty="0"/>
                        <a:t>Stores the student's official TP email address for authentication and verification, ensuring only TP students can register. Used for account verification, password recovery, and important notifications about bookings and sessions.</a:t>
                      </a:r>
                      <a:endParaRPr lang="en-SG" sz="1400" dirty="0"/>
                    </a:p>
                  </a:txBody>
                  <a:tcPr/>
                </a:tc>
                <a:extLst>
                  <a:ext uri="{0D108BD9-81ED-4DB2-BD59-A6C34878D82A}">
                    <a16:rowId xmlns:a16="http://schemas.microsoft.com/office/drawing/2014/main" val="1186390317"/>
                  </a:ext>
                </a:extLst>
              </a:tr>
              <a:tr h="556618">
                <a:tc>
                  <a:txBody>
                    <a:bodyPr/>
                    <a:lstStyle/>
                    <a:p>
                      <a:r>
                        <a:rPr lang="en-US" sz="1400" b="1" dirty="0"/>
                        <a:t>password</a:t>
                      </a:r>
                      <a:r>
                        <a:rPr lang="en-US" sz="1400" dirty="0"/>
                        <a:t> </a:t>
                      </a:r>
                      <a:endParaRPr lang="en-SG" sz="1400" dirty="0"/>
                    </a:p>
                  </a:txBody>
                  <a:tcPr/>
                </a:tc>
                <a:tc>
                  <a:txBody>
                    <a:bodyPr/>
                    <a:lstStyle/>
                    <a:p>
                      <a:r>
                        <a:rPr lang="en-US" sz="1400" dirty="0"/>
                        <a:t>Stores each student's login password in hashed format using </a:t>
                      </a:r>
                      <a:r>
                        <a:rPr lang="en-US" sz="1400" dirty="0" err="1"/>
                        <a:t>bcrypt</a:t>
                      </a:r>
                      <a:r>
                        <a:rPr lang="en-US" sz="1400" dirty="0"/>
                        <a:t> for security. Never stored in plain text. Required for authentication and ensures secure access to the platform.</a:t>
                      </a:r>
                      <a:endParaRPr lang="en-SG" sz="1400" dirty="0"/>
                    </a:p>
                  </a:txBody>
                  <a:tcPr/>
                </a:tc>
                <a:extLst>
                  <a:ext uri="{0D108BD9-81ED-4DB2-BD59-A6C34878D82A}">
                    <a16:rowId xmlns:a16="http://schemas.microsoft.com/office/drawing/2014/main" val="2739790492"/>
                  </a:ext>
                </a:extLst>
              </a:tr>
              <a:tr h="556618">
                <a:tc>
                  <a:txBody>
                    <a:bodyPr/>
                    <a:lstStyle/>
                    <a:p>
                      <a:r>
                        <a:rPr lang="en-US" sz="1400" b="1" dirty="0" err="1"/>
                        <a:t>fullName</a:t>
                      </a:r>
                      <a:endParaRPr lang="en-SG" sz="1400" dirty="0"/>
                    </a:p>
                  </a:txBody>
                  <a:tcPr/>
                </a:tc>
                <a:tc>
                  <a:txBody>
                    <a:bodyPr/>
                    <a:lstStyle/>
                    <a:p>
                      <a:r>
                        <a:rPr lang="en-US" sz="1400" dirty="0"/>
                        <a:t>The student's complete name displayed throughout the platform. Enhances user-friendliness by providing a recognizable identifier instead of technical IDs. Appears on tutor cards, profiles, and session confirmations to build trust and accountability.</a:t>
                      </a:r>
                      <a:endParaRPr lang="en-SG" sz="1400" dirty="0"/>
                    </a:p>
                  </a:txBody>
                  <a:tcPr/>
                </a:tc>
                <a:extLst>
                  <a:ext uri="{0D108BD9-81ED-4DB2-BD59-A6C34878D82A}">
                    <a16:rowId xmlns:a16="http://schemas.microsoft.com/office/drawing/2014/main" val="3444452971"/>
                  </a:ext>
                </a:extLst>
              </a:tr>
              <a:tr h="556618">
                <a:tc>
                  <a:txBody>
                    <a:bodyPr/>
                    <a:lstStyle/>
                    <a:p>
                      <a:r>
                        <a:rPr lang="en-US" sz="1400" b="1" dirty="0" err="1"/>
                        <a:t>profilePhoto</a:t>
                      </a:r>
                      <a:endParaRPr lang="en-SG" sz="1400" dirty="0"/>
                    </a:p>
                  </a:txBody>
                  <a:tcPr/>
                </a:tc>
                <a:tc>
                  <a:txBody>
                    <a:bodyPr/>
                    <a:lstStyle/>
                    <a:p>
                      <a:r>
                        <a:rPr lang="en-US" sz="1400" dirty="0"/>
                        <a:t>Stores the file path or URL to the user's uploaded profile picture. Personalizes the interface and improves engagement by enabling visual recognition. Displayed on tutor discovery cards, session screens, and review sections to build trust.</a:t>
                      </a:r>
                      <a:endParaRPr lang="en-SG" sz="1400" dirty="0"/>
                    </a:p>
                  </a:txBody>
                  <a:tcPr/>
                </a:tc>
                <a:extLst>
                  <a:ext uri="{0D108BD9-81ED-4DB2-BD59-A6C34878D82A}">
                    <a16:rowId xmlns:a16="http://schemas.microsoft.com/office/drawing/2014/main" val="625060157"/>
                  </a:ext>
                </a:extLst>
              </a:tr>
              <a:tr h="556618">
                <a:tc>
                  <a:txBody>
                    <a:bodyPr/>
                    <a:lstStyle/>
                    <a:p>
                      <a:r>
                        <a:rPr lang="en-US" sz="1400" b="1" dirty="0" err="1"/>
                        <a:t>yearOfStudy</a:t>
                      </a:r>
                      <a:endParaRPr lang="en-SG" sz="1400" dirty="0"/>
                    </a:p>
                  </a:txBody>
                  <a:tcPr/>
                </a:tc>
                <a:tc>
                  <a:txBody>
                    <a:bodyPr/>
                    <a:lstStyle/>
                    <a:p>
                      <a:r>
                        <a:rPr lang="en-US" sz="1400" dirty="0"/>
                        <a:t>Indicates the student's current academic year (1-3). Helps users make informed decisions when choosing tutors - students often prefer peers from the same or higher years who recently completed the same modules.</a:t>
                      </a:r>
                      <a:endParaRPr lang="en-SG" sz="1400" dirty="0"/>
                    </a:p>
                  </a:txBody>
                  <a:tcPr/>
                </a:tc>
                <a:extLst>
                  <a:ext uri="{0D108BD9-81ED-4DB2-BD59-A6C34878D82A}">
                    <a16:rowId xmlns:a16="http://schemas.microsoft.com/office/drawing/2014/main" val="1627226646"/>
                  </a:ext>
                </a:extLst>
              </a:tr>
              <a:tr h="556618">
                <a:tc>
                  <a:txBody>
                    <a:bodyPr/>
                    <a:lstStyle/>
                    <a:p>
                      <a:r>
                        <a:rPr lang="en-US" sz="1400" b="1" dirty="0"/>
                        <a:t>course</a:t>
                      </a:r>
                      <a:endParaRPr lang="en-SG" sz="1400" dirty="0"/>
                    </a:p>
                  </a:txBody>
                  <a:tcPr/>
                </a:tc>
                <a:tc>
                  <a:txBody>
                    <a:bodyPr/>
                    <a:lstStyle/>
                    <a:p>
                      <a:r>
                        <a:rPr lang="en-US" sz="1400" dirty="0"/>
                        <a:t>The student's enrolled diploma program (e.g., "Diploma in Information Technology"). Displayed prominently on profiles, allowing tutees to prioritize tutors from their own program who understand the specific curriculum and assessments.</a:t>
                      </a:r>
                      <a:endParaRPr lang="en-SG" sz="1400" dirty="0"/>
                    </a:p>
                  </a:txBody>
                  <a:tcPr/>
                </a:tc>
                <a:extLst>
                  <a:ext uri="{0D108BD9-81ED-4DB2-BD59-A6C34878D82A}">
                    <a16:rowId xmlns:a16="http://schemas.microsoft.com/office/drawing/2014/main" val="453739930"/>
                  </a:ext>
                </a:extLst>
              </a:tr>
            </a:tbl>
          </a:graphicData>
        </a:graphic>
      </p:graphicFrame>
    </p:spTree>
    <p:extLst>
      <p:ext uri="{BB962C8B-B14F-4D97-AF65-F5344CB8AC3E}">
        <p14:creationId xmlns:p14="http://schemas.microsoft.com/office/powerpoint/2010/main" val="20071907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AEDEF-3BF2-76CC-B297-428C03DC8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2FE45B-772B-83DD-42DE-1115B11D297A}"/>
              </a:ext>
            </a:extLst>
          </p:cNvPr>
          <p:cNvSpPr>
            <a:spLocks noGrp="1"/>
          </p:cNvSpPr>
          <p:nvPr>
            <p:ph type="title"/>
          </p:nvPr>
        </p:nvSpPr>
        <p:spPr>
          <a:xfrm>
            <a:off x="710063" y="0"/>
            <a:ext cx="10515600" cy="1325563"/>
          </a:xfrm>
        </p:spPr>
        <p:txBody>
          <a:bodyPr/>
          <a:lstStyle/>
          <a:p>
            <a:pPr lvl="0"/>
            <a:r>
              <a:rPr lang="en-US" b="1" dirty="0"/>
              <a:t>Data Modeling – Users Explanation</a:t>
            </a:r>
            <a:endParaRPr lang="en-US" dirty="0"/>
          </a:p>
        </p:txBody>
      </p:sp>
      <p:graphicFrame>
        <p:nvGraphicFramePr>
          <p:cNvPr id="3" name="Table 2">
            <a:extLst>
              <a:ext uri="{FF2B5EF4-FFF2-40B4-BE49-F238E27FC236}">
                <a16:creationId xmlns:a16="http://schemas.microsoft.com/office/drawing/2014/main" id="{E770E59B-D7FD-BB49-4E45-85F1C036B4F6}"/>
              </a:ext>
            </a:extLst>
          </p:cNvPr>
          <p:cNvGraphicFramePr>
            <a:graphicFrameLocks noGrp="1"/>
          </p:cNvGraphicFramePr>
          <p:nvPr>
            <p:extLst>
              <p:ext uri="{D42A27DB-BD31-4B8C-83A1-F6EECF244321}">
                <p14:modId xmlns:p14="http://schemas.microsoft.com/office/powerpoint/2010/main" val="1167555422"/>
              </p:ext>
            </p:extLst>
          </p:nvPr>
        </p:nvGraphicFramePr>
        <p:xfrm>
          <a:off x="811662" y="1084454"/>
          <a:ext cx="10312401" cy="1967309"/>
        </p:xfrm>
        <a:graphic>
          <a:graphicData uri="http://schemas.openxmlformats.org/drawingml/2006/table">
            <a:tbl>
              <a:tblPr firstRow="1" bandRow="1">
                <a:tableStyleId>{5940675A-B579-460E-94D1-54222C63F5DA}</a:tableStyleId>
              </a:tblPr>
              <a:tblGrid>
                <a:gridCol w="1513264">
                  <a:extLst>
                    <a:ext uri="{9D8B030D-6E8A-4147-A177-3AD203B41FA5}">
                      <a16:colId xmlns:a16="http://schemas.microsoft.com/office/drawing/2014/main" val="351617117"/>
                    </a:ext>
                  </a:extLst>
                </a:gridCol>
                <a:gridCol w="8799137">
                  <a:extLst>
                    <a:ext uri="{9D8B030D-6E8A-4147-A177-3AD203B41FA5}">
                      <a16:colId xmlns:a16="http://schemas.microsoft.com/office/drawing/2014/main" val="730843508"/>
                    </a:ext>
                  </a:extLst>
                </a:gridCol>
              </a:tblGrid>
              <a:tr h="556618">
                <a:tc>
                  <a:txBody>
                    <a:bodyPr/>
                    <a:lstStyle/>
                    <a:p>
                      <a:r>
                        <a:rPr lang="en-US" sz="1400" dirty="0"/>
                        <a:t>Attribute</a:t>
                      </a:r>
                      <a:endParaRPr lang="en-SG" sz="1400" dirty="0"/>
                    </a:p>
                  </a:txBody>
                  <a:tcPr/>
                </a:tc>
                <a:tc>
                  <a:txBody>
                    <a:bodyPr/>
                    <a:lstStyle/>
                    <a:p>
                      <a:r>
                        <a:rPr lang="en-US" sz="1400" dirty="0"/>
                        <a:t>Explanation</a:t>
                      </a:r>
                      <a:endParaRPr lang="en-SG" sz="1400" dirty="0"/>
                    </a:p>
                  </a:txBody>
                  <a:tcPr/>
                </a:tc>
                <a:extLst>
                  <a:ext uri="{0D108BD9-81ED-4DB2-BD59-A6C34878D82A}">
                    <a16:rowId xmlns:a16="http://schemas.microsoft.com/office/drawing/2014/main" val="2681630158"/>
                  </a:ext>
                </a:extLst>
              </a:tr>
              <a:tr h="854073">
                <a:tc>
                  <a:txBody>
                    <a:bodyPr/>
                    <a:lstStyle/>
                    <a:p>
                      <a:r>
                        <a:rPr lang="en-US" sz="1400" b="1" dirty="0"/>
                        <a:t>subject</a:t>
                      </a:r>
                      <a:endParaRPr lang="en-SG" sz="1400" dirty="0"/>
                    </a:p>
                  </a:txBody>
                  <a:tcPr/>
                </a:tc>
                <a:tc>
                  <a:txBody>
                    <a:bodyPr/>
                    <a:lstStyle/>
                    <a:p>
                      <a:r>
                        <a:rPr lang="en-US" sz="1400" dirty="0"/>
                        <a:t>An array of subject names or module codes the user can tutor (e.g., ["COMT", "UXID", "FWEB"]). Central to the matching algorithm - when tutees search for help, the system queries users whose subjects array contains the requested subject.</a:t>
                      </a:r>
                      <a:endParaRPr lang="en-SG" sz="1400" dirty="0"/>
                    </a:p>
                  </a:txBody>
                  <a:tcPr/>
                </a:tc>
                <a:extLst>
                  <a:ext uri="{0D108BD9-81ED-4DB2-BD59-A6C34878D82A}">
                    <a16:rowId xmlns:a16="http://schemas.microsoft.com/office/drawing/2014/main" val="3781544032"/>
                  </a:ext>
                </a:extLst>
              </a:tr>
              <a:tr h="556618">
                <a:tc>
                  <a:txBody>
                    <a:bodyPr/>
                    <a:lstStyle/>
                    <a:p>
                      <a:r>
                        <a:rPr lang="en-US" sz="1400" b="1" dirty="0"/>
                        <a:t>rating</a:t>
                      </a:r>
                      <a:endParaRPr lang="en-SG" sz="1400" dirty="0"/>
                    </a:p>
                  </a:txBody>
                  <a:tcPr/>
                </a:tc>
                <a:tc>
                  <a:txBody>
                    <a:bodyPr/>
                    <a:lstStyle/>
                    <a:p>
                      <a:r>
                        <a:rPr lang="en-US" sz="1400" dirty="0"/>
                        <a:t>The user's average rating as a tutor, calculated from all reviews received. Displayed with star icons throughout the interface as the primary trust signal. Updated automatically when new reviews are submitted and approved.</a:t>
                      </a:r>
                      <a:endParaRPr lang="en-SG" sz="1400" dirty="0"/>
                    </a:p>
                  </a:txBody>
                  <a:tcPr/>
                </a:tc>
                <a:extLst>
                  <a:ext uri="{0D108BD9-81ED-4DB2-BD59-A6C34878D82A}">
                    <a16:rowId xmlns:a16="http://schemas.microsoft.com/office/drawing/2014/main" val="1186390317"/>
                  </a:ext>
                </a:extLst>
              </a:tr>
            </a:tbl>
          </a:graphicData>
        </a:graphic>
      </p:graphicFrame>
    </p:spTree>
    <p:extLst>
      <p:ext uri="{BB962C8B-B14F-4D97-AF65-F5344CB8AC3E}">
        <p14:creationId xmlns:p14="http://schemas.microsoft.com/office/powerpoint/2010/main" val="8876052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0D60B-2862-6190-6361-CBAEAC1C1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98B45-D35D-ACAD-C5DD-4ED13D0F00FF}"/>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F72A60D6-A903-DF83-82E3-21A23D471DCF}"/>
              </a:ext>
            </a:extLst>
          </p:cNvPr>
          <p:cNvGraphicFramePr>
            <a:graphicFrameLocks noGrp="1"/>
          </p:cNvGraphicFramePr>
          <p:nvPr>
            <p:extLst>
              <p:ext uri="{D42A27DB-BD31-4B8C-83A1-F6EECF244321}">
                <p14:modId xmlns:p14="http://schemas.microsoft.com/office/powerpoint/2010/main" val="2398092800"/>
              </p:ext>
            </p:extLst>
          </p:nvPr>
        </p:nvGraphicFramePr>
        <p:xfrm>
          <a:off x="477141" y="1014859"/>
          <a:ext cx="11398518" cy="569976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Pair</a:t>
                      </a:r>
                      <a:endParaRPr lang="en-US" sz="1600" b="0" dirty="0"/>
                    </a:p>
                  </a:txBody>
                  <a:tcPr anchor="ctr">
                    <a:solidFill>
                      <a:schemeClr val="bg1"/>
                    </a:solidFill>
                  </a:tcPr>
                </a:tc>
                <a:tc gridSpan="3">
                  <a:txBody>
                    <a:bodyPr/>
                    <a:lstStyle/>
                    <a:p>
                      <a:pPr>
                        <a:buNone/>
                      </a:pPr>
                      <a:r>
                        <a:rPr lang="en-US" sz="1600" b="1" dirty="0"/>
                        <a:t>Description: </a:t>
                      </a:r>
                      <a:r>
                        <a:rPr lang="en-US" sz="1600" b="0" i="0" u="none" strike="noStrike" noProof="0" dirty="0">
                          <a:latin typeface="Calibri"/>
                        </a:rPr>
                        <a:t>Represents the connection between a tutor and tutee for ongoing or past tutoring relationships.</a:t>
                      </a:r>
                      <a:endParaRPr lang="en-US" sz="1600" b="1" dirty="0"/>
                    </a:p>
                    <a:p>
                      <a:pPr>
                        <a:buNone/>
                      </a:pPr>
                      <a:r>
                        <a:rPr lang="en-US" sz="1600" b="1" dirty="0"/>
                        <a:t>Usage in App:</a:t>
                      </a:r>
                      <a:r>
                        <a:rPr lang="en-US" sz="1600" dirty="0"/>
                        <a:t> </a:t>
                      </a:r>
                      <a:r>
                        <a:rPr lang="en-US" sz="1600" b="0" i="0" u="none" strike="noStrike" noProof="0" dirty="0">
                          <a:latin typeface="Calibri"/>
                        </a:rPr>
                        <a:t>Tracks tutoring partnerships, enables quick re-booking with previous tutors, displays tutoring history without storing individual session details, and calculates total hours and sessions for statistics.</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buNone/>
                      </a:pPr>
                      <a:r>
                        <a:rPr lang="en-US" sz="1600" dirty="0" err="1"/>
                        <a:t>pairId</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P2001</a:t>
                      </a:r>
                    </a:p>
                  </a:txBody>
                  <a:tcPr anchor="ctr">
                    <a:solidFill>
                      <a:schemeClr val="bg1"/>
                    </a:solidFill>
                  </a:tcPr>
                </a:tc>
                <a:tc>
                  <a:txBody>
                    <a:bodyPr/>
                    <a:lstStyle/>
                    <a:p>
                      <a:pPr lvl="0">
                        <a:buNone/>
                      </a:pPr>
                      <a:r>
                        <a:rPr lang="en-US" sz="1600" b="0" i="0" u="none" strike="noStrike" noProof="0" dirty="0">
                          <a:latin typeface="Calibri"/>
                        </a:rPr>
                        <a:t>Unique identifier for each tutor-tutee pair; primary key.</a:t>
                      </a:r>
                      <a:endParaRPr lang="en-US" dirty="0"/>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US" sz="1600" err="1"/>
                        <a:t>TutorId</a:t>
                      </a:r>
                      <a:endParaRPr lang="en-US" sz="1600" dirty="0" err="1"/>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Tutor001</a:t>
                      </a:r>
                    </a:p>
                  </a:txBody>
                  <a:tcPr anchor="ctr">
                    <a:solidFill>
                      <a:schemeClr val="bg1"/>
                    </a:solidFill>
                  </a:tcPr>
                </a:tc>
                <a:tc>
                  <a:txBody>
                    <a:bodyPr/>
                    <a:lstStyle/>
                    <a:p>
                      <a:pPr>
                        <a:buNone/>
                      </a:pPr>
                      <a:r>
                        <a:rPr lang="en-US" sz="1600" dirty="0"/>
                        <a:t>Identifies the tutor in this pair. Foreign key linking to User table.</a:t>
                      </a:r>
                    </a:p>
                  </a:txBody>
                  <a:tcPr anchor="ctr">
                    <a:solidFill>
                      <a:schemeClr val="bg1"/>
                    </a:solidFill>
                  </a:tcPr>
                </a:tc>
                <a:extLst>
                  <a:ext uri="{0D108BD9-81ED-4DB2-BD59-A6C34878D82A}">
                    <a16:rowId xmlns:a16="http://schemas.microsoft.com/office/drawing/2014/main" val="1840665485"/>
                  </a:ext>
                </a:extLst>
              </a:tr>
              <a:tr h="0">
                <a:tc>
                  <a:txBody>
                    <a:bodyPr/>
                    <a:lstStyle/>
                    <a:p>
                      <a:pPr>
                        <a:buNone/>
                      </a:pPr>
                      <a:r>
                        <a:rPr lang="en-US" sz="1600" err="1"/>
                        <a:t>TuteeId</a:t>
                      </a:r>
                      <a:endParaRPr lang="en-US" sz="1600" dirty="0" err="1"/>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Tutee001</a:t>
                      </a:r>
                    </a:p>
                  </a:txBody>
                  <a:tcPr anchor="ctr">
                    <a:solidFill>
                      <a:schemeClr val="bg1"/>
                    </a:solidFill>
                  </a:tcPr>
                </a:tc>
                <a:tc>
                  <a:txBody>
                    <a:bodyPr/>
                    <a:lstStyle/>
                    <a:p>
                      <a:pPr>
                        <a:buNone/>
                      </a:pPr>
                      <a:r>
                        <a:rPr lang="en-US" sz="1600" dirty="0"/>
                        <a:t>Identifies the tutee in this pair. </a:t>
                      </a:r>
                      <a:r>
                        <a:rPr lang="en-US" sz="1600" b="0" i="0" u="none" strike="noStrike" noProof="0" dirty="0">
                          <a:solidFill>
                            <a:srgbClr val="000000"/>
                          </a:solidFill>
                          <a:latin typeface="Calibri"/>
                        </a:rPr>
                        <a:t>Foreign key linking to User table.</a:t>
                      </a:r>
                    </a:p>
                  </a:txBody>
                  <a:tcPr anchor="ctr">
                    <a:solidFill>
                      <a:schemeClr val="bg1"/>
                    </a:solidFill>
                  </a:tcPr>
                </a:tc>
                <a:extLst>
                  <a:ext uri="{0D108BD9-81ED-4DB2-BD59-A6C34878D82A}">
                    <a16:rowId xmlns:a16="http://schemas.microsoft.com/office/drawing/2014/main" val="2234607868"/>
                  </a:ext>
                </a:extLst>
              </a:tr>
              <a:tr h="0">
                <a:tc>
                  <a:txBody>
                    <a:bodyPr/>
                    <a:lstStyle/>
                    <a:p>
                      <a:pPr>
                        <a:buNone/>
                      </a:pPr>
                      <a:r>
                        <a:rPr lang="en-US" sz="1600" dirty="0"/>
                        <a:t>Subject</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Full Stack Web Development</a:t>
                      </a:r>
                    </a:p>
                  </a:txBody>
                  <a:tcPr anchor="ctr">
                    <a:solidFill>
                      <a:schemeClr val="bg1"/>
                    </a:solidFill>
                  </a:tcPr>
                </a:tc>
                <a:tc>
                  <a:txBody>
                    <a:bodyPr/>
                    <a:lstStyle/>
                    <a:p>
                      <a:pPr>
                        <a:buNone/>
                      </a:pPr>
                      <a:r>
                        <a:rPr lang="en-US" sz="1600" dirty="0"/>
                        <a:t>Primary subject this pair focuses on</a:t>
                      </a:r>
                    </a:p>
                  </a:txBody>
                  <a:tcPr anchor="ctr">
                    <a:solidFill>
                      <a:schemeClr val="bg1"/>
                    </a:solidFill>
                  </a:tcPr>
                </a:tc>
                <a:extLst>
                  <a:ext uri="{0D108BD9-81ED-4DB2-BD59-A6C34878D82A}">
                    <a16:rowId xmlns:a16="http://schemas.microsoft.com/office/drawing/2014/main" val="3913391811"/>
                  </a:ext>
                </a:extLst>
              </a:tr>
              <a:tr h="0">
                <a:tc>
                  <a:txBody>
                    <a:bodyPr/>
                    <a:lstStyle/>
                    <a:p>
                      <a:pPr>
                        <a:buNone/>
                      </a:pPr>
                      <a:r>
                        <a:rPr lang="en-US" sz="1600" dirty="0"/>
                        <a:t>Status</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Active</a:t>
                      </a:r>
                    </a:p>
                  </a:txBody>
                  <a:tcPr anchor="ctr">
                    <a:solidFill>
                      <a:schemeClr val="bg1"/>
                    </a:solidFill>
                  </a:tcPr>
                </a:tc>
                <a:tc>
                  <a:txBody>
                    <a:bodyPr/>
                    <a:lstStyle/>
                    <a:p>
                      <a:pPr lvl="0">
                        <a:buNone/>
                      </a:pPr>
                      <a:r>
                        <a:rPr lang="en-US" sz="1600" b="0" i="0" u="none" strike="noStrike" noProof="0" dirty="0">
                          <a:latin typeface="Calibri"/>
                        </a:rPr>
                        <a:t>Current pair state: "active", "pending", "completed", "inactive".</a:t>
                      </a:r>
                      <a:endParaRPr lang="en-US" dirty="0"/>
                    </a:p>
                  </a:txBody>
                  <a:tcPr anchor="ctr">
                    <a:solidFill>
                      <a:schemeClr val="bg1"/>
                    </a:solidFill>
                  </a:tcPr>
                </a:tc>
                <a:extLst>
                  <a:ext uri="{0D108BD9-81ED-4DB2-BD59-A6C34878D82A}">
                    <a16:rowId xmlns:a16="http://schemas.microsoft.com/office/drawing/2014/main" val="2445594671"/>
                  </a:ext>
                </a:extLst>
              </a:tr>
              <a:tr h="0">
                <a:tc>
                  <a:txBody>
                    <a:bodyPr/>
                    <a:lstStyle/>
                    <a:p>
                      <a:pPr>
                        <a:buNone/>
                      </a:pPr>
                      <a:r>
                        <a:rPr lang="en-US" sz="1600" dirty="0" err="1"/>
                        <a:t>CreatedAt</a:t>
                      </a:r>
                    </a:p>
                  </a:txBody>
                  <a:tcPr anchor="ctr">
                    <a:solidFill>
                      <a:schemeClr val="bg1"/>
                    </a:solidFill>
                  </a:tcPr>
                </a:tc>
                <a:tc>
                  <a:txBody>
                    <a:bodyPr/>
                    <a:lstStyle/>
                    <a:p>
                      <a:pPr>
                        <a:buNone/>
                      </a:pPr>
                      <a:r>
                        <a:rPr lang="en-US" sz="1600" dirty="0"/>
                        <a:t>Date</a:t>
                      </a:r>
                    </a:p>
                  </a:txBody>
                  <a:tcPr anchor="ctr">
                    <a:solidFill>
                      <a:schemeClr val="bg1"/>
                    </a:solidFill>
                  </a:tcPr>
                </a:tc>
                <a:tc>
                  <a:txBody>
                    <a:bodyPr/>
                    <a:lstStyle/>
                    <a:p>
                      <a:pPr lvl="0">
                        <a:buNone/>
                      </a:pPr>
                      <a:r>
                        <a:rPr lang="en-US" sz="1600" b="0" i="0" u="none" strike="noStrike" baseline="0" noProof="0" dirty="0">
                          <a:solidFill>
                            <a:srgbClr val="000000"/>
                          </a:solidFill>
                          <a:latin typeface="Calibri"/>
                        </a:rPr>
                        <a:t>2020-05-18T14:10:30.123Z</a:t>
                      </a:r>
                      <a:endParaRPr lang="en-US" sz="1600" dirty="0"/>
                    </a:p>
                  </a:txBody>
                  <a:tcPr anchor="ctr">
                    <a:solidFill>
                      <a:schemeClr val="bg1"/>
                    </a:solidFill>
                  </a:tcPr>
                </a:tc>
                <a:tc>
                  <a:txBody>
                    <a:bodyPr/>
                    <a:lstStyle/>
                    <a:p>
                      <a:pPr>
                        <a:buNone/>
                      </a:pPr>
                      <a:r>
                        <a:rPr lang="en-US" sz="1600" dirty="0"/>
                        <a:t>Timestamp when the pair was first confirmed by tutor.</a:t>
                      </a:r>
                    </a:p>
                  </a:txBody>
                  <a:tcPr anchor="ctr">
                    <a:solidFill>
                      <a:schemeClr val="bg1"/>
                    </a:solidFill>
                  </a:tcPr>
                </a:tc>
                <a:extLst>
                  <a:ext uri="{0D108BD9-81ED-4DB2-BD59-A6C34878D82A}">
                    <a16:rowId xmlns:a16="http://schemas.microsoft.com/office/drawing/2014/main" val="2299822991"/>
                  </a:ext>
                </a:extLst>
              </a:tr>
              <a:tr h="0">
                <a:tc>
                  <a:txBody>
                    <a:bodyPr/>
                    <a:lstStyle/>
                    <a:p>
                      <a:pPr>
                        <a:buNone/>
                      </a:pPr>
                      <a:r>
                        <a:rPr lang="en-US" sz="1600" dirty="0"/>
                        <a:t>Notes</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Working on our Final Year Project together</a:t>
                      </a:r>
                    </a:p>
                  </a:txBody>
                  <a:tcPr anchor="ctr">
                    <a:solidFill>
                      <a:schemeClr val="bg1"/>
                    </a:solidFill>
                  </a:tcPr>
                </a:tc>
                <a:tc>
                  <a:txBody>
                    <a:bodyPr/>
                    <a:lstStyle/>
                    <a:p>
                      <a:pPr>
                        <a:buNone/>
                      </a:pPr>
                      <a:r>
                        <a:rPr lang="en-US" sz="1600" dirty="0"/>
                        <a:t>Optional notes about the relationship, visible to both parties.</a:t>
                      </a:r>
                    </a:p>
                  </a:txBody>
                  <a:tcPr anchor="ctr">
                    <a:solidFill>
                      <a:schemeClr val="bg1"/>
                    </a:solidFill>
                  </a:tcPr>
                </a:tc>
                <a:extLst>
                  <a:ext uri="{0D108BD9-81ED-4DB2-BD59-A6C34878D82A}">
                    <a16:rowId xmlns:a16="http://schemas.microsoft.com/office/drawing/2014/main" val="58047437"/>
                  </a:ext>
                </a:extLst>
              </a:tr>
            </a:tbl>
          </a:graphicData>
        </a:graphic>
      </p:graphicFrame>
    </p:spTree>
    <p:extLst>
      <p:ext uri="{BB962C8B-B14F-4D97-AF65-F5344CB8AC3E}">
        <p14:creationId xmlns:p14="http://schemas.microsoft.com/office/powerpoint/2010/main" val="8619376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9A8E4-BE7E-531D-FBF1-27F9630F2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E365E-2A53-FC18-0079-64101EA52BD6}"/>
              </a:ext>
            </a:extLst>
          </p:cNvPr>
          <p:cNvSpPr>
            <a:spLocks noGrp="1"/>
          </p:cNvSpPr>
          <p:nvPr>
            <p:ph type="title"/>
          </p:nvPr>
        </p:nvSpPr>
        <p:spPr>
          <a:xfrm>
            <a:off x="710063" y="0"/>
            <a:ext cx="10515600" cy="1325563"/>
          </a:xfrm>
        </p:spPr>
        <p:txBody>
          <a:bodyPr/>
          <a:lstStyle/>
          <a:p>
            <a:pPr lvl="0"/>
            <a:r>
              <a:rPr lang="en-US" b="1" dirty="0"/>
              <a:t>Data Modeling – Pairs Explanation</a:t>
            </a:r>
            <a:endParaRPr lang="en-US" dirty="0"/>
          </a:p>
        </p:txBody>
      </p:sp>
      <p:graphicFrame>
        <p:nvGraphicFramePr>
          <p:cNvPr id="3" name="Table 2">
            <a:extLst>
              <a:ext uri="{FF2B5EF4-FFF2-40B4-BE49-F238E27FC236}">
                <a16:creationId xmlns:a16="http://schemas.microsoft.com/office/drawing/2014/main" id="{348FEC39-7FB6-F741-0EAE-91D538619DEF}"/>
              </a:ext>
            </a:extLst>
          </p:cNvPr>
          <p:cNvGraphicFramePr>
            <a:graphicFrameLocks noGrp="1"/>
          </p:cNvGraphicFramePr>
          <p:nvPr>
            <p:extLst>
              <p:ext uri="{D42A27DB-BD31-4B8C-83A1-F6EECF244321}">
                <p14:modId xmlns:p14="http://schemas.microsoft.com/office/powerpoint/2010/main" val="2786682506"/>
              </p:ext>
            </p:extLst>
          </p:nvPr>
        </p:nvGraphicFramePr>
        <p:xfrm>
          <a:off x="811662" y="1084454"/>
          <a:ext cx="10312401" cy="4925301"/>
        </p:xfrm>
        <a:graphic>
          <a:graphicData uri="http://schemas.openxmlformats.org/drawingml/2006/table">
            <a:tbl>
              <a:tblPr firstRow="1" bandRow="1">
                <a:tableStyleId>{5940675A-B579-460E-94D1-54222C63F5DA}</a:tableStyleId>
              </a:tblPr>
              <a:tblGrid>
                <a:gridCol w="1513264">
                  <a:extLst>
                    <a:ext uri="{9D8B030D-6E8A-4147-A177-3AD203B41FA5}">
                      <a16:colId xmlns:a16="http://schemas.microsoft.com/office/drawing/2014/main" val="351617117"/>
                    </a:ext>
                  </a:extLst>
                </a:gridCol>
                <a:gridCol w="8799137">
                  <a:extLst>
                    <a:ext uri="{9D8B030D-6E8A-4147-A177-3AD203B41FA5}">
                      <a16:colId xmlns:a16="http://schemas.microsoft.com/office/drawing/2014/main" val="730843508"/>
                    </a:ext>
                  </a:extLst>
                </a:gridCol>
              </a:tblGrid>
              <a:tr h="556618">
                <a:tc>
                  <a:txBody>
                    <a:bodyPr/>
                    <a:lstStyle/>
                    <a:p>
                      <a:r>
                        <a:rPr lang="en-US" sz="1400" dirty="0"/>
                        <a:t>Attribute</a:t>
                      </a:r>
                      <a:endParaRPr lang="en-SG" sz="1400" dirty="0"/>
                    </a:p>
                  </a:txBody>
                  <a:tcPr/>
                </a:tc>
                <a:tc>
                  <a:txBody>
                    <a:bodyPr/>
                    <a:lstStyle/>
                    <a:p>
                      <a:r>
                        <a:rPr lang="en-US" sz="1400" dirty="0"/>
                        <a:t>Explanation</a:t>
                      </a:r>
                      <a:endParaRPr lang="en-SG" sz="1400" dirty="0"/>
                    </a:p>
                  </a:txBody>
                  <a:tcPr/>
                </a:tc>
                <a:extLst>
                  <a:ext uri="{0D108BD9-81ED-4DB2-BD59-A6C34878D82A}">
                    <a16:rowId xmlns:a16="http://schemas.microsoft.com/office/drawing/2014/main" val="2681630158"/>
                  </a:ext>
                </a:extLst>
              </a:tr>
              <a:tr h="854073">
                <a:tc>
                  <a:txBody>
                    <a:bodyPr/>
                    <a:lstStyle/>
                    <a:p>
                      <a:r>
                        <a:rPr lang="en-US" sz="1400" b="1" dirty="0" err="1"/>
                        <a:t>pairId</a:t>
                      </a:r>
                      <a:endParaRPr lang="en-SG" sz="1400" dirty="0"/>
                    </a:p>
                  </a:txBody>
                  <a:tcPr/>
                </a:tc>
                <a:tc>
                  <a:txBody>
                    <a:bodyPr/>
                    <a:lstStyle/>
                    <a:p>
                      <a:r>
                        <a:rPr lang="en-US" sz="1400" dirty="0"/>
                        <a:t>Unique identifier for each tutoring relationship, serving as the primary key. Used to link this relationship to reviews, messages, and historical records. Immutable once created to ensure data integrity.</a:t>
                      </a:r>
                      <a:endParaRPr lang="en-SG" sz="1400" dirty="0"/>
                    </a:p>
                  </a:txBody>
                  <a:tcPr/>
                </a:tc>
                <a:extLst>
                  <a:ext uri="{0D108BD9-81ED-4DB2-BD59-A6C34878D82A}">
                    <a16:rowId xmlns:a16="http://schemas.microsoft.com/office/drawing/2014/main" val="3781544032"/>
                  </a:ext>
                </a:extLst>
              </a:tr>
              <a:tr h="556618">
                <a:tc>
                  <a:txBody>
                    <a:bodyPr/>
                    <a:lstStyle/>
                    <a:p>
                      <a:r>
                        <a:rPr lang="en-US" sz="1400" b="1" dirty="0" err="1"/>
                        <a:t>tutorId</a:t>
                      </a:r>
                      <a:endParaRPr lang="en-SG" sz="1400" dirty="0"/>
                    </a:p>
                  </a:txBody>
                  <a:tcPr/>
                </a:tc>
                <a:tc>
                  <a:txBody>
                    <a:bodyPr/>
                    <a:lstStyle/>
                    <a:p>
                      <a:r>
                        <a:rPr lang="en-US" sz="1400" dirty="0"/>
                        <a:t>Foreign key referencing </a:t>
                      </a:r>
                      <a:r>
                        <a:rPr lang="en-US" sz="1400" dirty="0" err="1"/>
                        <a:t>User.userId</a:t>
                      </a:r>
                      <a:r>
                        <a:rPr lang="en-US" sz="1400" dirty="0"/>
                        <a:t> to identify the student providing tutoring. Enables tracking all teaching relationships for each user and displays "Your Students" lists on the tutor dashboard.</a:t>
                      </a:r>
                      <a:endParaRPr lang="en-SG" sz="1400" dirty="0"/>
                    </a:p>
                  </a:txBody>
                  <a:tcPr/>
                </a:tc>
                <a:extLst>
                  <a:ext uri="{0D108BD9-81ED-4DB2-BD59-A6C34878D82A}">
                    <a16:rowId xmlns:a16="http://schemas.microsoft.com/office/drawing/2014/main" val="1186390317"/>
                  </a:ext>
                </a:extLst>
              </a:tr>
              <a:tr h="556618">
                <a:tc>
                  <a:txBody>
                    <a:bodyPr/>
                    <a:lstStyle/>
                    <a:p>
                      <a:r>
                        <a:rPr lang="en-US" sz="1400" b="1" dirty="0" err="1"/>
                        <a:t>tuteeId</a:t>
                      </a:r>
                      <a:endParaRPr lang="en-SG" sz="1400" dirty="0"/>
                    </a:p>
                  </a:txBody>
                  <a:tcPr/>
                </a:tc>
                <a:tc>
                  <a:txBody>
                    <a:bodyPr/>
                    <a:lstStyle/>
                    <a:p>
                      <a:r>
                        <a:rPr lang="en-US" sz="1400" dirty="0"/>
                        <a:t>Foreign key referencing </a:t>
                      </a:r>
                      <a:r>
                        <a:rPr lang="en-US" sz="1400" dirty="0" err="1"/>
                        <a:t>User.userId</a:t>
                      </a:r>
                      <a:r>
                        <a:rPr lang="en-US" sz="1400" dirty="0"/>
                        <a:t> to identify the student receiving tutoring. Essential for permissions (only tutees can review) and notifications. System prevents self-pairing by validating </a:t>
                      </a:r>
                      <a:r>
                        <a:rPr lang="en-US" sz="1400" dirty="0" err="1"/>
                        <a:t>tutorId</a:t>
                      </a:r>
                      <a:r>
                        <a:rPr lang="en-US" sz="1400" dirty="0"/>
                        <a:t> ≠ </a:t>
                      </a:r>
                      <a:r>
                        <a:rPr lang="en-US" sz="1400" dirty="0" err="1"/>
                        <a:t>tuteeId</a:t>
                      </a:r>
                      <a:r>
                        <a:rPr lang="en-US" sz="1400" dirty="0"/>
                        <a:t>.</a:t>
                      </a:r>
                      <a:endParaRPr lang="en-SG" sz="1400" dirty="0"/>
                    </a:p>
                  </a:txBody>
                  <a:tcPr/>
                </a:tc>
                <a:extLst>
                  <a:ext uri="{0D108BD9-81ED-4DB2-BD59-A6C34878D82A}">
                    <a16:rowId xmlns:a16="http://schemas.microsoft.com/office/drawing/2014/main" val="2739790492"/>
                  </a:ext>
                </a:extLst>
              </a:tr>
              <a:tr h="556618">
                <a:tc>
                  <a:txBody>
                    <a:bodyPr/>
                    <a:lstStyle/>
                    <a:p>
                      <a:r>
                        <a:rPr lang="en-US" sz="1400" b="1" dirty="0"/>
                        <a:t>subject</a:t>
                      </a:r>
                      <a:r>
                        <a:rPr lang="en-US" sz="1400" dirty="0"/>
                        <a:t> </a:t>
                      </a:r>
                      <a:endParaRPr lang="en-SG" sz="1400" dirty="0"/>
                    </a:p>
                  </a:txBody>
                  <a:tcPr/>
                </a:tc>
                <a:tc>
                  <a:txBody>
                    <a:bodyPr/>
                    <a:lstStyle/>
                    <a:p>
                      <a:r>
                        <a:rPr lang="en-US" sz="1400" dirty="0"/>
                        <a:t>The specific subject or module this tutoring relationship focuses on (e.g., "Full Stack Web Development"). Stored as a string for query simplicity. Critical for filtering and understanding which subjects a tutor actively teaches.</a:t>
                      </a:r>
                      <a:endParaRPr lang="en-SG" sz="1400" dirty="0"/>
                    </a:p>
                  </a:txBody>
                  <a:tcPr/>
                </a:tc>
                <a:extLst>
                  <a:ext uri="{0D108BD9-81ED-4DB2-BD59-A6C34878D82A}">
                    <a16:rowId xmlns:a16="http://schemas.microsoft.com/office/drawing/2014/main" val="3444452971"/>
                  </a:ext>
                </a:extLst>
              </a:tr>
              <a:tr h="556618">
                <a:tc>
                  <a:txBody>
                    <a:bodyPr/>
                    <a:lstStyle/>
                    <a:p>
                      <a:r>
                        <a:rPr lang="en-US" sz="1400" b="1" dirty="0"/>
                        <a:t>status</a:t>
                      </a:r>
                      <a:r>
                        <a:rPr lang="en-US" sz="1400" dirty="0"/>
                        <a:t> </a:t>
                      </a:r>
                      <a:endParaRPr lang="en-SG" sz="1400" dirty="0"/>
                    </a:p>
                  </a:txBody>
                  <a:tcPr/>
                </a:tc>
                <a:tc>
                  <a:txBody>
                    <a:bodyPr/>
                    <a:lstStyle/>
                    <a:p>
                      <a:r>
                        <a:rPr lang="en-US" sz="1400" dirty="0"/>
                        <a:t>Tracks the relationship state: "pending" (awaiting tutor response), "active" (currently meeting), "completed" (ended successfully), or "cancelled" (terminated early). Drives application business logic and UI displays. Transitions are validated to ensure proper state progression.</a:t>
                      </a:r>
                      <a:endParaRPr lang="en-SG" sz="1400" dirty="0"/>
                    </a:p>
                  </a:txBody>
                  <a:tcPr/>
                </a:tc>
                <a:extLst>
                  <a:ext uri="{0D108BD9-81ED-4DB2-BD59-A6C34878D82A}">
                    <a16:rowId xmlns:a16="http://schemas.microsoft.com/office/drawing/2014/main" val="625060157"/>
                  </a:ext>
                </a:extLst>
              </a:tr>
              <a:tr h="556618">
                <a:tc>
                  <a:txBody>
                    <a:bodyPr/>
                    <a:lstStyle/>
                    <a:p>
                      <a:r>
                        <a:rPr lang="en-US" sz="1400" b="1" dirty="0" err="1"/>
                        <a:t>createdAt</a:t>
                      </a:r>
                      <a:endParaRPr lang="en-SG" sz="1400" dirty="0"/>
                    </a:p>
                  </a:txBody>
                  <a:tcPr/>
                </a:tc>
                <a:tc>
                  <a:txBody>
                    <a:bodyPr/>
                    <a:lstStyle/>
                    <a:p>
                      <a:r>
                        <a:rPr lang="en-US" sz="1400" dirty="0"/>
                        <a:t>Timestamp recording when the pair request was created. Enables chronological sorting, enforces response time expectations, and provides analytics on platform adoption trends. Displayed as relative time ("Requested 2 days ago").</a:t>
                      </a:r>
                      <a:endParaRPr lang="en-SG" sz="1400" dirty="0"/>
                    </a:p>
                  </a:txBody>
                  <a:tcPr/>
                </a:tc>
                <a:extLst>
                  <a:ext uri="{0D108BD9-81ED-4DB2-BD59-A6C34878D82A}">
                    <a16:rowId xmlns:a16="http://schemas.microsoft.com/office/drawing/2014/main" val="1627226646"/>
                  </a:ext>
                </a:extLst>
              </a:tr>
              <a:tr h="556618">
                <a:tc>
                  <a:txBody>
                    <a:bodyPr/>
                    <a:lstStyle/>
                    <a:p>
                      <a:r>
                        <a:rPr lang="en-US" sz="1400" b="1" dirty="0"/>
                        <a:t>notes</a:t>
                      </a:r>
                      <a:endParaRPr lang="en-SG" sz="1400" dirty="0"/>
                    </a:p>
                  </a:txBody>
                  <a:tcPr/>
                </a:tc>
                <a:tc>
                  <a:txBody>
                    <a:bodyPr/>
                    <a:lstStyle/>
                    <a:p>
                      <a:r>
                        <a:rPr lang="en-US" sz="1400" dirty="0"/>
                        <a:t>Optional free-text field for context about the tutoring relationship. Visible to both parties but not public. Helps maintain shared understanding of learning goals and session focus without repetitive explanations.</a:t>
                      </a:r>
                      <a:endParaRPr lang="en-SG" sz="1400" dirty="0"/>
                    </a:p>
                  </a:txBody>
                  <a:tcPr/>
                </a:tc>
                <a:extLst>
                  <a:ext uri="{0D108BD9-81ED-4DB2-BD59-A6C34878D82A}">
                    <a16:rowId xmlns:a16="http://schemas.microsoft.com/office/drawing/2014/main" val="453739930"/>
                  </a:ext>
                </a:extLst>
              </a:tr>
            </a:tbl>
          </a:graphicData>
        </a:graphic>
      </p:graphicFrame>
    </p:spTree>
    <p:extLst>
      <p:ext uri="{BB962C8B-B14F-4D97-AF65-F5344CB8AC3E}">
        <p14:creationId xmlns:p14="http://schemas.microsoft.com/office/powerpoint/2010/main" val="2083774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4B4D4-1B52-AD31-65F7-CFD3ACF80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C7C21-5EB6-A4EE-713A-716B9E273676}"/>
              </a:ext>
            </a:extLst>
          </p:cNvPr>
          <p:cNvSpPr>
            <a:spLocks noGrp="1"/>
          </p:cNvSpPr>
          <p:nvPr>
            <p:ph type="title"/>
          </p:nvPr>
        </p:nvSpPr>
        <p:spPr>
          <a:xfrm>
            <a:off x="392563" y="-25400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B1D23553-067A-4514-E11B-458EE92CEC93}"/>
              </a:ext>
            </a:extLst>
          </p:cNvPr>
          <p:cNvGraphicFramePr>
            <a:graphicFrameLocks noGrp="1"/>
          </p:cNvGraphicFramePr>
          <p:nvPr>
            <p:extLst>
              <p:ext uri="{D42A27DB-BD31-4B8C-83A1-F6EECF244321}">
                <p14:modId xmlns:p14="http://schemas.microsoft.com/office/powerpoint/2010/main" val="880465917"/>
              </p:ext>
            </p:extLst>
          </p:nvPr>
        </p:nvGraphicFramePr>
        <p:xfrm>
          <a:off x="392475" y="845525"/>
          <a:ext cx="11398518" cy="594360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Review</a:t>
                      </a:r>
                      <a:endParaRPr lang="en-US" sz="1600" b="0" dirty="0"/>
                    </a:p>
                  </a:txBody>
                  <a:tcPr anchor="ctr">
                    <a:solidFill>
                      <a:schemeClr val="bg1"/>
                    </a:solidFill>
                  </a:tcPr>
                </a:tc>
                <a:tc gridSpan="3">
                  <a:txBody>
                    <a:bodyPr/>
                    <a:lstStyle/>
                    <a:p>
                      <a:pPr>
                        <a:buNone/>
                      </a:pPr>
                      <a:r>
                        <a:rPr lang="en-US" sz="1600" b="1" dirty="0"/>
                        <a:t>Description: </a:t>
                      </a:r>
                      <a:r>
                        <a:rPr lang="en-US" sz="1600" b="0" i="0" u="none" strike="noStrike" noProof="0" dirty="0">
                          <a:latin typeface="Calibri"/>
                        </a:rPr>
                        <a:t>Stores ratings and written feedback provided by tutees about their tutoring relationships</a:t>
                      </a:r>
                      <a:endParaRPr lang="en-US" sz="1600" b="1" dirty="0"/>
                    </a:p>
                    <a:p>
                      <a:pPr>
                        <a:buNone/>
                      </a:pPr>
                      <a:endParaRPr lang="en-US" sz="1600" b="1" dirty="0"/>
                    </a:p>
                    <a:p>
                      <a:pPr>
                        <a:buNone/>
                      </a:pPr>
                      <a:r>
                        <a:rPr lang="en-US" sz="1600" b="1" dirty="0"/>
                        <a:t>Usage in App:</a:t>
                      </a:r>
                      <a:r>
                        <a:rPr lang="en-US" sz="1600" dirty="0"/>
                        <a:t> </a:t>
                      </a:r>
                      <a:r>
                        <a:rPr lang="en-US" sz="1600" b="0" i="0" u="none" strike="noStrike" noProof="0" dirty="0">
                          <a:latin typeface="Calibri"/>
                        </a:rPr>
                        <a:t>Displayed on tutor profile pages to build trust, calculates average rating for each tutor, helps students make informed decisions, and provides feedback loop for tutors to improve.</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buNone/>
                      </a:pPr>
                      <a:r>
                        <a:rPr lang="en-US" sz="1600" err="1"/>
                        <a:t>ReviewId</a:t>
                      </a:r>
                      <a:endParaRPr lang="en-US" sz="1600" dirty="0" err="1"/>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R3001</a:t>
                      </a:r>
                    </a:p>
                  </a:txBody>
                  <a:tcPr anchor="ctr">
                    <a:solidFill>
                      <a:schemeClr val="bg1"/>
                    </a:solidFill>
                  </a:tcPr>
                </a:tc>
                <a:tc>
                  <a:txBody>
                    <a:bodyPr/>
                    <a:lstStyle/>
                    <a:p>
                      <a:pPr>
                        <a:buNone/>
                      </a:pPr>
                      <a:r>
                        <a:rPr lang="en-US" sz="1600" dirty="0"/>
                        <a:t>Unique identifier for each review, primary key.</a:t>
                      </a:r>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US" sz="1600" err="1"/>
                        <a:t>PairId</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P2001</a:t>
                      </a:r>
                    </a:p>
                  </a:txBody>
                  <a:tcPr anchor="ctr">
                    <a:solidFill>
                      <a:schemeClr val="bg1"/>
                    </a:solidFill>
                  </a:tcPr>
                </a:tc>
                <a:tc>
                  <a:txBody>
                    <a:bodyPr/>
                    <a:lstStyle/>
                    <a:p>
                      <a:pPr>
                        <a:buNone/>
                      </a:pPr>
                      <a:r>
                        <a:rPr lang="en-US" sz="1600" dirty="0"/>
                        <a:t>Foreign key linking to Pair table, identifies which tutoring relationship is being reviewed.</a:t>
                      </a:r>
                    </a:p>
                  </a:txBody>
                  <a:tcPr anchor="ctr">
                    <a:solidFill>
                      <a:schemeClr val="bg1"/>
                    </a:solidFill>
                  </a:tcPr>
                </a:tc>
                <a:extLst>
                  <a:ext uri="{0D108BD9-81ED-4DB2-BD59-A6C34878D82A}">
                    <a16:rowId xmlns:a16="http://schemas.microsoft.com/office/drawing/2014/main" val="1840665485"/>
                  </a:ext>
                </a:extLst>
              </a:tr>
              <a:tr h="0">
                <a:tc>
                  <a:txBody>
                    <a:bodyPr/>
                    <a:lstStyle/>
                    <a:p>
                      <a:pPr>
                        <a:buNone/>
                      </a:pPr>
                      <a:r>
                        <a:rPr lang="en-US" sz="1600" err="1"/>
                        <a:t>TutorId</a:t>
                      </a:r>
                      <a:endParaRPr lang="en-US" sz="1600" dirty="0" err="1"/>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Tutor001</a:t>
                      </a:r>
                    </a:p>
                  </a:txBody>
                  <a:tcPr anchor="ctr">
                    <a:solidFill>
                      <a:schemeClr val="bg1"/>
                    </a:solidFill>
                  </a:tcPr>
                </a:tc>
                <a:tc>
                  <a:txBody>
                    <a:bodyPr/>
                    <a:lstStyle/>
                    <a:p>
                      <a:pPr>
                        <a:buNone/>
                      </a:pPr>
                      <a:r>
                        <a:rPr lang="en-US" sz="1600" dirty="0"/>
                        <a:t>Identifies tutor being reviewed. Foreign key linking to Pairs table.</a:t>
                      </a:r>
                    </a:p>
                  </a:txBody>
                  <a:tcPr anchor="ctr">
                    <a:solidFill>
                      <a:schemeClr val="bg1"/>
                    </a:solidFill>
                  </a:tcPr>
                </a:tc>
                <a:extLst>
                  <a:ext uri="{0D108BD9-81ED-4DB2-BD59-A6C34878D82A}">
                    <a16:rowId xmlns:a16="http://schemas.microsoft.com/office/drawing/2014/main" val="2234607868"/>
                  </a:ext>
                </a:extLst>
              </a:tr>
              <a:tr h="0">
                <a:tc>
                  <a:txBody>
                    <a:bodyPr/>
                    <a:lstStyle/>
                    <a:p>
                      <a:pPr>
                        <a:buNone/>
                      </a:pPr>
                      <a:r>
                        <a:rPr lang="en-US" sz="1600" err="1"/>
                        <a:t>TuteeId</a:t>
                      </a:r>
                      <a:endParaRPr lang="en-US" sz="1600" dirty="0" err="1"/>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Tutee001</a:t>
                      </a:r>
                    </a:p>
                  </a:txBody>
                  <a:tcPr anchor="ctr">
                    <a:solidFill>
                      <a:schemeClr val="bg1"/>
                    </a:solidFill>
                  </a:tcPr>
                </a:tc>
                <a:tc>
                  <a:txBody>
                    <a:bodyPr/>
                    <a:lstStyle/>
                    <a:p>
                      <a:pPr lvl="0">
                        <a:buNone/>
                      </a:pPr>
                      <a:r>
                        <a:rPr lang="en-US" sz="1600" b="0" i="0" u="none" strike="noStrike" noProof="0" dirty="0">
                          <a:solidFill>
                            <a:srgbClr val="000000"/>
                          </a:solidFill>
                          <a:latin typeface="Calibri"/>
                        </a:rPr>
                        <a:t>Identifies tutee reviewing. Foreign key linking to Pairs table.</a:t>
                      </a:r>
                      <a:endParaRPr lang="en-US" dirty="0"/>
                    </a:p>
                  </a:txBody>
                  <a:tcPr anchor="ctr">
                    <a:solidFill>
                      <a:schemeClr val="bg1"/>
                    </a:solidFill>
                  </a:tcPr>
                </a:tc>
                <a:extLst>
                  <a:ext uri="{0D108BD9-81ED-4DB2-BD59-A6C34878D82A}">
                    <a16:rowId xmlns:a16="http://schemas.microsoft.com/office/drawing/2014/main" val="3913391811"/>
                  </a:ext>
                </a:extLst>
              </a:tr>
              <a:tr h="0">
                <a:tc>
                  <a:txBody>
                    <a:bodyPr/>
                    <a:lstStyle/>
                    <a:p>
                      <a:pPr>
                        <a:buNone/>
                      </a:pPr>
                      <a:r>
                        <a:rPr lang="en-US" sz="1600" dirty="0"/>
                        <a:t>Rating</a:t>
                      </a:r>
                    </a:p>
                  </a:txBody>
                  <a:tcPr anchor="ctr">
                    <a:solidFill>
                      <a:schemeClr val="bg1"/>
                    </a:solidFill>
                  </a:tcPr>
                </a:tc>
                <a:tc>
                  <a:txBody>
                    <a:bodyPr/>
                    <a:lstStyle/>
                    <a:p>
                      <a:pPr>
                        <a:buNone/>
                      </a:pPr>
                      <a:r>
                        <a:rPr lang="en-US" sz="1600" dirty="0"/>
                        <a:t>Integer</a:t>
                      </a:r>
                    </a:p>
                  </a:txBody>
                  <a:tcPr anchor="ctr">
                    <a:solidFill>
                      <a:schemeClr val="bg1"/>
                    </a:solidFill>
                  </a:tcPr>
                </a:tc>
                <a:tc>
                  <a:txBody>
                    <a:bodyPr/>
                    <a:lstStyle/>
                    <a:p>
                      <a:pPr>
                        <a:buNone/>
                      </a:pPr>
                      <a:r>
                        <a:rPr lang="en-US" sz="1600" dirty="0"/>
                        <a:t>5</a:t>
                      </a:r>
                    </a:p>
                  </a:txBody>
                  <a:tcPr anchor="ctr">
                    <a:solidFill>
                      <a:schemeClr val="bg1"/>
                    </a:solidFill>
                  </a:tcPr>
                </a:tc>
                <a:tc>
                  <a:txBody>
                    <a:bodyPr/>
                    <a:lstStyle/>
                    <a:p>
                      <a:pPr lvl="0">
                        <a:buNone/>
                      </a:pPr>
                      <a:r>
                        <a:rPr lang="en-US" sz="1600" b="0" i="0" u="none" strike="noStrike" noProof="0" dirty="0">
                          <a:latin typeface="Calibri"/>
                        </a:rPr>
                        <a:t>Star rating from 1-5, used to calculate tutor's average rating.</a:t>
                      </a:r>
                      <a:endParaRPr lang="en-US" dirty="0"/>
                    </a:p>
                  </a:txBody>
                  <a:tcPr anchor="ctr">
                    <a:solidFill>
                      <a:schemeClr val="bg1"/>
                    </a:solidFill>
                  </a:tcPr>
                </a:tc>
                <a:extLst>
                  <a:ext uri="{0D108BD9-81ED-4DB2-BD59-A6C34878D82A}">
                    <a16:rowId xmlns:a16="http://schemas.microsoft.com/office/drawing/2014/main" val="2445594671"/>
                  </a:ext>
                </a:extLst>
              </a:tr>
              <a:tr h="0">
                <a:tc>
                  <a:txBody>
                    <a:bodyPr/>
                    <a:lstStyle/>
                    <a:p>
                      <a:pPr>
                        <a:buNone/>
                      </a:pPr>
                      <a:r>
                        <a:rPr lang="en-US" sz="1600" err="1"/>
                        <a:t>ReviewDate</a:t>
                      </a:r>
                      <a:endParaRPr lang="en-US" sz="1600" dirty="0" err="1"/>
                    </a:p>
                  </a:txBody>
                  <a:tcPr anchor="ctr">
                    <a:solidFill>
                      <a:schemeClr val="bg1"/>
                    </a:solidFill>
                  </a:tcPr>
                </a:tc>
                <a:tc>
                  <a:txBody>
                    <a:bodyPr/>
                    <a:lstStyle/>
                    <a:p>
                      <a:pPr>
                        <a:buNone/>
                      </a:pPr>
                      <a:r>
                        <a:rPr lang="en-US" sz="1600" dirty="0"/>
                        <a:t>Date</a:t>
                      </a:r>
                    </a:p>
                  </a:txBody>
                  <a:tcPr anchor="ctr">
                    <a:solidFill>
                      <a:schemeClr val="bg1"/>
                    </a:solidFill>
                  </a:tcPr>
                </a:tc>
                <a:tc>
                  <a:txBody>
                    <a:bodyPr/>
                    <a:lstStyle/>
                    <a:p>
                      <a:pPr lvl="0">
                        <a:buNone/>
                      </a:pPr>
                      <a:r>
                        <a:rPr lang="en-US" sz="1600" b="0" i="0" u="none" strike="noStrike" noProof="0" dirty="0">
                          <a:latin typeface="Calibri"/>
                        </a:rPr>
                        <a:t>2025-11-20T16:00:00Z</a:t>
                      </a:r>
                      <a:endParaRPr lang="en-US" dirty="0"/>
                    </a:p>
                  </a:txBody>
                  <a:tcPr anchor="ctr">
                    <a:solidFill>
                      <a:schemeClr val="bg1"/>
                    </a:solidFill>
                  </a:tcPr>
                </a:tc>
                <a:tc>
                  <a:txBody>
                    <a:bodyPr/>
                    <a:lstStyle/>
                    <a:p>
                      <a:pPr>
                        <a:buNone/>
                      </a:pPr>
                      <a:r>
                        <a:rPr lang="en-US" sz="1600" dirty="0"/>
                        <a:t>Timestamp when review was submitted, displayed as "X days ago".</a:t>
                      </a:r>
                    </a:p>
                  </a:txBody>
                  <a:tcPr anchor="ctr">
                    <a:solidFill>
                      <a:schemeClr val="bg1"/>
                    </a:solidFill>
                  </a:tcPr>
                </a:tc>
                <a:extLst>
                  <a:ext uri="{0D108BD9-81ED-4DB2-BD59-A6C34878D82A}">
                    <a16:rowId xmlns:a16="http://schemas.microsoft.com/office/drawing/2014/main" val="2299822991"/>
                  </a:ext>
                </a:extLst>
              </a:tr>
              <a:tr h="0">
                <a:tc>
                  <a:txBody>
                    <a:bodyPr/>
                    <a:lstStyle/>
                    <a:p>
                      <a:pPr>
                        <a:buNone/>
                      </a:pPr>
                      <a:r>
                        <a:rPr lang="en-US" sz="1600" err="1"/>
                        <a:t>IsApproved</a:t>
                      </a:r>
                      <a:endParaRPr lang="en-US" sz="1600" dirty="0" err="1"/>
                    </a:p>
                  </a:txBody>
                  <a:tcPr anchor="ctr">
                    <a:solidFill>
                      <a:schemeClr val="bg1"/>
                    </a:solidFill>
                  </a:tcPr>
                </a:tc>
                <a:tc>
                  <a:txBody>
                    <a:bodyPr/>
                    <a:lstStyle/>
                    <a:p>
                      <a:pPr>
                        <a:buNone/>
                      </a:pPr>
                      <a:r>
                        <a:rPr lang="en-US" sz="1600" dirty="0"/>
                        <a:t>Boolean</a:t>
                      </a:r>
                    </a:p>
                  </a:txBody>
                  <a:tcPr anchor="ctr">
                    <a:solidFill>
                      <a:schemeClr val="bg1"/>
                    </a:solidFill>
                  </a:tcPr>
                </a:tc>
                <a:tc>
                  <a:txBody>
                    <a:bodyPr/>
                    <a:lstStyle/>
                    <a:p>
                      <a:pPr>
                        <a:buNone/>
                      </a:pPr>
                      <a:r>
                        <a:rPr lang="en-US" sz="1600" dirty="0"/>
                        <a:t>True</a:t>
                      </a:r>
                    </a:p>
                  </a:txBody>
                  <a:tcPr anchor="ctr">
                    <a:solidFill>
                      <a:schemeClr val="bg1"/>
                    </a:solidFill>
                  </a:tcPr>
                </a:tc>
                <a:tc>
                  <a:txBody>
                    <a:bodyPr/>
                    <a:lstStyle/>
                    <a:p>
                      <a:pPr>
                        <a:buNone/>
                      </a:pPr>
                      <a:r>
                        <a:rPr lang="en-US" sz="1600" dirty="0"/>
                        <a:t>Administrators must approve the review before it gets displayed. If there is a low rating, administrators are prompted to investigate the issue by reaching out to the student.</a:t>
                      </a:r>
                    </a:p>
                  </a:txBody>
                  <a:tcPr anchor="ctr">
                    <a:solidFill>
                      <a:schemeClr val="bg1"/>
                    </a:solidFill>
                  </a:tcPr>
                </a:tc>
                <a:extLst>
                  <a:ext uri="{0D108BD9-81ED-4DB2-BD59-A6C34878D82A}">
                    <a16:rowId xmlns:a16="http://schemas.microsoft.com/office/drawing/2014/main" val="58047437"/>
                  </a:ext>
                </a:extLst>
              </a:tr>
            </a:tbl>
          </a:graphicData>
        </a:graphic>
      </p:graphicFrame>
    </p:spTree>
    <p:extLst>
      <p:ext uri="{BB962C8B-B14F-4D97-AF65-F5344CB8AC3E}">
        <p14:creationId xmlns:p14="http://schemas.microsoft.com/office/powerpoint/2010/main" val="26270744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7F282-8454-0606-18A1-81E1E6A38E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22C4A-530D-F34B-02C1-761F6C7E9D95}"/>
              </a:ext>
            </a:extLst>
          </p:cNvPr>
          <p:cNvSpPr>
            <a:spLocks noGrp="1"/>
          </p:cNvSpPr>
          <p:nvPr>
            <p:ph type="title"/>
          </p:nvPr>
        </p:nvSpPr>
        <p:spPr>
          <a:xfrm>
            <a:off x="710063" y="0"/>
            <a:ext cx="10520520" cy="997085"/>
          </a:xfrm>
        </p:spPr>
        <p:txBody>
          <a:bodyPr/>
          <a:lstStyle/>
          <a:p>
            <a:pPr lvl="0"/>
            <a:r>
              <a:rPr lang="en-US" b="1" dirty="0"/>
              <a:t>Data Modeling – Review Explanation</a:t>
            </a:r>
            <a:endParaRPr lang="en-US" dirty="0"/>
          </a:p>
        </p:txBody>
      </p:sp>
      <p:graphicFrame>
        <p:nvGraphicFramePr>
          <p:cNvPr id="3" name="Table 2">
            <a:extLst>
              <a:ext uri="{FF2B5EF4-FFF2-40B4-BE49-F238E27FC236}">
                <a16:creationId xmlns:a16="http://schemas.microsoft.com/office/drawing/2014/main" id="{50D81CF4-5D15-833B-2AC8-D4FE76A9E832}"/>
              </a:ext>
            </a:extLst>
          </p:cNvPr>
          <p:cNvGraphicFramePr>
            <a:graphicFrameLocks noGrp="1"/>
          </p:cNvGraphicFramePr>
          <p:nvPr>
            <p:extLst>
              <p:ext uri="{D42A27DB-BD31-4B8C-83A1-F6EECF244321}">
                <p14:modId xmlns:p14="http://schemas.microsoft.com/office/powerpoint/2010/main" val="1666674932"/>
              </p:ext>
            </p:extLst>
          </p:nvPr>
        </p:nvGraphicFramePr>
        <p:xfrm>
          <a:off x="811662" y="923948"/>
          <a:ext cx="10312401" cy="5450007"/>
        </p:xfrm>
        <a:graphic>
          <a:graphicData uri="http://schemas.openxmlformats.org/drawingml/2006/table">
            <a:tbl>
              <a:tblPr firstRow="1" bandRow="1">
                <a:tableStyleId>{5940675A-B579-460E-94D1-54222C63F5DA}</a:tableStyleId>
              </a:tblPr>
              <a:tblGrid>
                <a:gridCol w="1513264">
                  <a:extLst>
                    <a:ext uri="{9D8B030D-6E8A-4147-A177-3AD203B41FA5}">
                      <a16:colId xmlns:a16="http://schemas.microsoft.com/office/drawing/2014/main" val="351617117"/>
                    </a:ext>
                  </a:extLst>
                </a:gridCol>
                <a:gridCol w="8799137">
                  <a:extLst>
                    <a:ext uri="{9D8B030D-6E8A-4147-A177-3AD203B41FA5}">
                      <a16:colId xmlns:a16="http://schemas.microsoft.com/office/drawing/2014/main" val="730843508"/>
                    </a:ext>
                  </a:extLst>
                </a:gridCol>
              </a:tblGrid>
              <a:tr h="556618">
                <a:tc>
                  <a:txBody>
                    <a:bodyPr/>
                    <a:lstStyle/>
                    <a:p>
                      <a:r>
                        <a:rPr lang="en-US" sz="1400" dirty="0"/>
                        <a:t>Attribute</a:t>
                      </a:r>
                      <a:endParaRPr lang="en-SG" sz="1400" dirty="0"/>
                    </a:p>
                  </a:txBody>
                  <a:tcPr/>
                </a:tc>
                <a:tc>
                  <a:txBody>
                    <a:bodyPr/>
                    <a:lstStyle/>
                    <a:p>
                      <a:r>
                        <a:rPr lang="en-US" sz="1400" dirty="0"/>
                        <a:t>Explanation</a:t>
                      </a:r>
                      <a:endParaRPr lang="en-SG" sz="1400" dirty="0"/>
                    </a:p>
                  </a:txBody>
                  <a:tcPr/>
                </a:tc>
                <a:extLst>
                  <a:ext uri="{0D108BD9-81ED-4DB2-BD59-A6C34878D82A}">
                    <a16:rowId xmlns:a16="http://schemas.microsoft.com/office/drawing/2014/main" val="2681630158"/>
                  </a:ext>
                </a:extLst>
              </a:tr>
              <a:tr h="854073">
                <a:tc>
                  <a:txBody>
                    <a:bodyPr/>
                    <a:lstStyle/>
                    <a:p>
                      <a:r>
                        <a:rPr lang="en-US" sz="1400" b="1" dirty="0" err="1"/>
                        <a:t>reviewId</a:t>
                      </a:r>
                      <a:endParaRPr lang="en-SG" sz="1400" dirty="0"/>
                    </a:p>
                  </a:txBody>
                  <a:tcPr/>
                </a:tc>
                <a:tc>
                  <a:txBody>
                    <a:bodyPr/>
                    <a:lstStyle/>
                    <a:p>
                      <a:r>
                        <a:rPr lang="en-US" sz="1400" dirty="0"/>
                        <a:t>Unique identifier for each review, generated automatically when submitted. Serves as primary key and enables review-specific operations like editing or admin moderation. Prevents duplicate reviews through database constraints.</a:t>
                      </a:r>
                      <a:endParaRPr lang="en-SG" sz="1400" dirty="0"/>
                    </a:p>
                  </a:txBody>
                  <a:tcPr/>
                </a:tc>
                <a:extLst>
                  <a:ext uri="{0D108BD9-81ED-4DB2-BD59-A6C34878D82A}">
                    <a16:rowId xmlns:a16="http://schemas.microsoft.com/office/drawing/2014/main" val="3781544032"/>
                  </a:ext>
                </a:extLst>
              </a:tr>
              <a:tr h="556618">
                <a:tc>
                  <a:txBody>
                    <a:bodyPr/>
                    <a:lstStyle/>
                    <a:p>
                      <a:r>
                        <a:rPr lang="en-US" sz="1400" b="1" dirty="0" err="1"/>
                        <a:t>pairId</a:t>
                      </a:r>
                      <a:r>
                        <a:rPr lang="en-US" sz="1400" dirty="0"/>
                        <a:t> </a:t>
                      </a:r>
                      <a:endParaRPr lang="en-SG" sz="1400" dirty="0"/>
                    </a:p>
                  </a:txBody>
                  <a:tcPr/>
                </a:tc>
                <a:tc>
                  <a:txBody>
                    <a:bodyPr/>
                    <a:lstStyle/>
                    <a:p>
                      <a:r>
                        <a:rPr lang="en-US" sz="1400" dirty="0"/>
                        <a:t>Foreign key linking this review to the specific Pair being evaluated. Ensures reviews are contextual - evaluating a specific tutoring relationship with defined subject and timeline rather than the tutor in abstract.</a:t>
                      </a:r>
                      <a:endParaRPr lang="en-SG" sz="1400" dirty="0"/>
                    </a:p>
                  </a:txBody>
                  <a:tcPr/>
                </a:tc>
                <a:extLst>
                  <a:ext uri="{0D108BD9-81ED-4DB2-BD59-A6C34878D82A}">
                    <a16:rowId xmlns:a16="http://schemas.microsoft.com/office/drawing/2014/main" val="1186390317"/>
                  </a:ext>
                </a:extLst>
              </a:tr>
              <a:tr h="556618">
                <a:tc>
                  <a:txBody>
                    <a:bodyPr/>
                    <a:lstStyle/>
                    <a:p>
                      <a:r>
                        <a:rPr lang="en-US" sz="1400" b="1" dirty="0" err="1"/>
                        <a:t>tutorId</a:t>
                      </a:r>
                      <a:r>
                        <a:rPr lang="en-US" sz="1400" dirty="0"/>
                        <a:t> </a:t>
                      </a:r>
                      <a:endParaRPr lang="en-SG" sz="1400" dirty="0"/>
                    </a:p>
                  </a:txBody>
                  <a:tcPr/>
                </a:tc>
                <a:tc>
                  <a:txBody>
                    <a:bodyPr/>
                    <a:lstStyle/>
                    <a:p>
                      <a:r>
                        <a:rPr lang="en-US" sz="1400" dirty="0"/>
                        <a:t>Directly references the User being reviewed. While creating data redundancy, this dramatically improves query performance for displaying all reviews received by a specific tutor without requiring joins through the Pair table.</a:t>
                      </a:r>
                      <a:endParaRPr lang="en-SG" sz="1400" dirty="0"/>
                    </a:p>
                  </a:txBody>
                  <a:tcPr/>
                </a:tc>
                <a:extLst>
                  <a:ext uri="{0D108BD9-81ED-4DB2-BD59-A6C34878D82A}">
                    <a16:rowId xmlns:a16="http://schemas.microsoft.com/office/drawing/2014/main" val="2739790492"/>
                  </a:ext>
                </a:extLst>
              </a:tr>
              <a:tr h="556618">
                <a:tc>
                  <a:txBody>
                    <a:bodyPr/>
                    <a:lstStyle/>
                    <a:p>
                      <a:r>
                        <a:rPr lang="en-US" sz="1400" b="1" dirty="0" err="1"/>
                        <a:t>tuteeId</a:t>
                      </a:r>
                      <a:r>
                        <a:rPr lang="en-US" sz="1400" dirty="0"/>
                        <a:t> </a:t>
                      </a:r>
                      <a:endParaRPr lang="en-SG" sz="1400" dirty="0"/>
                    </a:p>
                  </a:txBody>
                  <a:tcPr/>
                </a:tc>
                <a:tc>
                  <a:txBody>
                    <a:bodyPr/>
                    <a:lstStyle/>
                    <a:p>
                      <a:r>
                        <a:rPr lang="en-US" sz="1400" dirty="0"/>
                        <a:t>Stores the </a:t>
                      </a:r>
                      <a:r>
                        <a:rPr lang="en-US" sz="1400" dirty="0" err="1"/>
                        <a:t>userId</a:t>
                      </a:r>
                      <a:r>
                        <a:rPr lang="en-US" sz="1400" dirty="0"/>
                        <a:t> of the student who wrote the review. Enables verification that only pair participants can leave reviews, displays reviewer information for credibility, and prevents multiple reviews from the same tutee for the same pair.</a:t>
                      </a:r>
                      <a:endParaRPr lang="en-SG" sz="1400" dirty="0"/>
                    </a:p>
                  </a:txBody>
                  <a:tcPr/>
                </a:tc>
                <a:extLst>
                  <a:ext uri="{0D108BD9-81ED-4DB2-BD59-A6C34878D82A}">
                    <a16:rowId xmlns:a16="http://schemas.microsoft.com/office/drawing/2014/main" val="3444452971"/>
                  </a:ext>
                </a:extLst>
              </a:tr>
              <a:tr h="556618">
                <a:tc>
                  <a:txBody>
                    <a:bodyPr/>
                    <a:lstStyle/>
                    <a:p>
                      <a:r>
                        <a:rPr lang="en-US" sz="1400" b="1" dirty="0"/>
                        <a:t>rating</a:t>
                      </a:r>
                      <a:endParaRPr lang="en-SG" sz="1400" dirty="0"/>
                    </a:p>
                  </a:txBody>
                  <a:tcPr/>
                </a:tc>
                <a:tc>
                  <a:txBody>
                    <a:bodyPr/>
                    <a:lstStyle/>
                    <a:p>
                      <a:r>
                        <a:rPr lang="en-US" sz="1400" dirty="0"/>
                        <a:t>Numerical score from 1 (poor) to 5 (excellent) quantifying tutee satisfaction. Aggregates into </a:t>
                      </a:r>
                      <a:r>
                        <a:rPr lang="en-US" sz="1400" dirty="0" err="1"/>
                        <a:t>User.rating</a:t>
                      </a:r>
                      <a:r>
                        <a:rPr lang="en-US" sz="1400" dirty="0"/>
                        <a:t> and determines search result ordering. Displayed visually as stars throughout the interface to communicate quality immediately.</a:t>
                      </a:r>
                      <a:endParaRPr lang="en-SG" sz="1400" dirty="0"/>
                    </a:p>
                  </a:txBody>
                  <a:tcPr/>
                </a:tc>
                <a:extLst>
                  <a:ext uri="{0D108BD9-81ED-4DB2-BD59-A6C34878D82A}">
                    <a16:rowId xmlns:a16="http://schemas.microsoft.com/office/drawing/2014/main" val="625060157"/>
                  </a:ext>
                </a:extLst>
              </a:tr>
              <a:tr h="556618">
                <a:tc>
                  <a:txBody>
                    <a:bodyPr/>
                    <a:lstStyle/>
                    <a:p>
                      <a:r>
                        <a:rPr lang="en-US" sz="1400" b="1" dirty="0" err="1"/>
                        <a:t>reviewDate</a:t>
                      </a:r>
                      <a:endParaRPr lang="en-SG" sz="1400" dirty="0"/>
                    </a:p>
                  </a:txBody>
                  <a:tcPr/>
                </a:tc>
                <a:tc>
                  <a:txBody>
                    <a:bodyPr/>
                    <a:lstStyle/>
                    <a:p>
                      <a:r>
                        <a:rPr lang="en-US" sz="1400" dirty="0"/>
                        <a:t>Timestamp when the review was submitted. Enables chronological display, shows recency for weighting feedback appropriately, and enforces review submission windows. Recent reviews show relative timestamps; older reviews show absolute dates.</a:t>
                      </a:r>
                      <a:endParaRPr lang="en-SG" sz="1400" dirty="0"/>
                    </a:p>
                  </a:txBody>
                  <a:tcPr/>
                </a:tc>
                <a:extLst>
                  <a:ext uri="{0D108BD9-81ED-4DB2-BD59-A6C34878D82A}">
                    <a16:rowId xmlns:a16="http://schemas.microsoft.com/office/drawing/2014/main" val="1627226646"/>
                  </a:ext>
                </a:extLst>
              </a:tr>
              <a:tr h="556618">
                <a:tc>
                  <a:txBody>
                    <a:bodyPr/>
                    <a:lstStyle/>
                    <a:p>
                      <a:r>
                        <a:rPr lang="en-US" sz="1400" b="1" dirty="0" err="1"/>
                        <a:t>isApproved</a:t>
                      </a:r>
                      <a:r>
                        <a:rPr lang="en-US" sz="1400" dirty="0"/>
                        <a:t> </a:t>
                      </a:r>
                      <a:endParaRPr lang="en-SG" sz="1400" dirty="0"/>
                    </a:p>
                  </a:txBody>
                  <a:tcPr/>
                </a:tc>
                <a:tc>
                  <a:txBody>
                    <a:bodyPr/>
                    <a:lstStyle/>
                    <a:p>
                      <a:r>
                        <a:rPr lang="en-US" sz="1400" dirty="0"/>
                        <a:t>Boolean flag implementing Synapse's admin moderation feature. Reviews start as false and require TP administrator approval before becoming publicly visible. Protects against inappropriate content and maintains educational standards while providing institutional accountability.</a:t>
                      </a:r>
                      <a:endParaRPr lang="en-SG" sz="1400" dirty="0"/>
                    </a:p>
                  </a:txBody>
                  <a:tcPr/>
                </a:tc>
                <a:extLst>
                  <a:ext uri="{0D108BD9-81ED-4DB2-BD59-A6C34878D82A}">
                    <a16:rowId xmlns:a16="http://schemas.microsoft.com/office/drawing/2014/main" val="453739930"/>
                  </a:ext>
                </a:extLst>
              </a:tr>
            </a:tbl>
          </a:graphicData>
        </a:graphic>
      </p:graphicFrame>
    </p:spTree>
    <p:extLst>
      <p:ext uri="{BB962C8B-B14F-4D97-AF65-F5344CB8AC3E}">
        <p14:creationId xmlns:p14="http://schemas.microsoft.com/office/powerpoint/2010/main" val="3143223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04A99-F036-99BF-EDAF-B98A5D270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6FB76-9A53-9EE7-33F2-0970C62E4B1F}"/>
              </a:ext>
            </a:extLst>
          </p:cNvPr>
          <p:cNvSpPr>
            <a:spLocks noGrp="1"/>
          </p:cNvSpPr>
          <p:nvPr>
            <p:ph type="title"/>
          </p:nvPr>
        </p:nvSpPr>
        <p:spPr>
          <a:xfrm>
            <a:off x="396741"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5EDB9386-DF00-F508-C7C5-8F696F56F56D}"/>
              </a:ext>
            </a:extLst>
          </p:cNvPr>
          <p:cNvGraphicFramePr>
            <a:graphicFrameLocks noGrp="1"/>
          </p:cNvGraphicFramePr>
          <p:nvPr>
            <p:extLst>
              <p:ext uri="{D42A27DB-BD31-4B8C-83A1-F6EECF244321}">
                <p14:modId xmlns:p14="http://schemas.microsoft.com/office/powerpoint/2010/main" val="931774752"/>
              </p:ext>
            </p:extLst>
          </p:nvPr>
        </p:nvGraphicFramePr>
        <p:xfrm>
          <a:off x="396741" y="1127760"/>
          <a:ext cx="11398518" cy="460248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Subject</a:t>
                      </a:r>
                      <a:endParaRPr lang="en-US" sz="1600" b="0" dirty="0"/>
                    </a:p>
                  </a:txBody>
                  <a:tcPr anchor="ctr">
                    <a:solidFill>
                      <a:schemeClr val="bg1"/>
                    </a:solidFill>
                  </a:tcPr>
                </a:tc>
                <a:tc gridSpan="3">
                  <a:txBody>
                    <a:bodyPr/>
                    <a:lstStyle/>
                    <a:p>
                      <a:pPr>
                        <a:buNone/>
                      </a:pPr>
                      <a:r>
                        <a:rPr lang="en-US" sz="1600" b="1" dirty="0"/>
                        <a:t>Description: </a:t>
                      </a:r>
                      <a:r>
                        <a:rPr lang="en-US" sz="1600" dirty="0"/>
                        <a:t>Stores all available TP modules as a reference list for the platform.</a:t>
                      </a:r>
                    </a:p>
                    <a:p>
                      <a:pPr>
                        <a:buNone/>
                      </a:pPr>
                      <a:endParaRPr lang="en-US" sz="1600" b="1" dirty="0"/>
                    </a:p>
                    <a:p>
                      <a:pPr>
                        <a:buNone/>
                      </a:pPr>
                      <a:r>
                        <a:rPr lang="en-US" sz="1600" b="1" dirty="0"/>
                        <a:t>Usage in App:</a:t>
                      </a:r>
                      <a:r>
                        <a:rPr lang="en-US" sz="1600" dirty="0"/>
                        <a:t> Provides standardized module names for dropdown selections in user profiles and pair requests, ensures data consistency across the platform, and enables filtering and searching by official TP module codes.</a:t>
                      </a:r>
                      <a:endParaRPr lang="en-US" sz="1600" b="0" i="0" u="none" strike="noStrike" noProof="0" dirty="0">
                        <a:latin typeface="Calibri"/>
                      </a:endParaRP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buNone/>
                      </a:pPr>
                      <a:r>
                        <a:rPr lang="en-US" sz="1600" dirty="0" err="1"/>
                        <a:t>subjectId</a:t>
                      </a:r>
                      <a:endParaRPr lang="en-US" sz="1600" dirty="0"/>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SG" sz="1800" b="0" i="0" kern="1200" dirty="0">
                          <a:solidFill>
                            <a:schemeClr val="tx1"/>
                          </a:solidFill>
                          <a:effectLst/>
                          <a:latin typeface="+mn-lt"/>
                          <a:ea typeface="+mn-ea"/>
                          <a:cs typeface="+mn-cs"/>
                        </a:rPr>
                        <a:t>CIT2C20</a:t>
                      </a:r>
                      <a:endParaRPr lang="en-US" sz="1600" dirty="0"/>
                    </a:p>
                  </a:txBody>
                  <a:tcPr anchor="ctr">
                    <a:solidFill>
                      <a:schemeClr val="bg1"/>
                    </a:solidFill>
                  </a:tcPr>
                </a:tc>
                <a:tc>
                  <a:txBody>
                    <a:bodyPr/>
                    <a:lstStyle/>
                    <a:p>
                      <a:pPr>
                        <a:buNone/>
                      </a:pPr>
                      <a:r>
                        <a:rPr lang="en-US" sz="1600" dirty="0"/>
                        <a:t>Unique identifier for each subject, primary key for subject records.</a:t>
                      </a:r>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US" sz="1600" dirty="0" err="1"/>
                        <a:t>subjectName</a:t>
                      </a:r>
                      <a:endParaRPr lang="en-US" sz="1600" dirty="0"/>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Full Stack Web Development</a:t>
                      </a:r>
                    </a:p>
                  </a:txBody>
                  <a:tcPr anchor="ctr">
                    <a:solidFill>
                      <a:schemeClr val="bg1"/>
                    </a:solidFill>
                  </a:tcPr>
                </a:tc>
                <a:tc>
                  <a:txBody>
                    <a:bodyPr/>
                    <a:lstStyle/>
                    <a:p>
                      <a:pPr>
                        <a:buNone/>
                      </a:pPr>
                      <a:r>
                        <a:rPr lang="en-US" sz="1600" dirty="0"/>
                        <a:t>Full name of the subject or module as displayed in the UI.</a:t>
                      </a:r>
                    </a:p>
                  </a:txBody>
                  <a:tcPr anchor="ctr">
                    <a:solidFill>
                      <a:schemeClr val="bg1"/>
                    </a:solidFill>
                  </a:tcPr>
                </a:tc>
                <a:extLst>
                  <a:ext uri="{0D108BD9-81ED-4DB2-BD59-A6C34878D82A}">
                    <a16:rowId xmlns:a16="http://schemas.microsoft.com/office/drawing/2014/main" val="1840665485"/>
                  </a:ext>
                </a:extLst>
              </a:tr>
              <a:tr h="0">
                <a:tc>
                  <a:txBody>
                    <a:bodyPr/>
                    <a:lstStyle/>
                    <a:p>
                      <a:pPr>
                        <a:buNone/>
                      </a:pPr>
                      <a:r>
                        <a:rPr lang="en-US" sz="1600" dirty="0" err="1"/>
                        <a:t>moduleCode</a:t>
                      </a:r>
                      <a:endParaRPr lang="en-US" sz="1600" dirty="0"/>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FWEB</a:t>
                      </a:r>
                    </a:p>
                  </a:txBody>
                  <a:tcPr anchor="ctr">
                    <a:solidFill>
                      <a:schemeClr val="bg1"/>
                    </a:solidFill>
                  </a:tcPr>
                </a:tc>
                <a:tc>
                  <a:txBody>
                    <a:bodyPr/>
                    <a:lstStyle/>
                    <a:p>
                      <a:pPr>
                        <a:buNone/>
                      </a:pPr>
                      <a:r>
                        <a:rPr lang="en-US" sz="1600" dirty="0"/>
                        <a:t>Used for quick identification and filtering.</a:t>
                      </a:r>
                    </a:p>
                  </a:txBody>
                  <a:tcPr anchor="ctr">
                    <a:solidFill>
                      <a:schemeClr val="bg1"/>
                    </a:solidFill>
                  </a:tcPr>
                </a:tc>
                <a:extLst>
                  <a:ext uri="{0D108BD9-81ED-4DB2-BD59-A6C34878D82A}">
                    <a16:rowId xmlns:a16="http://schemas.microsoft.com/office/drawing/2014/main" val="2234607868"/>
                  </a:ext>
                </a:extLst>
              </a:tr>
              <a:tr h="0">
                <a:tc>
                  <a:txBody>
                    <a:bodyPr/>
                    <a:lstStyle/>
                    <a:p>
                      <a:pPr>
                        <a:buNone/>
                      </a:pPr>
                      <a:r>
                        <a:rPr lang="en-US" sz="1600" dirty="0"/>
                        <a:t>School</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School of Informatics &amp; IT (IIT)</a:t>
                      </a:r>
                    </a:p>
                  </a:txBody>
                  <a:tcPr anchor="ctr">
                    <a:solidFill>
                      <a:schemeClr val="bg1"/>
                    </a:solidFill>
                  </a:tcPr>
                </a:tc>
                <a:tc>
                  <a:txBody>
                    <a:bodyPr/>
                    <a:lstStyle/>
                    <a:p>
                      <a:pPr lvl="0">
                        <a:buNone/>
                      </a:pPr>
                      <a:r>
                        <a:rPr lang="en-US" dirty="0"/>
                        <a:t>Used for filtering by diploma program.</a:t>
                      </a:r>
                    </a:p>
                  </a:txBody>
                  <a:tcPr anchor="ctr">
                    <a:solidFill>
                      <a:schemeClr val="bg1"/>
                    </a:solidFill>
                  </a:tcPr>
                </a:tc>
                <a:extLst>
                  <a:ext uri="{0D108BD9-81ED-4DB2-BD59-A6C34878D82A}">
                    <a16:rowId xmlns:a16="http://schemas.microsoft.com/office/drawing/2014/main" val="3913391811"/>
                  </a:ext>
                </a:extLst>
              </a:tr>
              <a:tr h="0">
                <a:tc>
                  <a:txBody>
                    <a:bodyPr/>
                    <a:lstStyle/>
                    <a:p>
                      <a:pPr>
                        <a:buNone/>
                      </a:pPr>
                      <a:r>
                        <a:rPr lang="en-US" sz="1600" dirty="0" err="1"/>
                        <a:t>isActive</a:t>
                      </a:r>
                      <a:endParaRPr lang="en-US" sz="1600" dirty="0"/>
                    </a:p>
                  </a:txBody>
                  <a:tcPr anchor="ctr">
                    <a:solidFill>
                      <a:schemeClr val="bg1"/>
                    </a:solidFill>
                  </a:tcPr>
                </a:tc>
                <a:tc>
                  <a:txBody>
                    <a:bodyPr/>
                    <a:lstStyle/>
                    <a:p>
                      <a:pPr>
                        <a:buNone/>
                      </a:pPr>
                      <a:r>
                        <a:rPr lang="en-US" sz="1600" dirty="0"/>
                        <a:t>Boolean</a:t>
                      </a:r>
                    </a:p>
                  </a:txBody>
                  <a:tcPr anchor="ctr">
                    <a:solidFill>
                      <a:schemeClr val="bg1"/>
                    </a:solidFill>
                  </a:tcPr>
                </a:tc>
                <a:tc>
                  <a:txBody>
                    <a:bodyPr/>
                    <a:lstStyle/>
                    <a:p>
                      <a:pPr>
                        <a:buNone/>
                      </a:pPr>
                      <a:r>
                        <a:rPr lang="en-US" sz="1600" dirty="0"/>
                        <a:t>True</a:t>
                      </a:r>
                    </a:p>
                  </a:txBody>
                  <a:tcPr anchor="ctr">
                    <a:solidFill>
                      <a:schemeClr val="bg1"/>
                    </a:solidFill>
                  </a:tcPr>
                </a:tc>
                <a:tc>
                  <a:txBody>
                    <a:bodyPr/>
                    <a:lstStyle/>
                    <a:p>
                      <a:pPr lvl="0">
                        <a:buNone/>
                      </a:pPr>
                      <a:r>
                        <a:rPr lang="en-US" dirty="0"/>
                        <a:t>Flag indicating if the module is currently offered. Archived modules are flagged as False.</a:t>
                      </a:r>
                    </a:p>
                  </a:txBody>
                  <a:tcPr anchor="ctr">
                    <a:solidFill>
                      <a:schemeClr val="bg1"/>
                    </a:solidFill>
                  </a:tcPr>
                </a:tc>
                <a:extLst>
                  <a:ext uri="{0D108BD9-81ED-4DB2-BD59-A6C34878D82A}">
                    <a16:rowId xmlns:a16="http://schemas.microsoft.com/office/drawing/2014/main" val="2445594671"/>
                  </a:ext>
                </a:extLst>
              </a:tr>
            </a:tbl>
          </a:graphicData>
        </a:graphic>
      </p:graphicFrame>
    </p:spTree>
    <p:extLst>
      <p:ext uri="{BB962C8B-B14F-4D97-AF65-F5344CB8AC3E}">
        <p14:creationId xmlns:p14="http://schemas.microsoft.com/office/powerpoint/2010/main" val="2522762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B8170-52DD-4B25-1C7E-E839D72C0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4DA02-BBF5-2A1C-C83E-5247A89FD622}"/>
              </a:ext>
            </a:extLst>
          </p:cNvPr>
          <p:cNvSpPr>
            <a:spLocks noGrp="1"/>
          </p:cNvSpPr>
          <p:nvPr>
            <p:ph type="title"/>
          </p:nvPr>
        </p:nvSpPr>
        <p:spPr>
          <a:xfrm>
            <a:off x="710063" y="0"/>
            <a:ext cx="10520520" cy="997085"/>
          </a:xfrm>
        </p:spPr>
        <p:txBody>
          <a:bodyPr/>
          <a:lstStyle/>
          <a:p>
            <a:pPr lvl="0"/>
            <a:r>
              <a:rPr lang="en-US" b="1" dirty="0"/>
              <a:t>Data Modeling – Subject Explanation</a:t>
            </a:r>
            <a:endParaRPr lang="en-US" dirty="0"/>
          </a:p>
        </p:txBody>
      </p:sp>
      <p:graphicFrame>
        <p:nvGraphicFramePr>
          <p:cNvPr id="3" name="Table 2">
            <a:extLst>
              <a:ext uri="{FF2B5EF4-FFF2-40B4-BE49-F238E27FC236}">
                <a16:creationId xmlns:a16="http://schemas.microsoft.com/office/drawing/2014/main" id="{1F331A65-46B0-CA0C-AC6E-EB30ACFC8E7B}"/>
              </a:ext>
            </a:extLst>
          </p:cNvPr>
          <p:cNvGraphicFramePr>
            <a:graphicFrameLocks noGrp="1"/>
          </p:cNvGraphicFramePr>
          <p:nvPr>
            <p:extLst>
              <p:ext uri="{D42A27DB-BD31-4B8C-83A1-F6EECF244321}">
                <p14:modId xmlns:p14="http://schemas.microsoft.com/office/powerpoint/2010/main" val="4131239779"/>
              </p:ext>
            </p:extLst>
          </p:nvPr>
        </p:nvGraphicFramePr>
        <p:xfrm>
          <a:off x="811662" y="923948"/>
          <a:ext cx="10312401" cy="3812065"/>
        </p:xfrm>
        <a:graphic>
          <a:graphicData uri="http://schemas.openxmlformats.org/drawingml/2006/table">
            <a:tbl>
              <a:tblPr firstRow="1" bandRow="1">
                <a:tableStyleId>{5940675A-B579-460E-94D1-54222C63F5DA}</a:tableStyleId>
              </a:tblPr>
              <a:tblGrid>
                <a:gridCol w="1513264">
                  <a:extLst>
                    <a:ext uri="{9D8B030D-6E8A-4147-A177-3AD203B41FA5}">
                      <a16:colId xmlns:a16="http://schemas.microsoft.com/office/drawing/2014/main" val="351617117"/>
                    </a:ext>
                  </a:extLst>
                </a:gridCol>
                <a:gridCol w="8799137">
                  <a:extLst>
                    <a:ext uri="{9D8B030D-6E8A-4147-A177-3AD203B41FA5}">
                      <a16:colId xmlns:a16="http://schemas.microsoft.com/office/drawing/2014/main" val="730843508"/>
                    </a:ext>
                  </a:extLst>
                </a:gridCol>
              </a:tblGrid>
              <a:tr h="556618">
                <a:tc>
                  <a:txBody>
                    <a:bodyPr/>
                    <a:lstStyle/>
                    <a:p>
                      <a:r>
                        <a:rPr lang="en-US" sz="1400" dirty="0"/>
                        <a:t>Attribute</a:t>
                      </a:r>
                      <a:endParaRPr lang="en-SG" sz="1400" dirty="0"/>
                    </a:p>
                  </a:txBody>
                  <a:tcPr/>
                </a:tc>
                <a:tc>
                  <a:txBody>
                    <a:bodyPr/>
                    <a:lstStyle/>
                    <a:p>
                      <a:r>
                        <a:rPr lang="en-US" sz="1400" dirty="0"/>
                        <a:t>Explanation</a:t>
                      </a:r>
                      <a:endParaRPr lang="en-SG" sz="1400" dirty="0"/>
                    </a:p>
                  </a:txBody>
                  <a:tcPr/>
                </a:tc>
                <a:extLst>
                  <a:ext uri="{0D108BD9-81ED-4DB2-BD59-A6C34878D82A}">
                    <a16:rowId xmlns:a16="http://schemas.microsoft.com/office/drawing/2014/main" val="2681630158"/>
                  </a:ext>
                </a:extLst>
              </a:tr>
              <a:tr h="854073">
                <a:tc>
                  <a:txBody>
                    <a:bodyPr/>
                    <a:lstStyle/>
                    <a:p>
                      <a:r>
                        <a:rPr lang="en-US" sz="1400" b="1" dirty="0" err="1"/>
                        <a:t>subjectId</a:t>
                      </a:r>
                      <a:endParaRPr lang="en-SG" sz="1400" dirty="0"/>
                    </a:p>
                  </a:txBody>
                  <a:tcPr/>
                </a:tc>
                <a:tc>
                  <a:txBody>
                    <a:bodyPr/>
                    <a:lstStyle/>
                    <a:p>
                      <a:r>
                        <a:rPr lang="en-US" sz="1400" dirty="0"/>
                        <a:t>Unique identifier for each subject record, serving as the primary key. Provides future flexibility for normalized foreign key relationships and enables subject management operations like archiving outdated modules.</a:t>
                      </a:r>
                      <a:endParaRPr lang="en-SG" sz="1400" dirty="0"/>
                    </a:p>
                  </a:txBody>
                  <a:tcPr/>
                </a:tc>
                <a:extLst>
                  <a:ext uri="{0D108BD9-81ED-4DB2-BD59-A6C34878D82A}">
                    <a16:rowId xmlns:a16="http://schemas.microsoft.com/office/drawing/2014/main" val="3781544032"/>
                  </a:ext>
                </a:extLst>
              </a:tr>
              <a:tr h="556618">
                <a:tc>
                  <a:txBody>
                    <a:bodyPr/>
                    <a:lstStyle/>
                    <a:p>
                      <a:r>
                        <a:rPr lang="en-US" sz="1400" b="1" dirty="0" err="1"/>
                        <a:t>subjectName</a:t>
                      </a:r>
                      <a:endParaRPr lang="en-SG" sz="1400" dirty="0"/>
                    </a:p>
                  </a:txBody>
                  <a:tcPr/>
                </a:tc>
                <a:tc>
                  <a:txBody>
                    <a:bodyPr/>
                    <a:lstStyle/>
                    <a:p>
                      <a:r>
                        <a:rPr lang="en-US" sz="1400" dirty="0"/>
                        <a:t>The full, official name of the module as it appears in TP curriculum (e.g., "Computational Thinking"). What students see in dropdowns and search results. Ensures consistent, official terminology across the platform.</a:t>
                      </a:r>
                      <a:endParaRPr lang="en-SG" sz="1400" dirty="0"/>
                    </a:p>
                  </a:txBody>
                  <a:tcPr/>
                </a:tc>
                <a:extLst>
                  <a:ext uri="{0D108BD9-81ED-4DB2-BD59-A6C34878D82A}">
                    <a16:rowId xmlns:a16="http://schemas.microsoft.com/office/drawing/2014/main" val="1186390317"/>
                  </a:ext>
                </a:extLst>
              </a:tr>
              <a:tr h="556618">
                <a:tc>
                  <a:txBody>
                    <a:bodyPr/>
                    <a:lstStyle/>
                    <a:p>
                      <a:r>
                        <a:rPr lang="en-US" sz="1400" b="1" dirty="0" err="1"/>
                        <a:t>moduleCode</a:t>
                      </a:r>
                      <a:endParaRPr lang="en-SG" sz="1400" dirty="0"/>
                    </a:p>
                  </a:txBody>
                  <a:tcPr/>
                </a:tc>
                <a:tc>
                  <a:txBody>
                    <a:bodyPr/>
                    <a:lstStyle/>
                    <a:p>
                      <a:r>
                        <a:rPr lang="en-US" sz="1400" dirty="0"/>
                        <a:t>The official TP module code (e.g. "CIT2C20"). Enables bidirectional searching, students can search by full name or code. Useful for advanced users and filtering operations in analytics.</a:t>
                      </a:r>
                      <a:endParaRPr lang="en-SG" sz="1400" dirty="0"/>
                    </a:p>
                  </a:txBody>
                  <a:tcPr/>
                </a:tc>
                <a:extLst>
                  <a:ext uri="{0D108BD9-81ED-4DB2-BD59-A6C34878D82A}">
                    <a16:rowId xmlns:a16="http://schemas.microsoft.com/office/drawing/2014/main" val="2739790492"/>
                  </a:ext>
                </a:extLst>
              </a:tr>
              <a:tr h="556618">
                <a:tc>
                  <a:txBody>
                    <a:bodyPr/>
                    <a:lstStyle/>
                    <a:p>
                      <a:r>
                        <a:rPr lang="en-US" sz="1400" b="1" dirty="0"/>
                        <a:t>school</a:t>
                      </a:r>
                      <a:r>
                        <a:rPr lang="en-US" sz="1400" dirty="0"/>
                        <a:t> </a:t>
                      </a:r>
                      <a:endParaRPr lang="en-SG" sz="1400" dirty="0"/>
                    </a:p>
                  </a:txBody>
                  <a:tcPr/>
                </a:tc>
                <a:tc>
                  <a:txBody>
                    <a:bodyPr/>
                    <a:lstStyle/>
                    <a:p>
                      <a:r>
                        <a:rPr lang="en-US" sz="1400" dirty="0"/>
                        <a:t>Identifies which TP school offers this module. Enables diploma-specific filtering.</a:t>
                      </a:r>
                      <a:endParaRPr lang="en-SG" sz="1400" dirty="0"/>
                    </a:p>
                  </a:txBody>
                  <a:tcPr/>
                </a:tc>
                <a:extLst>
                  <a:ext uri="{0D108BD9-81ED-4DB2-BD59-A6C34878D82A}">
                    <a16:rowId xmlns:a16="http://schemas.microsoft.com/office/drawing/2014/main" val="3444452971"/>
                  </a:ext>
                </a:extLst>
              </a:tr>
              <a:tr h="556618">
                <a:tc>
                  <a:txBody>
                    <a:bodyPr/>
                    <a:lstStyle/>
                    <a:p>
                      <a:r>
                        <a:rPr lang="en-US" sz="1400" b="1" dirty="0" err="1"/>
                        <a:t>isActive</a:t>
                      </a:r>
                      <a:endParaRPr lang="en-SG"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Boolean flag indicating whether module is currently taught. Archived modules remain in database for historical integrity but don't appear in current dropdowns. Prevents confusion as TP curriculum evolves.</a:t>
                      </a:r>
                    </a:p>
                    <a:p>
                      <a:endParaRPr lang="en-SG" sz="1400" dirty="0"/>
                    </a:p>
                  </a:txBody>
                  <a:tcPr/>
                </a:tc>
                <a:extLst>
                  <a:ext uri="{0D108BD9-81ED-4DB2-BD59-A6C34878D82A}">
                    <a16:rowId xmlns:a16="http://schemas.microsoft.com/office/drawing/2014/main" val="625060157"/>
                  </a:ext>
                </a:extLst>
              </a:tr>
            </a:tbl>
          </a:graphicData>
        </a:graphic>
      </p:graphicFrame>
    </p:spTree>
    <p:extLst>
      <p:ext uri="{BB962C8B-B14F-4D97-AF65-F5344CB8AC3E}">
        <p14:creationId xmlns:p14="http://schemas.microsoft.com/office/powerpoint/2010/main" val="42566022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48155-F406-4BC4-F00E-ECC5B4F47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21CB5-1E42-F362-1089-EE5EE322B5EC}"/>
              </a:ext>
            </a:extLst>
          </p:cNvPr>
          <p:cNvSpPr>
            <a:spLocks noGrp="1"/>
          </p:cNvSpPr>
          <p:nvPr>
            <p:ph type="title"/>
          </p:nvPr>
        </p:nvSpPr>
        <p:spPr>
          <a:xfrm>
            <a:off x="498396" y="-370417"/>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24AE90AC-7266-AE7C-4F6D-A6EDFD88FF6D}"/>
              </a:ext>
            </a:extLst>
          </p:cNvPr>
          <p:cNvGraphicFramePr>
            <a:graphicFrameLocks noGrp="1"/>
          </p:cNvGraphicFramePr>
          <p:nvPr>
            <p:extLst>
              <p:ext uri="{D42A27DB-BD31-4B8C-83A1-F6EECF244321}">
                <p14:modId xmlns:p14="http://schemas.microsoft.com/office/powerpoint/2010/main" val="890003639"/>
              </p:ext>
            </p:extLst>
          </p:nvPr>
        </p:nvGraphicFramePr>
        <p:xfrm>
          <a:off x="498308" y="602109"/>
          <a:ext cx="11398518" cy="609600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Recommendation</a:t>
                      </a:r>
                      <a:endParaRPr lang="en-US" sz="1600" b="0" dirty="0"/>
                    </a:p>
                    <a:p>
                      <a:pPr lvl="0">
                        <a:buNone/>
                      </a:pPr>
                      <a:r>
                        <a:rPr lang="en-US" sz="1600" b="1" dirty="0"/>
                        <a:t>(Additional Feature)</a:t>
                      </a:r>
                    </a:p>
                  </a:txBody>
                  <a:tcPr anchor="ctr">
                    <a:solidFill>
                      <a:schemeClr val="bg1"/>
                    </a:solidFill>
                  </a:tcPr>
                </a:tc>
                <a:tc gridSpan="3">
                  <a:txBody>
                    <a:bodyPr/>
                    <a:lstStyle/>
                    <a:p>
                      <a:pPr>
                        <a:buNone/>
                      </a:pPr>
                      <a:r>
                        <a:rPr lang="en-US" sz="1600" b="1" dirty="0"/>
                        <a:t>Description: </a:t>
                      </a:r>
                      <a:r>
                        <a:rPr lang="en-US" sz="1600" b="0" i="0" u="none" strike="noStrike" noProof="0" dirty="0">
                          <a:latin typeface="Calibri"/>
                        </a:rPr>
                        <a:t>Stores AI-generated tutor recommendations with user preferences, match scores, and interaction tracking.</a:t>
                      </a:r>
                      <a:endParaRPr lang="en-US" sz="1600" b="1" dirty="0"/>
                    </a:p>
                    <a:p>
                      <a:pPr>
                        <a:buNone/>
                      </a:pPr>
                      <a:endParaRPr lang="en-US" sz="1600" b="1" dirty="0"/>
                    </a:p>
                    <a:p>
                      <a:pPr>
                        <a:buNone/>
                      </a:pPr>
                      <a:r>
                        <a:rPr lang="en-US" sz="1600" b="1" dirty="0"/>
                        <a:t>Usage in App: </a:t>
                      </a:r>
                      <a:r>
                        <a:rPr lang="en-US" sz="1600" b="0" i="0" u="none" strike="noStrike" noProof="0" dirty="0">
                          <a:latin typeface="Calibri"/>
                        </a:rPr>
                        <a:t>Displays personalized tutor suggestions on dashboard with match percentages, tracks user behavior for continuous AI improvement, stores reasoning for transparency, and feeds data back to Gemini API for refined future recommendations.</a:t>
                      </a:r>
                      <a:r>
                        <a:rPr lang="en-US" sz="1600" dirty="0"/>
                        <a:t> </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buNone/>
                      </a:pPr>
                      <a:r>
                        <a:rPr lang="en-US" sz="1600" err="1"/>
                        <a:t>RecommendationId</a:t>
                      </a:r>
                      <a:endParaRPr lang="en-US" sz="1600" dirty="0" err="1"/>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REC5001</a:t>
                      </a:r>
                    </a:p>
                  </a:txBody>
                  <a:tcPr anchor="ctr">
                    <a:solidFill>
                      <a:schemeClr val="bg1"/>
                    </a:solidFill>
                  </a:tcPr>
                </a:tc>
                <a:tc>
                  <a:txBody>
                    <a:bodyPr/>
                    <a:lstStyle/>
                    <a:p>
                      <a:pPr>
                        <a:buNone/>
                      </a:pPr>
                      <a:r>
                        <a:rPr lang="en-US" sz="1600" dirty="0"/>
                        <a:t>Unique identifier for each recommendation, primary key</a:t>
                      </a:r>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US" sz="1600" err="1"/>
                        <a:t>UserId</a:t>
                      </a:r>
                      <a:endParaRPr lang="en-US" sz="1600" dirty="0" err="1"/>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2404908B</a:t>
                      </a:r>
                    </a:p>
                  </a:txBody>
                  <a:tcPr anchor="ctr">
                    <a:solidFill>
                      <a:schemeClr val="bg1"/>
                    </a:solidFill>
                  </a:tcPr>
                </a:tc>
                <a:tc>
                  <a:txBody>
                    <a:bodyPr/>
                    <a:lstStyle/>
                    <a:p>
                      <a:pPr>
                        <a:buNone/>
                      </a:pPr>
                      <a:r>
                        <a:rPr lang="en-US" sz="1600" dirty="0"/>
                        <a:t>Foreign key linking to User table, identifies who received the recommendation.</a:t>
                      </a:r>
                    </a:p>
                  </a:txBody>
                  <a:tcPr anchor="ctr">
                    <a:solidFill>
                      <a:schemeClr val="bg1"/>
                    </a:solidFill>
                  </a:tcPr>
                </a:tc>
                <a:extLst>
                  <a:ext uri="{0D108BD9-81ED-4DB2-BD59-A6C34878D82A}">
                    <a16:rowId xmlns:a16="http://schemas.microsoft.com/office/drawing/2014/main" val="1840665485"/>
                  </a:ext>
                </a:extLst>
              </a:tr>
              <a:tr h="0">
                <a:tc>
                  <a:txBody>
                    <a:bodyPr/>
                    <a:lstStyle/>
                    <a:p>
                      <a:pPr>
                        <a:buNone/>
                      </a:pPr>
                      <a:r>
                        <a:rPr lang="en-US" sz="1600" err="1"/>
                        <a:t>TutorId</a:t>
                      </a:r>
                      <a:endParaRPr lang="en-US" sz="1600" dirty="0" err="1"/>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Tutor001</a:t>
                      </a:r>
                    </a:p>
                  </a:txBody>
                  <a:tcPr anchor="ctr">
                    <a:solidFill>
                      <a:schemeClr val="bg1"/>
                    </a:solidFill>
                  </a:tcPr>
                </a:tc>
                <a:tc>
                  <a:txBody>
                    <a:bodyPr/>
                    <a:lstStyle/>
                    <a:p>
                      <a:pPr>
                        <a:buNone/>
                      </a:pPr>
                      <a:r>
                        <a:rPr lang="en-US" sz="1600" dirty="0"/>
                        <a:t>Foreign key linking to Pairs table, identifies recommended tutor.</a:t>
                      </a:r>
                    </a:p>
                  </a:txBody>
                  <a:tcPr anchor="ctr">
                    <a:solidFill>
                      <a:schemeClr val="bg1"/>
                    </a:solidFill>
                  </a:tcPr>
                </a:tc>
                <a:extLst>
                  <a:ext uri="{0D108BD9-81ED-4DB2-BD59-A6C34878D82A}">
                    <a16:rowId xmlns:a16="http://schemas.microsoft.com/office/drawing/2014/main" val="2234607868"/>
                  </a:ext>
                </a:extLst>
              </a:tr>
              <a:tr h="0">
                <a:tc>
                  <a:txBody>
                    <a:bodyPr/>
                    <a:lstStyle/>
                    <a:p>
                      <a:pPr>
                        <a:buNone/>
                      </a:pPr>
                      <a:r>
                        <a:rPr lang="en-US" sz="1600" dirty="0" err="1"/>
                        <a:t>MatchScore</a:t>
                      </a:r>
                    </a:p>
                  </a:txBody>
                  <a:tcPr anchor="ctr">
                    <a:solidFill>
                      <a:schemeClr val="bg1"/>
                    </a:solidFill>
                  </a:tcPr>
                </a:tc>
                <a:tc>
                  <a:txBody>
                    <a:bodyPr/>
                    <a:lstStyle/>
                    <a:p>
                      <a:pPr>
                        <a:buNone/>
                      </a:pPr>
                      <a:r>
                        <a:rPr lang="en-US" sz="1600" dirty="0"/>
                        <a:t>Integer</a:t>
                      </a:r>
                    </a:p>
                  </a:txBody>
                  <a:tcPr anchor="ctr">
                    <a:solidFill>
                      <a:schemeClr val="bg1"/>
                    </a:solidFill>
                  </a:tcPr>
                </a:tc>
                <a:tc>
                  <a:txBody>
                    <a:bodyPr/>
                    <a:lstStyle/>
                    <a:p>
                      <a:pPr>
                        <a:buNone/>
                      </a:pPr>
                      <a:r>
                        <a:rPr lang="en-US" sz="1600" dirty="0"/>
                        <a:t>0.95</a:t>
                      </a:r>
                    </a:p>
                  </a:txBody>
                  <a:tcPr anchor="ctr">
                    <a:solidFill>
                      <a:schemeClr val="bg1"/>
                    </a:solidFill>
                  </a:tcPr>
                </a:tc>
                <a:tc>
                  <a:txBody>
                    <a:bodyPr/>
                    <a:lstStyle/>
                    <a:p>
                      <a:pPr>
                        <a:buNone/>
                      </a:pPr>
                      <a:r>
                        <a:rPr lang="en-US" sz="1600" dirty="0"/>
                        <a:t>AI-calculated compatibility score (0-1), displayed as a percentage (</a:t>
                      </a:r>
                      <a:r>
                        <a:rPr lang="en-US" sz="1600" dirty="0" err="1"/>
                        <a:t>e.g</a:t>
                      </a:r>
                      <a:r>
                        <a:rPr lang="en-US" sz="1600" dirty="0"/>
                        <a:t> 95% match)</a:t>
                      </a:r>
                    </a:p>
                  </a:txBody>
                  <a:tcPr anchor="ctr">
                    <a:solidFill>
                      <a:schemeClr val="bg1"/>
                    </a:solidFill>
                  </a:tcPr>
                </a:tc>
                <a:extLst>
                  <a:ext uri="{0D108BD9-81ED-4DB2-BD59-A6C34878D82A}">
                    <a16:rowId xmlns:a16="http://schemas.microsoft.com/office/drawing/2014/main" val="3913391811"/>
                  </a:ext>
                </a:extLst>
              </a:tr>
              <a:tr h="0">
                <a:tc>
                  <a:txBody>
                    <a:bodyPr/>
                    <a:lstStyle/>
                    <a:p>
                      <a:pPr>
                        <a:buNone/>
                      </a:pPr>
                      <a:r>
                        <a:rPr lang="en-US" sz="1600" dirty="0" err="1"/>
                        <a:t>reasoningFactors</a:t>
                      </a:r>
                    </a:p>
                  </a:txBody>
                  <a:tcPr anchor="ctr">
                    <a:solidFill>
                      <a:schemeClr val="bg1"/>
                    </a:solidFill>
                  </a:tcPr>
                </a:tc>
                <a:tc>
                  <a:txBody>
                    <a:bodyPr/>
                    <a:lstStyle/>
                    <a:p>
                      <a:pPr>
                        <a:buNone/>
                      </a:pPr>
                      <a:r>
                        <a:rPr lang="en-US" sz="1600" dirty="0"/>
                        <a:t>Array </a:t>
                      </a:r>
                    </a:p>
                  </a:txBody>
                  <a:tcPr anchor="ctr">
                    <a:solidFill>
                      <a:schemeClr val="bg1"/>
                    </a:solidFill>
                  </a:tcPr>
                </a:tc>
                <a:tc>
                  <a:txBody>
                    <a:bodyPr/>
                    <a:lstStyle/>
                    <a:p>
                      <a:pPr lvl="0">
                        <a:buNone/>
                      </a:pPr>
                      <a:r>
                        <a:rPr lang="en-US" sz="1600" b="0" i="0" u="none" strike="noStrike" noProof="0" dirty="0">
                          <a:latin typeface="Calibri"/>
                        </a:rPr>
                        <a:t>["Module match: A in CIT2C20", "High rating: 4.9"]</a:t>
                      </a:r>
                    </a:p>
                  </a:txBody>
                  <a:tcPr anchor="ctr">
                    <a:solidFill>
                      <a:schemeClr val="bg1"/>
                    </a:solidFill>
                  </a:tcPr>
                </a:tc>
                <a:tc>
                  <a:txBody>
                    <a:bodyPr/>
                    <a:lstStyle/>
                    <a:p>
                      <a:pPr lvl="0">
                        <a:buNone/>
                      </a:pPr>
                      <a:r>
                        <a:rPr lang="en-US" sz="1600" b="0" i="0" u="none" strike="noStrike" noProof="0" dirty="0">
                          <a:latin typeface="Calibri"/>
                        </a:rPr>
                        <a:t>Key reasons for recommendation, displayed to user for transparency.</a:t>
                      </a:r>
                      <a:endParaRPr lang="en-US" dirty="0"/>
                    </a:p>
                  </a:txBody>
                  <a:tcPr anchor="ctr">
                    <a:solidFill>
                      <a:schemeClr val="bg1"/>
                    </a:solidFill>
                  </a:tcPr>
                </a:tc>
                <a:extLst>
                  <a:ext uri="{0D108BD9-81ED-4DB2-BD59-A6C34878D82A}">
                    <a16:rowId xmlns:a16="http://schemas.microsoft.com/office/drawing/2014/main" val="2445594671"/>
                  </a:ext>
                </a:extLst>
              </a:tr>
              <a:tr h="0">
                <a:tc>
                  <a:txBody>
                    <a:bodyPr/>
                    <a:lstStyle/>
                    <a:p>
                      <a:pPr>
                        <a:buNone/>
                      </a:pPr>
                      <a:r>
                        <a:rPr lang="en-US" sz="1600" dirty="0" err="1"/>
                        <a:t>UserContext</a:t>
                      </a:r>
                    </a:p>
                  </a:txBody>
                  <a:tcPr anchor="ctr">
                    <a:solidFill>
                      <a:schemeClr val="bg1"/>
                    </a:solidFill>
                  </a:tcPr>
                </a:tc>
                <a:tc>
                  <a:txBody>
                    <a:bodyPr/>
                    <a:lstStyle/>
                    <a:p>
                      <a:pPr>
                        <a:buNone/>
                      </a:pPr>
                      <a:r>
                        <a:rPr lang="en-US" sz="1600" dirty="0"/>
                        <a:t>Object</a:t>
                      </a:r>
                    </a:p>
                  </a:txBody>
                  <a:tcPr anchor="ctr">
                    <a:solidFill>
                      <a:schemeClr val="bg1"/>
                    </a:solidFill>
                  </a:tcPr>
                </a:tc>
                <a:tc>
                  <a:txBody>
                    <a:bodyPr/>
                    <a:lstStyle/>
                    <a:p>
                      <a:pPr lvl="0">
                        <a:buNone/>
                      </a:pPr>
                      <a:r>
                        <a:rPr lang="en-US" sz="1600" b="0" i="0" u="none" strike="noStrike" noProof="0" dirty="0">
                          <a:latin typeface="Calibri"/>
                        </a:rPr>
                        <a:t>{"</a:t>
                      </a:r>
                      <a:r>
                        <a:rPr lang="en-US" sz="1600" b="0" i="0" u="none" strike="noStrike" noProof="0" dirty="0" err="1">
                          <a:latin typeface="Calibri"/>
                        </a:rPr>
                        <a:t>enrolledModules</a:t>
                      </a:r>
                      <a:r>
                        <a:rPr lang="en-US" sz="1600" b="0" i="0" u="none" strike="noStrike" noProof="0" dirty="0">
                          <a:latin typeface="Calibri"/>
                        </a:rPr>
                        <a:t>": ["COMT"], "</a:t>
                      </a:r>
                      <a:r>
                        <a:rPr lang="en-US" sz="1600" b="0" i="0" u="none" strike="noStrike" noProof="0" dirty="0" err="1">
                          <a:latin typeface="Calibri"/>
                        </a:rPr>
                        <a:t>strugglingSubjects</a:t>
                      </a:r>
                      <a:r>
                        <a:rPr lang="en-US" sz="1600" b="0" i="0" u="none" strike="noStrike" noProof="0" dirty="0">
                          <a:latin typeface="Calibri"/>
                        </a:rPr>
                        <a:t>": ["UXID"]]</a:t>
                      </a:r>
                    </a:p>
                  </a:txBody>
                  <a:tcPr anchor="ctr">
                    <a:solidFill>
                      <a:schemeClr val="bg1"/>
                    </a:solidFill>
                  </a:tcPr>
                </a:tc>
                <a:tc>
                  <a:txBody>
                    <a:bodyPr/>
                    <a:lstStyle/>
                    <a:p>
                      <a:pPr lvl="0">
                        <a:buNone/>
                      </a:pPr>
                      <a:r>
                        <a:rPr lang="en-US" sz="1600" b="0" i="0" u="none" strike="noStrike" noProof="0" dirty="0">
                          <a:latin typeface="Calibri"/>
                        </a:rPr>
                        <a:t>Snapshot of user's learning context when recommendation was generated, used for analysis.</a:t>
                      </a:r>
                      <a:endParaRPr lang="en-US" dirty="0"/>
                    </a:p>
                  </a:txBody>
                  <a:tcPr anchor="ctr">
                    <a:solidFill>
                      <a:schemeClr val="bg1"/>
                    </a:solidFill>
                  </a:tcPr>
                </a:tc>
                <a:extLst>
                  <a:ext uri="{0D108BD9-81ED-4DB2-BD59-A6C34878D82A}">
                    <a16:rowId xmlns:a16="http://schemas.microsoft.com/office/drawing/2014/main" val="2299822991"/>
                  </a:ext>
                </a:extLst>
              </a:tr>
            </a:tbl>
          </a:graphicData>
        </a:graphic>
      </p:graphicFrame>
    </p:spTree>
    <p:extLst>
      <p:ext uri="{BB962C8B-B14F-4D97-AF65-F5344CB8AC3E}">
        <p14:creationId xmlns:p14="http://schemas.microsoft.com/office/powerpoint/2010/main" val="2111214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BFEED-9744-2474-2E03-B77783D0FD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C60A1B-AC48-57D8-7547-76730C579518}"/>
              </a:ext>
            </a:extLst>
          </p:cNvPr>
          <p:cNvSpPr>
            <a:spLocks noGrp="1"/>
          </p:cNvSpPr>
          <p:nvPr>
            <p:ph type="title"/>
          </p:nvPr>
        </p:nvSpPr>
        <p:spPr>
          <a:xfrm>
            <a:off x="498396" y="-106648"/>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2728E4B6-B109-99FE-83B4-2BB722990845}"/>
              </a:ext>
            </a:extLst>
          </p:cNvPr>
          <p:cNvGraphicFramePr>
            <a:graphicFrameLocks noGrp="1"/>
          </p:cNvGraphicFramePr>
          <p:nvPr>
            <p:extLst>
              <p:ext uri="{D42A27DB-BD31-4B8C-83A1-F6EECF244321}">
                <p14:modId xmlns:p14="http://schemas.microsoft.com/office/powerpoint/2010/main" val="3567862273"/>
              </p:ext>
            </p:extLst>
          </p:nvPr>
        </p:nvGraphicFramePr>
        <p:xfrm>
          <a:off x="498308" y="1071032"/>
          <a:ext cx="11398518" cy="478536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Recommendation</a:t>
                      </a:r>
                      <a:endParaRPr lang="en-US" sz="1600" b="0" dirty="0"/>
                    </a:p>
                    <a:p>
                      <a:pPr lvl="0">
                        <a:buNone/>
                      </a:pPr>
                      <a:r>
                        <a:rPr lang="en-US" sz="1600" b="1" dirty="0"/>
                        <a:t>(Additional Feature)</a:t>
                      </a:r>
                    </a:p>
                  </a:txBody>
                  <a:tcPr anchor="ctr">
                    <a:solidFill>
                      <a:schemeClr val="bg1"/>
                    </a:solidFill>
                  </a:tcPr>
                </a:tc>
                <a:tc gridSpan="3">
                  <a:txBody>
                    <a:bodyPr/>
                    <a:lstStyle/>
                    <a:p>
                      <a:pPr>
                        <a:buNone/>
                      </a:pPr>
                      <a:r>
                        <a:rPr lang="en-US" sz="1600" b="1" dirty="0"/>
                        <a:t>Description: </a:t>
                      </a:r>
                      <a:r>
                        <a:rPr lang="en-US" sz="1600" b="0" i="0" u="none" strike="noStrike" noProof="0" dirty="0">
                          <a:latin typeface="Calibri"/>
                        </a:rPr>
                        <a:t>Stores AI-generated tutor recommendations with user preferences, match scores, and interaction tracking.</a:t>
                      </a:r>
                      <a:endParaRPr lang="en-US" sz="1600" b="1" dirty="0"/>
                    </a:p>
                    <a:p>
                      <a:pPr>
                        <a:buNone/>
                      </a:pPr>
                      <a:endParaRPr lang="en-US" sz="1600" b="1" dirty="0"/>
                    </a:p>
                    <a:p>
                      <a:pPr>
                        <a:buNone/>
                      </a:pPr>
                      <a:r>
                        <a:rPr lang="en-US" sz="1600" b="1" dirty="0"/>
                        <a:t>Usage in App: </a:t>
                      </a:r>
                      <a:r>
                        <a:rPr lang="en-US" sz="1600" b="0" i="0" u="none" strike="noStrike" noProof="0" dirty="0">
                          <a:latin typeface="Calibri"/>
                        </a:rPr>
                        <a:t>Displays personalized tutor suggestions on dashboard with match percentages, tracks user behavior for continuous AI improvement, stores reasoning for transparency, and feeds data back to Gemini API for refined future recommendations.</a:t>
                      </a:r>
                      <a:r>
                        <a:rPr lang="en-US" sz="1600" dirty="0"/>
                        <a:t> </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buNone/>
                      </a:pPr>
                      <a:r>
                        <a:rPr lang="en-US" sz="1600" dirty="0" err="1"/>
                        <a:t>GeneratedAt</a:t>
                      </a:r>
                    </a:p>
                  </a:txBody>
                  <a:tcPr anchor="ctr">
                    <a:solidFill>
                      <a:schemeClr val="bg1"/>
                    </a:solidFill>
                  </a:tcPr>
                </a:tc>
                <a:tc>
                  <a:txBody>
                    <a:bodyPr/>
                    <a:lstStyle/>
                    <a:p>
                      <a:pPr>
                        <a:buNone/>
                      </a:pPr>
                      <a:r>
                        <a:rPr lang="en-US" sz="1600" dirty="0"/>
                        <a:t>Date</a:t>
                      </a:r>
                    </a:p>
                  </a:txBody>
                  <a:tcPr anchor="ctr">
                    <a:solidFill>
                      <a:schemeClr val="bg1"/>
                    </a:solidFill>
                  </a:tcPr>
                </a:tc>
                <a:tc>
                  <a:txBody>
                    <a:bodyPr/>
                    <a:lstStyle/>
                    <a:p>
                      <a:pPr lvl="0">
                        <a:buNone/>
                      </a:pPr>
                      <a:r>
                        <a:rPr lang="en-US" sz="1600" b="0" i="0" u="none" strike="noStrike" noProof="0" dirty="0">
                          <a:latin typeface="Calibri"/>
                        </a:rPr>
                        <a:t>2025-11-15T09:30:00Z</a:t>
                      </a:r>
                      <a:endParaRPr lang="en-US" dirty="0"/>
                    </a:p>
                  </a:txBody>
                  <a:tcPr anchor="ctr">
                    <a:solidFill>
                      <a:schemeClr val="bg1"/>
                    </a:solidFill>
                  </a:tcPr>
                </a:tc>
                <a:tc>
                  <a:txBody>
                    <a:bodyPr/>
                    <a:lstStyle/>
                    <a:p>
                      <a:pPr>
                        <a:buNone/>
                      </a:pPr>
                      <a:r>
                        <a:rPr lang="en-US" sz="1600" dirty="0"/>
                        <a:t>Timestamp when recommendation was created.</a:t>
                      </a:r>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US" sz="1600" dirty="0" err="1"/>
                        <a:t>WasViewed</a:t>
                      </a:r>
                    </a:p>
                  </a:txBody>
                  <a:tcPr anchor="ctr">
                    <a:solidFill>
                      <a:schemeClr val="bg1"/>
                    </a:solidFill>
                  </a:tcPr>
                </a:tc>
                <a:tc>
                  <a:txBody>
                    <a:bodyPr/>
                    <a:lstStyle/>
                    <a:p>
                      <a:pPr>
                        <a:buNone/>
                      </a:pPr>
                      <a:r>
                        <a:rPr lang="en-US" sz="1600" dirty="0"/>
                        <a:t>Boolean</a:t>
                      </a:r>
                    </a:p>
                  </a:txBody>
                  <a:tcPr anchor="ctr">
                    <a:solidFill>
                      <a:schemeClr val="bg1"/>
                    </a:solidFill>
                  </a:tcPr>
                </a:tc>
                <a:tc>
                  <a:txBody>
                    <a:bodyPr/>
                    <a:lstStyle/>
                    <a:p>
                      <a:pPr>
                        <a:buNone/>
                      </a:pPr>
                      <a:r>
                        <a:rPr lang="en-US" sz="1600" dirty="0"/>
                        <a:t>True</a:t>
                      </a:r>
                    </a:p>
                  </a:txBody>
                  <a:tcPr anchor="ctr">
                    <a:solidFill>
                      <a:schemeClr val="bg1"/>
                    </a:solidFill>
                  </a:tcPr>
                </a:tc>
                <a:tc>
                  <a:txBody>
                    <a:bodyPr/>
                    <a:lstStyle/>
                    <a:p>
                      <a:pPr>
                        <a:buNone/>
                      </a:pPr>
                      <a:r>
                        <a:rPr lang="en-US" sz="1600" dirty="0"/>
                        <a:t>Flag to indicate if user clicked on recommended tutor's profile. Used to measure engagement.</a:t>
                      </a:r>
                    </a:p>
                  </a:txBody>
                  <a:tcPr anchor="ctr">
                    <a:solidFill>
                      <a:schemeClr val="bg1"/>
                    </a:solidFill>
                  </a:tcPr>
                </a:tc>
                <a:extLst>
                  <a:ext uri="{0D108BD9-81ED-4DB2-BD59-A6C34878D82A}">
                    <a16:rowId xmlns:a16="http://schemas.microsoft.com/office/drawing/2014/main" val="1840665485"/>
                  </a:ext>
                </a:extLst>
              </a:tr>
              <a:tr h="0">
                <a:tc>
                  <a:txBody>
                    <a:bodyPr/>
                    <a:lstStyle/>
                    <a:p>
                      <a:pPr>
                        <a:buNone/>
                      </a:pPr>
                      <a:r>
                        <a:rPr lang="en-US" sz="1600" dirty="0" err="1"/>
                        <a:t>WasContacted</a:t>
                      </a:r>
                    </a:p>
                  </a:txBody>
                  <a:tcPr anchor="ctr">
                    <a:solidFill>
                      <a:schemeClr val="bg1"/>
                    </a:solidFill>
                  </a:tcPr>
                </a:tc>
                <a:tc>
                  <a:txBody>
                    <a:bodyPr/>
                    <a:lstStyle/>
                    <a:p>
                      <a:pPr>
                        <a:buNone/>
                      </a:pPr>
                      <a:r>
                        <a:rPr lang="en-US" sz="1600" dirty="0"/>
                        <a:t>Boolean</a:t>
                      </a:r>
                    </a:p>
                  </a:txBody>
                  <a:tcPr anchor="ctr">
                    <a:solidFill>
                      <a:schemeClr val="bg1"/>
                    </a:solidFill>
                  </a:tcPr>
                </a:tc>
                <a:tc>
                  <a:txBody>
                    <a:bodyPr/>
                    <a:lstStyle/>
                    <a:p>
                      <a:pPr>
                        <a:buNone/>
                      </a:pPr>
                      <a:r>
                        <a:rPr lang="en-US" sz="1600" dirty="0"/>
                        <a:t>True</a:t>
                      </a:r>
                    </a:p>
                  </a:txBody>
                  <a:tcPr anchor="ctr">
                    <a:solidFill>
                      <a:schemeClr val="bg1"/>
                    </a:solidFill>
                  </a:tcPr>
                </a:tc>
                <a:tc>
                  <a:txBody>
                    <a:bodyPr/>
                    <a:lstStyle/>
                    <a:p>
                      <a:pPr>
                        <a:buNone/>
                      </a:pPr>
                      <a:r>
                        <a:rPr lang="en-US" sz="1600" dirty="0"/>
                        <a:t>Flag to indicate if the recommendation has led to pair requesting or creation, which measures conversion.</a:t>
                      </a:r>
                    </a:p>
                  </a:txBody>
                  <a:tcPr anchor="ctr">
                    <a:solidFill>
                      <a:schemeClr val="bg1"/>
                    </a:solidFill>
                  </a:tcPr>
                </a:tc>
                <a:extLst>
                  <a:ext uri="{0D108BD9-81ED-4DB2-BD59-A6C34878D82A}">
                    <a16:rowId xmlns:a16="http://schemas.microsoft.com/office/drawing/2014/main" val="2234607868"/>
                  </a:ext>
                </a:extLst>
              </a:tr>
              <a:tr h="0">
                <a:tc>
                  <a:txBody>
                    <a:bodyPr/>
                    <a:lstStyle/>
                    <a:p>
                      <a:pPr>
                        <a:buNone/>
                      </a:pPr>
                      <a:r>
                        <a:rPr lang="en-US" sz="1600" dirty="0" err="1"/>
                        <a:t>FeedbackScore</a:t>
                      </a:r>
                    </a:p>
                  </a:txBody>
                  <a:tcPr anchor="ctr">
                    <a:solidFill>
                      <a:schemeClr val="bg1"/>
                    </a:solidFill>
                  </a:tcPr>
                </a:tc>
                <a:tc>
                  <a:txBody>
                    <a:bodyPr/>
                    <a:lstStyle/>
                    <a:p>
                      <a:pPr>
                        <a:buNone/>
                      </a:pPr>
                      <a:r>
                        <a:rPr lang="en-US" sz="1600" dirty="0"/>
                        <a:t>Double</a:t>
                      </a:r>
                    </a:p>
                  </a:txBody>
                  <a:tcPr anchor="ctr">
                    <a:solidFill>
                      <a:schemeClr val="bg1"/>
                    </a:solidFill>
                  </a:tcPr>
                </a:tc>
                <a:tc>
                  <a:txBody>
                    <a:bodyPr/>
                    <a:lstStyle/>
                    <a:p>
                      <a:pPr>
                        <a:buNone/>
                      </a:pPr>
                      <a:r>
                        <a:rPr lang="en-US" sz="1600" dirty="0"/>
                        <a:t>1.0</a:t>
                      </a:r>
                    </a:p>
                  </a:txBody>
                  <a:tcPr anchor="ctr">
                    <a:solidFill>
                      <a:schemeClr val="bg1"/>
                    </a:solidFill>
                  </a:tcPr>
                </a:tc>
                <a:tc>
                  <a:txBody>
                    <a:bodyPr/>
                    <a:lstStyle/>
                    <a:p>
                      <a:pPr lvl="0">
                        <a:buNone/>
                      </a:pPr>
                      <a:r>
                        <a:rPr lang="en-US" sz="1600" b="0" i="0" u="none" strike="noStrike" noProof="0" dirty="0">
                          <a:latin typeface="Calibri"/>
                        </a:rPr>
                        <a:t>User feedback score (0-1): 1.0 if contacted, 0.5 if viewed, 0.0 if ignored, tunes future recommendations.</a:t>
                      </a:r>
                      <a:endParaRPr lang="en-US" dirty="0"/>
                    </a:p>
                  </a:txBody>
                  <a:tcPr anchor="ctr">
                    <a:solidFill>
                      <a:schemeClr val="bg1"/>
                    </a:solidFill>
                  </a:tcPr>
                </a:tc>
                <a:extLst>
                  <a:ext uri="{0D108BD9-81ED-4DB2-BD59-A6C34878D82A}">
                    <a16:rowId xmlns:a16="http://schemas.microsoft.com/office/drawing/2014/main" val="3913391811"/>
                  </a:ext>
                </a:extLst>
              </a:tr>
              <a:tr h="0">
                <a:tc>
                  <a:txBody>
                    <a:bodyPr/>
                    <a:lstStyle/>
                    <a:p>
                      <a:pPr>
                        <a:buNone/>
                      </a:pPr>
                      <a:r>
                        <a:rPr lang="en-US" sz="1600" dirty="0" err="1"/>
                        <a:t>GeminiPromptHash</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lvl="0">
                        <a:buNone/>
                      </a:pPr>
                      <a:r>
                        <a:rPr lang="en-US" sz="1600" b="0" i="0" u="none" strike="noStrike" noProof="0" dirty="0"/>
                        <a:t>a3f5b2c9...</a:t>
                      </a:r>
                      <a:endParaRPr lang="en-US" dirty="0"/>
                    </a:p>
                  </a:txBody>
                  <a:tcPr anchor="ctr">
                    <a:solidFill>
                      <a:schemeClr val="bg1"/>
                    </a:solidFill>
                  </a:tcPr>
                </a:tc>
                <a:tc>
                  <a:txBody>
                    <a:bodyPr/>
                    <a:lstStyle/>
                    <a:p>
                      <a:pPr lvl="0">
                        <a:buNone/>
                      </a:pPr>
                      <a:r>
                        <a:rPr lang="en-US" sz="1600" b="0" i="0" u="none" strike="noStrike" noProof="0" dirty="0"/>
                        <a:t>Hash of prompt sent to Gemini API; enables grouping similar queries without storing full text.</a:t>
                      </a:r>
                      <a:endParaRPr lang="en-US" dirty="0"/>
                    </a:p>
                  </a:txBody>
                  <a:tcPr anchor="ctr">
                    <a:solidFill>
                      <a:schemeClr val="bg1"/>
                    </a:solidFill>
                  </a:tcPr>
                </a:tc>
                <a:extLst>
                  <a:ext uri="{0D108BD9-81ED-4DB2-BD59-A6C34878D82A}">
                    <a16:rowId xmlns:a16="http://schemas.microsoft.com/office/drawing/2014/main" val="2445594671"/>
                  </a:ext>
                </a:extLst>
              </a:tr>
            </a:tbl>
          </a:graphicData>
        </a:graphic>
      </p:graphicFrame>
    </p:spTree>
    <p:extLst>
      <p:ext uri="{BB962C8B-B14F-4D97-AF65-F5344CB8AC3E}">
        <p14:creationId xmlns:p14="http://schemas.microsoft.com/office/powerpoint/2010/main" val="38230551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A701-4B2D-5C0A-965F-D429551AB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1731A-BB67-028C-15F7-2E43A8E1E8B2}"/>
              </a:ext>
            </a:extLst>
          </p:cNvPr>
          <p:cNvSpPr>
            <a:spLocks noGrp="1"/>
          </p:cNvSpPr>
          <p:nvPr>
            <p:ph type="title"/>
          </p:nvPr>
        </p:nvSpPr>
        <p:spPr>
          <a:xfrm>
            <a:off x="710063" y="0"/>
            <a:ext cx="10520520" cy="997085"/>
          </a:xfrm>
        </p:spPr>
        <p:txBody>
          <a:bodyPr>
            <a:normAutofit fontScale="90000"/>
          </a:bodyPr>
          <a:lstStyle/>
          <a:p>
            <a:pPr lvl="0"/>
            <a:r>
              <a:rPr lang="en-US" b="1" dirty="0"/>
              <a:t>Data Modeling – Recommendation Explanation</a:t>
            </a:r>
            <a:endParaRPr lang="en-US" dirty="0"/>
          </a:p>
        </p:txBody>
      </p:sp>
      <p:graphicFrame>
        <p:nvGraphicFramePr>
          <p:cNvPr id="3" name="Table 2">
            <a:extLst>
              <a:ext uri="{FF2B5EF4-FFF2-40B4-BE49-F238E27FC236}">
                <a16:creationId xmlns:a16="http://schemas.microsoft.com/office/drawing/2014/main" id="{AF243E39-D015-76FE-0279-A219664DB6C1}"/>
              </a:ext>
            </a:extLst>
          </p:cNvPr>
          <p:cNvGraphicFramePr>
            <a:graphicFrameLocks noGrp="1"/>
          </p:cNvGraphicFramePr>
          <p:nvPr>
            <p:extLst>
              <p:ext uri="{D42A27DB-BD31-4B8C-83A1-F6EECF244321}">
                <p14:modId xmlns:p14="http://schemas.microsoft.com/office/powerpoint/2010/main" val="2569891600"/>
              </p:ext>
            </p:extLst>
          </p:nvPr>
        </p:nvGraphicFramePr>
        <p:xfrm>
          <a:off x="814122" y="997085"/>
          <a:ext cx="10312401" cy="5068291"/>
        </p:xfrm>
        <a:graphic>
          <a:graphicData uri="http://schemas.openxmlformats.org/drawingml/2006/table">
            <a:tbl>
              <a:tblPr firstRow="1" bandRow="1">
                <a:tableStyleId>{5940675A-B579-460E-94D1-54222C63F5DA}</a:tableStyleId>
              </a:tblPr>
              <a:tblGrid>
                <a:gridCol w="1632384">
                  <a:extLst>
                    <a:ext uri="{9D8B030D-6E8A-4147-A177-3AD203B41FA5}">
                      <a16:colId xmlns:a16="http://schemas.microsoft.com/office/drawing/2014/main" val="351617117"/>
                    </a:ext>
                  </a:extLst>
                </a:gridCol>
                <a:gridCol w="8680017">
                  <a:extLst>
                    <a:ext uri="{9D8B030D-6E8A-4147-A177-3AD203B41FA5}">
                      <a16:colId xmlns:a16="http://schemas.microsoft.com/office/drawing/2014/main" val="730843508"/>
                    </a:ext>
                  </a:extLst>
                </a:gridCol>
              </a:tblGrid>
              <a:tr h="556618">
                <a:tc>
                  <a:txBody>
                    <a:bodyPr/>
                    <a:lstStyle/>
                    <a:p>
                      <a:r>
                        <a:rPr lang="en-US" sz="1400" dirty="0"/>
                        <a:t>Attribute</a:t>
                      </a:r>
                      <a:endParaRPr lang="en-SG" sz="1400" dirty="0"/>
                    </a:p>
                  </a:txBody>
                  <a:tcPr/>
                </a:tc>
                <a:tc>
                  <a:txBody>
                    <a:bodyPr/>
                    <a:lstStyle/>
                    <a:p>
                      <a:r>
                        <a:rPr lang="en-US" sz="1400" dirty="0"/>
                        <a:t>Explanation</a:t>
                      </a:r>
                      <a:endParaRPr lang="en-SG" sz="1400" dirty="0"/>
                    </a:p>
                  </a:txBody>
                  <a:tcPr/>
                </a:tc>
                <a:extLst>
                  <a:ext uri="{0D108BD9-81ED-4DB2-BD59-A6C34878D82A}">
                    <a16:rowId xmlns:a16="http://schemas.microsoft.com/office/drawing/2014/main" val="2681630158"/>
                  </a:ext>
                </a:extLst>
              </a:tr>
              <a:tr h="854073">
                <a:tc>
                  <a:txBody>
                    <a:bodyPr/>
                    <a:lstStyle/>
                    <a:p>
                      <a:r>
                        <a:rPr lang="en-US" sz="1400" b="1" dirty="0" err="1"/>
                        <a:t>recommendationId</a:t>
                      </a:r>
                      <a:endParaRPr lang="en-SG" sz="1400" dirty="0"/>
                    </a:p>
                  </a:txBody>
                  <a:tcPr/>
                </a:tc>
                <a:tc>
                  <a:txBody>
                    <a:bodyPr/>
                    <a:lstStyle/>
                    <a:p>
                      <a:r>
                        <a:rPr lang="en-US" sz="1400" dirty="0"/>
                        <a:t>Unique identifier for each AI-generated recommendation. </a:t>
                      </a:r>
                    </a:p>
                    <a:p>
                      <a:r>
                        <a:rPr lang="en-US" sz="1400" dirty="0"/>
                        <a:t>Enables tracking recommendations through their lifecycle: generated → displayed → viewed → contacted. Essential for measuring recommendation quality and tuning the algorithm.</a:t>
                      </a:r>
                      <a:endParaRPr lang="en-SG" sz="1400" dirty="0"/>
                    </a:p>
                  </a:txBody>
                  <a:tcPr/>
                </a:tc>
                <a:extLst>
                  <a:ext uri="{0D108BD9-81ED-4DB2-BD59-A6C34878D82A}">
                    <a16:rowId xmlns:a16="http://schemas.microsoft.com/office/drawing/2014/main" val="3781544032"/>
                  </a:ext>
                </a:extLst>
              </a:tr>
              <a:tr h="556618">
                <a:tc>
                  <a:txBody>
                    <a:bodyPr/>
                    <a:lstStyle/>
                    <a:p>
                      <a:r>
                        <a:rPr lang="en-US" sz="1400" b="1" dirty="0" err="1"/>
                        <a:t>userId</a:t>
                      </a:r>
                      <a:endParaRPr lang="en-SG" sz="1400" dirty="0"/>
                    </a:p>
                  </a:txBody>
                  <a:tcPr/>
                </a:tc>
                <a:tc>
                  <a:txBody>
                    <a:bodyPr/>
                    <a:lstStyle/>
                    <a:p>
                      <a:r>
                        <a:rPr lang="en-US" sz="1400" dirty="0"/>
                        <a:t>Foreign key referencing the tutee receiving this recommendation. Enables personalized suggestions based on each student's unique profile and needs. System regenerates recommendations every 24 hours or when enrolled modules change.</a:t>
                      </a:r>
                      <a:endParaRPr lang="en-SG" sz="1400" dirty="0"/>
                    </a:p>
                  </a:txBody>
                  <a:tcPr/>
                </a:tc>
                <a:extLst>
                  <a:ext uri="{0D108BD9-81ED-4DB2-BD59-A6C34878D82A}">
                    <a16:rowId xmlns:a16="http://schemas.microsoft.com/office/drawing/2014/main" val="1186390317"/>
                  </a:ext>
                </a:extLst>
              </a:tr>
              <a:tr h="556618">
                <a:tc>
                  <a:txBody>
                    <a:bodyPr/>
                    <a:lstStyle/>
                    <a:p>
                      <a:r>
                        <a:rPr lang="en-US" sz="1400" b="1" dirty="0" err="1"/>
                        <a:t>tutorId</a:t>
                      </a:r>
                      <a:endParaRPr lang="en-SG" sz="1400" dirty="0"/>
                    </a:p>
                  </a:txBody>
                  <a:tcPr/>
                </a:tc>
                <a:tc>
                  <a:txBody>
                    <a:bodyPr/>
                    <a:lstStyle/>
                    <a:p>
                      <a:r>
                        <a:rPr lang="en-US" sz="1400" dirty="0"/>
                        <a:t>Identifies which tutor is being recommended. Links the suggestion to the actual tutor profile for one-click access. System prevents recommending the same tutor repeatedly unless algorithm determines re-recommendation is justified.</a:t>
                      </a:r>
                      <a:endParaRPr lang="en-SG" sz="1400" dirty="0"/>
                    </a:p>
                  </a:txBody>
                  <a:tcPr/>
                </a:tc>
                <a:extLst>
                  <a:ext uri="{0D108BD9-81ED-4DB2-BD59-A6C34878D82A}">
                    <a16:rowId xmlns:a16="http://schemas.microsoft.com/office/drawing/2014/main" val="2739790492"/>
                  </a:ext>
                </a:extLst>
              </a:tr>
              <a:tr h="556618">
                <a:tc>
                  <a:txBody>
                    <a:bodyPr/>
                    <a:lstStyle/>
                    <a:p>
                      <a:r>
                        <a:rPr lang="en-US" sz="1400" b="1" dirty="0" err="1"/>
                        <a:t>matchScore</a:t>
                      </a:r>
                      <a:endParaRPr lang="en-SG" sz="1400" dirty="0"/>
                    </a:p>
                  </a:txBody>
                  <a:tcPr/>
                </a:tc>
                <a:tc>
                  <a:txBody>
                    <a:bodyPr/>
                    <a:lstStyle/>
                    <a:p>
                      <a:r>
                        <a:rPr lang="en-US" sz="1400" dirty="0"/>
                        <a:t>Floating-point value (0.0-1.0) representing AI confidence in this match (e.g., 0.95 = 95% match). Computed by Gemini API considering subject expertise overlap, tutor quality, availability alignment, and past success patterns. Higher scores displayed more prominently.</a:t>
                      </a:r>
                      <a:endParaRPr lang="en-SG" sz="1400" dirty="0"/>
                    </a:p>
                  </a:txBody>
                  <a:tcPr/>
                </a:tc>
                <a:extLst>
                  <a:ext uri="{0D108BD9-81ED-4DB2-BD59-A6C34878D82A}">
                    <a16:rowId xmlns:a16="http://schemas.microsoft.com/office/drawing/2014/main" val="3444452971"/>
                  </a:ext>
                </a:extLst>
              </a:tr>
              <a:tr h="556618">
                <a:tc>
                  <a:txBody>
                    <a:bodyPr/>
                    <a:lstStyle/>
                    <a:p>
                      <a:r>
                        <a:rPr lang="en-US" sz="1400" b="1" dirty="0" err="1"/>
                        <a:t>reasoningFactors</a:t>
                      </a:r>
                      <a:endParaRPr lang="en-SG" sz="1400" dirty="0"/>
                    </a:p>
                  </a:txBody>
                  <a:tcPr/>
                </a:tc>
                <a:tc>
                  <a:txBody>
                    <a:bodyPr/>
                    <a:lstStyle/>
                    <a:p>
                      <a:r>
                        <a:rPr lang="en-US" sz="1400" dirty="0"/>
                        <a:t>Array of strings explaining why this tutor was recommended, providing algorithmic transparency. Example: ["Module match: A in CIT2C20", "High rating: 4.9”]. Displayed as bullet points to help students evaluate recommendations critically.</a:t>
                      </a:r>
                      <a:endParaRPr lang="en-SG" sz="1400" dirty="0"/>
                    </a:p>
                  </a:txBody>
                  <a:tcPr/>
                </a:tc>
                <a:extLst>
                  <a:ext uri="{0D108BD9-81ED-4DB2-BD59-A6C34878D82A}">
                    <a16:rowId xmlns:a16="http://schemas.microsoft.com/office/drawing/2014/main" val="625060157"/>
                  </a:ext>
                </a:extLst>
              </a:tr>
              <a:tr h="556618">
                <a:tc>
                  <a:txBody>
                    <a:bodyPr/>
                    <a:lstStyle/>
                    <a:p>
                      <a:r>
                        <a:rPr lang="en-SG" sz="1400" b="1" dirty="0" err="1"/>
                        <a:t>userContext</a:t>
                      </a:r>
                      <a:r>
                        <a:rPr lang="en-SG" sz="1400" dirty="0"/>
                        <a:t> </a:t>
                      </a:r>
                    </a:p>
                  </a:txBody>
                  <a:tcPr/>
                </a:tc>
                <a:tc>
                  <a:txBody>
                    <a:bodyPr/>
                    <a:lstStyle/>
                    <a:p>
                      <a:r>
                        <a:rPr lang="en-SG" sz="1400" dirty="0"/>
                        <a:t>JSON object capturing the user's learning profile when recommendations were generated. Example: {"</a:t>
                      </a:r>
                      <a:r>
                        <a:rPr lang="en-SG" sz="1400" dirty="0" err="1"/>
                        <a:t>enrolledModules</a:t>
                      </a:r>
                      <a:r>
                        <a:rPr lang="en-SG" sz="1400" dirty="0"/>
                        <a:t>": [“FWEB"], "</a:t>
                      </a:r>
                      <a:r>
                        <a:rPr lang="en-SG" sz="1400" dirty="0" err="1"/>
                        <a:t>strugglingSubjects</a:t>
                      </a:r>
                      <a:r>
                        <a:rPr lang="en-SG" sz="1400" dirty="0"/>
                        <a:t>": [“COMT"]}. Enables debugging, algorithm evolution, and documentation of recommendation logic.</a:t>
                      </a:r>
                    </a:p>
                  </a:txBody>
                  <a:tcPr/>
                </a:tc>
                <a:extLst>
                  <a:ext uri="{0D108BD9-81ED-4DB2-BD59-A6C34878D82A}">
                    <a16:rowId xmlns:a16="http://schemas.microsoft.com/office/drawing/2014/main" val="3145469637"/>
                  </a:ext>
                </a:extLst>
              </a:tr>
            </a:tbl>
          </a:graphicData>
        </a:graphic>
      </p:graphicFrame>
    </p:spTree>
    <p:extLst>
      <p:ext uri="{BB962C8B-B14F-4D97-AF65-F5344CB8AC3E}">
        <p14:creationId xmlns:p14="http://schemas.microsoft.com/office/powerpoint/2010/main" val="31723869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31906-82F1-44AB-8ABB-EFB2A0100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7DE2B-D1BD-2C63-2AA6-2AF61ED085F7}"/>
              </a:ext>
            </a:extLst>
          </p:cNvPr>
          <p:cNvSpPr>
            <a:spLocks noGrp="1"/>
          </p:cNvSpPr>
          <p:nvPr>
            <p:ph type="title"/>
          </p:nvPr>
        </p:nvSpPr>
        <p:spPr>
          <a:xfrm>
            <a:off x="710063" y="0"/>
            <a:ext cx="10520520" cy="997085"/>
          </a:xfrm>
        </p:spPr>
        <p:txBody>
          <a:bodyPr>
            <a:normAutofit fontScale="90000"/>
          </a:bodyPr>
          <a:lstStyle/>
          <a:p>
            <a:pPr lvl="0"/>
            <a:r>
              <a:rPr lang="en-US" b="1" dirty="0"/>
              <a:t>Data Modeling – Recommendation Explanation</a:t>
            </a:r>
            <a:endParaRPr lang="en-US" dirty="0"/>
          </a:p>
        </p:txBody>
      </p:sp>
      <p:graphicFrame>
        <p:nvGraphicFramePr>
          <p:cNvPr id="3" name="Table 2">
            <a:extLst>
              <a:ext uri="{FF2B5EF4-FFF2-40B4-BE49-F238E27FC236}">
                <a16:creationId xmlns:a16="http://schemas.microsoft.com/office/drawing/2014/main" id="{6E34B786-F769-1770-4F38-3BD327808A95}"/>
              </a:ext>
            </a:extLst>
          </p:cNvPr>
          <p:cNvGraphicFramePr>
            <a:graphicFrameLocks noGrp="1"/>
          </p:cNvGraphicFramePr>
          <p:nvPr>
            <p:extLst>
              <p:ext uri="{D42A27DB-BD31-4B8C-83A1-F6EECF244321}">
                <p14:modId xmlns:p14="http://schemas.microsoft.com/office/powerpoint/2010/main" val="2650104382"/>
              </p:ext>
            </p:extLst>
          </p:nvPr>
        </p:nvGraphicFramePr>
        <p:xfrm>
          <a:off x="814122" y="997085"/>
          <a:ext cx="10312401" cy="4161869"/>
        </p:xfrm>
        <a:graphic>
          <a:graphicData uri="http://schemas.openxmlformats.org/drawingml/2006/table">
            <a:tbl>
              <a:tblPr firstRow="1" bandRow="1">
                <a:tableStyleId>{5940675A-B579-460E-94D1-54222C63F5DA}</a:tableStyleId>
              </a:tblPr>
              <a:tblGrid>
                <a:gridCol w="1632384">
                  <a:extLst>
                    <a:ext uri="{9D8B030D-6E8A-4147-A177-3AD203B41FA5}">
                      <a16:colId xmlns:a16="http://schemas.microsoft.com/office/drawing/2014/main" val="351617117"/>
                    </a:ext>
                  </a:extLst>
                </a:gridCol>
                <a:gridCol w="8680017">
                  <a:extLst>
                    <a:ext uri="{9D8B030D-6E8A-4147-A177-3AD203B41FA5}">
                      <a16:colId xmlns:a16="http://schemas.microsoft.com/office/drawing/2014/main" val="730843508"/>
                    </a:ext>
                  </a:extLst>
                </a:gridCol>
              </a:tblGrid>
              <a:tr h="556618">
                <a:tc>
                  <a:txBody>
                    <a:bodyPr/>
                    <a:lstStyle/>
                    <a:p>
                      <a:r>
                        <a:rPr lang="en-US" sz="1400" dirty="0"/>
                        <a:t>Attribute</a:t>
                      </a:r>
                      <a:endParaRPr lang="en-SG" sz="1400" dirty="0"/>
                    </a:p>
                  </a:txBody>
                  <a:tcPr/>
                </a:tc>
                <a:tc>
                  <a:txBody>
                    <a:bodyPr/>
                    <a:lstStyle/>
                    <a:p>
                      <a:r>
                        <a:rPr lang="en-US" sz="1400" dirty="0"/>
                        <a:t>Explanation</a:t>
                      </a:r>
                      <a:endParaRPr lang="en-SG" sz="1400" dirty="0"/>
                    </a:p>
                  </a:txBody>
                  <a:tcPr/>
                </a:tc>
                <a:extLst>
                  <a:ext uri="{0D108BD9-81ED-4DB2-BD59-A6C34878D82A}">
                    <a16:rowId xmlns:a16="http://schemas.microsoft.com/office/drawing/2014/main" val="2681630158"/>
                  </a:ext>
                </a:extLst>
              </a:tr>
              <a:tr h="854073">
                <a:tc>
                  <a:txBody>
                    <a:bodyPr/>
                    <a:lstStyle/>
                    <a:p>
                      <a:r>
                        <a:rPr lang="en-US" sz="1400" b="1" dirty="0" err="1"/>
                        <a:t>generatedAt</a:t>
                      </a:r>
                      <a:endParaRPr lang="en-SG" sz="1400" dirty="0"/>
                    </a:p>
                  </a:txBody>
                  <a:tcPr/>
                </a:tc>
                <a:tc>
                  <a:txBody>
                    <a:bodyPr/>
                    <a:lstStyle/>
                    <a:p>
                      <a:r>
                        <a:rPr lang="en-US" sz="1400" dirty="0"/>
                        <a:t>Timestamp recording when this recommendation was created. Manages recommendation freshness -recommendations older than 24 hours are considered stale and regenerated. Prevents redundant API calls by serving cached recommendations within freshness window.</a:t>
                      </a:r>
                      <a:endParaRPr lang="en-SG" sz="1400" dirty="0"/>
                    </a:p>
                  </a:txBody>
                  <a:tcPr/>
                </a:tc>
                <a:extLst>
                  <a:ext uri="{0D108BD9-81ED-4DB2-BD59-A6C34878D82A}">
                    <a16:rowId xmlns:a16="http://schemas.microsoft.com/office/drawing/2014/main" val="3781544032"/>
                  </a:ext>
                </a:extLst>
              </a:tr>
              <a:tr h="556618">
                <a:tc>
                  <a:txBody>
                    <a:bodyPr/>
                    <a:lstStyle/>
                    <a:p>
                      <a:r>
                        <a:rPr lang="en-US" sz="1400" b="1" dirty="0" err="1"/>
                        <a:t>wasViewed</a:t>
                      </a:r>
                      <a:endParaRPr lang="en-SG" sz="1400" dirty="0"/>
                    </a:p>
                  </a:txBody>
                  <a:tcPr/>
                </a:tc>
                <a:tc>
                  <a:txBody>
                    <a:bodyPr/>
                    <a:lstStyle/>
                    <a:p>
                      <a:r>
                        <a:rPr lang="en-US" sz="1400" dirty="0"/>
                        <a:t>Boolean tracking whether user clicked on this recommendation to view the tutor profile. Measures first-tier engagement. High-quality recommendations should have </a:t>
                      </a:r>
                      <a:r>
                        <a:rPr lang="en-US" sz="1400" dirty="0" err="1"/>
                        <a:t>wasViewed</a:t>
                      </a:r>
                      <a:r>
                        <a:rPr lang="en-US" sz="1400" dirty="0"/>
                        <a:t> rates above 60%. Used to identify underperforming recommendation patterns.</a:t>
                      </a:r>
                      <a:endParaRPr lang="en-SG" sz="1400" dirty="0"/>
                    </a:p>
                  </a:txBody>
                  <a:tcPr/>
                </a:tc>
                <a:extLst>
                  <a:ext uri="{0D108BD9-81ED-4DB2-BD59-A6C34878D82A}">
                    <a16:rowId xmlns:a16="http://schemas.microsoft.com/office/drawing/2014/main" val="1186390317"/>
                  </a:ext>
                </a:extLst>
              </a:tr>
              <a:tr h="556618">
                <a:tc>
                  <a:txBody>
                    <a:bodyPr/>
                    <a:lstStyle/>
                    <a:p>
                      <a:r>
                        <a:rPr lang="en-US" sz="1400" b="1" dirty="0" err="1"/>
                        <a:t>wasContacted</a:t>
                      </a:r>
                      <a:endParaRPr lang="en-SG" sz="1400" dirty="0"/>
                    </a:p>
                  </a:txBody>
                  <a:tcPr/>
                </a:tc>
                <a:tc>
                  <a:txBody>
                    <a:bodyPr/>
                    <a:lstStyle/>
                    <a:p>
                      <a:r>
                        <a:rPr lang="en-US" sz="1400" dirty="0"/>
                        <a:t>Boolean indicating whether the recommendation resulted in a pair request - the ultimate conversion metric. Rates above 15% indicate excellent recommendations. System continuously optimizes to maximize this metric through machine learning.</a:t>
                      </a:r>
                      <a:endParaRPr lang="en-SG" sz="1400" dirty="0"/>
                    </a:p>
                  </a:txBody>
                  <a:tcPr/>
                </a:tc>
                <a:extLst>
                  <a:ext uri="{0D108BD9-81ED-4DB2-BD59-A6C34878D82A}">
                    <a16:rowId xmlns:a16="http://schemas.microsoft.com/office/drawing/2014/main" val="2739790492"/>
                  </a:ext>
                </a:extLst>
              </a:tr>
              <a:tr h="556618">
                <a:tc>
                  <a:txBody>
                    <a:bodyPr/>
                    <a:lstStyle/>
                    <a:p>
                      <a:r>
                        <a:rPr lang="en-US" sz="1400" b="1" dirty="0" err="1"/>
                        <a:t>feedbackScore</a:t>
                      </a:r>
                      <a:endParaRPr lang="en-SG" sz="1400" dirty="0"/>
                    </a:p>
                  </a:txBody>
                  <a:tcPr/>
                </a:tc>
                <a:tc>
                  <a:txBody>
                    <a:bodyPr/>
                    <a:lstStyle/>
                    <a:p>
                      <a:r>
                        <a:rPr lang="en-US" sz="1400" dirty="0"/>
                        <a:t>Floating-point value (0.0-1.0) quantifying implicit user feedback: 1.0 if contacted (perfect outcome), 0.5 if viewed only (partial interest), 0.0 if ignored (failed to attract). Creates training data enabling continuous AI improvement through feedback loops.</a:t>
                      </a:r>
                      <a:endParaRPr lang="en-SG" sz="1400" dirty="0"/>
                    </a:p>
                  </a:txBody>
                  <a:tcPr/>
                </a:tc>
                <a:extLst>
                  <a:ext uri="{0D108BD9-81ED-4DB2-BD59-A6C34878D82A}">
                    <a16:rowId xmlns:a16="http://schemas.microsoft.com/office/drawing/2014/main" val="3444452971"/>
                  </a:ext>
                </a:extLst>
              </a:tr>
              <a:tr h="556618">
                <a:tc>
                  <a:txBody>
                    <a:bodyPr/>
                    <a:lstStyle/>
                    <a:p>
                      <a:r>
                        <a:rPr lang="en-US" sz="1400" b="1" dirty="0" err="1"/>
                        <a:t>geminiPromptHash</a:t>
                      </a:r>
                      <a:endParaRPr lang="en-SG" sz="1400" dirty="0"/>
                    </a:p>
                  </a:txBody>
                  <a:tcPr/>
                </a:tc>
                <a:tc>
                  <a:txBody>
                    <a:bodyPr/>
                    <a:lstStyle/>
                    <a:p>
                      <a:r>
                        <a:rPr lang="en-US" sz="1400" dirty="0"/>
                        <a:t>SHA-256 hash of the prompt sent to Gemini API. Enables cost tracking, debugging, grouping similar queries, and audit trails without storing full prompts. Verifies AI uses approved prompt templates.</a:t>
                      </a:r>
                      <a:endParaRPr lang="en-SG" sz="1400" dirty="0"/>
                    </a:p>
                  </a:txBody>
                  <a:tcPr/>
                </a:tc>
                <a:extLst>
                  <a:ext uri="{0D108BD9-81ED-4DB2-BD59-A6C34878D82A}">
                    <a16:rowId xmlns:a16="http://schemas.microsoft.com/office/drawing/2014/main" val="625060157"/>
                  </a:ext>
                </a:extLst>
              </a:tr>
            </a:tbl>
          </a:graphicData>
        </a:graphic>
      </p:graphicFrame>
    </p:spTree>
    <p:extLst>
      <p:ext uri="{BB962C8B-B14F-4D97-AF65-F5344CB8AC3E}">
        <p14:creationId xmlns:p14="http://schemas.microsoft.com/office/powerpoint/2010/main" val="2875282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55047-83D9-A6EF-5690-2E08E7EF9F7E}"/>
              </a:ext>
            </a:extLst>
          </p:cNvPr>
          <p:cNvSpPr>
            <a:spLocks noGrp="1"/>
          </p:cNvSpPr>
          <p:nvPr>
            <p:ph type="title"/>
          </p:nvPr>
        </p:nvSpPr>
        <p:spPr>
          <a:xfrm>
            <a:off x="838200" y="-87211"/>
            <a:ext cx="10515600" cy="1325563"/>
          </a:xfrm>
        </p:spPr>
        <p:txBody>
          <a:bodyPr/>
          <a:lstStyle/>
          <a:p>
            <a:r>
              <a:rPr lang="en-US" dirty="0"/>
              <a:t>Data Modelling – ER Relationship Diagram</a:t>
            </a:r>
            <a:endParaRPr lang="en-SG" dirty="0"/>
          </a:p>
        </p:txBody>
      </p:sp>
      <p:pic>
        <p:nvPicPr>
          <p:cNvPr id="5" name="Content Placeholder 4" descr="A diagram of a computer&#10;&#10;AI-generated content may be incorrect.">
            <a:extLst>
              <a:ext uri="{FF2B5EF4-FFF2-40B4-BE49-F238E27FC236}">
                <a16:creationId xmlns:a16="http://schemas.microsoft.com/office/drawing/2014/main" id="{71BA5FD2-4791-B237-CBD5-2D83FF837A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0126" y="987383"/>
            <a:ext cx="4901968" cy="5058358"/>
          </a:xfrm>
        </p:spPr>
      </p:pic>
    </p:spTree>
    <p:extLst>
      <p:ext uri="{BB962C8B-B14F-4D97-AF65-F5344CB8AC3E}">
        <p14:creationId xmlns:p14="http://schemas.microsoft.com/office/powerpoint/2010/main" val="35486308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9CF3-9FFA-57BB-D75B-C40E0AD38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A08A3-9FD2-5B47-4EC0-8AA1D6BF75A7}"/>
              </a:ext>
            </a:extLst>
          </p:cNvPr>
          <p:cNvSpPr>
            <a:spLocks noGrp="1"/>
          </p:cNvSpPr>
          <p:nvPr>
            <p:ph type="title"/>
          </p:nvPr>
        </p:nvSpPr>
        <p:spPr>
          <a:xfrm>
            <a:off x="385863" y="37997"/>
            <a:ext cx="11525655" cy="1325563"/>
          </a:xfrm>
        </p:spPr>
        <p:txBody>
          <a:bodyPr>
            <a:normAutofit/>
          </a:bodyPr>
          <a:lstStyle/>
          <a:p>
            <a:r>
              <a:rPr lang="en-US" sz="4000" dirty="0"/>
              <a:t>Data Modelling – ER Relationship Diagram Description</a:t>
            </a:r>
            <a:endParaRPr lang="en-SG" sz="4000" dirty="0"/>
          </a:p>
        </p:txBody>
      </p:sp>
      <p:sp>
        <p:nvSpPr>
          <p:cNvPr id="4" name="Content Placeholder 3">
            <a:extLst>
              <a:ext uri="{FF2B5EF4-FFF2-40B4-BE49-F238E27FC236}">
                <a16:creationId xmlns:a16="http://schemas.microsoft.com/office/drawing/2014/main" id="{7117CF73-A037-9235-632E-C31CA02DAB07}"/>
              </a:ext>
            </a:extLst>
          </p:cNvPr>
          <p:cNvSpPr>
            <a:spLocks noGrp="1"/>
          </p:cNvSpPr>
          <p:nvPr>
            <p:ph idx="1"/>
          </p:nvPr>
        </p:nvSpPr>
        <p:spPr>
          <a:xfrm>
            <a:off x="838200" y="1363560"/>
            <a:ext cx="10515600" cy="4351338"/>
          </a:xfrm>
        </p:spPr>
        <p:txBody>
          <a:bodyPr>
            <a:noAutofit/>
          </a:bodyPr>
          <a:lstStyle/>
          <a:p>
            <a:pPr marL="0" indent="0">
              <a:buNone/>
            </a:pPr>
            <a:r>
              <a:rPr lang="en-US" sz="1400" dirty="0"/>
              <a:t>1. User ↔ Pair (Many-to-Many via Junction Table)</a:t>
            </a:r>
          </a:p>
          <a:p>
            <a:r>
              <a:rPr lang="en-US" sz="1400" dirty="0"/>
              <a:t>   A User can participate as a Tutor in many Pairs while simultaneously </a:t>
            </a:r>
          </a:p>
          <a:p>
            <a:r>
              <a:rPr lang="en-US" sz="1400" dirty="0"/>
              <a:t>   participating as a Tutee in other Pairs. The Pair table resolves this </a:t>
            </a:r>
          </a:p>
          <a:p>
            <a:r>
              <a:rPr lang="en-US" sz="1400" dirty="0"/>
              <a:t>   many-to-many relationship by storing two foreign keys (</a:t>
            </a:r>
            <a:r>
              <a:rPr lang="en-US" sz="1400" dirty="0" err="1"/>
              <a:t>tutorId</a:t>
            </a:r>
            <a:r>
              <a:rPr lang="en-US" sz="1400" dirty="0"/>
              <a:t> and </a:t>
            </a:r>
            <a:r>
              <a:rPr lang="en-US" sz="1400" dirty="0" err="1"/>
              <a:t>tuteeId</a:t>
            </a:r>
            <a:r>
              <a:rPr lang="en-US" sz="1400" dirty="0"/>
              <a:t>) </a:t>
            </a:r>
          </a:p>
          <a:p>
            <a:r>
              <a:rPr lang="en-US" sz="1400" dirty="0"/>
              <a:t>   that both reference </a:t>
            </a:r>
            <a:r>
              <a:rPr lang="en-US" sz="1400" dirty="0" err="1"/>
              <a:t>User.userId</a:t>
            </a:r>
            <a:r>
              <a:rPr lang="en-US" sz="1400" dirty="0"/>
              <a:t>.</a:t>
            </a:r>
          </a:p>
          <a:p>
            <a:endParaRPr lang="en-US" sz="1400" dirty="0"/>
          </a:p>
          <a:p>
            <a:pPr marL="0" indent="0">
              <a:buNone/>
            </a:pPr>
            <a:r>
              <a:rPr lang="en-US" sz="1400" dirty="0"/>
              <a:t>2. Pair → Review (One-to-Many)</a:t>
            </a:r>
          </a:p>
          <a:p>
            <a:r>
              <a:rPr lang="en-US" sz="1400" dirty="0"/>
              <a:t>   Each Pair can receive multiple Reviews over time as the tutoring relationship </a:t>
            </a:r>
          </a:p>
          <a:p>
            <a:r>
              <a:rPr lang="en-US" sz="1400" dirty="0"/>
              <a:t>   progresses. Reviews are linked via </a:t>
            </a:r>
            <a:r>
              <a:rPr lang="en-US" sz="1400" dirty="0" err="1"/>
              <a:t>pairId</a:t>
            </a:r>
            <a:r>
              <a:rPr lang="en-US" sz="1400" dirty="0"/>
              <a:t>, with additional direct references </a:t>
            </a:r>
          </a:p>
          <a:p>
            <a:r>
              <a:rPr lang="en-US" sz="1400" dirty="0"/>
              <a:t>   to </a:t>
            </a:r>
            <a:r>
              <a:rPr lang="en-US" sz="1400" dirty="0" err="1"/>
              <a:t>tutorId</a:t>
            </a:r>
            <a:r>
              <a:rPr lang="en-US" sz="1400" dirty="0"/>
              <a:t> and </a:t>
            </a:r>
            <a:r>
              <a:rPr lang="en-US" sz="1400" dirty="0" err="1"/>
              <a:t>tuteeId</a:t>
            </a:r>
            <a:r>
              <a:rPr lang="en-US" sz="1400" dirty="0"/>
              <a:t> for optimized querying.</a:t>
            </a:r>
          </a:p>
          <a:p>
            <a:endParaRPr lang="en-US" sz="1400" dirty="0"/>
          </a:p>
          <a:p>
            <a:pPr marL="0" indent="0">
              <a:buNone/>
            </a:pPr>
            <a:r>
              <a:rPr lang="en-US" sz="1400" dirty="0"/>
              <a:t>3. User → Recommendation (One-to-Many)</a:t>
            </a:r>
          </a:p>
          <a:p>
            <a:r>
              <a:rPr lang="en-US" sz="1400" dirty="0"/>
              <a:t>   The AI recommendation system generates multiple personalized Recommendation </a:t>
            </a:r>
          </a:p>
          <a:p>
            <a:r>
              <a:rPr lang="en-US" sz="1400" dirty="0"/>
              <a:t>   records for each User (tutee), suggesting suitable Tutors based on learning </a:t>
            </a:r>
          </a:p>
          <a:p>
            <a:r>
              <a:rPr lang="en-US" sz="1400" dirty="0"/>
              <a:t>   patterns and module needs.</a:t>
            </a:r>
            <a:endParaRPr lang="en-SG" sz="1400" dirty="0"/>
          </a:p>
        </p:txBody>
      </p:sp>
    </p:spTree>
    <p:extLst>
      <p:ext uri="{BB962C8B-B14F-4D97-AF65-F5344CB8AC3E}">
        <p14:creationId xmlns:p14="http://schemas.microsoft.com/office/powerpoint/2010/main" val="39832210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63F1-7100-3F4A-01D5-121E91BBA867}"/>
              </a:ext>
            </a:extLst>
          </p:cNvPr>
          <p:cNvSpPr>
            <a:spLocks noGrp="1"/>
          </p:cNvSpPr>
          <p:nvPr>
            <p:ph type="title"/>
          </p:nvPr>
        </p:nvSpPr>
        <p:spPr>
          <a:xfrm>
            <a:off x="645694" y="2578935"/>
            <a:ext cx="10515600" cy="1325563"/>
          </a:xfrm>
        </p:spPr>
        <p:txBody>
          <a:bodyPr/>
          <a:lstStyle/>
          <a:p>
            <a:pPr algn="ctr"/>
            <a:r>
              <a:rPr lang="en-US" b="1" dirty="0"/>
              <a:t>The End</a:t>
            </a:r>
          </a:p>
        </p:txBody>
      </p:sp>
    </p:spTree>
    <p:extLst>
      <p:ext uri="{BB962C8B-B14F-4D97-AF65-F5344CB8AC3E}">
        <p14:creationId xmlns:p14="http://schemas.microsoft.com/office/powerpoint/2010/main" val="31271306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0.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Usability Testing&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475&quot;&gt;&lt;property id=&quot;20148&quot; value=&quot;5&quot;/&gt;&lt;property id=&quot;20300&quot; value=&quot;Slide 6 - &amp;quot;Quick Recap | Tenets of Usability&amp;quot;&quot;/&gt;&lt;property id=&quot;20307&quot; value=&quot;268&quot;/&gt;&lt;/object&gt;&lt;object type=&quot;3&quot; unique_id=&quot;10477&quot;&gt;&lt;property id=&quot;20148&quot; value=&quot;5&quot;/&gt;&lt;property id=&quot;20300&quot; value=&quot;Slide 16&quot;/&gt;&lt;property id=&quot;20307&quot; value=&quot;260&quot;/&gt;&lt;/object&gt;&lt;object type=&quot;3&quot; unique_id=&quot;10615&quot;&gt;&lt;property id=&quot;20148&quot; value=&quot;5&quot;/&gt;&lt;property id=&quot;20300&quot; value=&quot;Slide 3&quot;/&gt;&lt;property id=&quot;20307&quot; value=&quot;272&quot;/&gt;&lt;/object&gt;&lt;object type=&quot;3&quot; unique_id=&quot;10616&quot;&gt;&lt;property id=&quot;20148&quot; value=&quot;5&quot;/&gt;&lt;property id=&quot;20300&quot; value=&quot;Slide 4&quot;/&gt;&lt;property id=&quot;20307&quot; value=&quot;273&quot;/&gt;&lt;/object&gt;&lt;object type=&quot;3&quot; unique_id=&quot;11145&quot;&gt;&lt;property id=&quot;20148&quot; value=&quot;5&quot;/&gt;&lt;property id=&quot;20300&quot; value=&quot;Slide 5 - &amp;quot;UXiD Project 2&amp;quot;&quot;/&gt;&lt;property id=&quot;20307&quot; value=&quot;282&quot;/&gt;&lt;/object&gt;&lt;object type=&quot;3&quot; unique_id=&quot;11246&quot;&gt;&lt;property id=&quot;20148&quot; value=&quot;5&quot;/&gt;&lt;property id=&quot;20300&quot; value=&quot;Slide 7&quot;/&gt;&lt;property id=&quot;20307&quot; value=&quot;284&quot;/&gt;&lt;/object&gt;&lt;object type=&quot;3&quot; unique_id=&quot;11247&quot;&gt;&lt;property id=&quot;20148&quot; value=&quot;5&quot;/&gt;&lt;property id=&quot;20300&quot; value=&quot;Slide 8 - &amp;quot;Usability Testing (UT)&amp;quot;&quot;/&gt;&lt;property id=&quot;20307&quot; value=&quot;285&quot;/&gt;&lt;/object&gt;&lt;object type=&quot;3&quot; unique_id=&quot;11369&quot;&gt;&lt;property id=&quot;20148&quot; value=&quot;5&quot;/&gt;&lt;property id=&quot;20300&quot; value=&quot;Slide 9 - &amp;quot;Usability Test Plan&amp;quot;&quot;/&gt;&lt;property id=&quot;20307&quot; value=&quot;286&quot;/&gt;&lt;/object&gt;&lt;object type=&quot;3&quot; unique_id=&quot;11370&quot;&gt;&lt;property id=&quot;20148&quot; value=&quot;5&quot;/&gt;&lt;property id=&quot;20300&quot; value=&quot;Slide 10 - &amp;quot;Content of a Usability Test Plan&amp;quot;&quot;/&gt;&lt;property id=&quot;20307&quot; value=&quot;287&quot;/&gt;&lt;/object&gt;&lt;object type=&quot;3&quot; unique_id=&quot;11474&quot;&gt;&lt;property id=&quot;20148&quot; value=&quot;5&quot;/&gt;&lt;property id=&quot;20300&quot; value=&quot;Slide 11 - &amp;quot;Examples of proceeding of UT&amp;quot;&quot;/&gt;&lt;property id=&quot;20307&quot; value=&quot;288&quot;/&gt;&lt;/object&gt;&lt;object type=&quot;3&quot; unique_id=&quot;11722&quot;&gt;&lt;property id=&quot;20148&quot; value=&quot;5&quot;/&gt;&lt;property id=&quot;20300&quot; value=&quot;Slide 12&quot;/&gt;&lt;property id=&quot;20307&quot; value=&quot;291&quot;/&gt;&lt;/object&gt;&lt;object type=&quot;3&quot; unique_id=&quot;11723&quot;&gt;&lt;property id=&quot;20148&quot; value=&quot;5&quot;/&gt;&lt;property id=&quot;20300&quot; value=&quot;Slide 13 - &amp;quot;Usability Test Plan – Usability Metrics&amp;quot;&quot;/&gt;&lt;property id=&quot;20307&quot; value=&quot;290&quot;/&gt;&lt;/object&gt;&lt;object type=&quot;3&quot; unique_id=&quot;11866&quot;&gt;&lt;property id=&quot;20148&quot; value=&quot;5&quot;/&gt;&lt;property id=&quot;20300&quot; value=&quot;Slide 14 - &amp;quot;An Extreme Example of  a good observation experiment &amp;quot;&quot;/&gt;&lt;property id=&quot;20307&quot; value=&quot;292&quot;/&gt;&lt;/object&gt;&lt;object type=&quot;3&quot; unique_id=&quot;11867&quot;&gt;&lt;property id=&quot;20148&quot; value=&quot;5&quot;/&gt;&lt;property id=&quot;20300&quot; value=&quot;Slide 15&quot;/&gt;&lt;property id=&quot;20307&quot; value=&quot;29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c19ae56-3fd1-4134-ad5d-f1df2bf4580a">
      <Terms xmlns="http://schemas.microsoft.com/office/infopath/2007/PartnerControls"/>
    </lcf76f155ced4ddcb4097134ff3c332f>
    <TaxCatchAll xmlns="8c74f92f-9345-451a-8fcd-82ad1ddda40a" xsi:nil="true"/>
    <Description xmlns="0c19ae56-3fd1-4134-ad5d-f1df2bf4580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AAAFB2A4F81AF499435FEF2B8BF6527" ma:contentTypeVersion="20" ma:contentTypeDescription="Create a new document." ma:contentTypeScope="" ma:versionID="8fc89b9a645bf330636a0f3d23764a75">
  <xsd:schema xmlns:xsd="http://www.w3.org/2001/XMLSchema" xmlns:xs="http://www.w3.org/2001/XMLSchema" xmlns:p="http://schemas.microsoft.com/office/2006/metadata/properties" xmlns:ns2="0c19ae56-3fd1-4134-ad5d-f1df2bf4580a" xmlns:ns3="8c74f92f-9345-451a-8fcd-82ad1ddda40a" targetNamespace="http://schemas.microsoft.com/office/2006/metadata/properties" ma:root="true" ma:fieldsID="0733dce4fb5020861a07591fa8b2954d" ns2:_="" ns3:_="">
    <xsd:import namespace="0c19ae56-3fd1-4134-ad5d-f1df2bf4580a"/>
    <xsd:import namespace="8c74f92f-9345-451a-8fcd-82ad1ddda40a"/>
    <xsd:element name="properties">
      <xsd:complexType>
        <xsd:sequence>
          <xsd:element name="documentManagement">
            <xsd:complexType>
              <xsd:all>
                <xsd:element ref="ns2:Description" minOccurs="0"/>
                <xsd:element ref="ns3:SharedWithUsers" minOccurs="0"/>
                <xsd:element ref="ns3:SharedWithDetails" minOccurs="0"/>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19ae56-3fd1-4134-ad5d-f1df2bf4580a" elementFormDefault="qualified">
    <xsd:import namespace="http://schemas.microsoft.com/office/2006/documentManagement/types"/>
    <xsd:import namespace="http://schemas.microsoft.com/office/infopath/2007/PartnerControls"/>
    <xsd:element name="Description" ma:index="4" nillable="true" ma:displayName="Description" ma:description="" ma:internalName="Description0" ma:readOnly="false">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c74f92f-9345-451a-8fcd-82ad1ddda40a" elementFormDefault="qualified">
    <xsd:import namespace="http://schemas.microsoft.com/office/2006/documentManagement/types"/>
    <xsd:import namespace="http://schemas.microsoft.com/office/infopath/2007/PartnerControls"/>
    <xsd:element name="SharedWithUsers" ma:index="5"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926a618a-99ec-4bae-a069-be77b10f9dbe}" ma:internalName="TaxCatchAll" ma:showField="CatchAllData" ma:web="8c74f92f-9345-451a-8fcd-82ad1ddda4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129C597-3B5F-44AD-AF64-5BD520CA0FB5}">
  <ds:schemaRefs>
    <ds:schemaRef ds:uri="http://schemas.microsoft.com/office/2006/metadata/properties"/>
    <ds:schemaRef ds:uri="http://schemas.microsoft.com/office/infopath/2007/PartnerControls"/>
    <ds:schemaRef ds:uri="361ef433-2f93-47b0-b37f-e8f140c5cb4b"/>
    <ds:schemaRef ds:uri="c44b0262-eb8d-4c37-a737-eb0f5af1596e"/>
    <ds:schemaRef ds:uri="0c19ae56-3fd1-4134-ad5d-f1df2bf4580a"/>
    <ds:schemaRef ds:uri="8c74f92f-9345-451a-8fcd-82ad1ddda40a"/>
  </ds:schemaRefs>
</ds:datastoreItem>
</file>

<file path=customXml/itemProps2.xml><?xml version="1.0" encoding="utf-8"?>
<ds:datastoreItem xmlns:ds="http://schemas.openxmlformats.org/officeDocument/2006/customXml" ds:itemID="{472F1AD2-7AF3-4F26-A99D-AF95852FCC0C}">
  <ds:schemaRefs>
    <ds:schemaRef ds:uri="http://schemas.microsoft.com/sharepoint/v3/contenttype/forms"/>
  </ds:schemaRefs>
</ds:datastoreItem>
</file>

<file path=customXml/itemProps3.xml><?xml version="1.0" encoding="utf-8"?>
<ds:datastoreItem xmlns:ds="http://schemas.openxmlformats.org/officeDocument/2006/customXml" ds:itemID="{F5985DBB-1056-42CF-AFCA-35AA542591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19ae56-3fd1-4134-ad5d-f1df2bf4580a"/>
    <ds:schemaRef ds:uri="8c74f92f-9345-451a-8fcd-82ad1ddda4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13887</TotalTime>
  <Words>6731</Words>
  <Application>Microsoft Office PowerPoint</Application>
  <PresentationFormat>Widescreen</PresentationFormat>
  <Paragraphs>623</Paragraphs>
  <Slides>49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Calibri Light</vt:lpstr>
      <vt:lpstr>Symbol</vt:lpstr>
      <vt:lpstr>Office Theme</vt:lpstr>
      <vt:lpstr>PowerPoint Presentation</vt:lpstr>
      <vt:lpstr>Declaration of Originality</vt:lpstr>
      <vt:lpstr>Declaration on the use of Generative AI tools for assignments</vt:lpstr>
      <vt:lpstr>PowerPoint Presentation</vt:lpstr>
      <vt:lpstr>Selected Use Case –  Highlight your selected use case below</vt:lpstr>
      <vt:lpstr>Problem Definition/Customer Needs (4%)</vt:lpstr>
      <vt:lpstr>Problem Definition/Customer Needs (4%)</vt:lpstr>
      <vt:lpstr>Problem Definition/Customer Needs (4%)</vt:lpstr>
      <vt:lpstr>User Stories - Tutee</vt:lpstr>
      <vt:lpstr>User Stories - Tutor</vt:lpstr>
      <vt:lpstr>User Stories - TP Admin + Staff</vt:lpstr>
      <vt:lpstr>Problem Definition/Customer Needs (4%)</vt:lpstr>
      <vt:lpstr>Problem Definition/Customer Needs (4%)</vt:lpstr>
      <vt:lpstr>Problem Definition/Customer Needs (4%)</vt:lpstr>
      <vt:lpstr>Project Objectives (3%)</vt:lpstr>
      <vt:lpstr>Project Objectives (3%)</vt:lpstr>
      <vt:lpstr>Project Objectives (3%)</vt:lpstr>
      <vt:lpstr>Project Objectives (3%)</vt:lpstr>
      <vt:lpstr>Project Objectives (3%)</vt:lpstr>
      <vt:lpstr>Project Objectives (3%)</vt:lpstr>
      <vt:lpstr>Proposed Features (3%)</vt:lpstr>
      <vt:lpstr>Proposed Features (3%)</vt:lpstr>
      <vt:lpstr>Wireframe (5%)</vt:lpstr>
      <vt:lpstr>Wireframe (5%)</vt:lpstr>
      <vt:lpstr>Wireframe (5%)</vt:lpstr>
      <vt:lpstr>Wireframe (5%)</vt:lpstr>
      <vt:lpstr>Wireframe (5%)</vt:lpstr>
      <vt:lpstr>Wireframe (5%)</vt:lpstr>
      <vt:lpstr>Wireframe (5%)</vt:lpstr>
      <vt:lpstr>Wireframe (5%)</vt:lpstr>
      <vt:lpstr>Data Modeling (5%)</vt:lpstr>
      <vt:lpstr>Data Modeling - Sample</vt:lpstr>
      <vt:lpstr>Data Modeling</vt:lpstr>
      <vt:lpstr>Data Modeling</vt:lpstr>
      <vt:lpstr>Data Modeling – Users Explanation</vt:lpstr>
      <vt:lpstr>Data Modeling – Users Explanation</vt:lpstr>
      <vt:lpstr>Data Modeling</vt:lpstr>
      <vt:lpstr>Data Modeling – Pairs Explanation</vt:lpstr>
      <vt:lpstr>Data Modeling</vt:lpstr>
      <vt:lpstr>Data Modeling – Review Explanation</vt:lpstr>
      <vt:lpstr>Data Modeling</vt:lpstr>
      <vt:lpstr>Data Modeling – Subject Explanation</vt:lpstr>
      <vt:lpstr>Data Modeling</vt:lpstr>
      <vt:lpstr>Data Modeling</vt:lpstr>
      <vt:lpstr>Data Modeling – Recommendation Explanation</vt:lpstr>
      <vt:lpstr>Data Modeling – Recommendation Explanation</vt:lpstr>
      <vt:lpstr>Data Modelling – ER Relationship Diagram</vt:lpstr>
      <vt:lpstr>Data Modelling – ER Relationship Diagram Description</vt:lpstr>
      <vt:lpstr>The End</vt:lpstr>
    </vt:vector>
  </TitlesOfParts>
  <Company>Temasek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Sofwtare Cluster Project Part 1</dc:title>
  <dc:creator>Tan Sio Poh</dc:creator>
  <cp:lastModifiedBy>DANIELLA HAN XUE EN</cp:lastModifiedBy>
  <cp:revision>939</cp:revision>
  <dcterms:created xsi:type="dcterms:W3CDTF">2016-03-04T00:57:19Z</dcterms:created>
  <dcterms:modified xsi:type="dcterms:W3CDTF">2025-11-16T08:36:51Z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69d7fc4-da81-42e5-b309-526f71322d86_Enabled">
    <vt:lpwstr>true</vt:lpwstr>
  </property>
  <property fmtid="{D5CDD505-2E9C-101B-9397-08002B2CF9AE}" pid="3" name="MSIP_Label_f69d7fc4-da81-42e5-b309-526f71322d86_SiteId">
    <vt:lpwstr>25a99bf0-8e72-472a-ae50-adfbdf0df6f1</vt:lpwstr>
  </property>
  <property fmtid="{D5CDD505-2E9C-101B-9397-08002B2CF9AE}" pid="4" name="MSIP_Label_f69d7fc4-da81-42e5-b309-526f71322d86_Owner">
    <vt:lpwstr>andrewt@TP.EDU.SG</vt:lpwstr>
  </property>
  <property fmtid="{D5CDD505-2E9C-101B-9397-08002B2CF9AE}" pid="5" name="MSIP_Label_f69d7fc4-da81-42e5-b309-526f71322d86_SetDate">
    <vt:lpwstr>2022-10-14T03:08:03Z</vt:lpwstr>
  </property>
  <property fmtid="{D5CDD505-2E9C-101B-9397-08002B2CF9AE}" pid="6" name="MSIP_Label_f69d7fc4-da81-42e5-b309-526f71322d86_Name">
    <vt:lpwstr>Non Sensitive</vt:lpwstr>
  </property>
  <property fmtid="{D5CDD505-2E9C-101B-9397-08002B2CF9AE}" pid="7" name="MSIP_Label_f69d7fc4-da81-42e5-b309-526f71322d86_Application">
    <vt:lpwstr>Microsoft Azure Information Protection</vt:lpwstr>
  </property>
  <property fmtid="{D5CDD505-2E9C-101B-9397-08002B2CF9AE}" pid="8" name="MSIP_Label_f69d7fc4-da81-42e5-b309-526f71322d86_ActionId">
    <vt:lpwstr>96db96d4-fc8e-4957-8f23-6c44ddf72d0d</vt:lpwstr>
  </property>
  <property fmtid="{D5CDD505-2E9C-101B-9397-08002B2CF9AE}" pid="9" name="MSIP_Label_f69d7fc4-da81-42e5-b309-526f71322d86_Parent">
    <vt:lpwstr>4bcb20ed-001a-45f4-b2e7-234c5fc91178</vt:lpwstr>
  </property>
  <property fmtid="{D5CDD505-2E9C-101B-9397-08002B2CF9AE}" pid="10" name="MSIP_Label_f69d7fc4-da81-42e5-b309-526f71322d86_Extended_MSFT_Method">
    <vt:lpwstr>Automatic</vt:lpwstr>
  </property>
  <property fmtid="{D5CDD505-2E9C-101B-9397-08002B2CF9AE}" pid="11" name="MSIP_Label_f69d7fc4-da81-42e5-b309-526f71322d86_Method">
    <vt:lpwstr>Standard</vt:lpwstr>
  </property>
  <property fmtid="{D5CDD505-2E9C-101B-9397-08002B2CF9AE}" pid="12" name="MSIP_Label_f69d7fc4-da81-42e5-b309-526f71322d86_ContentBits">
    <vt:lpwstr>0</vt:lpwstr>
  </property>
  <property fmtid="{D5CDD505-2E9C-101B-9397-08002B2CF9AE}" pid="13" name="ContentTypeId">
    <vt:lpwstr>0x0101006AAAFB2A4F81AF499435FEF2B8BF6527</vt:lpwstr>
  </property>
  <property fmtid="{D5CDD505-2E9C-101B-9397-08002B2CF9AE}" pid="14" name="MediaServiceImageTags">
    <vt:lpwstr/>
  </property>
</Properties>
</file>